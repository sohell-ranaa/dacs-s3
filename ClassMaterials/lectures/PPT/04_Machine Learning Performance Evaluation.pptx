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png" ContentType="image/pn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x="10693400" cy="7556500"/>
  <p:notesSz cx="10693400" cy="7556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013551" y="945227"/>
            <a:ext cx="1484629" cy="4527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86501" y="228602"/>
            <a:ext cx="1284598" cy="134426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1" y="7043598"/>
            <a:ext cx="9461500" cy="27608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0900" y="337023"/>
            <a:ext cx="9231026" cy="356055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786501" y="228602"/>
            <a:ext cx="1284598" cy="134426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09601" y="7043598"/>
            <a:ext cx="9461500" cy="27608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20720" y="346792"/>
            <a:ext cx="7373252" cy="134392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67683" y="2410540"/>
            <a:ext cx="6875145" cy="2914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4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4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4.jpg"/><Relationship Id="rId4" Type="http://schemas.openxmlformats.org/officeDocument/2006/relationships/image" Target="../media/image6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v7labs.com/blog/confusion-matrix-guide" TargetMode="Externa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jpg"/><Relationship Id="rId3" Type="http://schemas.openxmlformats.org/officeDocument/2006/relationships/image" Target="../media/image10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Relationship Id="rId3" Type="http://schemas.openxmlformats.org/officeDocument/2006/relationships/image" Target="../media/image12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0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youtube.com/watch?v=EuBBz3bI-aA" TargetMode="Externa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jp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4.jp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4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6959786"/>
            <a:ext cx="9461500" cy="368113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9482966" y="7086055"/>
            <a:ext cx="31115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SLIDE</a:t>
            </a:r>
            <a:r>
              <a:rPr dirty="0" sz="600" spc="-50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 spc="-100">
                <a:solidFill>
                  <a:srgbClr val="C0F9FC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21916" y="7086055"/>
            <a:ext cx="113982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Module</a:t>
            </a:r>
            <a:r>
              <a:rPr dirty="0" sz="600" spc="90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Code</a:t>
            </a:r>
            <a:r>
              <a:rPr dirty="0" sz="600" spc="90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 spc="-45">
                <a:solidFill>
                  <a:srgbClr val="C0F9FC"/>
                </a:solidFill>
                <a:latin typeface="Verdana"/>
                <a:cs typeface="Verdana"/>
              </a:rPr>
              <a:t>&amp;</a:t>
            </a:r>
            <a:r>
              <a:rPr dirty="0" sz="600" spc="90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Module</a:t>
            </a:r>
            <a:r>
              <a:rPr dirty="0" sz="600" spc="90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 spc="-20">
                <a:solidFill>
                  <a:srgbClr val="C0F9FC"/>
                </a:solidFill>
                <a:latin typeface="Verdana"/>
                <a:cs typeface="Verdana"/>
              </a:rPr>
              <a:t>Title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200487" y="7070816"/>
            <a:ext cx="40640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Slide</a:t>
            </a:r>
            <a:r>
              <a:rPr dirty="0" sz="600" spc="-15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 spc="-10">
                <a:solidFill>
                  <a:srgbClr val="C0F9FC"/>
                </a:solidFill>
                <a:latin typeface="Verdana"/>
                <a:cs typeface="Verdana"/>
              </a:rPr>
              <a:t>Title</a:t>
            </a:r>
            <a:endParaRPr sz="600">
              <a:latin typeface="Verdana"/>
              <a:cs typeface="Verdana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69815" y="323814"/>
            <a:ext cx="773653" cy="912214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1659065" y="4504813"/>
            <a:ext cx="6000115" cy="732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95" b="1">
                <a:solidFill>
                  <a:srgbClr val="0070C0"/>
                </a:solidFill>
                <a:latin typeface="Tahoma"/>
                <a:cs typeface="Tahoma"/>
              </a:rPr>
              <a:t>Machine</a:t>
            </a:r>
            <a:r>
              <a:rPr dirty="0" sz="2300" spc="20" b="1">
                <a:solidFill>
                  <a:srgbClr val="0070C0"/>
                </a:solidFill>
                <a:latin typeface="Tahoma"/>
                <a:cs typeface="Tahoma"/>
              </a:rPr>
              <a:t> </a:t>
            </a:r>
            <a:r>
              <a:rPr dirty="0" sz="2300" spc="75" b="1">
                <a:solidFill>
                  <a:srgbClr val="0070C0"/>
                </a:solidFill>
                <a:latin typeface="Tahoma"/>
                <a:cs typeface="Tahoma"/>
              </a:rPr>
              <a:t>Learning</a:t>
            </a:r>
            <a:r>
              <a:rPr dirty="0" sz="2300" spc="20" b="1">
                <a:solidFill>
                  <a:srgbClr val="0070C0"/>
                </a:solidFill>
                <a:latin typeface="Tahoma"/>
                <a:cs typeface="Tahoma"/>
              </a:rPr>
              <a:t> </a:t>
            </a:r>
            <a:r>
              <a:rPr dirty="0" sz="2300" spc="-10" b="1">
                <a:solidFill>
                  <a:srgbClr val="0070C0"/>
                </a:solidFill>
                <a:latin typeface="Tahoma"/>
                <a:cs typeface="Tahoma"/>
              </a:rPr>
              <a:t>Models:</a:t>
            </a:r>
            <a:endParaRPr sz="23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2300" spc="65" b="1">
                <a:solidFill>
                  <a:srgbClr val="0070C0"/>
                </a:solidFill>
                <a:latin typeface="Tahoma"/>
                <a:cs typeface="Tahoma"/>
              </a:rPr>
              <a:t>Metrics</a:t>
            </a:r>
            <a:r>
              <a:rPr dirty="0" sz="2300" spc="35" b="1">
                <a:solidFill>
                  <a:srgbClr val="0070C0"/>
                </a:solidFill>
                <a:latin typeface="Tahoma"/>
                <a:cs typeface="Tahoma"/>
              </a:rPr>
              <a:t> </a:t>
            </a:r>
            <a:r>
              <a:rPr dirty="0" sz="2300" b="1">
                <a:solidFill>
                  <a:srgbClr val="0070C0"/>
                </a:solidFill>
                <a:latin typeface="Tahoma"/>
                <a:cs typeface="Tahoma"/>
              </a:rPr>
              <a:t>for</a:t>
            </a:r>
            <a:r>
              <a:rPr dirty="0" sz="2300" spc="35" b="1">
                <a:solidFill>
                  <a:srgbClr val="0070C0"/>
                </a:solidFill>
                <a:latin typeface="Tahoma"/>
                <a:cs typeface="Tahoma"/>
              </a:rPr>
              <a:t> </a:t>
            </a:r>
            <a:r>
              <a:rPr dirty="0" sz="2300" spc="95" b="1">
                <a:solidFill>
                  <a:srgbClr val="0070C0"/>
                </a:solidFill>
                <a:latin typeface="Tahoma"/>
                <a:cs typeface="Tahoma"/>
              </a:rPr>
              <a:t>Performance</a:t>
            </a:r>
            <a:r>
              <a:rPr dirty="0" sz="2300" spc="40" b="1">
                <a:solidFill>
                  <a:srgbClr val="0070C0"/>
                </a:solidFill>
                <a:latin typeface="Tahoma"/>
                <a:cs typeface="Tahoma"/>
              </a:rPr>
              <a:t> </a:t>
            </a:r>
            <a:r>
              <a:rPr dirty="0" sz="2300" spc="100" b="1">
                <a:solidFill>
                  <a:srgbClr val="0070C0"/>
                </a:solidFill>
                <a:latin typeface="Tahoma"/>
                <a:cs typeface="Tahoma"/>
              </a:rPr>
              <a:t>and</a:t>
            </a:r>
            <a:r>
              <a:rPr dirty="0" sz="2300" spc="45" b="1">
                <a:solidFill>
                  <a:srgbClr val="0070C0"/>
                </a:solidFill>
                <a:latin typeface="Tahoma"/>
                <a:cs typeface="Tahoma"/>
              </a:rPr>
              <a:t> </a:t>
            </a:r>
            <a:r>
              <a:rPr dirty="0" sz="2300" spc="100" b="1">
                <a:solidFill>
                  <a:srgbClr val="0070C0"/>
                </a:solidFill>
                <a:latin typeface="Tahoma"/>
                <a:cs typeface="Tahoma"/>
              </a:rPr>
              <a:t>Accuracy</a:t>
            </a:r>
            <a:endParaRPr sz="230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682719" y="3250543"/>
            <a:ext cx="4492625" cy="8185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600" spc="-70">
                <a:solidFill>
                  <a:srgbClr val="082F50"/>
                </a:solidFill>
                <a:latin typeface="Tahoma"/>
                <a:cs typeface="Tahoma"/>
              </a:rPr>
              <a:t>Data</a:t>
            </a:r>
            <a:r>
              <a:rPr dirty="0" sz="2600" spc="-114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600" spc="-20">
                <a:solidFill>
                  <a:srgbClr val="082F50"/>
                </a:solidFill>
                <a:latin typeface="Tahoma"/>
                <a:cs typeface="Tahoma"/>
              </a:rPr>
              <a:t>Analytics</a:t>
            </a:r>
            <a:r>
              <a:rPr dirty="0" sz="2600" spc="-11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082F50"/>
                </a:solidFill>
                <a:latin typeface="Tahoma"/>
                <a:cs typeface="Tahoma"/>
              </a:rPr>
              <a:t>in</a:t>
            </a:r>
            <a:r>
              <a:rPr dirty="0" sz="2600" spc="-114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600" spc="-75">
                <a:solidFill>
                  <a:srgbClr val="082F50"/>
                </a:solidFill>
                <a:latin typeface="Tahoma"/>
                <a:cs typeface="Tahoma"/>
              </a:rPr>
              <a:t>Cyber</a:t>
            </a:r>
            <a:r>
              <a:rPr dirty="0" sz="2600" spc="-10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600" spc="-25">
                <a:solidFill>
                  <a:srgbClr val="082F50"/>
                </a:solidFill>
                <a:latin typeface="Tahoma"/>
                <a:cs typeface="Tahoma"/>
              </a:rPr>
              <a:t>Security </a:t>
            </a:r>
            <a:r>
              <a:rPr dirty="0" sz="2600" spc="-55">
                <a:solidFill>
                  <a:srgbClr val="082F50"/>
                </a:solidFill>
                <a:latin typeface="Tahoma"/>
                <a:cs typeface="Tahoma"/>
              </a:rPr>
              <a:t>CT115-</a:t>
            </a:r>
            <a:r>
              <a:rPr dirty="0" sz="2600" spc="-30">
                <a:solidFill>
                  <a:srgbClr val="082F50"/>
                </a:solidFill>
                <a:latin typeface="Tahoma"/>
                <a:cs typeface="Tahoma"/>
              </a:rPr>
              <a:t>3-</a:t>
            </a:r>
            <a:r>
              <a:rPr dirty="0" sz="2600">
                <a:solidFill>
                  <a:srgbClr val="082F50"/>
                </a:solidFill>
                <a:latin typeface="Tahoma"/>
                <a:cs typeface="Tahoma"/>
              </a:rPr>
              <a:t>M</a:t>
            </a:r>
            <a:r>
              <a:rPr dirty="0" sz="2600" spc="-8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600" spc="-70">
                <a:solidFill>
                  <a:srgbClr val="082F50"/>
                </a:solidFill>
                <a:latin typeface="Tahoma"/>
                <a:cs typeface="Tahoma"/>
              </a:rPr>
              <a:t>(Version</a:t>
            </a:r>
            <a:r>
              <a:rPr dirty="0" sz="2600" spc="-8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600" spc="-35">
                <a:solidFill>
                  <a:srgbClr val="082F50"/>
                </a:solidFill>
                <a:latin typeface="Tahoma"/>
                <a:cs typeface="Tahoma"/>
              </a:rPr>
              <a:t>E)</a:t>
            </a:r>
            <a:endParaRPr sz="2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6959786"/>
            <a:ext cx="9461500" cy="368113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9474753" y="7086055"/>
            <a:ext cx="32702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SLIDE</a:t>
            </a:r>
            <a:r>
              <a:rPr dirty="0" sz="600" spc="-50">
                <a:solidFill>
                  <a:srgbClr val="C0F9FC"/>
                </a:solidFill>
                <a:latin typeface="Verdana"/>
                <a:cs typeface="Verdana"/>
              </a:rPr>
              <a:t> 2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21916" y="7086055"/>
            <a:ext cx="113982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Module</a:t>
            </a:r>
            <a:r>
              <a:rPr dirty="0" sz="600" spc="90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Code</a:t>
            </a:r>
            <a:r>
              <a:rPr dirty="0" sz="600" spc="90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 spc="-45">
                <a:solidFill>
                  <a:srgbClr val="C0F9FC"/>
                </a:solidFill>
                <a:latin typeface="Verdana"/>
                <a:cs typeface="Verdana"/>
              </a:rPr>
              <a:t>&amp;</a:t>
            </a:r>
            <a:r>
              <a:rPr dirty="0" sz="600" spc="90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Module</a:t>
            </a:r>
            <a:r>
              <a:rPr dirty="0" sz="600" spc="90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 spc="-20">
                <a:solidFill>
                  <a:srgbClr val="C0F9FC"/>
                </a:solidFill>
                <a:latin typeface="Verdana"/>
                <a:cs typeface="Verdana"/>
              </a:rPr>
              <a:t>Title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200487" y="7070816"/>
            <a:ext cx="40640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Slide</a:t>
            </a:r>
            <a:r>
              <a:rPr dirty="0" sz="600" spc="-15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 spc="-10">
                <a:solidFill>
                  <a:srgbClr val="C0F9FC"/>
                </a:solidFill>
                <a:latin typeface="Verdana"/>
                <a:cs typeface="Verdana"/>
              </a:rPr>
              <a:t>Title</a:t>
            </a:r>
            <a:endParaRPr sz="600">
              <a:latin typeface="Verdana"/>
              <a:cs typeface="Verdana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69815" y="323814"/>
            <a:ext cx="773653" cy="912214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888629" y="1931436"/>
            <a:ext cx="7312659" cy="1826895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At</a:t>
            </a:r>
            <a:r>
              <a:rPr dirty="0" sz="1900" spc="-8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the</a:t>
            </a:r>
            <a:r>
              <a:rPr dirty="0" sz="1900" spc="-8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end</a:t>
            </a:r>
            <a:r>
              <a:rPr dirty="0" sz="1900" spc="-7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of</a:t>
            </a:r>
            <a:r>
              <a:rPr dirty="0" sz="1900" spc="-8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this</a:t>
            </a:r>
            <a:r>
              <a:rPr dirty="0" sz="1900" spc="-8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 spc="-20">
                <a:solidFill>
                  <a:srgbClr val="082F50"/>
                </a:solidFill>
                <a:latin typeface="Tahoma"/>
                <a:cs typeface="Tahoma"/>
              </a:rPr>
              <a:t>topic,</a:t>
            </a:r>
            <a:r>
              <a:rPr dirty="0" sz="1900" spc="-9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Tahoma"/>
                <a:cs typeface="Tahoma"/>
              </a:rPr>
              <a:t>you</a:t>
            </a:r>
            <a:r>
              <a:rPr dirty="0" sz="1900" spc="-7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should</a:t>
            </a:r>
            <a:r>
              <a:rPr dirty="0" sz="1900" spc="-7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be</a:t>
            </a:r>
            <a:r>
              <a:rPr dirty="0" sz="1900" spc="-8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able</a:t>
            </a:r>
            <a:r>
              <a:rPr dirty="0" sz="1900" spc="-8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 spc="-25">
                <a:solidFill>
                  <a:srgbClr val="082F50"/>
                </a:solidFill>
                <a:latin typeface="Tahoma"/>
                <a:cs typeface="Tahoma"/>
              </a:rPr>
              <a:t>to:</a:t>
            </a:r>
            <a:endParaRPr sz="1900">
              <a:latin typeface="Tahoma"/>
              <a:cs typeface="Tahoma"/>
            </a:endParaRPr>
          </a:p>
          <a:p>
            <a:pPr marL="266065" indent="-253365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266065" algn="l"/>
              </a:tabLst>
            </a:pPr>
            <a:r>
              <a:rPr dirty="0" sz="1900" spc="-20">
                <a:solidFill>
                  <a:srgbClr val="082F50"/>
                </a:solidFill>
                <a:latin typeface="Tahoma"/>
                <a:cs typeface="Tahoma"/>
              </a:rPr>
              <a:t>Understand</a:t>
            </a:r>
            <a:r>
              <a:rPr dirty="0" sz="1900" spc="-11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and</a:t>
            </a:r>
            <a:r>
              <a:rPr dirty="0" sz="1900" spc="-10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Tahoma"/>
                <a:cs typeface="Tahoma"/>
              </a:rPr>
              <a:t>use</a:t>
            </a:r>
            <a:r>
              <a:rPr dirty="0" sz="1900" spc="-11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Confusion</a:t>
            </a:r>
            <a:r>
              <a:rPr dirty="0" sz="1900" spc="-11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Tahoma"/>
                <a:cs typeface="Tahoma"/>
              </a:rPr>
              <a:t>Matrix</a:t>
            </a:r>
            <a:endParaRPr sz="1900">
              <a:latin typeface="Tahoma"/>
              <a:cs typeface="Tahoma"/>
            </a:endParaRPr>
          </a:p>
          <a:p>
            <a:pPr marL="266065" indent="-253365">
              <a:lnSpc>
                <a:spcPct val="100000"/>
              </a:lnSpc>
              <a:spcBef>
                <a:spcPts val="525"/>
              </a:spcBef>
              <a:buAutoNum type="arabicPeriod"/>
              <a:tabLst>
                <a:tab pos="266065" algn="l"/>
              </a:tabLst>
            </a:pPr>
            <a:r>
              <a:rPr dirty="0" sz="1900" spc="-20">
                <a:solidFill>
                  <a:srgbClr val="082F50"/>
                </a:solidFill>
                <a:latin typeface="Tahoma"/>
                <a:cs typeface="Tahoma"/>
              </a:rPr>
              <a:t>Understand</a:t>
            </a:r>
            <a:r>
              <a:rPr dirty="0" sz="1900" spc="-114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and</a:t>
            </a:r>
            <a:r>
              <a:rPr dirty="0" sz="1900" spc="-11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Tahoma"/>
                <a:cs typeface="Tahoma"/>
              </a:rPr>
              <a:t>use</a:t>
            </a:r>
            <a:r>
              <a:rPr dirty="0" sz="1900" spc="-114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Tahoma"/>
                <a:cs typeface="Tahoma"/>
              </a:rPr>
              <a:t>ROC</a:t>
            </a:r>
            <a:r>
              <a:rPr dirty="0" sz="1900" spc="-10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Tahoma"/>
                <a:cs typeface="Tahoma"/>
              </a:rPr>
              <a:t>Curve</a:t>
            </a:r>
            <a:endParaRPr sz="1900">
              <a:latin typeface="Tahoma"/>
              <a:cs typeface="Tahoma"/>
            </a:endParaRPr>
          </a:p>
          <a:p>
            <a:pPr marL="266065" indent="-253365">
              <a:lnSpc>
                <a:spcPct val="100000"/>
              </a:lnSpc>
              <a:spcBef>
                <a:spcPts val="530"/>
              </a:spcBef>
              <a:buAutoNum type="arabicPeriod"/>
              <a:tabLst>
                <a:tab pos="266065" algn="l"/>
              </a:tabLst>
            </a:pPr>
            <a:r>
              <a:rPr dirty="0" sz="1900" spc="-20">
                <a:solidFill>
                  <a:srgbClr val="082F50"/>
                </a:solidFill>
                <a:latin typeface="Tahoma"/>
                <a:cs typeface="Tahoma"/>
              </a:rPr>
              <a:t>Understand</a:t>
            </a:r>
            <a:r>
              <a:rPr dirty="0" sz="1900" spc="-7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the</a:t>
            </a:r>
            <a:r>
              <a:rPr dirty="0" sz="1900" spc="-7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Tahoma"/>
                <a:cs typeface="Tahoma"/>
              </a:rPr>
              <a:t>concepts</a:t>
            </a:r>
            <a:r>
              <a:rPr dirty="0" sz="1900" spc="-7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of</a:t>
            </a:r>
            <a:r>
              <a:rPr dirty="0" sz="1900" spc="-8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Bias</a:t>
            </a:r>
            <a:r>
              <a:rPr dirty="0" sz="1900" spc="-7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and</a:t>
            </a:r>
            <a:r>
              <a:rPr dirty="0" sz="1900" spc="-6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 spc="-20">
                <a:solidFill>
                  <a:srgbClr val="082F50"/>
                </a:solidFill>
                <a:latin typeface="Tahoma"/>
                <a:cs typeface="Tahoma"/>
              </a:rPr>
              <a:t>Variance</a:t>
            </a:r>
            <a:r>
              <a:rPr dirty="0" sz="1900" spc="-7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in</a:t>
            </a:r>
            <a:r>
              <a:rPr dirty="0" sz="1900" spc="-7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Machine</a:t>
            </a:r>
            <a:r>
              <a:rPr dirty="0" sz="1900" spc="-7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Tahoma"/>
                <a:cs typeface="Tahoma"/>
              </a:rPr>
              <a:t>Learning</a:t>
            </a:r>
            <a:endParaRPr sz="1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1900" spc="-80">
                <a:solidFill>
                  <a:srgbClr val="082F50"/>
                </a:solidFill>
                <a:latin typeface="Tahoma"/>
                <a:cs typeface="Tahoma"/>
              </a:rPr>
              <a:t>5.</a:t>
            </a:r>
            <a:r>
              <a:rPr dirty="0" sz="1900" spc="-7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 spc="-20">
                <a:solidFill>
                  <a:srgbClr val="082F50"/>
                </a:solidFill>
                <a:latin typeface="Tahoma"/>
                <a:cs typeface="Tahoma"/>
              </a:rPr>
              <a:t>Understand</a:t>
            </a:r>
            <a:r>
              <a:rPr dirty="0" sz="1900" spc="-8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the</a:t>
            </a:r>
            <a:r>
              <a:rPr dirty="0" sz="1900" spc="-7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concept</a:t>
            </a:r>
            <a:r>
              <a:rPr dirty="0" sz="1900" spc="-7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of</a:t>
            </a:r>
            <a:r>
              <a:rPr dirty="0" sz="1900" spc="-8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 spc="-30">
                <a:solidFill>
                  <a:srgbClr val="082F50"/>
                </a:solidFill>
                <a:latin typeface="Tahoma"/>
                <a:cs typeface="Tahoma"/>
              </a:rPr>
              <a:t>Cross-</a:t>
            </a:r>
            <a:r>
              <a:rPr dirty="0" sz="1900" spc="-10">
                <a:solidFill>
                  <a:srgbClr val="082F50"/>
                </a:solidFill>
                <a:latin typeface="Tahoma"/>
                <a:cs typeface="Tahoma"/>
              </a:rPr>
              <a:t>Validation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649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b="1">
                <a:solidFill>
                  <a:srgbClr val="0070C0"/>
                </a:solidFill>
                <a:latin typeface="Tahoma"/>
                <a:cs typeface="Tahoma"/>
              </a:rPr>
              <a:t>TOPIC</a:t>
            </a:r>
            <a:r>
              <a:rPr dirty="0" sz="2300" spc="229" b="1">
                <a:solidFill>
                  <a:srgbClr val="0070C0"/>
                </a:solidFill>
                <a:latin typeface="Tahoma"/>
                <a:cs typeface="Tahoma"/>
              </a:rPr>
              <a:t> </a:t>
            </a:r>
            <a:r>
              <a:rPr dirty="0" sz="2300" b="1">
                <a:solidFill>
                  <a:srgbClr val="0070C0"/>
                </a:solidFill>
                <a:latin typeface="Tahoma"/>
                <a:cs typeface="Tahoma"/>
              </a:rPr>
              <a:t>LEARNING</a:t>
            </a:r>
            <a:r>
              <a:rPr dirty="0" sz="2300" spc="240" b="1">
                <a:solidFill>
                  <a:srgbClr val="0070C0"/>
                </a:solidFill>
                <a:latin typeface="Tahoma"/>
                <a:cs typeface="Tahoma"/>
              </a:rPr>
              <a:t> </a:t>
            </a:r>
            <a:r>
              <a:rPr dirty="0" sz="2300" spc="110" b="1">
                <a:solidFill>
                  <a:srgbClr val="0070C0"/>
                </a:solidFill>
                <a:latin typeface="Tahoma"/>
                <a:cs typeface="Tahoma"/>
              </a:rPr>
              <a:t>OUTCOMES</a:t>
            </a:r>
            <a:endParaRPr sz="2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26086" y="2025931"/>
            <a:ext cx="8262620" cy="4229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8130" marR="332740" indent="-266065">
              <a:lnSpc>
                <a:spcPct val="120000"/>
              </a:lnSpc>
              <a:spcBef>
                <a:spcPts val="100"/>
              </a:spcBef>
              <a:buChar char="•"/>
              <a:tabLst>
                <a:tab pos="367030" algn="l"/>
              </a:tabLst>
            </a:pP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classifier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is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used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to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predict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an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outcome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test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 spc="-20">
                <a:latin typeface="Arial MT"/>
                <a:cs typeface="Arial MT"/>
              </a:rPr>
              <a:t>data </a:t>
            </a:r>
            <a:r>
              <a:rPr dirty="0" sz="2500" spc="-20">
                <a:latin typeface="Arial MT"/>
                <a:cs typeface="Arial MT"/>
              </a:rPr>
              <a:t>	</a:t>
            </a:r>
            <a:r>
              <a:rPr dirty="0" sz="2500">
                <a:latin typeface="Arial MT"/>
                <a:cs typeface="Arial MT"/>
              </a:rPr>
              <a:t>–</a:t>
            </a:r>
            <a:r>
              <a:rPr dirty="0" sz="2500" spc="-34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Such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prediction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is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useful</a:t>
            </a:r>
            <a:r>
              <a:rPr dirty="0" sz="2500" spc="-4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in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many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applications</a:t>
            </a:r>
            <a:endParaRPr sz="2500">
              <a:latin typeface="Arial MT"/>
              <a:cs typeface="Arial MT"/>
            </a:endParaRPr>
          </a:p>
          <a:p>
            <a:pPr lvl="1" marL="899794" indent="-177800">
              <a:lnSpc>
                <a:spcPct val="100000"/>
              </a:lnSpc>
              <a:spcBef>
                <a:spcPts val="600"/>
              </a:spcBef>
              <a:buChar char="•"/>
              <a:tabLst>
                <a:tab pos="899794" algn="l"/>
              </a:tabLst>
            </a:pPr>
            <a:r>
              <a:rPr dirty="0" sz="2500">
                <a:latin typeface="Arial MT"/>
                <a:cs typeface="Arial MT"/>
              </a:rPr>
              <a:t>Business</a:t>
            </a:r>
            <a:r>
              <a:rPr dirty="0" sz="2500" spc="-10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forecasting,</a:t>
            </a:r>
            <a:r>
              <a:rPr dirty="0" sz="2500" spc="-9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cause-</a:t>
            </a:r>
            <a:r>
              <a:rPr dirty="0" sz="2500" spc="-20">
                <a:latin typeface="Arial MT"/>
                <a:cs typeface="Arial MT"/>
              </a:rPr>
              <a:t>and-</a:t>
            </a:r>
            <a:r>
              <a:rPr dirty="0" sz="2500">
                <a:latin typeface="Arial MT"/>
                <a:cs typeface="Arial MT"/>
              </a:rPr>
              <a:t>effect</a:t>
            </a:r>
            <a:r>
              <a:rPr dirty="0" sz="2500" spc="-9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analysis,</a:t>
            </a:r>
            <a:r>
              <a:rPr dirty="0" sz="2500" spc="-95">
                <a:latin typeface="Arial MT"/>
                <a:cs typeface="Arial MT"/>
              </a:rPr>
              <a:t> </a:t>
            </a:r>
            <a:r>
              <a:rPr dirty="0" sz="2500" spc="-20">
                <a:latin typeface="Arial MT"/>
                <a:cs typeface="Arial MT"/>
              </a:rPr>
              <a:t>etc.</a:t>
            </a:r>
            <a:endParaRPr sz="25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325"/>
              </a:spcBef>
              <a:buFont typeface="Arial MT"/>
              <a:buChar char="•"/>
            </a:pPr>
            <a:endParaRPr sz="2500">
              <a:latin typeface="Arial MT"/>
              <a:cs typeface="Arial MT"/>
            </a:endParaRPr>
          </a:p>
          <a:p>
            <a:pPr marL="278765" marR="488315" indent="-266700">
              <a:lnSpc>
                <a:spcPct val="100000"/>
              </a:lnSpc>
              <a:buChar char="•"/>
              <a:tabLst>
                <a:tab pos="278765" algn="l"/>
              </a:tabLst>
            </a:pP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number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classifiers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have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evolved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to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support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these activities.</a:t>
            </a:r>
            <a:endParaRPr sz="2500">
              <a:latin typeface="Arial MT"/>
              <a:cs typeface="Arial MT"/>
            </a:endParaRPr>
          </a:p>
          <a:p>
            <a:pPr lvl="1" marL="986155" indent="-264160">
              <a:lnSpc>
                <a:spcPct val="100000"/>
              </a:lnSpc>
              <a:spcBef>
                <a:spcPts val="600"/>
              </a:spcBef>
              <a:buChar char="•"/>
              <a:tabLst>
                <a:tab pos="986155" algn="l"/>
              </a:tabLst>
            </a:pPr>
            <a:r>
              <a:rPr dirty="0" sz="2500">
                <a:latin typeface="Arial MT"/>
                <a:cs typeface="Arial MT"/>
              </a:rPr>
              <a:t>Each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has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their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own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merits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and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demerits</a:t>
            </a:r>
            <a:endParaRPr sz="2500">
              <a:latin typeface="Arial MT"/>
              <a:cs typeface="Arial MT"/>
            </a:endParaRPr>
          </a:p>
          <a:p>
            <a:pPr marL="589280" indent="-222250">
              <a:lnSpc>
                <a:spcPct val="100000"/>
              </a:lnSpc>
              <a:spcBef>
                <a:spcPts val="1295"/>
              </a:spcBef>
              <a:buChar char="–"/>
              <a:tabLst>
                <a:tab pos="589280" algn="l"/>
              </a:tabLst>
            </a:pPr>
            <a:r>
              <a:rPr dirty="0" sz="2500">
                <a:solidFill>
                  <a:srgbClr val="A50021"/>
                </a:solidFill>
                <a:latin typeface="Arial MT"/>
                <a:cs typeface="Arial MT"/>
              </a:rPr>
              <a:t>Metrics</a:t>
            </a:r>
            <a:r>
              <a:rPr dirty="0" sz="2500" spc="-110">
                <a:solidFill>
                  <a:srgbClr val="A50021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A50021"/>
                </a:solidFill>
                <a:latin typeface="Arial MT"/>
                <a:cs typeface="Arial MT"/>
              </a:rPr>
              <a:t>for</a:t>
            </a:r>
            <a:r>
              <a:rPr dirty="0" sz="2500" spc="-110">
                <a:solidFill>
                  <a:srgbClr val="A50021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A50021"/>
                </a:solidFill>
                <a:latin typeface="Arial MT"/>
                <a:cs typeface="Arial MT"/>
              </a:rPr>
              <a:t>measuring</a:t>
            </a:r>
            <a:r>
              <a:rPr dirty="0" sz="2500" spc="-110">
                <a:solidFill>
                  <a:srgbClr val="A50021"/>
                </a:solidFill>
                <a:latin typeface="Arial MT"/>
                <a:cs typeface="Arial MT"/>
              </a:rPr>
              <a:t> </a:t>
            </a:r>
            <a:r>
              <a:rPr dirty="0" sz="2500" spc="-10">
                <a:solidFill>
                  <a:srgbClr val="A50021"/>
                </a:solidFill>
                <a:latin typeface="Arial MT"/>
                <a:cs typeface="Arial MT"/>
              </a:rPr>
              <a:t>accuracy</a:t>
            </a:r>
            <a:endParaRPr sz="2500">
              <a:latin typeface="Arial MT"/>
              <a:cs typeface="Arial MT"/>
            </a:endParaRPr>
          </a:p>
          <a:p>
            <a:pPr marL="589280" indent="-222250">
              <a:lnSpc>
                <a:spcPct val="100000"/>
              </a:lnSpc>
              <a:spcBef>
                <a:spcPts val="1200"/>
              </a:spcBef>
              <a:buChar char="–"/>
              <a:tabLst>
                <a:tab pos="589280" algn="l"/>
              </a:tabLst>
            </a:pPr>
            <a:r>
              <a:rPr dirty="0" sz="2500">
                <a:solidFill>
                  <a:srgbClr val="A50021"/>
                </a:solidFill>
                <a:latin typeface="Arial MT"/>
                <a:cs typeface="Arial MT"/>
              </a:rPr>
              <a:t>Metrics</a:t>
            </a:r>
            <a:r>
              <a:rPr dirty="0" sz="2500" spc="-110">
                <a:solidFill>
                  <a:srgbClr val="A50021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A50021"/>
                </a:solidFill>
                <a:latin typeface="Arial MT"/>
                <a:cs typeface="Arial MT"/>
              </a:rPr>
              <a:t>for</a:t>
            </a:r>
            <a:r>
              <a:rPr dirty="0" sz="2500" spc="-110">
                <a:solidFill>
                  <a:srgbClr val="A50021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A50021"/>
                </a:solidFill>
                <a:latin typeface="Arial MT"/>
                <a:cs typeface="Arial MT"/>
              </a:rPr>
              <a:t>measuring</a:t>
            </a:r>
            <a:r>
              <a:rPr dirty="0" sz="2500" spc="-110">
                <a:solidFill>
                  <a:srgbClr val="A50021"/>
                </a:solidFill>
                <a:latin typeface="Arial MT"/>
                <a:cs typeface="Arial MT"/>
              </a:rPr>
              <a:t> </a:t>
            </a:r>
            <a:r>
              <a:rPr dirty="0" sz="2500" spc="-10">
                <a:solidFill>
                  <a:srgbClr val="A50021"/>
                </a:solidFill>
                <a:latin typeface="Arial MT"/>
                <a:cs typeface="Arial MT"/>
              </a:rPr>
              <a:t>performance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8839" rIns="0" bIns="0" rtlCol="0" vert="horz">
            <a:spAutoFit/>
          </a:bodyPr>
          <a:lstStyle/>
          <a:p>
            <a:pPr marL="779145">
              <a:lnSpc>
                <a:spcPct val="100000"/>
              </a:lnSpc>
              <a:spcBef>
                <a:spcPts val="100"/>
              </a:spcBef>
            </a:pPr>
            <a:r>
              <a:rPr dirty="0"/>
              <a:t>Machine</a:t>
            </a:r>
            <a:r>
              <a:rPr dirty="0" spc="-100"/>
              <a:t> </a:t>
            </a:r>
            <a:r>
              <a:rPr dirty="0"/>
              <a:t>Learning</a:t>
            </a:r>
            <a:r>
              <a:rPr dirty="0" spc="-105"/>
              <a:t> </a:t>
            </a:r>
            <a:r>
              <a:rPr dirty="0"/>
              <a:t>–</a:t>
            </a:r>
            <a:r>
              <a:rPr dirty="0" spc="-95"/>
              <a:t> </a:t>
            </a:r>
            <a:r>
              <a:rPr dirty="0"/>
              <a:t>Review</a:t>
            </a:r>
            <a:r>
              <a:rPr dirty="0" spc="-95"/>
              <a:t> </a:t>
            </a:r>
            <a:r>
              <a:rPr dirty="0"/>
              <a:t>of</a:t>
            </a:r>
            <a:r>
              <a:rPr dirty="0" spc="-95"/>
              <a:t> </a:t>
            </a:r>
            <a:r>
              <a:rPr dirty="0" spc="-10"/>
              <a:t>concept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5476" y="1879489"/>
            <a:ext cx="4139654" cy="481113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8839" rIns="0" bIns="0" rtlCol="0" vert="horz">
            <a:spAutoFit/>
          </a:bodyPr>
          <a:lstStyle/>
          <a:p>
            <a:pPr marL="2208530">
              <a:lnSpc>
                <a:spcPct val="100000"/>
              </a:lnSpc>
              <a:spcBef>
                <a:spcPts val="100"/>
              </a:spcBef>
            </a:pPr>
            <a:r>
              <a:rPr dirty="0"/>
              <a:t>Supervised</a:t>
            </a:r>
            <a:r>
              <a:rPr dirty="0" spc="-190"/>
              <a:t> </a:t>
            </a:r>
            <a:r>
              <a:rPr dirty="0" spc="-10"/>
              <a:t>Learning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5980877" y="1960760"/>
            <a:ext cx="3724910" cy="447294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485775" marR="1287145" indent="-473075">
              <a:lnSpc>
                <a:spcPts val="2500"/>
              </a:lnSpc>
              <a:spcBef>
                <a:spcPts val="200"/>
              </a:spcBef>
              <a:buAutoNum type="arabicPeriod"/>
              <a:tabLst>
                <a:tab pos="485775" algn="l"/>
              </a:tabLst>
            </a:pPr>
            <a:r>
              <a:rPr dirty="0" sz="2100">
                <a:latin typeface="Arial MT"/>
                <a:cs typeface="Arial MT"/>
              </a:rPr>
              <a:t>Collect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and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label </a:t>
            </a:r>
            <a:r>
              <a:rPr dirty="0" sz="2100" spc="-10">
                <a:latin typeface="Arial MT"/>
                <a:cs typeface="Arial MT"/>
              </a:rPr>
              <a:t>observations</a:t>
            </a:r>
            <a:endParaRPr sz="2100">
              <a:latin typeface="Arial MT"/>
              <a:cs typeface="Arial MT"/>
            </a:endParaRPr>
          </a:p>
          <a:p>
            <a:pPr marL="485775" marR="281940" indent="-473075">
              <a:lnSpc>
                <a:spcPts val="2500"/>
              </a:lnSpc>
              <a:spcBef>
                <a:spcPts val="1885"/>
              </a:spcBef>
              <a:buAutoNum type="arabicPeriod"/>
              <a:tabLst>
                <a:tab pos="485775" algn="l"/>
              </a:tabLst>
            </a:pPr>
            <a:r>
              <a:rPr dirty="0" sz="2100">
                <a:latin typeface="Arial MT"/>
                <a:cs typeface="Arial MT"/>
              </a:rPr>
              <a:t>Split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(70/30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or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80/20)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into Train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and</a:t>
            </a:r>
            <a:r>
              <a:rPr dirty="0" sz="2100" spc="-110">
                <a:latin typeface="Arial MT"/>
                <a:cs typeface="Arial MT"/>
              </a:rPr>
              <a:t> </a:t>
            </a:r>
            <a:r>
              <a:rPr dirty="0" sz="2100" spc="-70">
                <a:latin typeface="Arial MT"/>
                <a:cs typeface="Arial MT"/>
              </a:rPr>
              <a:t>Test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datasets</a:t>
            </a:r>
            <a:endParaRPr sz="2100">
              <a:latin typeface="Arial MT"/>
              <a:cs typeface="Arial MT"/>
            </a:endParaRPr>
          </a:p>
          <a:p>
            <a:pPr marL="485775" marR="325755" indent="-473075">
              <a:lnSpc>
                <a:spcPct val="100000"/>
              </a:lnSpc>
              <a:spcBef>
                <a:spcPts val="1789"/>
              </a:spcBef>
              <a:buAutoNum type="arabicPeriod"/>
              <a:tabLst>
                <a:tab pos="485775" algn="l"/>
              </a:tabLst>
            </a:pPr>
            <a:r>
              <a:rPr dirty="0" sz="2100">
                <a:latin typeface="Arial MT"/>
                <a:cs typeface="Arial MT"/>
              </a:rPr>
              <a:t>Pass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135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Train</a:t>
            </a:r>
            <a:r>
              <a:rPr dirty="0" sz="2100" spc="-10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dataset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to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Classifier</a:t>
            </a:r>
            <a:endParaRPr sz="2100">
              <a:latin typeface="Arial MT"/>
              <a:cs typeface="Arial MT"/>
            </a:endParaRPr>
          </a:p>
          <a:p>
            <a:pPr algn="just" marL="485775" marR="384175" indent="-473075">
              <a:lnSpc>
                <a:spcPct val="99500"/>
              </a:lnSpc>
              <a:spcBef>
                <a:spcPts val="1885"/>
              </a:spcBef>
              <a:buAutoNum type="arabicPeriod"/>
              <a:tabLst>
                <a:tab pos="485775" algn="l"/>
              </a:tabLst>
            </a:pPr>
            <a:r>
              <a:rPr dirty="0" sz="2100">
                <a:latin typeface="Arial MT"/>
                <a:cs typeface="Arial MT"/>
              </a:rPr>
              <a:t>Use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model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predict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class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each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item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in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105">
                <a:latin typeface="Arial MT"/>
                <a:cs typeface="Arial MT"/>
              </a:rPr>
              <a:t> </a:t>
            </a:r>
            <a:r>
              <a:rPr dirty="0" sz="2100" spc="-70">
                <a:latin typeface="Arial MT"/>
                <a:cs typeface="Arial MT"/>
              </a:rPr>
              <a:t>Test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dataset</a:t>
            </a:r>
            <a:endParaRPr sz="2100">
              <a:latin typeface="Arial MT"/>
              <a:cs typeface="Arial MT"/>
            </a:endParaRPr>
          </a:p>
          <a:p>
            <a:pPr marL="485775" marR="5080" indent="-473075">
              <a:lnSpc>
                <a:spcPts val="2500"/>
              </a:lnSpc>
              <a:spcBef>
                <a:spcPts val="1875"/>
              </a:spcBef>
              <a:buAutoNum type="arabicPeriod"/>
              <a:tabLst>
                <a:tab pos="485775" algn="l"/>
              </a:tabLst>
            </a:pPr>
            <a:r>
              <a:rPr dirty="0" sz="2100" b="1">
                <a:solidFill>
                  <a:srgbClr val="FF0000"/>
                </a:solidFill>
                <a:latin typeface="Arial"/>
                <a:cs typeface="Arial"/>
              </a:rPr>
              <a:t>Use</a:t>
            </a:r>
            <a:r>
              <a:rPr dirty="0" sz="2100" spc="-9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100" spc="-10" b="1">
                <a:solidFill>
                  <a:srgbClr val="FF0000"/>
                </a:solidFill>
                <a:latin typeface="Arial"/>
                <a:cs typeface="Arial"/>
              </a:rPr>
              <a:t>metrics</a:t>
            </a:r>
            <a:r>
              <a:rPr dirty="0" sz="2100" spc="-8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dirty="0" sz="2100" spc="-9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FF0000"/>
                </a:solidFill>
                <a:latin typeface="Arial"/>
                <a:cs typeface="Arial"/>
              </a:rPr>
              <a:t>assess</a:t>
            </a:r>
            <a:r>
              <a:rPr dirty="0" sz="2100" spc="-8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100" spc="-25" b="1">
                <a:solidFill>
                  <a:srgbClr val="FF0000"/>
                </a:solidFill>
                <a:latin typeface="Arial"/>
                <a:cs typeface="Arial"/>
              </a:rPr>
              <a:t>the </a:t>
            </a:r>
            <a:r>
              <a:rPr dirty="0" sz="2100" spc="-10" b="1">
                <a:solidFill>
                  <a:srgbClr val="FF0000"/>
                </a:solidFill>
                <a:latin typeface="Arial"/>
                <a:cs typeface="Arial"/>
              </a:rPr>
              <a:t>results</a:t>
            </a:r>
            <a:endParaRPr sz="2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6959786"/>
            <a:ext cx="9461500" cy="368113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9474753" y="7086055"/>
            <a:ext cx="32702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SLIDE</a:t>
            </a:r>
            <a:r>
              <a:rPr dirty="0" sz="600" spc="-50">
                <a:solidFill>
                  <a:srgbClr val="C0F9FC"/>
                </a:solidFill>
                <a:latin typeface="Verdana"/>
                <a:cs typeface="Verdana"/>
              </a:rPr>
              <a:t> 5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21916" y="7086055"/>
            <a:ext cx="113982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Module</a:t>
            </a:r>
            <a:r>
              <a:rPr dirty="0" sz="600" spc="90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Code</a:t>
            </a:r>
            <a:r>
              <a:rPr dirty="0" sz="600" spc="90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 spc="-45">
                <a:solidFill>
                  <a:srgbClr val="C0F9FC"/>
                </a:solidFill>
                <a:latin typeface="Verdana"/>
                <a:cs typeface="Verdana"/>
              </a:rPr>
              <a:t>&amp;</a:t>
            </a:r>
            <a:r>
              <a:rPr dirty="0" sz="600" spc="90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Module</a:t>
            </a:r>
            <a:r>
              <a:rPr dirty="0" sz="600" spc="90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 spc="-20">
                <a:solidFill>
                  <a:srgbClr val="C0F9FC"/>
                </a:solidFill>
                <a:latin typeface="Verdana"/>
                <a:cs typeface="Verdana"/>
              </a:rPr>
              <a:t>Title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200487" y="7070816"/>
            <a:ext cx="40640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Slide</a:t>
            </a:r>
            <a:r>
              <a:rPr dirty="0" sz="600" spc="-15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 spc="-10">
                <a:solidFill>
                  <a:srgbClr val="C0F9FC"/>
                </a:solidFill>
                <a:latin typeface="Verdana"/>
                <a:cs typeface="Verdana"/>
              </a:rPr>
              <a:t>Title</a:t>
            </a:r>
            <a:endParaRPr sz="600">
              <a:latin typeface="Verdana"/>
              <a:cs typeface="Verdana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69815" y="323814"/>
            <a:ext cx="773653" cy="912214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888629" y="1931436"/>
            <a:ext cx="3319145" cy="111379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278130" indent="-265430">
              <a:lnSpc>
                <a:spcPct val="100000"/>
              </a:lnSpc>
              <a:spcBef>
                <a:spcPts val="700"/>
              </a:spcBef>
              <a:buChar char="•"/>
              <a:tabLst>
                <a:tab pos="278130" algn="l"/>
              </a:tabLst>
            </a:pP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Metrics</a:t>
            </a:r>
            <a:r>
              <a:rPr dirty="0" sz="1900" spc="-2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for</a:t>
            </a:r>
            <a:r>
              <a:rPr dirty="0" sz="1900" spc="-2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Model</a:t>
            </a:r>
            <a:r>
              <a:rPr dirty="0" sz="1900" spc="-2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Tahoma"/>
                <a:cs typeface="Tahoma"/>
              </a:rPr>
              <a:t>Evaluation</a:t>
            </a:r>
            <a:endParaRPr sz="1900">
              <a:latin typeface="Tahoma"/>
              <a:cs typeface="Tahoma"/>
            </a:endParaRPr>
          </a:p>
          <a:p>
            <a:pPr marL="278130" indent="-265430">
              <a:lnSpc>
                <a:spcPct val="100000"/>
              </a:lnSpc>
              <a:spcBef>
                <a:spcPts val="600"/>
              </a:spcBef>
              <a:buChar char="•"/>
              <a:tabLst>
                <a:tab pos="278130" algn="l"/>
              </a:tabLst>
            </a:pP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Bias</a:t>
            </a:r>
            <a:r>
              <a:rPr dirty="0" sz="1900" spc="-12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and</a:t>
            </a:r>
            <a:r>
              <a:rPr dirty="0" sz="1900" spc="-11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Tahoma"/>
                <a:cs typeface="Tahoma"/>
              </a:rPr>
              <a:t>Variance</a:t>
            </a:r>
            <a:endParaRPr sz="1900">
              <a:latin typeface="Tahoma"/>
              <a:cs typeface="Tahoma"/>
            </a:endParaRPr>
          </a:p>
          <a:p>
            <a:pPr marL="278130" indent="-265430">
              <a:lnSpc>
                <a:spcPct val="100000"/>
              </a:lnSpc>
              <a:spcBef>
                <a:spcPts val="525"/>
              </a:spcBef>
              <a:buChar char="•"/>
              <a:tabLst>
                <a:tab pos="278130" algn="l"/>
              </a:tabLst>
            </a:pPr>
            <a:r>
              <a:rPr dirty="0" sz="1900" spc="-35">
                <a:solidFill>
                  <a:srgbClr val="082F50"/>
                </a:solidFill>
                <a:latin typeface="Tahoma"/>
                <a:cs typeface="Tahoma"/>
              </a:rPr>
              <a:t>Cross-</a:t>
            </a:r>
            <a:r>
              <a:rPr dirty="0" sz="1900" spc="-10">
                <a:solidFill>
                  <a:srgbClr val="082F50"/>
                </a:solidFill>
                <a:latin typeface="Tahoma"/>
                <a:cs typeface="Tahoma"/>
              </a:rPr>
              <a:t>Validation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649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85" b="1">
                <a:solidFill>
                  <a:srgbClr val="0070C0"/>
                </a:solidFill>
                <a:latin typeface="Tahoma"/>
                <a:cs typeface="Tahoma"/>
              </a:rPr>
              <a:t>Contents</a:t>
            </a:r>
            <a:r>
              <a:rPr dirty="0" sz="2300" spc="-50" b="1">
                <a:solidFill>
                  <a:srgbClr val="0070C0"/>
                </a:solidFill>
                <a:latin typeface="Tahoma"/>
                <a:cs typeface="Tahoma"/>
              </a:rPr>
              <a:t> </a:t>
            </a:r>
            <a:r>
              <a:rPr dirty="0" sz="2300" b="1">
                <a:solidFill>
                  <a:srgbClr val="0070C0"/>
                </a:solidFill>
                <a:latin typeface="Tahoma"/>
                <a:cs typeface="Tahoma"/>
              </a:rPr>
              <a:t>&amp;</a:t>
            </a:r>
            <a:r>
              <a:rPr dirty="0" sz="2300" spc="-55" b="1">
                <a:solidFill>
                  <a:srgbClr val="0070C0"/>
                </a:solidFill>
                <a:latin typeface="Tahoma"/>
                <a:cs typeface="Tahoma"/>
              </a:rPr>
              <a:t> </a:t>
            </a:r>
            <a:r>
              <a:rPr dirty="0" sz="2300" spc="55" b="1">
                <a:solidFill>
                  <a:srgbClr val="0070C0"/>
                </a:solidFill>
                <a:latin typeface="Tahoma"/>
                <a:cs typeface="Tahoma"/>
              </a:rPr>
              <a:t>Structure</a:t>
            </a:r>
            <a:endParaRPr sz="2300">
              <a:latin typeface="Tahoma"/>
              <a:cs typeface="Tahoma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00819" y="3288362"/>
            <a:ext cx="4113761" cy="20791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8839" rIns="0" bIns="0" rtlCol="0" vert="horz">
            <a:spAutoFit/>
          </a:bodyPr>
          <a:lstStyle/>
          <a:p>
            <a:pPr marL="2474595">
              <a:lnSpc>
                <a:spcPct val="100000"/>
              </a:lnSpc>
              <a:spcBef>
                <a:spcPts val="100"/>
              </a:spcBef>
            </a:pPr>
            <a:r>
              <a:rPr dirty="0"/>
              <a:t>Model</a:t>
            </a:r>
            <a:r>
              <a:rPr dirty="0" spc="-105"/>
              <a:t> </a:t>
            </a:r>
            <a:r>
              <a:rPr dirty="0" spc="-10"/>
              <a:t>Evaluation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195800" y="1716406"/>
            <a:ext cx="8335009" cy="4415155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278765" marR="695325" indent="-266700">
              <a:lnSpc>
                <a:spcPct val="102699"/>
              </a:lnSpc>
              <a:spcBef>
                <a:spcPts val="30"/>
              </a:spcBef>
              <a:buChar char="•"/>
              <a:tabLst>
                <a:tab pos="278765" algn="l"/>
              </a:tabLst>
            </a:pPr>
            <a:r>
              <a:rPr dirty="0" sz="2200">
                <a:latin typeface="Arial MT"/>
                <a:cs typeface="Arial MT"/>
              </a:rPr>
              <a:t>In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case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of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applied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machine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learning,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we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are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interested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in </a:t>
            </a:r>
            <a:r>
              <a:rPr dirty="0" sz="2200" spc="-20">
                <a:latin typeface="Arial MT"/>
                <a:cs typeface="Arial MT"/>
              </a:rPr>
              <a:t>estimating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skill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of</a:t>
            </a:r>
            <a:r>
              <a:rPr dirty="0" sz="2200" spc="-6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procedure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on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u="heavy" sz="2200" spc="-1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unseen</a:t>
            </a:r>
            <a:r>
              <a:rPr dirty="0" sz="2200" spc="-6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data.</a:t>
            </a:r>
            <a:endParaRPr sz="2200">
              <a:latin typeface="Arial MT"/>
              <a:cs typeface="Arial MT"/>
            </a:endParaRPr>
          </a:p>
          <a:p>
            <a:pPr marL="278765" marR="23495" indent="-266700">
              <a:lnSpc>
                <a:spcPct val="98500"/>
              </a:lnSpc>
              <a:spcBef>
                <a:spcPts val="1885"/>
              </a:spcBef>
              <a:buChar char="•"/>
              <a:tabLst>
                <a:tab pos="278765" algn="l"/>
              </a:tabLst>
            </a:pPr>
            <a:r>
              <a:rPr dirty="0" sz="2200" spc="-10">
                <a:latin typeface="Arial MT"/>
                <a:cs typeface="Arial MT"/>
              </a:rPr>
              <a:t>When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we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evaluate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model,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we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are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in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fact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evaluating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all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steps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in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procedure,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including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how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training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data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was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prepared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(e.g., scaling),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choice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of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algorithm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(e.g.,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kNN),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and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how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chosen </a:t>
            </a:r>
            <a:r>
              <a:rPr dirty="0" sz="2200" spc="-20">
                <a:latin typeface="Arial MT"/>
                <a:cs typeface="Arial MT"/>
              </a:rPr>
              <a:t>algorithm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was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configured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(e.g.,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k=3).</a:t>
            </a:r>
            <a:endParaRPr sz="2200">
              <a:latin typeface="Arial MT"/>
              <a:cs typeface="Arial MT"/>
            </a:endParaRPr>
          </a:p>
          <a:p>
            <a:pPr marL="278765" marR="576580" indent="-266700">
              <a:lnSpc>
                <a:spcPct val="102699"/>
              </a:lnSpc>
              <a:spcBef>
                <a:spcPts val="1800"/>
              </a:spcBef>
              <a:buChar char="•"/>
              <a:tabLst>
                <a:tab pos="278765" algn="l"/>
              </a:tabLst>
            </a:pP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performance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measure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calculated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on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predictions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is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an </a:t>
            </a:r>
            <a:r>
              <a:rPr dirty="0" sz="2200" spc="-10">
                <a:latin typeface="Arial MT"/>
                <a:cs typeface="Arial MT"/>
              </a:rPr>
              <a:t>estimate</a:t>
            </a:r>
            <a:r>
              <a:rPr dirty="0" sz="2200" spc="-11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of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skill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of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whole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procedure.</a:t>
            </a:r>
            <a:endParaRPr sz="2200">
              <a:latin typeface="Arial MT"/>
              <a:cs typeface="Arial MT"/>
            </a:endParaRPr>
          </a:p>
          <a:p>
            <a:pPr marL="278765" marR="5080" indent="-266700">
              <a:lnSpc>
                <a:spcPct val="98600"/>
              </a:lnSpc>
              <a:spcBef>
                <a:spcPts val="1885"/>
              </a:spcBef>
              <a:buChar char="•"/>
              <a:tabLst>
                <a:tab pos="278765" algn="l"/>
              </a:tabLst>
            </a:pPr>
            <a:r>
              <a:rPr dirty="0" sz="2200">
                <a:latin typeface="Arial MT"/>
                <a:cs typeface="Arial MT"/>
              </a:rPr>
              <a:t>We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generalize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performance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measure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from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i="1">
                <a:latin typeface="Arial"/>
                <a:cs typeface="Arial"/>
              </a:rPr>
              <a:t>the</a:t>
            </a:r>
            <a:r>
              <a:rPr dirty="0" sz="2200" spc="-85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skill</a:t>
            </a:r>
            <a:r>
              <a:rPr dirty="0" sz="2200" spc="-80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of</a:t>
            </a:r>
            <a:r>
              <a:rPr dirty="0" sz="2200" spc="-70" i="1">
                <a:latin typeface="Arial"/>
                <a:cs typeface="Arial"/>
              </a:rPr>
              <a:t> </a:t>
            </a:r>
            <a:r>
              <a:rPr dirty="0" sz="2200" spc="-25" i="1">
                <a:latin typeface="Arial"/>
                <a:cs typeface="Arial"/>
              </a:rPr>
              <a:t>the </a:t>
            </a:r>
            <a:r>
              <a:rPr dirty="0" sz="2200" spc="-20" i="1">
                <a:latin typeface="Arial"/>
                <a:cs typeface="Arial"/>
              </a:rPr>
              <a:t>procedure</a:t>
            </a:r>
            <a:r>
              <a:rPr dirty="0" sz="2200" spc="-85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on</a:t>
            </a:r>
            <a:r>
              <a:rPr dirty="0" sz="2200" spc="-85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the</a:t>
            </a:r>
            <a:r>
              <a:rPr dirty="0" sz="2200" spc="-80" i="1">
                <a:latin typeface="Arial"/>
                <a:cs typeface="Arial"/>
              </a:rPr>
              <a:t> </a:t>
            </a:r>
            <a:r>
              <a:rPr dirty="0" sz="2200" b="1" i="1">
                <a:solidFill>
                  <a:srgbClr val="7030A0"/>
                </a:solidFill>
                <a:latin typeface="Arial"/>
                <a:cs typeface="Arial"/>
              </a:rPr>
              <a:t>train</a:t>
            </a:r>
            <a:r>
              <a:rPr dirty="0" sz="2200" spc="-80" b="1" i="1">
                <a:solidFill>
                  <a:srgbClr val="7030A0"/>
                </a:solidFill>
                <a:latin typeface="Arial"/>
                <a:cs typeface="Arial"/>
              </a:rPr>
              <a:t> </a:t>
            </a:r>
            <a:r>
              <a:rPr dirty="0" sz="2200" b="1" i="1">
                <a:solidFill>
                  <a:srgbClr val="7030A0"/>
                </a:solidFill>
                <a:latin typeface="Arial"/>
                <a:cs typeface="Arial"/>
              </a:rPr>
              <a:t>set</a:t>
            </a:r>
            <a:r>
              <a:rPr dirty="0" sz="2200" spc="-75" b="1" i="1">
                <a:solidFill>
                  <a:srgbClr val="7030A0"/>
                </a:solidFill>
                <a:latin typeface="Arial"/>
                <a:cs typeface="Arial"/>
              </a:rPr>
              <a:t> </a:t>
            </a:r>
            <a:r>
              <a:rPr dirty="0" sz="2200">
                <a:latin typeface="Arial MT"/>
                <a:cs typeface="Arial MT"/>
              </a:rPr>
              <a:t>to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 i="1">
                <a:latin typeface="Arial"/>
                <a:cs typeface="Arial"/>
              </a:rPr>
              <a:t>the</a:t>
            </a:r>
            <a:r>
              <a:rPr dirty="0" sz="2200" spc="-80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skill</a:t>
            </a:r>
            <a:r>
              <a:rPr dirty="0" sz="2200" spc="-75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of</a:t>
            </a:r>
            <a:r>
              <a:rPr dirty="0" sz="2200" spc="-70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the</a:t>
            </a:r>
            <a:r>
              <a:rPr dirty="0" sz="2200" spc="-85" i="1">
                <a:latin typeface="Arial"/>
                <a:cs typeface="Arial"/>
              </a:rPr>
              <a:t> </a:t>
            </a:r>
            <a:r>
              <a:rPr dirty="0" sz="2200" spc="-20" i="1">
                <a:latin typeface="Arial"/>
                <a:cs typeface="Arial"/>
              </a:rPr>
              <a:t>procedure</a:t>
            </a:r>
            <a:r>
              <a:rPr dirty="0" sz="2200" spc="-80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on</a:t>
            </a:r>
            <a:r>
              <a:rPr dirty="0" sz="2200" spc="-95" i="1">
                <a:latin typeface="Arial"/>
                <a:cs typeface="Arial"/>
              </a:rPr>
              <a:t> </a:t>
            </a:r>
            <a:r>
              <a:rPr dirty="0" sz="2200" spc="-10" b="1" i="1">
                <a:solidFill>
                  <a:srgbClr val="7030A0"/>
                </a:solidFill>
                <a:latin typeface="Arial"/>
                <a:cs typeface="Arial"/>
              </a:rPr>
              <a:t>unseen </a:t>
            </a:r>
            <a:r>
              <a:rPr dirty="0" sz="2200" spc="-20" b="1" i="1">
                <a:solidFill>
                  <a:srgbClr val="7030A0"/>
                </a:solidFill>
                <a:latin typeface="Arial"/>
                <a:cs typeface="Arial"/>
              </a:rPr>
              <a:t>data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8839" rIns="0" bIns="0" rtlCol="0" vert="horz">
            <a:spAutoFit/>
          </a:bodyPr>
          <a:lstStyle/>
          <a:p>
            <a:pPr marL="2503805">
              <a:lnSpc>
                <a:spcPct val="100000"/>
              </a:lnSpc>
              <a:spcBef>
                <a:spcPts val="100"/>
              </a:spcBef>
            </a:pPr>
            <a:r>
              <a:rPr dirty="0"/>
              <a:t>Confusion</a:t>
            </a:r>
            <a:r>
              <a:rPr dirty="0" spc="-175"/>
              <a:t> </a:t>
            </a:r>
            <a:r>
              <a:rPr dirty="0" spc="-10"/>
              <a:t>matrix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595305" y="1867265"/>
            <a:ext cx="7340600" cy="37325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07670" marR="501015" indent="-266700">
              <a:lnSpc>
                <a:spcPct val="100000"/>
              </a:lnSpc>
              <a:spcBef>
                <a:spcPts val="100"/>
              </a:spcBef>
              <a:buChar char="•"/>
              <a:tabLst>
                <a:tab pos="407670" algn="l"/>
              </a:tabLst>
            </a:pP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confusion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matrix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is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useful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table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 spc="-20">
                <a:latin typeface="Arial MT"/>
                <a:cs typeface="Arial MT"/>
              </a:rPr>
              <a:t>that </a:t>
            </a:r>
            <a:r>
              <a:rPr dirty="0" sz="2500">
                <a:latin typeface="Arial MT"/>
                <a:cs typeface="Arial MT"/>
              </a:rPr>
              <a:t>presents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both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class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distribution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in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 spc="-20">
                <a:latin typeface="Arial MT"/>
                <a:cs typeface="Arial MT"/>
              </a:rPr>
              <a:t>data </a:t>
            </a:r>
            <a:r>
              <a:rPr dirty="0" sz="2500">
                <a:latin typeface="Arial MT"/>
                <a:cs typeface="Arial MT"/>
              </a:rPr>
              <a:t>and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classifiers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predicted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class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distribution </a:t>
            </a:r>
            <a:r>
              <a:rPr dirty="0" sz="2500">
                <a:latin typeface="Arial MT"/>
                <a:cs typeface="Arial MT"/>
              </a:rPr>
              <a:t>with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breakdown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error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types.</a:t>
            </a:r>
            <a:endParaRPr sz="2500">
              <a:latin typeface="Arial MT"/>
              <a:cs typeface="Arial MT"/>
            </a:endParaRPr>
          </a:p>
          <a:p>
            <a:pPr marL="407670" marR="469900" indent="-266700">
              <a:lnSpc>
                <a:spcPct val="100000"/>
              </a:lnSpc>
              <a:spcBef>
                <a:spcPts val="1895"/>
              </a:spcBef>
              <a:buChar char="•"/>
              <a:tabLst>
                <a:tab pos="407670" algn="l"/>
              </a:tabLst>
            </a:pPr>
            <a:r>
              <a:rPr dirty="0" sz="2500">
                <a:latin typeface="Arial MT"/>
                <a:cs typeface="Arial MT"/>
              </a:rPr>
              <a:t>This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means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“prior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probabilities”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for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classes </a:t>
            </a:r>
            <a:r>
              <a:rPr dirty="0" sz="2500">
                <a:latin typeface="Arial MT"/>
                <a:cs typeface="Arial MT"/>
              </a:rPr>
              <a:t>can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be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accounted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for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in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error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analysis.</a:t>
            </a:r>
            <a:endParaRPr sz="2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endParaRPr sz="2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u="heavy" sz="2500" spc="-25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</a:rPr>
              <a:t>https://</a:t>
            </a:r>
            <a:r>
              <a:rPr dirty="0" u="heavy" sz="2500" spc="-25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2"/>
              </a:rPr>
              <a:t>www.v7labs.com/blog/confusion-matrix-</a:t>
            </a:r>
            <a:r>
              <a:rPr dirty="0" u="heavy" sz="2500" spc="-1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2"/>
              </a:rPr>
              <a:t>guide </a:t>
            </a:r>
            <a:endParaRPr sz="2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8590" rIns="0" bIns="0" rtlCol="0" vert="horz">
            <a:spAutoFit/>
          </a:bodyPr>
          <a:lstStyle/>
          <a:p>
            <a:pPr marL="3088640">
              <a:lnSpc>
                <a:spcPct val="100000"/>
              </a:lnSpc>
              <a:spcBef>
                <a:spcPts val="100"/>
              </a:spcBef>
            </a:pPr>
            <a:r>
              <a:rPr dirty="0"/>
              <a:t>Confusion</a:t>
            </a:r>
            <a:r>
              <a:rPr dirty="0" spc="-175"/>
              <a:t> </a:t>
            </a:r>
            <a:r>
              <a:rPr dirty="0" spc="-10"/>
              <a:t>Matrix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275905" y="3755154"/>
            <a:ext cx="8218805" cy="3302000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278130" indent="-265430">
              <a:lnSpc>
                <a:spcPct val="100000"/>
              </a:lnSpc>
              <a:spcBef>
                <a:spcPts val="459"/>
              </a:spcBef>
              <a:buChar char="•"/>
              <a:tabLst>
                <a:tab pos="278130" algn="l"/>
              </a:tabLst>
            </a:pPr>
            <a:r>
              <a:rPr dirty="0" sz="1700">
                <a:latin typeface="Arial MT"/>
                <a:cs typeface="Arial MT"/>
              </a:rPr>
              <a:t>A</a:t>
            </a:r>
            <a:r>
              <a:rPr dirty="0" sz="1700" spc="-80">
                <a:latin typeface="Arial MT"/>
                <a:cs typeface="Arial MT"/>
              </a:rPr>
              <a:t> </a:t>
            </a:r>
            <a:r>
              <a:rPr dirty="0" sz="1700" spc="-30">
                <a:latin typeface="Arial MT"/>
                <a:cs typeface="Arial MT"/>
              </a:rPr>
              <a:t>confusion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matrix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for</a:t>
            </a:r>
            <a:r>
              <a:rPr dirty="0" sz="1700" spc="-5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two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 spc="-20">
                <a:latin typeface="Arial MT"/>
                <a:cs typeface="Arial MT"/>
              </a:rPr>
              <a:t>“generic”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classes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(+,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-</a:t>
            </a:r>
            <a:r>
              <a:rPr dirty="0" sz="1700">
                <a:latin typeface="Arial MT"/>
                <a:cs typeface="Arial MT"/>
              </a:rPr>
              <a:t>)</a:t>
            </a:r>
            <a:r>
              <a:rPr dirty="0" sz="1700" spc="-5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is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shown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above.</a:t>
            </a:r>
            <a:endParaRPr sz="1700">
              <a:latin typeface="Arial MT"/>
              <a:cs typeface="Arial MT"/>
            </a:endParaRPr>
          </a:p>
          <a:p>
            <a:pPr marL="278130" indent="-265430">
              <a:lnSpc>
                <a:spcPct val="100000"/>
              </a:lnSpc>
              <a:spcBef>
                <a:spcPts val="359"/>
              </a:spcBef>
              <a:buChar char="•"/>
              <a:tabLst>
                <a:tab pos="278130" algn="l"/>
              </a:tabLst>
            </a:pPr>
            <a:r>
              <a:rPr dirty="0" sz="1700" spc="-20">
                <a:latin typeface="Arial MT"/>
                <a:cs typeface="Arial MT"/>
              </a:rPr>
              <a:t>There</a:t>
            </a:r>
            <a:r>
              <a:rPr dirty="0" sz="1700" spc="-7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are</a:t>
            </a:r>
            <a:r>
              <a:rPr dirty="0" sz="1700" spc="-7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four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 spc="-30">
                <a:latin typeface="Arial MT"/>
                <a:cs typeface="Arial MT"/>
              </a:rPr>
              <a:t>quadrants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in</a:t>
            </a:r>
            <a:r>
              <a:rPr dirty="0" sz="1700" spc="-7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the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 spc="-30">
                <a:latin typeface="Arial MT"/>
                <a:cs typeface="Arial MT"/>
              </a:rPr>
              <a:t>confusion</a:t>
            </a:r>
            <a:r>
              <a:rPr dirty="0" sz="1700" spc="-75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matrix:</a:t>
            </a:r>
            <a:endParaRPr sz="1700">
              <a:latin typeface="Arial MT"/>
              <a:cs typeface="Arial MT"/>
            </a:endParaRPr>
          </a:p>
          <a:p>
            <a:pPr lvl="1" marL="589280" marR="57150" indent="-222250">
              <a:lnSpc>
                <a:spcPts val="2020"/>
              </a:lnSpc>
              <a:spcBef>
                <a:spcPts val="1330"/>
              </a:spcBef>
              <a:buFont typeface="Arial MT"/>
              <a:buChar char="–"/>
              <a:tabLst>
                <a:tab pos="589280" algn="l"/>
              </a:tabLst>
            </a:pPr>
            <a:r>
              <a:rPr dirty="0" sz="1700" spc="-20" b="1">
                <a:solidFill>
                  <a:srgbClr val="0B5ED7"/>
                </a:solidFill>
                <a:latin typeface="Arial"/>
                <a:cs typeface="Arial"/>
              </a:rPr>
              <a:t>True</a:t>
            </a:r>
            <a:r>
              <a:rPr dirty="0" sz="1700" spc="-75" b="1">
                <a:solidFill>
                  <a:srgbClr val="0B5ED7"/>
                </a:solidFill>
                <a:latin typeface="Arial"/>
                <a:cs typeface="Arial"/>
              </a:rPr>
              <a:t> </a:t>
            </a:r>
            <a:r>
              <a:rPr dirty="0" sz="1700" spc="-25" b="1">
                <a:solidFill>
                  <a:srgbClr val="0B5ED7"/>
                </a:solidFill>
                <a:latin typeface="Arial"/>
                <a:cs typeface="Arial"/>
              </a:rPr>
              <a:t>Positive</a:t>
            </a:r>
            <a:r>
              <a:rPr dirty="0" sz="1700" spc="-80" b="1">
                <a:solidFill>
                  <a:srgbClr val="0B5ED7"/>
                </a:solidFill>
                <a:latin typeface="Arial"/>
                <a:cs typeface="Arial"/>
              </a:rPr>
              <a:t> </a:t>
            </a:r>
            <a:r>
              <a:rPr dirty="0" sz="1700" spc="-10" b="1">
                <a:latin typeface="Arial"/>
                <a:cs typeface="Arial"/>
              </a:rPr>
              <a:t>(TP)</a:t>
            </a:r>
            <a:r>
              <a:rPr dirty="0" sz="1700" spc="-10">
                <a:latin typeface="Arial MT"/>
                <a:cs typeface="Arial MT"/>
              </a:rPr>
              <a:t>: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The</a:t>
            </a:r>
            <a:r>
              <a:rPr dirty="0" sz="1700" spc="-75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number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of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instances</a:t>
            </a:r>
            <a:r>
              <a:rPr dirty="0" sz="1700" spc="-7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that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were</a:t>
            </a:r>
            <a:r>
              <a:rPr dirty="0" sz="1700" spc="-75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positive</a:t>
            </a:r>
            <a:r>
              <a:rPr dirty="0" sz="1700" spc="-7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(+)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and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c</a:t>
            </a:r>
            <a:r>
              <a:rPr dirty="0" u="heavy" sz="17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orrectly</a:t>
            </a:r>
            <a:r>
              <a:rPr dirty="0" u="heavy" sz="1700" spc="-6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classified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as</a:t>
            </a:r>
            <a:r>
              <a:rPr dirty="0" sz="1700" spc="-55">
                <a:latin typeface="Arial MT"/>
                <a:cs typeface="Arial MT"/>
              </a:rPr>
              <a:t> </a:t>
            </a:r>
            <a:r>
              <a:rPr dirty="0" sz="1700" spc="-20">
                <a:latin typeface="Arial MT"/>
                <a:cs typeface="Arial MT"/>
              </a:rPr>
              <a:t>positive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(+)</a:t>
            </a:r>
            <a:endParaRPr sz="1700">
              <a:latin typeface="Arial MT"/>
              <a:cs typeface="Arial MT"/>
            </a:endParaRPr>
          </a:p>
          <a:p>
            <a:pPr lvl="1" marL="589280" marR="796925" indent="-222250">
              <a:lnSpc>
                <a:spcPts val="2020"/>
              </a:lnSpc>
              <a:spcBef>
                <a:spcPts val="1170"/>
              </a:spcBef>
              <a:buFont typeface="Arial MT"/>
              <a:buChar char="–"/>
              <a:tabLst>
                <a:tab pos="589280" algn="l"/>
              </a:tabLst>
            </a:pPr>
            <a:r>
              <a:rPr dirty="0" sz="1700" spc="-20" b="1">
                <a:solidFill>
                  <a:srgbClr val="0070C0"/>
                </a:solidFill>
                <a:latin typeface="Arial"/>
                <a:cs typeface="Arial"/>
              </a:rPr>
              <a:t>False</a:t>
            </a:r>
            <a:r>
              <a:rPr dirty="0" sz="1700" spc="-80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700" spc="-25" b="1">
                <a:solidFill>
                  <a:srgbClr val="0070C0"/>
                </a:solidFill>
                <a:latin typeface="Arial"/>
                <a:cs typeface="Arial"/>
              </a:rPr>
              <a:t>Positive</a:t>
            </a:r>
            <a:r>
              <a:rPr dirty="0" sz="1700" spc="-85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(FP)</a:t>
            </a:r>
            <a:r>
              <a:rPr dirty="0" sz="1700">
                <a:latin typeface="Arial MT"/>
                <a:cs typeface="Arial MT"/>
              </a:rPr>
              <a:t>:</a:t>
            </a:r>
            <a:r>
              <a:rPr dirty="0" sz="1700" spc="36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The</a:t>
            </a:r>
            <a:r>
              <a:rPr dirty="0" sz="1700" spc="-80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number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of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instances</a:t>
            </a:r>
            <a:r>
              <a:rPr dirty="0" sz="1700" spc="-7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that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were</a:t>
            </a:r>
            <a:r>
              <a:rPr dirty="0" sz="1700" spc="-80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negative</a:t>
            </a:r>
            <a:r>
              <a:rPr dirty="0" sz="1700" spc="-80">
                <a:latin typeface="Arial MT"/>
                <a:cs typeface="Arial MT"/>
              </a:rPr>
              <a:t> </a:t>
            </a:r>
            <a:r>
              <a:rPr dirty="0" sz="1700" spc="-30">
                <a:latin typeface="Arial MT"/>
                <a:cs typeface="Arial MT"/>
              </a:rPr>
              <a:t>(-</a:t>
            </a:r>
            <a:r>
              <a:rPr dirty="0" sz="1700">
                <a:latin typeface="Arial MT"/>
                <a:cs typeface="Arial MT"/>
              </a:rPr>
              <a:t>)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and </a:t>
            </a:r>
            <a:r>
              <a:rPr dirty="0" u="heavy" sz="1700" spc="-2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incorrectly</a:t>
            </a:r>
            <a:r>
              <a:rPr dirty="0" sz="1700" spc="-55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classified</a:t>
            </a:r>
            <a:r>
              <a:rPr dirty="0" sz="1700" spc="-7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as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(+).</a:t>
            </a:r>
            <a:r>
              <a:rPr dirty="0" sz="1700" spc="-55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This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also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known</a:t>
            </a:r>
            <a:r>
              <a:rPr dirty="0" sz="1700" spc="-7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as</a:t>
            </a:r>
            <a:r>
              <a:rPr dirty="0" sz="1700" spc="-55">
                <a:latin typeface="Arial MT"/>
                <a:cs typeface="Arial MT"/>
              </a:rPr>
              <a:t> </a:t>
            </a:r>
            <a:r>
              <a:rPr dirty="0" sz="1700" spc="-10">
                <a:solidFill>
                  <a:srgbClr val="0B5ED7"/>
                </a:solidFill>
                <a:latin typeface="Arial MT"/>
                <a:cs typeface="Arial MT"/>
              </a:rPr>
              <a:t>Type</a:t>
            </a:r>
            <a:r>
              <a:rPr dirty="0" sz="1700" spc="-75">
                <a:solidFill>
                  <a:srgbClr val="0B5ED7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0B5ED7"/>
                </a:solidFill>
                <a:latin typeface="Arial MT"/>
                <a:cs typeface="Arial MT"/>
              </a:rPr>
              <a:t>1</a:t>
            </a:r>
            <a:r>
              <a:rPr dirty="0" sz="1700" spc="-70">
                <a:solidFill>
                  <a:srgbClr val="0B5ED7"/>
                </a:solidFill>
                <a:latin typeface="Arial MT"/>
                <a:cs typeface="Arial MT"/>
              </a:rPr>
              <a:t> </a:t>
            </a:r>
            <a:r>
              <a:rPr dirty="0" sz="1700" spc="-10">
                <a:solidFill>
                  <a:srgbClr val="0B5ED7"/>
                </a:solidFill>
                <a:latin typeface="Arial MT"/>
                <a:cs typeface="Arial MT"/>
              </a:rPr>
              <a:t>Error</a:t>
            </a:r>
            <a:endParaRPr sz="1700">
              <a:latin typeface="Arial MT"/>
              <a:cs typeface="Arial MT"/>
            </a:endParaRPr>
          </a:p>
          <a:p>
            <a:pPr lvl="1" marL="589280" marR="807085" indent="-222250">
              <a:lnSpc>
                <a:spcPts val="2020"/>
              </a:lnSpc>
              <a:spcBef>
                <a:spcPts val="1260"/>
              </a:spcBef>
              <a:buFont typeface="Arial MT"/>
              <a:buChar char="–"/>
              <a:tabLst>
                <a:tab pos="589280" algn="l"/>
              </a:tabLst>
            </a:pPr>
            <a:r>
              <a:rPr dirty="0" sz="1700" spc="-20" b="1">
                <a:solidFill>
                  <a:srgbClr val="0B5ED7"/>
                </a:solidFill>
                <a:latin typeface="Arial"/>
                <a:cs typeface="Arial"/>
              </a:rPr>
              <a:t>False</a:t>
            </a:r>
            <a:r>
              <a:rPr dirty="0" sz="1700" spc="-90" b="1">
                <a:solidFill>
                  <a:srgbClr val="0B5ED7"/>
                </a:solidFill>
                <a:latin typeface="Arial"/>
                <a:cs typeface="Arial"/>
              </a:rPr>
              <a:t> </a:t>
            </a:r>
            <a:r>
              <a:rPr dirty="0" sz="1700" spc="-25" b="1">
                <a:solidFill>
                  <a:srgbClr val="0B5ED7"/>
                </a:solidFill>
                <a:latin typeface="Arial"/>
                <a:cs typeface="Arial"/>
              </a:rPr>
              <a:t>Negative</a:t>
            </a:r>
            <a:r>
              <a:rPr dirty="0" sz="1700" spc="-90" b="1">
                <a:solidFill>
                  <a:srgbClr val="0B5ED7"/>
                </a:solidFill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(FN)</a:t>
            </a:r>
            <a:r>
              <a:rPr dirty="0" sz="1700">
                <a:latin typeface="Arial MT"/>
                <a:cs typeface="Arial MT"/>
              </a:rPr>
              <a:t>: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The</a:t>
            </a:r>
            <a:r>
              <a:rPr dirty="0" sz="1700" spc="-90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number</a:t>
            </a:r>
            <a:r>
              <a:rPr dirty="0" sz="1700" spc="-7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of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instances</a:t>
            </a:r>
            <a:r>
              <a:rPr dirty="0" sz="1700" spc="-8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that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were</a:t>
            </a:r>
            <a:r>
              <a:rPr dirty="0" sz="1700" spc="-90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positive</a:t>
            </a:r>
            <a:r>
              <a:rPr dirty="0" sz="1700" spc="-8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(+)</a:t>
            </a:r>
            <a:r>
              <a:rPr dirty="0" sz="1700" spc="-75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and </a:t>
            </a:r>
            <a:r>
              <a:rPr dirty="0" u="heavy" sz="1700" spc="-2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incorrectly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classified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as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negative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(-</a:t>
            </a:r>
            <a:r>
              <a:rPr dirty="0" sz="1700">
                <a:latin typeface="Arial MT"/>
                <a:cs typeface="Arial MT"/>
              </a:rPr>
              <a:t>).</a:t>
            </a:r>
            <a:r>
              <a:rPr dirty="0" sz="1700" spc="-45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This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is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also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known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as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 spc="-10">
                <a:solidFill>
                  <a:srgbClr val="0B5ED7"/>
                </a:solidFill>
                <a:latin typeface="Arial MT"/>
                <a:cs typeface="Arial MT"/>
              </a:rPr>
              <a:t>Type</a:t>
            </a:r>
            <a:r>
              <a:rPr dirty="0" sz="1700" spc="-70">
                <a:solidFill>
                  <a:srgbClr val="0B5ED7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0B5ED7"/>
                </a:solidFill>
                <a:latin typeface="Arial MT"/>
                <a:cs typeface="Arial MT"/>
              </a:rPr>
              <a:t>2</a:t>
            </a:r>
            <a:r>
              <a:rPr dirty="0" sz="1700" spc="-65">
                <a:solidFill>
                  <a:srgbClr val="0B5ED7"/>
                </a:solidFill>
                <a:latin typeface="Arial MT"/>
                <a:cs typeface="Arial MT"/>
              </a:rPr>
              <a:t> </a:t>
            </a:r>
            <a:r>
              <a:rPr dirty="0" sz="1700" spc="-10">
                <a:solidFill>
                  <a:srgbClr val="0B5ED7"/>
                </a:solidFill>
                <a:latin typeface="Arial MT"/>
                <a:cs typeface="Arial MT"/>
              </a:rPr>
              <a:t>Error</a:t>
            </a:r>
            <a:endParaRPr sz="1700">
              <a:latin typeface="Arial MT"/>
              <a:cs typeface="Arial MT"/>
            </a:endParaRPr>
          </a:p>
          <a:p>
            <a:pPr lvl="1" marL="589280" marR="5080" indent="-222250">
              <a:lnSpc>
                <a:spcPts val="1989"/>
              </a:lnSpc>
              <a:spcBef>
                <a:spcPts val="1195"/>
              </a:spcBef>
              <a:buClr>
                <a:srgbClr val="0F6FC6"/>
              </a:buClr>
              <a:buFont typeface="Arial MT"/>
              <a:buChar char="–"/>
              <a:tabLst>
                <a:tab pos="589280" algn="l"/>
              </a:tabLst>
            </a:pPr>
            <a:r>
              <a:rPr dirty="0" sz="1700" spc="-20" b="1">
                <a:solidFill>
                  <a:srgbClr val="0070C0"/>
                </a:solidFill>
                <a:latin typeface="Arial"/>
                <a:cs typeface="Arial"/>
              </a:rPr>
              <a:t>True</a:t>
            </a:r>
            <a:r>
              <a:rPr dirty="0" sz="1700" spc="-90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700" spc="-25" b="1">
                <a:solidFill>
                  <a:srgbClr val="0070C0"/>
                </a:solidFill>
                <a:latin typeface="Arial"/>
                <a:cs typeface="Arial"/>
              </a:rPr>
              <a:t>Negative</a:t>
            </a:r>
            <a:r>
              <a:rPr dirty="0" sz="1700" spc="-90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(TN)</a:t>
            </a:r>
            <a:r>
              <a:rPr dirty="0" sz="1700">
                <a:latin typeface="Arial MT"/>
                <a:cs typeface="Arial MT"/>
              </a:rPr>
              <a:t>: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The</a:t>
            </a:r>
            <a:r>
              <a:rPr dirty="0" sz="1700" spc="-85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number</a:t>
            </a:r>
            <a:r>
              <a:rPr dirty="0" sz="1700" spc="-7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of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instances</a:t>
            </a:r>
            <a:r>
              <a:rPr dirty="0" sz="1700" spc="-8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that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were</a:t>
            </a:r>
            <a:r>
              <a:rPr dirty="0" sz="1700" spc="-85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negative</a:t>
            </a:r>
            <a:r>
              <a:rPr dirty="0" sz="1700" spc="-85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(-</a:t>
            </a:r>
            <a:r>
              <a:rPr dirty="0" sz="1700">
                <a:latin typeface="Arial MT"/>
                <a:cs typeface="Arial MT"/>
              </a:rPr>
              <a:t>)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and</a:t>
            </a:r>
            <a:r>
              <a:rPr dirty="0" sz="1700" spc="-85">
                <a:latin typeface="Arial MT"/>
                <a:cs typeface="Arial MT"/>
              </a:rPr>
              <a:t> </a:t>
            </a:r>
            <a:r>
              <a:rPr dirty="0" u="heavy" sz="1700" spc="-1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correctly</a:t>
            </a:r>
            <a:r>
              <a:rPr dirty="0" sz="1700" spc="-10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classified</a:t>
            </a:r>
            <a:r>
              <a:rPr dirty="0" sz="1700" spc="-5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as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(-</a:t>
            </a:r>
            <a:r>
              <a:rPr dirty="0" sz="1700" spc="-50">
                <a:latin typeface="Arial MT"/>
                <a:cs typeface="Arial MT"/>
              </a:rPr>
              <a:t>)</a:t>
            </a:r>
            <a:endParaRPr sz="17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34106" y="1054785"/>
            <a:ext cx="3430711" cy="25973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61678" rIns="0" bIns="0" rtlCol="0" vert="horz">
            <a:spAutoFit/>
          </a:bodyPr>
          <a:lstStyle/>
          <a:p>
            <a:pPr marL="2068830">
              <a:lnSpc>
                <a:spcPct val="100000"/>
              </a:lnSpc>
              <a:spcBef>
                <a:spcPts val="100"/>
              </a:spcBef>
            </a:pPr>
            <a:r>
              <a:rPr dirty="0" sz="3300">
                <a:solidFill>
                  <a:srgbClr val="A50021"/>
                </a:solidFill>
              </a:rPr>
              <a:t>Confusion</a:t>
            </a:r>
            <a:r>
              <a:rPr dirty="0" sz="3300" spc="-135">
                <a:solidFill>
                  <a:srgbClr val="A50021"/>
                </a:solidFill>
              </a:rPr>
              <a:t> </a:t>
            </a:r>
            <a:r>
              <a:rPr dirty="0" sz="3300" spc="-10">
                <a:solidFill>
                  <a:srgbClr val="A50021"/>
                </a:solidFill>
              </a:rPr>
              <a:t>Matrix</a:t>
            </a:r>
            <a:endParaRPr sz="3300"/>
          </a:p>
        </p:txBody>
      </p:sp>
      <p:sp>
        <p:nvSpPr>
          <p:cNvPr id="3" name="object 3" descr=""/>
          <p:cNvSpPr txBox="1"/>
          <p:nvPr/>
        </p:nvSpPr>
        <p:spPr>
          <a:xfrm>
            <a:off x="1679097" y="3965350"/>
            <a:ext cx="6876415" cy="2872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8130" indent="-265430">
              <a:lnSpc>
                <a:spcPct val="100000"/>
              </a:lnSpc>
              <a:spcBef>
                <a:spcPts val="100"/>
              </a:spcBef>
              <a:buChar char="•"/>
              <a:tabLst>
                <a:tab pos="278130" algn="l"/>
              </a:tabLst>
            </a:pPr>
            <a:r>
              <a:rPr dirty="0" sz="1700">
                <a:latin typeface="Arial MT"/>
                <a:cs typeface="Arial MT"/>
              </a:rPr>
              <a:t>(TP</a:t>
            </a:r>
            <a:r>
              <a:rPr dirty="0" sz="1700" spc="-8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+</a:t>
            </a:r>
            <a:r>
              <a:rPr dirty="0" sz="1700" spc="-7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TN)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is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the</a:t>
            </a:r>
            <a:r>
              <a:rPr dirty="0" sz="1700" spc="-75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number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of</a:t>
            </a:r>
            <a:r>
              <a:rPr dirty="0" sz="1700" spc="-55">
                <a:latin typeface="Arial MT"/>
                <a:cs typeface="Arial MT"/>
              </a:rPr>
              <a:t> </a:t>
            </a:r>
            <a:r>
              <a:rPr dirty="0" sz="1700" spc="-20">
                <a:latin typeface="Arial MT"/>
                <a:cs typeface="Arial MT"/>
              </a:rPr>
              <a:t>correct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classifications</a:t>
            </a:r>
            <a:endParaRPr sz="1700">
              <a:latin typeface="Arial MT"/>
              <a:cs typeface="Arial MT"/>
            </a:endParaRPr>
          </a:p>
          <a:p>
            <a:pPr marL="278130" indent="-265430">
              <a:lnSpc>
                <a:spcPct val="100000"/>
              </a:lnSpc>
              <a:spcBef>
                <a:spcPts val="1270"/>
              </a:spcBef>
              <a:buChar char="•"/>
              <a:tabLst>
                <a:tab pos="278130" algn="l"/>
              </a:tabLst>
            </a:pPr>
            <a:r>
              <a:rPr dirty="0" sz="1700">
                <a:latin typeface="Arial MT"/>
                <a:cs typeface="Arial MT"/>
              </a:rPr>
              <a:t>(FP</a:t>
            </a:r>
            <a:r>
              <a:rPr dirty="0" sz="1700" spc="-8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+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FN)</a:t>
            </a:r>
            <a:r>
              <a:rPr dirty="0" sz="1700" spc="-5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is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the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number</a:t>
            </a:r>
            <a:r>
              <a:rPr dirty="0" sz="1700" spc="-5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of</a:t>
            </a:r>
            <a:r>
              <a:rPr dirty="0" sz="1700" spc="-55">
                <a:latin typeface="Arial MT"/>
                <a:cs typeface="Arial MT"/>
              </a:rPr>
              <a:t> </a:t>
            </a:r>
            <a:r>
              <a:rPr dirty="0" sz="1700" spc="-20">
                <a:latin typeface="Arial MT"/>
                <a:cs typeface="Arial MT"/>
              </a:rPr>
              <a:t>incorrect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 spc="-30">
                <a:latin typeface="Arial MT"/>
                <a:cs typeface="Arial MT"/>
              </a:rPr>
              <a:t>classification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(i.e.,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errors)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75"/>
              </a:spcBef>
              <a:buFont typeface="Arial MT"/>
              <a:buChar char="•"/>
            </a:pPr>
            <a:endParaRPr sz="1700">
              <a:latin typeface="Arial MT"/>
              <a:cs typeface="Arial MT"/>
            </a:endParaRPr>
          </a:p>
          <a:p>
            <a:pPr marL="278765" marR="50800" indent="-266700">
              <a:lnSpc>
                <a:spcPts val="1989"/>
              </a:lnSpc>
              <a:buChar char="•"/>
              <a:tabLst>
                <a:tab pos="278765" algn="l"/>
              </a:tabLst>
            </a:pPr>
            <a:r>
              <a:rPr dirty="0" sz="1700">
                <a:latin typeface="Arial MT"/>
                <a:cs typeface="Arial MT"/>
              </a:rPr>
              <a:t>To</a:t>
            </a:r>
            <a:r>
              <a:rPr dirty="0" sz="1700" spc="-80">
                <a:latin typeface="Arial MT"/>
                <a:cs typeface="Arial MT"/>
              </a:rPr>
              <a:t> </a:t>
            </a:r>
            <a:r>
              <a:rPr dirty="0" sz="1700" spc="-20">
                <a:latin typeface="Arial MT"/>
                <a:cs typeface="Arial MT"/>
              </a:rPr>
              <a:t>have</a:t>
            </a:r>
            <a:r>
              <a:rPr dirty="0" sz="1700" spc="-75">
                <a:latin typeface="Arial MT"/>
                <a:cs typeface="Arial MT"/>
              </a:rPr>
              <a:t> </a:t>
            </a:r>
            <a:r>
              <a:rPr dirty="0" sz="1700" spc="-20">
                <a:latin typeface="Arial MT"/>
                <a:cs typeface="Arial MT"/>
              </a:rPr>
              <a:t>good</a:t>
            </a:r>
            <a:r>
              <a:rPr dirty="0" sz="1700" spc="-80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accuracy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for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a</a:t>
            </a:r>
            <a:r>
              <a:rPr dirty="0" sz="1700" spc="-80">
                <a:latin typeface="Arial MT"/>
                <a:cs typeface="Arial MT"/>
              </a:rPr>
              <a:t> </a:t>
            </a:r>
            <a:r>
              <a:rPr dirty="0" sz="1700" spc="-20">
                <a:latin typeface="Arial MT"/>
                <a:cs typeface="Arial MT"/>
              </a:rPr>
              <a:t>classifier,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the</a:t>
            </a:r>
            <a:r>
              <a:rPr dirty="0" sz="1700" spc="-95"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C00000"/>
                </a:solidFill>
                <a:latin typeface="Arial MT"/>
                <a:cs typeface="Arial MT"/>
              </a:rPr>
              <a:t>left</a:t>
            </a:r>
            <a:r>
              <a:rPr dirty="0" sz="1700" spc="-6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C00000"/>
                </a:solidFill>
                <a:latin typeface="Arial MT"/>
                <a:cs typeface="Arial MT"/>
              </a:rPr>
              <a:t>to</a:t>
            </a:r>
            <a:r>
              <a:rPr dirty="0" sz="1700" spc="-8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1700" spc="-10">
                <a:solidFill>
                  <a:srgbClr val="C00000"/>
                </a:solidFill>
                <a:latin typeface="Arial MT"/>
                <a:cs typeface="Arial MT"/>
              </a:rPr>
              <a:t>right</a:t>
            </a:r>
            <a:r>
              <a:rPr dirty="0" sz="1700" spc="-6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1700" spc="-30">
                <a:solidFill>
                  <a:srgbClr val="C00000"/>
                </a:solidFill>
                <a:latin typeface="Arial MT"/>
                <a:cs typeface="Arial MT"/>
              </a:rPr>
              <a:t>diagonal</a:t>
            </a:r>
            <a:r>
              <a:rPr dirty="0" sz="1700" spc="-6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1700" spc="-10">
                <a:solidFill>
                  <a:srgbClr val="C00000"/>
                </a:solidFill>
                <a:latin typeface="Arial MT"/>
                <a:cs typeface="Arial MT"/>
              </a:rPr>
              <a:t>entries </a:t>
            </a:r>
            <a:r>
              <a:rPr dirty="0" sz="1700" spc="-25">
                <a:latin typeface="Arial MT"/>
                <a:cs typeface="Arial MT"/>
              </a:rPr>
              <a:t>should</a:t>
            </a:r>
            <a:r>
              <a:rPr dirty="0" sz="1700" spc="-85">
                <a:latin typeface="Arial MT"/>
                <a:cs typeface="Arial MT"/>
              </a:rPr>
              <a:t> </a:t>
            </a:r>
            <a:r>
              <a:rPr dirty="0" sz="1700" spc="-20">
                <a:latin typeface="Arial MT"/>
                <a:cs typeface="Arial MT"/>
              </a:rPr>
              <a:t>have</a:t>
            </a:r>
            <a:r>
              <a:rPr dirty="0" sz="1700" spc="-8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large</a:t>
            </a:r>
            <a:r>
              <a:rPr dirty="0" sz="1700" spc="-85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values</a:t>
            </a:r>
            <a:r>
              <a:rPr dirty="0" sz="1700" spc="-8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with</a:t>
            </a:r>
            <a:r>
              <a:rPr dirty="0" sz="1700" spc="-8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the</a:t>
            </a:r>
            <a:r>
              <a:rPr dirty="0" sz="1700" spc="-8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rest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 spc="-20">
                <a:latin typeface="Arial MT"/>
                <a:cs typeface="Arial MT"/>
              </a:rPr>
              <a:t>close</a:t>
            </a:r>
            <a:r>
              <a:rPr dirty="0" sz="1700" spc="-8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to</a:t>
            </a:r>
            <a:r>
              <a:rPr dirty="0" sz="1700" spc="-80">
                <a:latin typeface="Arial MT"/>
                <a:cs typeface="Arial MT"/>
              </a:rPr>
              <a:t> </a:t>
            </a:r>
            <a:r>
              <a:rPr dirty="0" sz="1700" spc="-20">
                <a:latin typeface="Arial MT"/>
                <a:cs typeface="Arial MT"/>
              </a:rPr>
              <a:t>zero</a:t>
            </a:r>
            <a:endParaRPr sz="1700">
              <a:latin typeface="Arial MT"/>
              <a:cs typeface="Arial MT"/>
            </a:endParaRPr>
          </a:p>
          <a:p>
            <a:pPr marL="278765" marR="5080" indent="-266700">
              <a:lnSpc>
                <a:spcPts val="2020"/>
              </a:lnSpc>
              <a:spcBef>
                <a:spcPts val="1275"/>
              </a:spcBef>
              <a:buChar char="•"/>
              <a:tabLst>
                <a:tab pos="278765" algn="l"/>
              </a:tabLst>
            </a:pPr>
            <a:r>
              <a:rPr dirty="0" sz="1700">
                <a:latin typeface="Arial MT"/>
                <a:cs typeface="Arial MT"/>
              </a:rPr>
              <a:t>For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a</a:t>
            </a:r>
            <a:r>
              <a:rPr dirty="0" sz="1700" spc="-75">
                <a:latin typeface="Arial MT"/>
                <a:cs typeface="Arial MT"/>
              </a:rPr>
              <a:t> </a:t>
            </a:r>
            <a:r>
              <a:rPr dirty="0" sz="1700" spc="-20" b="1">
                <a:solidFill>
                  <a:srgbClr val="0070C0"/>
                </a:solidFill>
                <a:latin typeface="Arial"/>
                <a:cs typeface="Arial"/>
              </a:rPr>
              <a:t>perfect</a:t>
            </a:r>
            <a:r>
              <a:rPr dirty="0" sz="1700" spc="-60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700" spc="-25" b="1">
                <a:solidFill>
                  <a:srgbClr val="0070C0"/>
                </a:solidFill>
                <a:latin typeface="Arial"/>
                <a:cs typeface="Arial"/>
              </a:rPr>
              <a:t>classifier</a:t>
            </a:r>
            <a:r>
              <a:rPr dirty="0" sz="1700" spc="-70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700" spc="-10">
                <a:latin typeface="Arial MT"/>
                <a:cs typeface="Arial MT"/>
              </a:rPr>
              <a:t>FP</a:t>
            </a:r>
            <a:r>
              <a:rPr dirty="0" sz="1700" spc="-10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=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FN</a:t>
            </a:r>
            <a:r>
              <a:rPr dirty="0" sz="1700" spc="-8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=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0,</a:t>
            </a:r>
            <a:r>
              <a:rPr dirty="0" sz="1700" spc="-5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that</a:t>
            </a:r>
            <a:r>
              <a:rPr dirty="0" sz="1700" spc="-5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is,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there</a:t>
            </a:r>
            <a:r>
              <a:rPr dirty="0" sz="1700" spc="-75">
                <a:latin typeface="Arial MT"/>
                <a:cs typeface="Arial MT"/>
              </a:rPr>
              <a:t> </a:t>
            </a:r>
            <a:r>
              <a:rPr dirty="0" sz="1700" spc="-20">
                <a:latin typeface="Arial MT"/>
                <a:cs typeface="Arial MT"/>
              </a:rPr>
              <a:t>would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be</a:t>
            </a:r>
            <a:r>
              <a:rPr dirty="0" sz="1700" spc="-95"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0B5ED7"/>
                </a:solidFill>
                <a:latin typeface="Arial MT"/>
                <a:cs typeface="Arial MT"/>
              </a:rPr>
              <a:t>no</a:t>
            </a:r>
            <a:r>
              <a:rPr dirty="0" sz="1700" spc="-100">
                <a:solidFill>
                  <a:srgbClr val="0B5ED7"/>
                </a:solidFill>
                <a:latin typeface="Arial MT"/>
                <a:cs typeface="Arial MT"/>
              </a:rPr>
              <a:t> </a:t>
            </a:r>
            <a:r>
              <a:rPr dirty="0" sz="1700" spc="-50">
                <a:solidFill>
                  <a:srgbClr val="0B5ED7"/>
                </a:solidFill>
                <a:latin typeface="Arial MT"/>
                <a:cs typeface="Arial MT"/>
              </a:rPr>
              <a:t>Type</a:t>
            </a:r>
            <a:r>
              <a:rPr dirty="0" sz="1700" spc="-70">
                <a:solidFill>
                  <a:srgbClr val="0B5ED7"/>
                </a:solidFill>
                <a:latin typeface="Arial MT"/>
                <a:cs typeface="Arial MT"/>
              </a:rPr>
              <a:t> </a:t>
            </a:r>
            <a:r>
              <a:rPr dirty="0" sz="1700" spc="-50">
                <a:solidFill>
                  <a:srgbClr val="0B5ED7"/>
                </a:solidFill>
                <a:latin typeface="Arial MT"/>
                <a:cs typeface="Arial MT"/>
              </a:rPr>
              <a:t>1 </a:t>
            </a:r>
            <a:r>
              <a:rPr dirty="0" sz="1700">
                <a:solidFill>
                  <a:srgbClr val="0B5ED7"/>
                </a:solidFill>
                <a:latin typeface="Arial MT"/>
                <a:cs typeface="Arial MT"/>
              </a:rPr>
              <a:t>or</a:t>
            </a:r>
            <a:r>
              <a:rPr dirty="0" sz="1700" spc="-75">
                <a:solidFill>
                  <a:srgbClr val="0B5ED7"/>
                </a:solidFill>
                <a:latin typeface="Arial MT"/>
                <a:cs typeface="Arial MT"/>
              </a:rPr>
              <a:t> </a:t>
            </a:r>
            <a:r>
              <a:rPr dirty="0" sz="1700" spc="-50">
                <a:solidFill>
                  <a:srgbClr val="0B5ED7"/>
                </a:solidFill>
                <a:latin typeface="Arial MT"/>
                <a:cs typeface="Arial MT"/>
              </a:rPr>
              <a:t>Type</a:t>
            </a:r>
            <a:r>
              <a:rPr dirty="0" sz="1700" spc="-55">
                <a:solidFill>
                  <a:srgbClr val="0B5ED7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0B5ED7"/>
                </a:solidFill>
                <a:latin typeface="Arial MT"/>
                <a:cs typeface="Arial MT"/>
              </a:rPr>
              <a:t>2</a:t>
            </a:r>
            <a:r>
              <a:rPr dirty="0" sz="1700" spc="-55">
                <a:solidFill>
                  <a:srgbClr val="0B5ED7"/>
                </a:solidFill>
                <a:latin typeface="Arial MT"/>
                <a:cs typeface="Arial MT"/>
              </a:rPr>
              <a:t> </a:t>
            </a:r>
            <a:r>
              <a:rPr dirty="0" sz="1700" spc="-10">
                <a:solidFill>
                  <a:srgbClr val="0B5ED7"/>
                </a:solidFill>
                <a:latin typeface="Arial MT"/>
                <a:cs typeface="Arial MT"/>
              </a:rPr>
              <a:t>errors</a:t>
            </a:r>
            <a:endParaRPr sz="1700">
              <a:latin typeface="Arial MT"/>
              <a:cs typeface="Arial MT"/>
            </a:endParaRPr>
          </a:p>
          <a:p>
            <a:pPr marL="278765" marR="142875" indent="-266700">
              <a:lnSpc>
                <a:spcPts val="2020"/>
              </a:lnSpc>
              <a:spcBef>
                <a:spcPts val="1170"/>
              </a:spcBef>
              <a:buChar char="•"/>
              <a:tabLst>
                <a:tab pos="278765" algn="l"/>
              </a:tabLst>
            </a:pPr>
            <a:r>
              <a:rPr dirty="0" sz="1700" spc="-20">
                <a:latin typeface="Arial MT"/>
                <a:cs typeface="Arial MT"/>
              </a:rPr>
              <a:t>There</a:t>
            </a:r>
            <a:r>
              <a:rPr dirty="0" sz="1700" spc="-8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may</a:t>
            </a:r>
            <a:r>
              <a:rPr dirty="0" sz="1700" spc="-7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be</a:t>
            </a:r>
            <a:r>
              <a:rPr dirty="0" sz="1700" spc="-75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additional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rows</a:t>
            </a:r>
            <a:r>
              <a:rPr dirty="0" sz="1700" spc="-7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or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columns</a:t>
            </a:r>
            <a:r>
              <a:rPr dirty="0" sz="1700" spc="-7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to</a:t>
            </a:r>
            <a:r>
              <a:rPr dirty="0" sz="1700" spc="-80">
                <a:latin typeface="Arial MT"/>
                <a:cs typeface="Arial MT"/>
              </a:rPr>
              <a:t> </a:t>
            </a:r>
            <a:r>
              <a:rPr dirty="0" sz="1700" spc="-20">
                <a:latin typeface="Arial MT"/>
                <a:cs typeface="Arial MT"/>
              </a:rPr>
              <a:t>provide</a:t>
            </a:r>
            <a:r>
              <a:rPr dirty="0" sz="1700" spc="-75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recognition</a:t>
            </a:r>
            <a:r>
              <a:rPr dirty="0" sz="1700" spc="-8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rates </a:t>
            </a:r>
            <a:r>
              <a:rPr dirty="0" sz="1700">
                <a:latin typeface="Arial MT"/>
                <a:cs typeface="Arial MT"/>
              </a:rPr>
              <a:t>per</a:t>
            </a:r>
            <a:r>
              <a:rPr dirty="0" sz="1700" spc="-85">
                <a:latin typeface="Arial MT"/>
                <a:cs typeface="Arial MT"/>
              </a:rPr>
              <a:t> </a:t>
            </a:r>
            <a:r>
              <a:rPr dirty="0" sz="1700" spc="-20">
                <a:latin typeface="Arial MT"/>
                <a:cs typeface="Arial MT"/>
              </a:rPr>
              <a:t>class</a:t>
            </a:r>
            <a:r>
              <a:rPr dirty="0" sz="1700" spc="-85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and</a:t>
            </a:r>
            <a:r>
              <a:rPr dirty="0" sz="1700" spc="-95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totals</a:t>
            </a:r>
            <a:endParaRPr sz="17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21007" y="535419"/>
            <a:ext cx="4409606" cy="326139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795310" y="1919115"/>
            <a:ext cx="6421120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900" spc="-20">
                <a:solidFill>
                  <a:srgbClr val="0B5ED7"/>
                </a:solidFill>
                <a:latin typeface="Times New Roman"/>
                <a:cs typeface="Times New Roman"/>
              </a:rPr>
              <a:t>Confusion</a:t>
            </a:r>
            <a:r>
              <a:rPr dirty="0" sz="1900" spc="-70">
                <a:solidFill>
                  <a:srgbClr val="0B5ED7"/>
                </a:solidFill>
                <a:latin typeface="Times New Roman"/>
                <a:cs typeface="Times New Roman"/>
              </a:rPr>
              <a:t> </a:t>
            </a:r>
            <a:r>
              <a:rPr dirty="0" sz="1900" spc="-10">
                <a:solidFill>
                  <a:srgbClr val="0B5ED7"/>
                </a:solidFill>
                <a:latin typeface="Times New Roman"/>
                <a:cs typeface="Times New Roman"/>
              </a:rPr>
              <a:t>matrix</a:t>
            </a:r>
            <a:r>
              <a:rPr dirty="0" sz="1900" spc="-70">
                <a:solidFill>
                  <a:srgbClr val="0B5ED7"/>
                </a:solidFill>
                <a:latin typeface="Times New Roman"/>
                <a:cs typeface="Times New Roman"/>
              </a:rPr>
              <a:t> </a:t>
            </a:r>
            <a:r>
              <a:rPr dirty="0" sz="1900">
                <a:solidFill>
                  <a:srgbClr val="0B5ED7"/>
                </a:solidFill>
                <a:latin typeface="Times New Roman"/>
                <a:cs typeface="Times New Roman"/>
              </a:rPr>
              <a:t>with</a:t>
            </a:r>
            <a:r>
              <a:rPr dirty="0" sz="1900" spc="-65">
                <a:solidFill>
                  <a:srgbClr val="0B5ED7"/>
                </a:solidFill>
                <a:latin typeface="Times New Roman"/>
                <a:cs typeface="Times New Roman"/>
              </a:rPr>
              <a:t> </a:t>
            </a:r>
            <a:r>
              <a:rPr dirty="0" sz="1900">
                <a:solidFill>
                  <a:srgbClr val="0B5ED7"/>
                </a:solidFill>
                <a:latin typeface="Times New Roman"/>
                <a:cs typeface="Times New Roman"/>
              </a:rPr>
              <a:t>six</a:t>
            </a:r>
            <a:r>
              <a:rPr dirty="0" sz="1900" spc="-70">
                <a:solidFill>
                  <a:srgbClr val="0B5ED7"/>
                </a:solidFill>
                <a:latin typeface="Times New Roman"/>
                <a:cs typeface="Times New Roman"/>
              </a:rPr>
              <a:t> </a:t>
            </a:r>
            <a:r>
              <a:rPr dirty="0" sz="1900" spc="-10">
                <a:solidFill>
                  <a:srgbClr val="0B5ED7"/>
                </a:solidFill>
                <a:latin typeface="Times New Roman"/>
                <a:cs typeface="Times New Roman"/>
              </a:rPr>
              <a:t>classes</a:t>
            </a:r>
            <a:r>
              <a:rPr dirty="0" sz="1900" spc="-65">
                <a:solidFill>
                  <a:srgbClr val="0B5ED7"/>
                </a:solidFill>
                <a:latin typeface="Times New Roman"/>
                <a:cs typeface="Times New Roman"/>
              </a:rPr>
              <a:t> </a:t>
            </a:r>
            <a:r>
              <a:rPr dirty="0" sz="1900" spc="-10">
                <a:solidFill>
                  <a:srgbClr val="0B5ED7"/>
                </a:solidFill>
                <a:latin typeface="Times New Roman"/>
                <a:cs typeface="Times New Roman"/>
              </a:rPr>
              <a:t>labeled</a:t>
            </a:r>
            <a:r>
              <a:rPr dirty="0" sz="1900" spc="-65">
                <a:solidFill>
                  <a:srgbClr val="0B5ED7"/>
                </a:solidFill>
                <a:latin typeface="Times New Roman"/>
                <a:cs typeface="Times New Roman"/>
              </a:rPr>
              <a:t> </a:t>
            </a:r>
            <a:r>
              <a:rPr dirty="0" sz="1900">
                <a:solidFill>
                  <a:srgbClr val="0B5ED7"/>
                </a:solidFill>
                <a:latin typeface="Times New Roman"/>
                <a:cs typeface="Times New Roman"/>
              </a:rPr>
              <a:t>C</a:t>
            </a:r>
            <a:r>
              <a:rPr dirty="0" baseline="-18518" sz="1800">
                <a:solidFill>
                  <a:srgbClr val="0B5ED7"/>
                </a:solidFill>
                <a:latin typeface="Times New Roman"/>
                <a:cs typeface="Times New Roman"/>
              </a:rPr>
              <a:t>1</a:t>
            </a:r>
            <a:r>
              <a:rPr dirty="0" sz="1900">
                <a:solidFill>
                  <a:srgbClr val="0B5ED7"/>
                </a:solidFill>
                <a:latin typeface="Times New Roman"/>
                <a:cs typeface="Times New Roman"/>
              </a:rPr>
              <a:t>,</a:t>
            </a:r>
            <a:r>
              <a:rPr dirty="0" sz="1900" spc="-60">
                <a:solidFill>
                  <a:srgbClr val="0B5ED7"/>
                </a:solidFill>
                <a:latin typeface="Times New Roman"/>
                <a:cs typeface="Times New Roman"/>
              </a:rPr>
              <a:t> </a:t>
            </a:r>
            <a:r>
              <a:rPr dirty="0" sz="1900">
                <a:solidFill>
                  <a:srgbClr val="0B5ED7"/>
                </a:solidFill>
                <a:latin typeface="Times New Roman"/>
                <a:cs typeface="Times New Roman"/>
              </a:rPr>
              <a:t>C</a:t>
            </a:r>
            <a:r>
              <a:rPr dirty="0" baseline="-18518" sz="1800">
                <a:solidFill>
                  <a:srgbClr val="0B5ED7"/>
                </a:solidFill>
                <a:latin typeface="Times New Roman"/>
                <a:cs typeface="Times New Roman"/>
              </a:rPr>
              <a:t>2</a:t>
            </a:r>
            <a:r>
              <a:rPr dirty="0" sz="1900">
                <a:solidFill>
                  <a:srgbClr val="0B5ED7"/>
                </a:solidFill>
                <a:latin typeface="Times New Roman"/>
                <a:cs typeface="Times New Roman"/>
              </a:rPr>
              <a:t>,</a:t>
            </a:r>
            <a:r>
              <a:rPr dirty="0" sz="1900" spc="-60">
                <a:solidFill>
                  <a:srgbClr val="0B5ED7"/>
                </a:solidFill>
                <a:latin typeface="Times New Roman"/>
                <a:cs typeface="Times New Roman"/>
              </a:rPr>
              <a:t> </a:t>
            </a:r>
            <a:r>
              <a:rPr dirty="0" sz="1900">
                <a:solidFill>
                  <a:srgbClr val="0B5ED7"/>
                </a:solidFill>
                <a:latin typeface="Times New Roman"/>
                <a:cs typeface="Times New Roman"/>
              </a:rPr>
              <a:t>C</a:t>
            </a:r>
            <a:r>
              <a:rPr dirty="0" baseline="-18518" sz="1800">
                <a:solidFill>
                  <a:srgbClr val="0B5ED7"/>
                </a:solidFill>
                <a:latin typeface="Times New Roman"/>
                <a:cs typeface="Times New Roman"/>
              </a:rPr>
              <a:t>3</a:t>
            </a:r>
            <a:r>
              <a:rPr dirty="0" sz="1900">
                <a:solidFill>
                  <a:srgbClr val="0B5ED7"/>
                </a:solidFill>
                <a:latin typeface="Times New Roman"/>
                <a:cs typeface="Times New Roman"/>
              </a:rPr>
              <a:t>,</a:t>
            </a:r>
            <a:r>
              <a:rPr dirty="0" sz="1900" spc="-60">
                <a:solidFill>
                  <a:srgbClr val="0B5ED7"/>
                </a:solidFill>
                <a:latin typeface="Times New Roman"/>
                <a:cs typeface="Times New Roman"/>
              </a:rPr>
              <a:t> </a:t>
            </a:r>
            <a:r>
              <a:rPr dirty="0" sz="1900">
                <a:solidFill>
                  <a:srgbClr val="0B5ED7"/>
                </a:solidFill>
                <a:latin typeface="Times New Roman"/>
                <a:cs typeface="Times New Roman"/>
              </a:rPr>
              <a:t>C</a:t>
            </a:r>
            <a:r>
              <a:rPr dirty="0" baseline="-18518" sz="1800">
                <a:solidFill>
                  <a:srgbClr val="0B5ED7"/>
                </a:solidFill>
                <a:latin typeface="Times New Roman"/>
                <a:cs typeface="Times New Roman"/>
              </a:rPr>
              <a:t>4</a:t>
            </a:r>
            <a:r>
              <a:rPr dirty="0" sz="1900">
                <a:solidFill>
                  <a:srgbClr val="0B5ED7"/>
                </a:solidFill>
                <a:latin typeface="Times New Roman"/>
                <a:cs typeface="Times New Roman"/>
              </a:rPr>
              <a:t>,</a:t>
            </a:r>
            <a:r>
              <a:rPr dirty="0" sz="1900" spc="-60">
                <a:solidFill>
                  <a:srgbClr val="0B5ED7"/>
                </a:solidFill>
                <a:latin typeface="Times New Roman"/>
                <a:cs typeface="Times New Roman"/>
              </a:rPr>
              <a:t> </a:t>
            </a:r>
            <a:r>
              <a:rPr dirty="0" sz="1900">
                <a:solidFill>
                  <a:srgbClr val="0B5ED7"/>
                </a:solidFill>
                <a:latin typeface="Times New Roman"/>
                <a:cs typeface="Times New Roman"/>
              </a:rPr>
              <a:t>C</a:t>
            </a:r>
            <a:r>
              <a:rPr dirty="0" baseline="-18518" sz="1800">
                <a:solidFill>
                  <a:srgbClr val="0B5ED7"/>
                </a:solidFill>
                <a:latin typeface="Times New Roman"/>
                <a:cs typeface="Times New Roman"/>
              </a:rPr>
              <a:t>5</a:t>
            </a:r>
            <a:r>
              <a:rPr dirty="0" baseline="-18518" sz="1800" spc="217">
                <a:solidFill>
                  <a:srgbClr val="0B5ED7"/>
                </a:solidFill>
                <a:latin typeface="Times New Roman"/>
                <a:cs typeface="Times New Roman"/>
              </a:rPr>
              <a:t> </a:t>
            </a:r>
            <a:r>
              <a:rPr dirty="0" sz="1900">
                <a:solidFill>
                  <a:srgbClr val="0B5ED7"/>
                </a:solidFill>
                <a:latin typeface="Times New Roman"/>
                <a:cs typeface="Times New Roman"/>
              </a:rPr>
              <a:t>and</a:t>
            </a:r>
            <a:r>
              <a:rPr dirty="0" sz="1900" spc="-70">
                <a:solidFill>
                  <a:srgbClr val="0B5ED7"/>
                </a:solidFill>
                <a:latin typeface="Times New Roman"/>
                <a:cs typeface="Times New Roman"/>
              </a:rPr>
              <a:t> </a:t>
            </a:r>
            <a:r>
              <a:rPr dirty="0" sz="1900" spc="-25">
                <a:solidFill>
                  <a:srgbClr val="0B5ED7"/>
                </a:solidFill>
                <a:latin typeface="Times New Roman"/>
                <a:cs typeface="Times New Roman"/>
              </a:rPr>
              <a:t>C</a:t>
            </a:r>
            <a:r>
              <a:rPr dirty="0" baseline="-18518" sz="1800" spc="-37">
                <a:solidFill>
                  <a:srgbClr val="0B5ED7"/>
                </a:solidFill>
                <a:latin typeface="Times New Roman"/>
                <a:cs typeface="Times New Roman"/>
              </a:rPr>
              <a:t>6</a:t>
            </a:r>
            <a:endParaRPr baseline="-18518" sz="1800">
              <a:latin typeface="Times New Roman"/>
              <a:cs typeface="Times New Roman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1605783" y="2410540"/>
          <a:ext cx="6875145" cy="2914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9644"/>
                <a:gridCol w="969644"/>
                <a:gridCol w="969644"/>
                <a:gridCol w="969644"/>
                <a:gridCol w="969645"/>
                <a:gridCol w="969645"/>
                <a:gridCol w="969645"/>
              </a:tblGrid>
              <a:tr h="4114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Class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76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4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76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4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76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4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76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4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76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4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76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4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dirty="0" baseline="-12345" sz="1350" spc="-37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baseline="-12345" sz="1350">
                        <a:latin typeface="Arial"/>
                        <a:cs typeface="Arial"/>
                      </a:endParaRPr>
                    </a:p>
                  </a:txBody>
                  <a:tcPr marL="0" marR="0" marB="0" marT="476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400" spc="-2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C1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469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52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69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10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69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69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69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69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69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400" spc="-2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C2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469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15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69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50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69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69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69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69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69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3F9FA"/>
                    </a:solidFill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400" spc="-2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C3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469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69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69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69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69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69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69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400" spc="-2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C4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469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69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69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69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10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69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69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69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3F9FA"/>
                    </a:solidFill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400" spc="-2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C5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469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69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69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69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69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69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69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400" spc="-2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C</a:t>
                      </a:r>
                      <a:r>
                        <a:rPr dirty="0" baseline="-12345" sz="1350" spc="-37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6</a:t>
                      </a:r>
                      <a:endParaRPr baseline="-12345" sz="1350">
                        <a:latin typeface="Arial MT"/>
                        <a:cs typeface="Arial MT"/>
                      </a:endParaRPr>
                    </a:p>
                  </a:txBody>
                  <a:tcPr marL="0" marR="0" marB="0" marT="469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69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69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69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69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69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24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69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17815" rIns="0" bIns="0" rtlCol="0" vert="horz">
            <a:spAutoFit/>
          </a:bodyPr>
          <a:lstStyle/>
          <a:p>
            <a:pPr marL="676275">
              <a:lnSpc>
                <a:spcPct val="100000"/>
              </a:lnSpc>
              <a:spcBef>
                <a:spcPts val="100"/>
              </a:spcBef>
            </a:pPr>
            <a:r>
              <a:rPr dirty="0"/>
              <a:t>Confusion</a:t>
            </a:r>
            <a:r>
              <a:rPr dirty="0" spc="-100"/>
              <a:t> </a:t>
            </a:r>
            <a:r>
              <a:rPr dirty="0"/>
              <a:t>Matrix</a:t>
            </a:r>
            <a:r>
              <a:rPr dirty="0" spc="-100"/>
              <a:t> </a:t>
            </a:r>
            <a:r>
              <a:rPr dirty="0"/>
              <a:t>for</a:t>
            </a:r>
            <a:r>
              <a:rPr dirty="0" spc="-95"/>
              <a:t> </a:t>
            </a:r>
            <a:r>
              <a:rPr dirty="0"/>
              <a:t>a</a:t>
            </a:r>
            <a:r>
              <a:rPr dirty="0" spc="-100"/>
              <a:t> </a:t>
            </a:r>
            <a:r>
              <a:rPr dirty="0"/>
              <a:t>Multiclass</a:t>
            </a:r>
            <a:r>
              <a:rPr dirty="0" spc="-95"/>
              <a:t> </a:t>
            </a:r>
            <a:r>
              <a:rPr dirty="0" spc="-10"/>
              <a:t>Classifier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6844722" y="5665107"/>
            <a:ext cx="1908175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10">
                <a:solidFill>
                  <a:srgbClr val="CC3300"/>
                </a:solidFill>
                <a:latin typeface="Arial MT"/>
                <a:cs typeface="Arial MT"/>
              </a:rPr>
              <a:t>Class</a:t>
            </a:r>
            <a:r>
              <a:rPr dirty="0" sz="1900" spc="-120">
                <a:solidFill>
                  <a:srgbClr val="CC3300"/>
                </a:solidFill>
                <a:latin typeface="Arial MT"/>
                <a:cs typeface="Arial MT"/>
              </a:rPr>
              <a:t> </a:t>
            </a:r>
            <a:r>
              <a:rPr dirty="0" sz="1900" spc="-20">
                <a:solidFill>
                  <a:srgbClr val="CC3300"/>
                </a:solidFill>
                <a:latin typeface="Arial MT"/>
                <a:cs typeface="Arial MT"/>
              </a:rPr>
              <a:t>Imbalance?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413997" y="5665107"/>
            <a:ext cx="2209800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25">
                <a:solidFill>
                  <a:srgbClr val="CC3300"/>
                </a:solidFill>
                <a:latin typeface="Arial MT"/>
                <a:cs typeface="Arial MT"/>
              </a:rPr>
              <a:t>Predictive</a:t>
            </a:r>
            <a:r>
              <a:rPr dirty="0" sz="1900" spc="-35">
                <a:solidFill>
                  <a:srgbClr val="CC3300"/>
                </a:solidFill>
                <a:latin typeface="Arial MT"/>
                <a:cs typeface="Arial MT"/>
              </a:rPr>
              <a:t> </a:t>
            </a:r>
            <a:r>
              <a:rPr dirty="0" sz="1900" spc="-10">
                <a:solidFill>
                  <a:srgbClr val="CC3300"/>
                </a:solidFill>
                <a:latin typeface="Arial MT"/>
                <a:cs typeface="Arial MT"/>
              </a:rPr>
              <a:t>accuracy?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208975" y="5665107"/>
            <a:ext cx="2052955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10">
                <a:solidFill>
                  <a:srgbClr val="CC3300"/>
                </a:solidFill>
                <a:latin typeface="Arial MT"/>
                <a:cs typeface="Arial MT"/>
              </a:rPr>
              <a:t>Class</a:t>
            </a:r>
            <a:r>
              <a:rPr dirty="0" sz="1900" spc="-120">
                <a:solidFill>
                  <a:srgbClr val="CC3300"/>
                </a:solidFill>
                <a:latin typeface="Arial MT"/>
                <a:cs typeface="Arial MT"/>
              </a:rPr>
              <a:t> </a:t>
            </a:r>
            <a:r>
              <a:rPr dirty="0" sz="1900" spc="-10">
                <a:solidFill>
                  <a:srgbClr val="CC3300"/>
                </a:solidFill>
                <a:latin typeface="Arial MT"/>
                <a:cs typeface="Arial MT"/>
              </a:rPr>
              <a:t>Separability?</a:t>
            </a:r>
            <a:endParaRPr sz="1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5661" y="3197651"/>
            <a:ext cx="8777948" cy="364768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9060" rIns="0" bIns="0" rtlCol="0" vert="horz">
            <a:spAutoFit/>
          </a:bodyPr>
          <a:lstStyle/>
          <a:p>
            <a:pPr marL="2466975" marR="5080" indent="-415290">
              <a:lnSpc>
                <a:spcPts val="2900"/>
              </a:lnSpc>
              <a:spcBef>
                <a:spcPts val="780"/>
              </a:spcBef>
            </a:pPr>
            <a:r>
              <a:rPr dirty="0" sz="3000"/>
              <a:t>Analysis</a:t>
            </a:r>
            <a:r>
              <a:rPr dirty="0" sz="3000" spc="-5"/>
              <a:t> </a:t>
            </a:r>
            <a:r>
              <a:rPr dirty="0" sz="3000"/>
              <a:t>with </a:t>
            </a:r>
            <a:r>
              <a:rPr dirty="0" sz="3000" spc="-10"/>
              <a:t>Performance </a:t>
            </a:r>
            <a:r>
              <a:rPr dirty="0" sz="3000"/>
              <a:t>Measurement</a:t>
            </a:r>
            <a:r>
              <a:rPr dirty="0" sz="3000" spc="-70"/>
              <a:t> </a:t>
            </a:r>
            <a:r>
              <a:rPr dirty="0" sz="3000" spc="-10"/>
              <a:t>Metrics</a:t>
            </a:r>
            <a:endParaRPr sz="3000"/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11037" y="1110642"/>
            <a:ext cx="2911099" cy="17900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609601" y="1444751"/>
            <a:ext cx="9461500" cy="5875020"/>
            <a:chOff x="609601" y="1444751"/>
            <a:chExt cx="9461500" cy="587502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9328" y="1444751"/>
              <a:ext cx="9150096" cy="560832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8343" y="1643479"/>
              <a:ext cx="8751887" cy="521113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3171" rIns="0" bIns="0" rtlCol="0" vert="horz">
            <a:spAutoFit/>
          </a:bodyPr>
          <a:lstStyle/>
          <a:p>
            <a:pPr marL="2049780" marR="5080" indent="-415290">
              <a:lnSpc>
                <a:spcPts val="2900"/>
              </a:lnSpc>
              <a:spcBef>
                <a:spcPts val="780"/>
              </a:spcBef>
            </a:pPr>
            <a:r>
              <a:rPr dirty="0" sz="3000"/>
              <a:t>Analysis</a:t>
            </a:r>
            <a:r>
              <a:rPr dirty="0" sz="3000" spc="-5"/>
              <a:t> </a:t>
            </a:r>
            <a:r>
              <a:rPr dirty="0" sz="3000"/>
              <a:t>with </a:t>
            </a:r>
            <a:r>
              <a:rPr dirty="0" sz="3000" spc="-10"/>
              <a:t>Performance </a:t>
            </a:r>
            <a:r>
              <a:rPr dirty="0" sz="3000"/>
              <a:t>Measurement</a:t>
            </a:r>
            <a:r>
              <a:rPr dirty="0" sz="3000" spc="-70"/>
              <a:t> </a:t>
            </a:r>
            <a:r>
              <a:rPr dirty="0" sz="3000" spc="-10"/>
              <a:t>Metrics</a:t>
            </a:r>
            <a:endParaRPr sz="3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7261" rIns="0" bIns="0" rtlCol="0" vert="horz">
            <a:spAutoFit/>
          </a:bodyPr>
          <a:lstStyle/>
          <a:p>
            <a:pPr marL="2687320">
              <a:lnSpc>
                <a:spcPct val="100000"/>
              </a:lnSpc>
              <a:spcBef>
                <a:spcPts val="100"/>
              </a:spcBef>
            </a:pPr>
            <a:r>
              <a:rPr dirty="0" sz="2900"/>
              <a:t>Accuracy</a:t>
            </a:r>
            <a:r>
              <a:rPr dirty="0" sz="2900" spc="-70"/>
              <a:t> </a:t>
            </a:r>
            <a:r>
              <a:rPr dirty="0" sz="2900" spc="-10"/>
              <a:t>Estimation</a:t>
            </a:r>
            <a:endParaRPr sz="2900"/>
          </a:p>
        </p:txBody>
      </p:sp>
      <p:sp>
        <p:nvSpPr>
          <p:cNvPr id="3" name="object 3" descr=""/>
          <p:cNvSpPr txBox="1"/>
          <p:nvPr/>
        </p:nvSpPr>
        <p:spPr>
          <a:xfrm>
            <a:off x="1403621" y="1941495"/>
            <a:ext cx="7541895" cy="1039494"/>
          </a:xfrm>
          <a:prstGeom prst="rect">
            <a:avLst/>
          </a:prstGeom>
        </p:spPr>
        <p:txBody>
          <a:bodyPr wrap="square" lIns="0" tIns="77470" rIns="0" bIns="0" rtlCol="0" vert="horz">
            <a:spAutoFit/>
          </a:bodyPr>
          <a:lstStyle/>
          <a:p>
            <a:pPr marL="278130" indent="-265430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278130" algn="l"/>
              </a:tabLst>
            </a:pPr>
            <a:r>
              <a:rPr dirty="0" sz="2100" spc="-10" b="1">
                <a:solidFill>
                  <a:srgbClr val="A50021"/>
                </a:solidFill>
                <a:latin typeface="Arial"/>
                <a:cs typeface="Arial"/>
              </a:rPr>
              <a:t>Accuracy</a:t>
            </a:r>
            <a:r>
              <a:rPr dirty="0" sz="2100" spc="-90" b="1">
                <a:solidFill>
                  <a:srgbClr val="A50021"/>
                </a:solidFill>
                <a:latin typeface="Arial"/>
                <a:cs typeface="Arial"/>
              </a:rPr>
              <a:t> </a:t>
            </a:r>
            <a:r>
              <a:rPr dirty="0" sz="2100" spc="-10" b="1">
                <a:solidFill>
                  <a:srgbClr val="A50021"/>
                </a:solidFill>
                <a:latin typeface="Arial"/>
                <a:cs typeface="Arial"/>
              </a:rPr>
              <a:t>estimation</a:t>
            </a:r>
            <a:endParaRPr sz="2100">
              <a:latin typeface="Arial"/>
              <a:cs typeface="Arial"/>
            </a:endParaRPr>
          </a:p>
          <a:p>
            <a:pPr marL="367030">
              <a:lnSpc>
                <a:spcPts val="2245"/>
              </a:lnSpc>
              <a:spcBef>
                <a:spcPts val="465"/>
              </a:spcBef>
            </a:pPr>
            <a:r>
              <a:rPr dirty="0" sz="1900">
                <a:latin typeface="Arial MT"/>
                <a:cs typeface="Arial MT"/>
              </a:rPr>
              <a:t>–</a:t>
            </a:r>
            <a:r>
              <a:rPr dirty="0" sz="1900" spc="10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If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 i="1">
                <a:latin typeface="Arial"/>
                <a:cs typeface="Arial"/>
              </a:rPr>
              <a:t>N</a:t>
            </a:r>
            <a:r>
              <a:rPr dirty="0" sz="1900" spc="-75" i="1">
                <a:latin typeface="Arial"/>
                <a:cs typeface="Arial"/>
              </a:rPr>
              <a:t> </a:t>
            </a:r>
            <a:r>
              <a:rPr dirty="0" sz="1900">
                <a:latin typeface="Arial MT"/>
                <a:cs typeface="Arial MT"/>
              </a:rPr>
              <a:t>is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the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number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of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instances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with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which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classifier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is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tested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and</a:t>
            </a:r>
            <a:endParaRPr sz="1900">
              <a:latin typeface="Arial MT"/>
              <a:cs typeface="Arial MT"/>
            </a:endParaRPr>
          </a:p>
          <a:p>
            <a:pPr marL="589280">
              <a:lnSpc>
                <a:spcPts val="2245"/>
              </a:lnSpc>
            </a:pPr>
            <a:r>
              <a:rPr dirty="0" sz="1900" i="1">
                <a:latin typeface="Arial"/>
                <a:cs typeface="Arial"/>
              </a:rPr>
              <a:t>p</a:t>
            </a:r>
            <a:r>
              <a:rPr dirty="0" sz="1900" spc="-75" i="1">
                <a:latin typeface="Arial"/>
                <a:cs typeface="Arial"/>
              </a:rPr>
              <a:t> </a:t>
            </a:r>
            <a:r>
              <a:rPr dirty="0" sz="1900">
                <a:latin typeface="Arial MT"/>
                <a:cs typeface="Arial MT"/>
              </a:rPr>
              <a:t>is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the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number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of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correctly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classified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instances,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the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accuracy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>
                <a:latin typeface="Cambria Math"/>
                <a:cs typeface="Cambria Math"/>
              </a:rPr>
              <a:t>∈</a:t>
            </a:r>
            <a:r>
              <a:rPr dirty="0" sz="1900" spc="-55">
                <a:latin typeface="Cambria Math"/>
                <a:cs typeface="Cambria Math"/>
              </a:rPr>
              <a:t> </a:t>
            </a:r>
            <a:r>
              <a:rPr dirty="0" sz="1900" spc="-25">
                <a:latin typeface="Arial MT"/>
                <a:cs typeface="Arial MT"/>
              </a:rPr>
              <a:t>is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112021" y="3227211"/>
            <a:ext cx="177800" cy="12700"/>
          </a:xfrm>
          <a:custGeom>
            <a:avLst/>
            <a:gdLst/>
            <a:ahLst/>
            <a:cxnLst/>
            <a:rect l="l" t="t" r="r" b="b"/>
            <a:pathLst>
              <a:path w="177800" h="12700">
                <a:moveTo>
                  <a:pt x="177800" y="0"/>
                </a:moveTo>
                <a:lnTo>
                  <a:pt x="0" y="0"/>
                </a:lnTo>
                <a:lnTo>
                  <a:pt x="0" y="12705"/>
                </a:lnTo>
                <a:lnTo>
                  <a:pt x="177800" y="12705"/>
                </a:lnTo>
                <a:lnTo>
                  <a:pt x="1778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4661691" y="3046875"/>
            <a:ext cx="624205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900">
                <a:latin typeface="Cambria Math"/>
                <a:cs typeface="Cambria Math"/>
              </a:rPr>
              <a:t>∈=</a:t>
            </a:r>
            <a:r>
              <a:rPr dirty="0" sz="1900" spc="190">
                <a:latin typeface="Cambria Math"/>
                <a:cs typeface="Cambria Math"/>
              </a:rPr>
              <a:t> </a:t>
            </a:r>
            <a:r>
              <a:rPr dirty="0" baseline="40935" sz="2850" spc="-75">
                <a:latin typeface="Cambria Math"/>
                <a:cs typeface="Cambria Math"/>
              </a:rPr>
              <a:t>𝑝</a:t>
            </a:r>
            <a:endParaRPr baseline="40935" sz="2850">
              <a:latin typeface="Cambria Math"/>
              <a:cs typeface="Cambria Math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078035" y="3205371"/>
            <a:ext cx="202565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50">
                <a:latin typeface="Cambria Math"/>
                <a:cs typeface="Cambria Math"/>
              </a:rPr>
              <a:t>𝑁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390921" y="3504075"/>
            <a:ext cx="7162800" cy="2505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9730">
              <a:lnSpc>
                <a:spcPts val="2245"/>
              </a:lnSpc>
              <a:spcBef>
                <a:spcPts val="100"/>
              </a:spcBef>
            </a:pPr>
            <a:r>
              <a:rPr dirty="0" sz="1900">
                <a:latin typeface="Arial MT"/>
                <a:cs typeface="Arial MT"/>
              </a:rPr>
              <a:t>–</a:t>
            </a:r>
            <a:r>
              <a:rPr dirty="0" sz="1900" spc="2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Also,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we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can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say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the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 spc="-10">
                <a:solidFill>
                  <a:srgbClr val="A50021"/>
                </a:solidFill>
                <a:latin typeface="Arial MT"/>
                <a:cs typeface="Arial MT"/>
              </a:rPr>
              <a:t>error</a:t>
            </a:r>
            <a:r>
              <a:rPr dirty="0" sz="1900" spc="-80">
                <a:solidFill>
                  <a:srgbClr val="A50021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A50021"/>
                </a:solidFill>
                <a:latin typeface="Arial MT"/>
                <a:cs typeface="Arial MT"/>
              </a:rPr>
              <a:t>rate</a:t>
            </a:r>
            <a:r>
              <a:rPr dirty="0" sz="1900" spc="-85">
                <a:solidFill>
                  <a:srgbClr val="A50021"/>
                </a:solidFill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(i.e.,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misclassification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rate)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1345">
                <a:latin typeface="Cambria Math"/>
                <a:cs typeface="Cambria Math"/>
              </a:rPr>
              <a:t>∈</a:t>
            </a:r>
            <a:r>
              <a:rPr dirty="0" baseline="4385" sz="2850" spc="-300">
                <a:latin typeface="Cambria Math"/>
                <a:cs typeface="Cambria Math"/>
              </a:rPr>
              <a:t>&amp;</a:t>
            </a:r>
            <a:r>
              <a:rPr dirty="0" baseline="4385" sz="2850" spc="195">
                <a:latin typeface="Cambria Math"/>
                <a:cs typeface="Cambria Math"/>
              </a:rPr>
              <a:t> </a:t>
            </a:r>
            <a:r>
              <a:rPr dirty="0" sz="1900" spc="-25">
                <a:latin typeface="Arial MT"/>
                <a:cs typeface="Arial MT"/>
              </a:rPr>
              <a:t>is</a:t>
            </a:r>
            <a:endParaRPr sz="1900">
              <a:latin typeface="Arial MT"/>
              <a:cs typeface="Arial MT"/>
            </a:endParaRPr>
          </a:p>
          <a:p>
            <a:pPr algn="ctr" marL="26670">
              <a:lnSpc>
                <a:spcPts val="2245"/>
              </a:lnSpc>
            </a:pPr>
            <a:r>
              <a:rPr dirty="0" sz="1900" spc="-1250">
                <a:latin typeface="Cambria Math"/>
                <a:cs typeface="Cambria Math"/>
              </a:rPr>
              <a:t>∈</a:t>
            </a:r>
            <a:r>
              <a:rPr dirty="0" baseline="5847" sz="2850" spc="-112">
                <a:latin typeface="Cambria Math"/>
                <a:cs typeface="Cambria Math"/>
              </a:rPr>
              <a:t>&amp;</a:t>
            </a:r>
            <a:r>
              <a:rPr dirty="0" sz="1900" spc="-105">
                <a:latin typeface="Cambria Math"/>
                <a:cs typeface="Cambria Math"/>
              </a:rPr>
              <a:t>=</a:t>
            </a:r>
            <a:r>
              <a:rPr dirty="0" sz="1900" spc="75">
                <a:latin typeface="Cambria Math"/>
                <a:cs typeface="Cambria Math"/>
              </a:rPr>
              <a:t> </a:t>
            </a:r>
            <a:r>
              <a:rPr dirty="0" sz="1900">
                <a:latin typeface="Cambria Math"/>
                <a:cs typeface="Cambria Math"/>
              </a:rPr>
              <a:t>1</a:t>
            </a:r>
            <a:r>
              <a:rPr dirty="0" sz="1900" spc="-20">
                <a:latin typeface="Cambria Math"/>
                <a:cs typeface="Cambria Math"/>
              </a:rPr>
              <a:t> </a:t>
            </a:r>
            <a:r>
              <a:rPr dirty="0" sz="1900" spc="-25">
                <a:latin typeface="Cambria Math"/>
                <a:cs typeface="Cambria Math"/>
              </a:rPr>
              <a:t>−∈</a:t>
            </a:r>
            <a:endParaRPr sz="19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290"/>
              </a:spcBef>
            </a:pPr>
            <a:endParaRPr sz="1900">
              <a:latin typeface="Cambria Math"/>
              <a:cs typeface="Cambria Math"/>
            </a:endParaRPr>
          </a:p>
          <a:p>
            <a:pPr marL="290830" indent="-265430">
              <a:lnSpc>
                <a:spcPct val="100000"/>
              </a:lnSpc>
              <a:buFont typeface="Arial MT"/>
              <a:buChar char="•"/>
              <a:tabLst>
                <a:tab pos="290830" algn="l"/>
              </a:tabLst>
            </a:pPr>
            <a:r>
              <a:rPr dirty="0" sz="2100" spc="-20" b="1">
                <a:solidFill>
                  <a:srgbClr val="A50021"/>
                </a:solidFill>
                <a:latin typeface="Arial"/>
                <a:cs typeface="Arial"/>
              </a:rPr>
              <a:t>Peformance</a:t>
            </a:r>
            <a:r>
              <a:rPr dirty="0" sz="2100" spc="-45" b="1">
                <a:solidFill>
                  <a:srgbClr val="A50021"/>
                </a:solidFill>
                <a:latin typeface="Arial"/>
                <a:cs typeface="Arial"/>
              </a:rPr>
              <a:t> </a:t>
            </a:r>
            <a:r>
              <a:rPr dirty="0" sz="2100" spc="-10" b="1">
                <a:solidFill>
                  <a:srgbClr val="A50021"/>
                </a:solidFill>
                <a:latin typeface="Arial"/>
                <a:cs typeface="Arial"/>
              </a:rPr>
              <a:t>estimation</a:t>
            </a:r>
            <a:endParaRPr sz="2100">
              <a:latin typeface="Arial"/>
              <a:cs typeface="Arial"/>
            </a:endParaRPr>
          </a:p>
          <a:p>
            <a:pPr lvl="1" marL="601345" indent="-221615">
              <a:lnSpc>
                <a:spcPct val="100000"/>
              </a:lnSpc>
              <a:spcBef>
                <a:spcPts val="480"/>
              </a:spcBef>
              <a:buChar char="–"/>
              <a:tabLst>
                <a:tab pos="601345" algn="l"/>
              </a:tabLst>
            </a:pPr>
            <a:r>
              <a:rPr dirty="0" sz="2100" spc="-10">
                <a:latin typeface="Arial MT"/>
                <a:cs typeface="Arial MT"/>
              </a:rPr>
              <a:t>Metrics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are</a:t>
            </a:r>
            <a:endParaRPr sz="2100">
              <a:latin typeface="Arial MT"/>
              <a:cs typeface="Arial MT"/>
            </a:endParaRPr>
          </a:p>
          <a:p>
            <a:pPr lvl="2" marL="911860" indent="-177165">
              <a:lnSpc>
                <a:spcPct val="100000"/>
              </a:lnSpc>
              <a:spcBef>
                <a:spcPts val="480"/>
              </a:spcBef>
              <a:buChar char="•"/>
              <a:tabLst>
                <a:tab pos="911860" algn="l"/>
              </a:tabLst>
            </a:pPr>
            <a:r>
              <a:rPr dirty="0" sz="2100">
                <a:latin typeface="Arial MT"/>
                <a:cs typeface="Arial MT"/>
              </a:rPr>
              <a:t>True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Positive,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True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Negative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(correct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predictions)</a:t>
            </a:r>
            <a:endParaRPr sz="2100">
              <a:latin typeface="Arial MT"/>
              <a:cs typeface="Arial MT"/>
            </a:endParaRPr>
          </a:p>
          <a:p>
            <a:pPr lvl="2" marL="911860" indent="-177165">
              <a:lnSpc>
                <a:spcPct val="100000"/>
              </a:lnSpc>
              <a:spcBef>
                <a:spcPts val="480"/>
              </a:spcBef>
              <a:buChar char="•"/>
              <a:tabLst>
                <a:tab pos="911860" algn="l"/>
              </a:tabLst>
            </a:pPr>
            <a:r>
              <a:rPr dirty="0" sz="2100">
                <a:latin typeface="Arial MT"/>
                <a:cs typeface="Arial MT"/>
              </a:rPr>
              <a:t>False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Positive,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False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Negative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(misclassifications)</a:t>
            </a:r>
            <a:endParaRPr sz="2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892928" y="3731100"/>
            <a:ext cx="1011555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0">
                <a:latin typeface="Arial MT"/>
                <a:cs typeface="Arial MT"/>
              </a:rPr>
              <a:t>Recall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594180" y="1482224"/>
            <a:ext cx="7047865" cy="178181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278765" marR="514350" indent="-266700">
              <a:lnSpc>
                <a:spcPts val="2500"/>
              </a:lnSpc>
              <a:spcBef>
                <a:spcPts val="200"/>
              </a:spcBef>
              <a:buChar char="•"/>
              <a:tabLst>
                <a:tab pos="278765" algn="l"/>
                <a:tab pos="3458845" algn="l"/>
              </a:tabLst>
            </a:pPr>
            <a:r>
              <a:rPr dirty="0" sz="2100" spc="-10">
                <a:latin typeface="Arial MT"/>
                <a:cs typeface="Arial MT"/>
              </a:rPr>
              <a:t>Precision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number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of</a:t>
            </a:r>
            <a:r>
              <a:rPr dirty="0" sz="2100">
                <a:latin typeface="Arial MT"/>
                <a:cs typeface="Arial MT"/>
              </a:rPr>
              <a:t>	proper</a:t>
            </a:r>
            <a:r>
              <a:rPr dirty="0" sz="2100" spc="-13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positive</a:t>
            </a:r>
            <a:r>
              <a:rPr dirty="0" sz="2100" spc="-14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predictions </a:t>
            </a:r>
            <a:r>
              <a:rPr dirty="0" sz="2100">
                <a:latin typeface="Arial MT"/>
                <a:cs typeface="Arial MT"/>
              </a:rPr>
              <a:t>divided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by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total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number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positive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predictions.</a:t>
            </a:r>
            <a:endParaRPr sz="2100">
              <a:latin typeface="Arial MT"/>
              <a:cs typeface="Arial MT"/>
            </a:endParaRPr>
          </a:p>
          <a:p>
            <a:pPr marL="278765" marR="179070" indent="-266700">
              <a:lnSpc>
                <a:spcPts val="2500"/>
              </a:lnSpc>
              <a:spcBef>
                <a:spcPts val="710"/>
              </a:spcBef>
              <a:buChar char="•"/>
              <a:tabLst>
                <a:tab pos="278765" algn="l"/>
              </a:tabLst>
            </a:pPr>
            <a:r>
              <a:rPr dirty="0" sz="2100" spc="-10">
                <a:latin typeface="Arial MT"/>
                <a:cs typeface="Arial MT"/>
              </a:rPr>
              <a:t>Precision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can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be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thought</a:t>
            </a:r>
            <a:r>
              <a:rPr dirty="0" sz="2100" spc="-6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as</a:t>
            </a:r>
            <a:r>
              <a:rPr dirty="0" sz="2100" spc="-6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measure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6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classifiers exactness.</a:t>
            </a:r>
            <a:endParaRPr sz="2100">
              <a:latin typeface="Arial MT"/>
              <a:cs typeface="Arial MT"/>
            </a:endParaRPr>
          </a:p>
          <a:p>
            <a:pPr marL="278130" indent="-265430">
              <a:lnSpc>
                <a:spcPct val="100000"/>
              </a:lnSpc>
              <a:spcBef>
                <a:spcPts val="495"/>
              </a:spcBef>
              <a:buFont typeface="Arial MT"/>
              <a:buChar char="•"/>
              <a:tabLst>
                <a:tab pos="278130" algn="l"/>
              </a:tabLst>
            </a:pPr>
            <a:r>
              <a:rPr dirty="0" sz="2100" b="1">
                <a:solidFill>
                  <a:srgbClr val="0070C0"/>
                </a:solidFill>
                <a:latin typeface="Arial"/>
                <a:cs typeface="Arial"/>
              </a:rPr>
              <a:t>Low</a:t>
            </a:r>
            <a:r>
              <a:rPr dirty="0" sz="2100" spc="-110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100" spc="-25" b="1">
                <a:solidFill>
                  <a:srgbClr val="0070C0"/>
                </a:solidFill>
                <a:latin typeface="Arial"/>
                <a:cs typeface="Arial"/>
              </a:rPr>
              <a:t>precision</a:t>
            </a:r>
            <a:r>
              <a:rPr dirty="0" sz="2100" spc="-95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100" spc="-20" b="1">
                <a:solidFill>
                  <a:srgbClr val="0070C0"/>
                </a:solidFill>
                <a:latin typeface="Arial"/>
                <a:cs typeface="Arial"/>
              </a:rPr>
              <a:t>usually</a:t>
            </a:r>
            <a:r>
              <a:rPr dirty="0" sz="2100" spc="-95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100" spc="-20" b="1">
                <a:solidFill>
                  <a:srgbClr val="0070C0"/>
                </a:solidFill>
                <a:latin typeface="Arial"/>
                <a:cs typeface="Arial"/>
              </a:rPr>
              <a:t>indicates</a:t>
            </a:r>
            <a:r>
              <a:rPr dirty="0" sz="2100" spc="-95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0070C0"/>
                </a:solidFill>
                <a:latin typeface="Arial"/>
                <a:cs typeface="Arial"/>
              </a:rPr>
              <a:t>many</a:t>
            </a:r>
            <a:r>
              <a:rPr dirty="0" sz="2100" spc="-100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0070C0"/>
                </a:solidFill>
                <a:latin typeface="Arial"/>
                <a:cs typeface="Arial"/>
              </a:rPr>
              <a:t>False</a:t>
            </a:r>
            <a:r>
              <a:rPr dirty="0" sz="2100" spc="-95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100" spc="-10" b="1">
                <a:solidFill>
                  <a:srgbClr val="0070C0"/>
                </a:solidFill>
                <a:latin typeface="Arial"/>
                <a:cs typeface="Arial"/>
              </a:rPr>
              <a:t>Positives</a:t>
            </a:r>
            <a:r>
              <a:rPr dirty="0" sz="2100" spc="-10">
                <a:latin typeface="Arial MT"/>
                <a:cs typeface="Arial MT"/>
              </a:rPr>
              <a:t>.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672137" y="901973"/>
            <a:ext cx="2465070" cy="382905"/>
          </a:xfrm>
          <a:prstGeom prst="rect">
            <a:avLst/>
          </a:prstGeom>
          <a:solidFill>
            <a:srgbClr val="FFFF99"/>
          </a:solidFill>
          <a:ln w="32866">
            <a:solidFill>
              <a:srgbClr val="C00000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marL="471170">
              <a:lnSpc>
                <a:spcPct val="100000"/>
              </a:lnSpc>
              <a:spcBef>
                <a:spcPts val="260"/>
              </a:spcBef>
            </a:pPr>
            <a:r>
              <a:rPr dirty="0" sz="1900">
                <a:latin typeface="Arial MT"/>
                <a:cs typeface="Arial MT"/>
              </a:rPr>
              <a:t>TP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/</a:t>
            </a:r>
            <a:r>
              <a:rPr dirty="0" sz="1900" spc="-5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(TP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+</a:t>
            </a:r>
            <a:r>
              <a:rPr dirty="0" sz="1900" spc="-5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F</a:t>
            </a:r>
            <a:r>
              <a:rPr dirty="0" sz="1900" spc="-25" b="1">
                <a:solidFill>
                  <a:srgbClr val="FF0000"/>
                </a:solidFill>
                <a:latin typeface="Arial"/>
                <a:cs typeface="Arial"/>
              </a:rPr>
              <a:t>P</a:t>
            </a:r>
            <a:r>
              <a:rPr dirty="0" sz="1900" spc="-25">
                <a:latin typeface="Arial MT"/>
                <a:cs typeface="Arial MT"/>
              </a:rPr>
              <a:t>)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830680" y="853787"/>
            <a:ext cx="1484630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Precision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1594180" y="4310768"/>
            <a:ext cx="7078345" cy="2174875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278765" marR="100965" indent="-266700">
              <a:lnSpc>
                <a:spcPts val="2500"/>
              </a:lnSpc>
              <a:spcBef>
                <a:spcPts val="200"/>
              </a:spcBef>
              <a:buChar char="•"/>
              <a:tabLst>
                <a:tab pos="278765" algn="l"/>
              </a:tabLst>
            </a:pPr>
            <a:r>
              <a:rPr dirty="0" sz="2100">
                <a:latin typeface="Arial MT"/>
                <a:cs typeface="Arial MT"/>
              </a:rPr>
              <a:t>Recall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number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positive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predictions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divided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by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the </a:t>
            </a:r>
            <a:r>
              <a:rPr dirty="0" sz="2100">
                <a:latin typeface="Arial MT"/>
                <a:cs typeface="Arial MT"/>
              </a:rPr>
              <a:t>number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observations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that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class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in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test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data.</a:t>
            </a:r>
            <a:endParaRPr sz="2100">
              <a:latin typeface="Arial MT"/>
              <a:cs typeface="Arial MT"/>
            </a:endParaRPr>
          </a:p>
          <a:p>
            <a:pPr marL="278130" indent="-265430">
              <a:lnSpc>
                <a:spcPct val="100000"/>
              </a:lnSpc>
              <a:spcBef>
                <a:spcPts val="610"/>
              </a:spcBef>
              <a:buChar char="•"/>
              <a:tabLst>
                <a:tab pos="278130" algn="l"/>
              </a:tabLst>
            </a:pPr>
            <a:r>
              <a:rPr dirty="0" sz="2100">
                <a:latin typeface="Arial MT"/>
                <a:cs typeface="Arial MT"/>
              </a:rPr>
              <a:t>It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also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called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Sensitivity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or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114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True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Positive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Rate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(TPR).</a:t>
            </a:r>
            <a:endParaRPr sz="2100">
              <a:latin typeface="Arial MT"/>
              <a:cs typeface="Arial MT"/>
            </a:endParaRPr>
          </a:p>
          <a:p>
            <a:pPr marL="278765" marR="491490" indent="-266700">
              <a:lnSpc>
                <a:spcPts val="2500"/>
              </a:lnSpc>
              <a:spcBef>
                <a:spcPts val="675"/>
              </a:spcBef>
              <a:buChar char="•"/>
              <a:tabLst>
                <a:tab pos="278765" algn="l"/>
              </a:tabLst>
            </a:pPr>
            <a:r>
              <a:rPr dirty="0" sz="2100">
                <a:latin typeface="Arial MT"/>
                <a:cs typeface="Arial MT"/>
              </a:rPr>
              <a:t>Recall</a:t>
            </a:r>
            <a:r>
              <a:rPr dirty="0" sz="2100" spc="-5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can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be</a:t>
            </a:r>
            <a:r>
              <a:rPr dirty="0" sz="2100" spc="-6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thought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6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as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measure</a:t>
            </a:r>
            <a:r>
              <a:rPr dirty="0" sz="2100" spc="-6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6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classifier’s completeness.</a:t>
            </a:r>
            <a:endParaRPr sz="2100">
              <a:latin typeface="Arial MT"/>
              <a:cs typeface="Arial MT"/>
            </a:endParaRPr>
          </a:p>
          <a:p>
            <a:pPr marL="278130" indent="-265430">
              <a:lnSpc>
                <a:spcPct val="100000"/>
              </a:lnSpc>
              <a:spcBef>
                <a:spcPts val="495"/>
              </a:spcBef>
              <a:buFont typeface="Arial MT"/>
              <a:buChar char="•"/>
              <a:tabLst>
                <a:tab pos="278130" algn="l"/>
              </a:tabLst>
            </a:pPr>
            <a:r>
              <a:rPr dirty="0" sz="2100" b="1">
                <a:solidFill>
                  <a:srgbClr val="0070C0"/>
                </a:solidFill>
                <a:latin typeface="Arial"/>
                <a:cs typeface="Arial"/>
              </a:rPr>
              <a:t>Low</a:t>
            </a:r>
            <a:r>
              <a:rPr dirty="0" sz="2100" spc="-125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0070C0"/>
                </a:solidFill>
                <a:latin typeface="Arial"/>
                <a:cs typeface="Arial"/>
              </a:rPr>
              <a:t>recall</a:t>
            </a:r>
            <a:r>
              <a:rPr dirty="0" sz="2100" spc="-105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100" spc="-20" b="1">
                <a:solidFill>
                  <a:srgbClr val="0070C0"/>
                </a:solidFill>
                <a:latin typeface="Arial"/>
                <a:cs typeface="Arial"/>
              </a:rPr>
              <a:t>usually</a:t>
            </a:r>
            <a:r>
              <a:rPr dirty="0" sz="2100" spc="-110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100" spc="-20" b="1">
                <a:solidFill>
                  <a:srgbClr val="0070C0"/>
                </a:solidFill>
                <a:latin typeface="Arial"/>
                <a:cs typeface="Arial"/>
              </a:rPr>
              <a:t>indicates</a:t>
            </a:r>
            <a:r>
              <a:rPr dirty="0" sz="2100" spc="-105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0070C0"/>
                </a:solidFill>
                <a:latin typeface="Arial"/>
                <a:cs typeface="Arial"/>
              </a:rPr>
              <a:t>many</a:t>
            </a:r>
            <a:r>
              <a:rPr dirty="0" sz="2100" spc="-105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0070C0"/>
                </a:solidFill>
                <a:latin typeface="Arial"/>
                <a:cs typeface="Arial"/>
              </a:rPr>
              <a:t>False</a:t>
            </a:r>
            <a:r>
              <a:rPr dirty="0" sz="2100" spc="-110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100" spc="-10" b="1">
                <a:solidFill>
                  <a:srgbClr val="0070C0"/>
                </a:solidFill>
                <a:latin typeface="Arial"/>
                <a:cs typeface="Arial"/>
              </a:rPr>
              <a:t>Negatives.</a:t>
            </a:r>
            <a:endParaRPr sz="21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584992" y="3765246"/>
            <a:ext cx="2552700" cy="382905"/>
          </a:xfrm>
          <a:prstGeom prst="rect">
            <a:avLst/>
          </a:prstGeom>
          <a:solidFill>
            <a:srgbClr val="FFFF99"/>
          </a:solidFill>
          <a:ln w="32866">
            <a:solidFill>
              <a:srgbClr val="C00000"/>
            </a:solidFill>
          </a:ln>
        </p:spPr>
        <p:txBody>
          <a:bodyPr wrap="square" lIns="0" tIns="34925" rIns="0" bIns="0" rtlCol="0" vert="horz">
            <a:spAutoFit/>
          </a:bodyPr>
          <a:lstStyle/>
          <a:p>
            <a:pPr marL="508000">
              <a:lnSpc>
                <a:spcPct val="100000"/>
              </a:lnSpc>
              <a:spcBef>
                <a:spcPts val="275"/>
              </a:spcBef>
            </a:pPr>
            <a:r>
              <a:rPr dirty="0" sz="1900">
                <a:latin typeface="Arial MT"/>
                <a:cs typeface="Arial MT"/>
              </a:rPr>
              <a:t>TP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/</a:t>
            </a:r>
            <a:r>
              <a:rPr dirty="0" sz="1900" spc="-5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(TP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+</a:t>
            </a:r>
            <a:r>
              <a:rPr dirty="0" sz="1900" spc="-5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F</a:t>
            </a:r>
            <a:r>
              <a:rPr dirty="0" sz="1900" spc="-25" b="1">
                <a:solidFill>
                  <a:srgbClr val="FF0000"/>
                </a:solidFill>
                <a:latin typeface="Arial"/>
                <a:cs typeface="Arial"/>
              </a:rPr>
              <a:t>N</a:t>
            </a:r>
            <a:r>
              <a:rPr dirty="0" sz="1900" spc="-25">
                <a:latin typeface="Arial MT"/>
                <a:cs typeface="Arial MT"/>
              </a:rPr>
              <a:t>)</a:t>
            </a:r>
            <a:endParaRPr sz="1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6536" y="734915"/>
            <a:ext cx="3258820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Precision</a:t>
            </a:r>
            <a:r>
              <a:rPr dirty="0" spc="-105"/>
              <a:t> </a:t>
            </a:r>
            <a:r>
              <a:rPr dirty="0"/>
              <a:t>and</a:t>
            </a:r>
            <a:r>
              <a:rPr dirty="0" spc="-100"/>
              <a:t> </a:t>
            </a:r>
            <a:r>
              <a:rPr dirty="0" spc="-10"/>
              <a:t>Recall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637" y="2695279"/>
            <a:ext cx="5340767" cy="404161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996611" y="1497100"/>
            <a:ext cx="7935595" cy="119634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278130" indent="-26543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78130" algn="l"/>
              </a:tabLst>
            </a:pPr>
            <a:r>
              <a:rPr dirty="0" sz="2200" spc="-10" b="1">
                <a:solidFill>
                  <a:srgbClr val="7030A0"/>
                </a:solidFill>
                <a:latin typeface="Arial"/>
                <a:cs typeface="Arial"/>
              </a:rPr>
              <a:t>Excellent</a:t>
            </a:r>
            <a:r>
              <a:rPr dirty="0" sz="2200" spc="-100" b="1">
                <a:solidFill>
                  <a:srgbClr val="7030A0"/>
                </a:solidFill>
                <a:latin typeface="Arial"/>
                <a:cs typeface="Arial"/>
              </a:rPr>
              <a:t> </a:t>
            </a:r>
            <a:r>
              <a:rPr dirty="0" sz="2200" spc="-20" b="1">
                <a:solidFill>
                  <a:srgbClr val="7030A0"/>
                </a:solidFill>
                <a:latin typeface="Arial"/>
                <a:cs typeface="Arial"/>
              </a:rPr>
              <a:t>predictions</a:t>
            </a:r>
            <a:r>
              <a:rPr dirty="0" sz="2200" spc="-105" b="1">
                <a:solidFill>
                  <a:srgbClr val="7030A0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7030A0"/>
                </a:solidFill>
                <a:latin typeface="Arial"/>
                <a:cs typeface="Arial"/>
              </a:rPr>
              <a:t>mean</a:t>
            </a:r>
            <a:r>
              <a:rPr dirty="0" sz="2200" spc="-95" b="1">
                <a:solidFill>
                  <a:srgbClr val="7030A0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7030A0"/>
                </a:solidFill>
                <a:latin typeface="Arial"/>
                <a:cs typeface="Arial"/>
              </a:rPr>
              <a:t>high</a:t>
            </a:r>
            <a:r>
              <a:rPr dirty="0" sz="2200" spc="-95" b="1">
                <a:solidFill>
                  <a:srgbClr val="7030A0"/>
                </a:solidFill>
                <a:latin typeface="Arial"/>
                <a:cs typeface="Arial"/>
              </a:rPr>
              <a:t> </a:t>
            </a:r>
            <a:r>
              <a:rPr dirty="0" sz="2200" spc="-20" b="1">
                <a:solidFill>
                  <a:srgbClr val="7030A0"/>
                </a:solidFill>
                <a:latin typeface="Arial"/>
                <a:cs typeface="Arial"/>
              </a:rPr>
              <a:t>precision</a:t>
            </a:r>
            <a:r>
              <a:rPr dirty="0" sz="2200" spc="-95" b="1">
                <a:solidFill>
                  <a:srgbClr val="7030A0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7030A0"/>
                </a:solidFill>
                <a:latin typeface="Arial"/>
                <a:cs typeface="Arial"/>
              </a:rPr>
              <a:t>and</a:t>
            </a:r>
            <a:r>
              <a:rPr dirty="0" sz="2200" spc="-95" b="1">
                <a:solidFill>
                  <a:srgbClr val="7030A0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7030A0"/>
                </a:solidFill>
                <a:latin typeface="Arial"/>
                <a:cs typeface="Arial"/>
              </a:rPr>
              <a:t>high</a:t>
            </a:r>
            <a:r>
              <a:rPr dirty="0" sz="2200" spc="-100" b="1">
                <a:solidFill>
                  <a:srgbClr val="7030A0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7030A0"/>
                </a:solidFill>
                <a:latin typeface="Arial"/>
                <a:cs typeface="Arial"/>
              </a:rPr>
              <a:t>recall</a:t>
            </a:r>
            <a:r>
              <a:rPr dirty="0" sz="2200" spc="-10">
                <a:latin typeface="Arial MT"/>
                <a:cs typeface="Arial MT"/>
              </a:rPr>
              <a:t>.</a:t>
            </a:r>
            <a:endParaRPr sz="2200">
              <a:latin typeface="Arial MT"/>
              <a:cs typeface="Arial MT"/>
            </a:endParaRPr>
          </a:p>
          <a:p>
            <a:pPr marL="278765" marR="102870" indent="-266700">
              <a:lnSpc>
                <a:spcPts val="2590"/>
              </a:lnSpc>
              <a:spcBef>
                <a:spcPts val="800"/>
              </a:spcBef>
              <a:buChar char="•"/>
              <a:tabLst>
                <a:tab pos="278765" algn="l"/>
              </a:tabLst>
            </a:pPr>
            <a:r>
              <a:rPr dirty="0" sz="2200" spc="-35">
                <a:latin typeface="Arial MT"/>
                <a:cs typeface="Arial MT"/>
              </a:rPr>
              <a:t>However,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sz="2200" spc="-20" b="1">
                <a:solidFill>
                  <a:srgbClr val="C00000"/>
                </a:solidFill>
                <a:latin typeface="Arial"/>
                <a:cs typeface="Arial"/>
              </a:rPr>
              <a:t>increases</a:t>
            </a:r>
            <a:r>
              <a:rPr dirty="0" sz="2200" spc="-8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C00000"/>
                </a:solidFill>
                <a:latin typeface="Arial"/>
                <a:cs typeface="Arial"/>
              </a:rPr>
              <a:t>in</a:t>
            </a:r>
            <a:r>
              <a:rPr dirty="0" sz="2200" spc="-8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C00000"/>
                </a:solidFill>
                <a:latin typeface="Arial"/>
                <a:cs typeface="Arial"/>
              </a:rPr>
              <a:t>one</a:t>
            </a:r>
            <a:r>
              <a:rPr dirty="0" sz="2200" spc="-9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C00000"/>
                </a:solidFill>
                <a:latin typeface="Arial"/>
                <a:cs typeface="Arial"/>
              </a:rPr>
              <a:t>usually</a:t>
            </a:r>
            <a:r>
              <a:rPr dirty="0" sz="2200" spc="-8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C00000"/>
                </a:solidFill>
                <a:latin typeface="Arial"/>
                <a:cs typeface="Arial"/>
              </a:rPr>
              <a:t>come</a:t>
            </a:r>
            <a:r>
              <a:rPr dirty="0" sz="2200" spc="-9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C00000"/>
                </a:solidFill>
                <a:latin typeface="Arial"/>
                <a:cs typeface="Arial"/>
              </a:rPr>
              <a:t>at</a:t>
            </a:r>
            <a:r>
              <a:rPr dirty="0" sz="2200" spc="-8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dirty="0" sz="2200" spc="-9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200" spc="-20" b="1">
                <a:solidFill>
                  <a:srgbClr val="C00000"/>
                </a:solidFill>
                <a:latin typeface="Arial"/>
                <a:cs typeface="Arial"/>
              </a:rPr>
              <a:t>expense</a:t>
            </a:r>
            <a:r>
              <a:rPr dirty="0" sz="2200" spc="-8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200" spc="-25" b="1">
                <a:solidFill>
                  <a:srgbClr val="C00000"/>
                </a:solidFill>
                <a:latin typeface="Arial"/>
                <a:cs typeface="Arial"/>
              </a:rPr>
              <a:t>of decreases</a:t>
            </a:r>
            <a:r>
              <a:rPr dirty="0" sz="2200" spc="-7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C00000"/>
                </a:solidFill>
                <a:latin typeface="Arial"/>
                <a:cs typeface="Arial"/>
              </a:rPr>
              <a:t>in</a:t>
            </a:r>
            <a:r>
              <a:rPr dirty="0" sz="2200" spc="-6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dirty="0" sz="2200" spc="-7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C00000"/>
                </a:solidFill>
                <a:latin typeface="Arial"/>
                <a:cs typeface="Arial"/>
              </a:rPr>
              <a:t>other</a:t>
            </a:r>
            <a:r>
              <a:rPr dirty="0" sz="2200" spc="-10">
                <a:latin typeface="Arial MT"/>
                <a:cs typeface="Arial MT"/>
              </a:rPr>
              <a:t>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281270" y="3563494"/>
            <a:ext cx="3305810" cy="219011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278765" marR="5080" indent="-266700">
              <a:lnSpc>
                <a:spcPct val="100499"/>
              </a:lnSpc>
              <a:spcBef>
                <a:spcPts val="85"/>
              </a:spcBef>
              <a:buChar char="•"/>
              <a:tabLst>
                <a:tab pos="278765" algn="l"/>
              </a:tabLst>
            </a:pPr>
            <a:r>
              <a:rPr dirty="0" sz="2200" spc="-20">
                <a:latin typeface="Arial MT"/>
                <a:cs typeface="Arial MT"/>
              </a:rPr>
              <a:t>Maximizing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precision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will minimize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number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of </a:t>
            </a:r>
            <a:r>
              <a:rPr dirty="0" sz="2200">
                <a:latin typeface="Arial MT"/>
                <a:cs typeface="Arial MT"/>
              </a:rPr>
              <a:t>false</a:t>
            </a:r>
            <a:r>
              <a:rPr dirty="0" sz="2200" spc="-12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positives</a:t>
            </a:r>
            <a:endParaRPr sz="2200">
              <a:latin typeface="Arial MT"/>
              <a:cs typeface="Arial MT"/>
            </a:endParaRPr>
          </a:p>
          <a:p>
            <a:pPr marL="278765" marR="154940" indent="-266700">
              <a:lnSpc>
                <a:spcPct val="98600"/>
              </a:lnSpc>
              <a:spcBef>
                <a:spcPts val="1285"/>
              </a:spcBef>
              <a:buChar char="•"/>
              <a:tabLst>
                <a:tab pos="278765" algn="l"/>
              </a:tabLst>
            </a:pPr>
            <a:r>
              <a:rPr dirty="0" sz="2200" spc="-20">
                <a:latin typeface="Arial MT"/>
                <a:cs typeface="Arial MT"/>
              </a:rPr>
              <a:t>Maximizing</a:t>
            </a:r>
            <a:r>
              <a:rPr dirty="0" sz="2200" spc="-12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recall</a:t>
            </a:r>
            <a:r>
              <a:rPr dirty="0" sz="2200" spc="-11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will minimize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number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of </a:t>
            </a:r>
            <a:r>
              <a:rPr dirty="0" sz="2200">
                <a:latin typeface="Arial MT"/>
                <a:cs typeface="Arial MT"/>
              </a:rPr>
              <a:t>false</a:t>
            </a:r>
            <a:r>
              <a:rPr dirty="0" sz="2200" spc="-12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negatives.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16647" rIns="0" bIns="0" rtlCol="0" vert="horz">
            <a:spAutoFit/>
          </a:bodyPr>
          <a:lstStyle/>
          <a:p>
            <a:pPr marL="1390650">
              <a:lnSpc>
                <a:spcPct val="100000"/>
              </a:lnSpc>
              <a:spcBef>
                <a:spcPts val="100"/>
              </a:spcBef>
            </a:pPr>
            <a:r>
              <a:rPr dirty="0"/>
              <a:t>F</a:t>
            </a:r>
            <a:r>
              <a:rPr dirty="0" baseline="-17543" sz="2850"/>
              <a:t>1</a:t>
            </a:r>
            <a:r>
              <a:rPr dirty="0" baseline="-17543" sz="2850" spc="277"/>
              <a:t> </a:t>
            </a:r>
            <a:r>
              <a:rPr dirty="0" sz="2800"/>
              <a:t>Score</a:t>
            </a:r>
            <a:r>
              <a:rPr dirty="0" sz="2800" spc="-50"/>
              <a:t> </a:t>
            </a:r>
            <a:r>
              <a:rPr dirty="0" sz="2800"/>
              <a:t>(or</a:t>
            </a:r>
            <a:r>
              <a:rPr dirty="0" sz="2800" spc="-50"/>
              <a:t> </a:t>
            </a:r>
            <a:r>
              <a:rPr dirty="0" sz="2800"/>
              <a:t>F</a:t>
            </a:r>
            <a:r>
              <a:rPr dirty="0" sz="2800" spc="-45"/>
              <a:t> </a:t>
            </a:r>
            <a:r>
              <a:rPr dirty="0" sz="2800"/>
              <a:t>Score</a:t>
            </a:r>
            <a:r>
              <a:rPr dirty="0" sz="2800" spc="-50"/>
              <a:t> </a:t>
            </a:r>
            <a:r>
              <a:rPr dirty="0" sz="2800"/>
              <a:t>or</a:t>
            </a:r>
            <a:r>
              <a:rPr dirty="0" sz="2800" spc="-45"/>
              <a:t> </a:t>
            </a:r>
            <a:r>
              <a:rPr dirty="0" sz="2800"/>
              <a:t>F</a:t>
            </a:r>
            <a:r>
              <a:rPr dirty="0" sz="2800" spc="-45"/>
              <a:t> </a:t>
            </a:r>
            <a:r>
              <a:rPr dirty="0" sz="2800" spc="-10"/>
              <a:t>Measure)</a:t>
            </a:r>
            <a:endParaRPr sz="2800"/>
          </a:p>
        </p:txBody>
      </p:sp>
      <p:sp>
        <p:nvSpPr>
          <p:cNvPr id="3" name="object 3" descr=""/>
          <p:cNvSpPr txBox="1"/>
          <p:nvPr/>
        </p:nvSpPr>
        <p:spPr>
          <a:xfrm>
            <a:off x="1536167" y="2728342"/>
            <a:ext cx="7518400" cy="283591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algn="just" marL="277495" marR="142875" indent="-265430">
              <a:lnSpc>
                <a:spcPct val="101800"/>
              </a:lnSpc>
              <a:spcBef>
                <a:spcPts val="50"/>
              </a:spcBef>
              <a:buChar char="•"/>
              <a:tabLst>
                <a:tab pos="278765" algn="l"/>
              </a:tabLst>
            </a:pP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F1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Score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conveys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balance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between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precision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and </a:t>
            </a:r>
            <a:r>
              <a:rPr dirty="0" sz="2200" spc="-25">
                <a:latin typeface="Arial MT"/>
                <a:cs typeface="Arial MT"/>
              </a:rPr>
              <a:t>	</a:t>
            </a:r>
            <a:r>
              <a:rPr dirty="0" sz="2200" spc="-10">
                <a:latin typeface="Arial MT"/>
                <a:cs typeface="Arial MT"/>
              </a:rPr>
              <a:t>recall.</a:t>
            </a:r>
            <a:endParaRPr sz="2200">
              <a:latin typeface="Arial MT"/>
              <a:cs typeface="Arial MT"/>
            </a:endParaRPr>
          </a:p>
          <a:p>
            <a:pPr algn="just" marL="277495" marR="232410" indent="-265430">
              <a:lnSpc>
                <a:spcPct val="98600"/>
              </a:lnSpc>
              <a:spcBef>
                <a:spcPts val="1885"/>
              </a:spcBef>
              <a:buChar char="•"/>
              <a:tabLst>
                <a:tab pos="278765" algn="l"/>
              </a:tabLst>
            </a:pPr>
            <a:r>
              <a:rPr dirty="0" sz="2200" spc="-10">
                <a:latin typeface="Arial MT"/>
                <a:cs typeface="Arial MT"/>
              </a:rPr>
              <a:t>Alone,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neither</a:t>
            </a:r>
            <a:r>
              <a:rPr dirty="0" sz="2200" spc="-11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precision</a:t>
            </a:r>
            <a:r>
              <a:rPr dirty="0" sz="2200" spc="-114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or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recall</a:t>
            </a:r>
            <a:r>
              <a:rPr dirty="0" sz="2200" spc="-11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tells</a:t>
            </a:r>
            <a:r>
              <a:rPr dirty="0" sz="2200" spc="-11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114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whole</a:t>
            </a:r>
            <a:r>
              <a:rPr dirty="0" sz="2200" spc="-114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story.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We </a:t>
            </a:r>
            <a:r>
              <a:rPr dirty="0" sz="2200" spc="-25">
                <a:latin typeface="Arial MT"/>
                <a:cs typeface="Arial MT"/>
              </a:rPr>
              <a:t>	</a:t>
            </a:r>
            <a:r>
              <a:rPr dirty="0" sz="2200">
                <a:latin typeface="Arial MT"/>
                <a:cs typeface="Arial MT"/>
              </a:rPr>
              <a:t>can</a:t>
            </a:r>
            <a:r>
              <a:rPr dirty="0" sz="2200" spc="-12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have</a:t>
            </a:r>
            <a:r>
              <a:rPr dirty="0" sz="2200" spc="-114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excellent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precision</a:t>
            </a:r>
            <a:r>
              <a:rPr dirty="0" sz="2200" spc="-114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with</a:t>
            </a:r>
            <a:r>
              <a:rPr dirty="0" sz="2200" spc="-114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terrible</a:t>
            </a:r>
            <a:r>
              <a:rPr dirty="0" sz="2200" spc="-12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recall,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or</a:t>
            </a:r>
            <a:r>
              <a:rPr dirty="0" sz="2200" spc="-11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terrible </a:t>
            </a:r>
            <a:r>
              <a:rPr dirty="0" sz="2200" spc="-10">
                <a:latin typeface="Arial MT"/>
                <a:cs typeface="Arial MT"/>
              </a:rPr>
              <a:t>	</a:t>
            </a:r>
            <a:r>
              <a:rPr dirty="0" sz="2200" spc="-20">
                <a:latin typeface="Arial MT"/>
                <a:cs typeface="Arial MT"/>
              </a:rPr>
              <a:t>precision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with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excellent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recall.</a:t>
            </a:r>
            <a:endParaRPr sz="2200">
              <a:latin typeface="Arial MT"/>
              <a:cs typeface="Arial MT"/>
            </a:endParaRPr>
          </a:p>
          <a:p>
            <a:pPr algn="just" marL="277495" marR="5080" indent="-265430">
              <a:lnSpc>
                <a:spcPts val="2590"/>
              </a:lnSpc>
              <a:spcBef>
                <a:spcPts val="2000"/>
              </a:spcBef>
              <a:buChar char="•"/>
              <a:tabLst>
                <a:tab pos="278765" algn="l"/>
              </a:tabLst>
            </a:pP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sz="2200" spc="-30">
                <a:latin typeface="Arial MT"/>
                <a:cs typeface="Arial MT"/>
              </a:rPr>
              <a:t>F-</a:t>
            </a:r>
            <a:r>
              <a:rPr dirty="0" sz="2200" spc="-20">
                <a:latin typeface="Arial MT"/>
                <a:cs typeface="Arial MT"/>
              </a:rPr>
              <a:t>Measure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is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accepted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way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to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combine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precision </a:t>
            </a:r>
            <a:r>
              <a:rPr dirty="0" sz="2200" spc="-10">
                <a:latin typeface="Arial MT"/>
                <a:cs typeface="Arial MT"/>
              </a:rPr>
              <a:t>	</a:t>
            </a:r>
            <a:r>
              <a:rPr dirty="0" sz="2200">
                <a:latin typeface="Arial MT"/>
                <a:cs typeface="Arial MT"/>
              </a:rPr>
              <a:t>and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recall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into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single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metric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that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captures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both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properties.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078621" y="1887280"/>
            <a:ext cx="6031865" cy="382905"/>
          </a:xfrm>
          <a:prstGeom prst="rect">
            <a:avLst/>
          </a:prstGeom>
          <a:solidFill>
            <a:srgbClr val="FFFF99"/>
          </a:solidFill>
          <a:ln w="32867">
            <a:solidFill>
              <a:srgbClr val="C00000"/>
            </a:solidFill>
          </a:ln>
        </p:spPr>
        <p:txBody>
          <a:bodyPr wrap="square" lIns="0" tIns="35560" rIns="0" bIns="0" rtlCol="0" vert="horz">
            <a:spAutoFit/>
          </a:bodyPr>
          <a:lstStyle/>
          <a:p>
            <a:pPr marL="561340">
              <a:lnSpc>
                <a:spcPct val="100000"/>
              </a:lnSpc>
              <a:spcBef>
                <a:spcPts val="280"/>
              </a:spcBef>
            </a:pPr>
            <a:r>
              <a:rPr dirty="0" sz="1900">
                <a:latin typeface="Arial MT"/>
                <a:cs typeface="Arial MT"/>
              </a:rPr>
              <a:t>(</a:t>
            </a:r>
            <a:r>
              <a:rPr dirty="0" sz="1900" spc="-4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(Precision</a:t>
            </a:r>
            <a:r>
              <a:rPr dirty="0" sz="1900" spc="-4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*</a:t>
            </a:r>
            <a:r>
              <a:rPr dirty="0" sz="1900" spc="-4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Recall)</a:t>
            </a:r>
            <a:r>
              <a:rPr dirty="0" sz="1900" spc="-3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/</a:t>
            </a:r>
            <a:r>
              <a:rPr dirty="0" sz="1900" spc="-3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(Precision</a:t>
            </a:r>
            <a:r>
              <a:rPr dirty="0" sz="1900" spc="-4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+</a:t>
            </a:r>
            <a:r>
              <a:rPr dirty="0" sz="1900" spc="-4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Recall)</a:t>
            </a:r>
            <a:r>
              <a:rPr dirty="0" sz="1900" spc="-3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)</a:t>
            </a:r>
            <a:r>
              <a:rPr dirty="0" sz="1900" spc="-4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*</a:t>
            </a:r>
            <a:r>
              <a:rPr dirty="0" sz="1900" spc="-40">
                <a:latin typeface="Arial MT"/>
                <a:cs typeface="Arial MT"/>
              </a:rPr>
              <a:t> </a:t>
            </a:r>
            <a:r>
              <a:rPr dirty="0" sz="1900" spc="-50">
                <a:latin typeface="Arial MT"/>
                <a:cs typeface="Arial MT"/>
              </a:rPr>
              <a:t>2</a:t>
            </a:r>
            <a:endParaRPr sz="1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01054" y="862931"/>
            <a:ext cx="2510155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Accuracy</a:t>
            </a:r>
            <a:r>
              <a:rPr dirty="0" spc="-100"/>
              <a:t> </a:t>
            </a:r>
            <a:r>
              <a:rPr dirty="0" spc="-20"/>
              <a:t>Score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595688" y="2222374"/>
            <a:ext cx="5175250" cy="103505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278765" marR="5080" indent="-266700">
              <a:lnSpc>
                <a:spcPct val="100499"/>
              </a:lnSpc>
              <a:spcBef>
                <a:spcPts val="85"/>
              </a:spcBef>
              <a:buChar char="•"/>
              <a:tabLst>
                <a:tab pos="278765" algn="l"/>
              </a:tabLst>
            </a:pPr>
            <a:r>
              <a:rPr dirty="0" sz="2200" spc="-20">
                <a:latin typeface="Arial MT"/>
                <a:cs typeface="Arial MT"/>
              </a:rPr>
              <a:t>Classification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Accuracy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is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number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of </a:t>
            </a:r>
            <a:r>
              <a:rPr dirty="0" sz="2200" spc="-10">
                <a:latin typeface="Arial MT"/>
                <a:cs typeface="Arial MT"/>
              </a:rPr>
              <a:t>correct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predictions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made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divided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by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the </a:t>
            </a:r>
            <a:r>
              <a:rPr dirty="0" sz="2200">
                <a:latin typeface="Arial MT"/>
                <a:cs typeface="Arial MT"/>
              </a:rPr>
              <a:t>total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number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of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predictions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made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813132" y="1504953"/>
            <a:ext cx="3896995" cy="382905"/>
          </a:xfrm>
          <a:prstGeom prst="rect">
            <a:avLst/>
          </a:prstGeom>
          <a:solidFill>
            <a:srgbClr val="FFFF99"/>
          </a:solidFill>
          <a:ln w="32866">
            <a:solidFill>
              <a:srgbClr val="C00000"/>
            </a:solidFill>
          </a:ln>
        </p:spPr>
        <p:txBody>
          <a:bodyPr wrap="square" lIns="0" tIns="33655" rIns="0" bIns="0" rtlCol="0" vert="horz">
            <a:spAutoFit/>
          </a:bodyPr>
          <a:lstStyle/>
          <a:p>
            <a:pPr marL="237490">
              <a:lnSpc>
                <a:spcPct val="100000"/>
              </a:lnSpc>
              <a:spcBef>
                <a:spcPts val="265"/>
              </a:spcBef>
            </a:pPr>
            <a:r>
              <a:rPr dirty="0" sz="1900">
                <a:latin typeface="Arial MT"/>
                <a:cs typeface="Arial MT"/>
              </a:rPr>
              <a:t>(TP</a:t>
            </a:r>
            <a:r>
              <a:rPr dirty="0" sz="1900" spc="-10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+</a:t>
            </a:r>
            <a:r>
              <a:rPr dirty="0" sz="1900" spc="-10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TN)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/</a:t>
            </a:r>
            <a:r>
              <a:rPr dirty="0" sz="1900" spc="-5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(TP</a:t>
            </a:r>
            <a:r>
              <a:rPr dirty="0" sz="1900" spc="-10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+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FP</a:t>
            </a:r>
            <a:r>
              <a:rPr dirty="0" sz="1900" spc="-10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+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FN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+</a:t>
            </a:r>
            <a:r>
              <a:rPr dirty="0" sz="1900" spc="-10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TN)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214990" y="3567123"/>
            <a:ext cx="5894705" cy="3412490"/>
          </a:xfrm>
          <a:prstGeom prst="rect">
            <a:avLst/>
          </a:prstGeom>
          <a:ln w="26290">
            <a:solidFill>
              <a:srgbClr val="000000"/>
            </a:solidFill>
          </a:ln>
        </p:spPr>
        <p:txBody>
          <a:bodyPr wrap="square" lIns="0" tIns="31750" rIns="0" bIns="0" rtlCol="0" vert="horz">
            <a:spAutoFit/>
          </a:bodyPr>
          <a:lstStyle/>
          <a:p>
            <a:pPr algn="just" marL="359410" marR="777875" indent="-265430">
              <a:lnSpc>
                <a:spcPct val="100499"/>
              </a:lnSpc>
              <a:spcBef>
                <a:spcPts val="250"/>
              </a:spcBef>
              <a:buChar char="•"/>
              <a:tabLst>
                <a:tab pos="360680" algn="l"/>
              </a:tabLst>
            </a:pPr>
            <a:r>
              <a:rPr dirty="0" sz="2200" spc="-10">
                <a:latin typeface="Arial MT"/>
                <a:cs typeface="Arial MT"/>
              </a:rPr>
              <a:t>Accuracy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score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can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be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misleading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-</a:t>
            </a:r>
            <a:r>
              <a:rPr dirty="0" sz="2200" spc="465">
                <a:latin typeface="Arial MT"/>
                <a:cs typeface="Arial MT"/>
              </a:rPr>
              <a:t> </a:t>
            </a:r>
            <a:r>
              <a:rPr dirty="0" sz="2200" spc="-50">
                <a:latin typeface="Arial MT"/>
                <a:cs typeface="Arial MT"/>
              </a:rPr>
              <a:t>a </a:t>
            </a:r>
            <a:r>
              <a:rPr dirty="0" sz="2200" spc="-50">
                <a:latin typeface="Arial MT"/>
                <a:cs typeface="Arial MT"/>
              </a:rPr>
              <a:t>	</a:t>
            </a:r>
            <a:r>
              <a:rPr dirty="0" sz="2200">
                <a:latin typeface="Arial MT"/>
                <a:cs typeface="Arial MT"/>
              </a:rPr>
              <a:t>simple</a:t>
            </a:r>
            <a:r>
              <a:rPr dirty="0" sz="2200" spc="-12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model</a:t>
            </a:r>
            <a:r>
              <a:rPr dirty="0" sz="2200" spc="-11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may</a:t>
            </a:r>
            <a:r>
              <a:rPr dirty="0" sz="2200" spc="-114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have</a:t>
            </a:r>
            <a:r>
              <a:rPr dirty="0" sz="2200" spc="-12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</a:t>
            </a:r>
            <a:r>
              <a:rPr dirty="0" sz="2200" spc="-114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high</a:t>
            </a:r>
            <a:r>
              <a:rPr dirty="0" sz="2200" spc="-12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level</a:t>
            </a:r>
            <a:r>
              <a:rPr dirty="0" sz="2200" spc="-110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of </a:t>
            </a:r>
            <a:r>
              <a:rPr dirty="0" sz="2200" spc="-25">
                <a:latin typeface="Arial MT"/>
                <a:cs typeface="Arial MT"/>
              </a:rPr>
              <a:t>	</a:t>
            </a:r>
            <a:r>
              <a:rPr dirty="0" sz="2200" spc="-20">
                <a:latin typeface="Arial MT"/>
                <a:cs typeface="Arial MT"/>
              </a:rPr>
              <a:t>accuracy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but</a:t>
            </a:r>
            <a:r>
              <a:rPr dirty="0" sz="2200" spc="-6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be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too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crude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to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be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useful.</a:t>
            </a:r>
            <a:endParaRPr sz="2200">
              <a:latin typeface="Arial MT"/>
              <a:cs typeface="Arial MT"/>
            </a:endParaRPr>
          </a:p>
          <a:p>
            <a:pPr lvl="1" marL="669925" marR="88265" indent="-220979">
              <a:lnSpc>
                <a:spcPct val="98900"/>
              </a:lnSpc>
              <a:spcBef>
                <a:spcPts val="590"/>
              </a:spcBef>
              <a:buChar char="–"/>
              <a:tabLst>
                <a:tab pos="671195" algn="l"/>
              </a:tabLst>
            </a:pPr>
            <a:r>
              <a:rPr dirty="0" sz="1900">
                <a:latin typeface="Arial MT"/>
                <a:cs typeface="Arial MT"/>
              </a:rPr>
              <a:t>For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example,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if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96%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of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the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sample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is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35">
                <a:latin typeface="Arial MT"/>
                <a:cs typeface="Arial MT"/>
              </a:rPr>
              <a:t>Category</a:t>
            </a:r>
            <a:r>
              <a:rPr dirty="0" sz="1900" spc="-13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A, </a:t>
            </a:r>
            <a:r>
              <a:rPr dirty="0" sz="1900" spc="-25">
                <a:latin typeface="Arial MT"/>
                <a:cs typeface="Arial MT"/>
              </a:rPr>
              <a:t>	</a:t>
            </a:r>
            <a:r>
              <a:rPr dirty="0" sz="1900" spc="-10">
                <a:latin typeface="Arial MT"/>
                <a:cs typeface="Arial MT"/>
              </a:rPr>
              <a:t>then</a:t>
            </a:r>
            <a:r>
              <a:rPr dirty="0" sz="1900" spc="-12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predicting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that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every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case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is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 spc="-35">
                <a:latin typeface="Arial MT"/>
                <a:cs typeface="Arial MT"/>
              </a:rPr>
              <a:t>category</a:t>
            </a:r>
            <a:r>
              <a:rPr dirty="0" sz="1900" spc="-13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</a:t>
            </a:r>
            <a:r>
              <a:rPr dirty="0" sz="1900" spc="-14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will </a:t>
            </a:r>
            <a:r>
              <a:rPr dirty="0" sz="1900" spc="-20">
                <a:latin typeface="Arial MT"/>
                <a:cs typeface="Arial MT"/>
              </a:rPr>
              <a:t>	</a:t>
            </a:r>
            <a:r>
              <a:rPr dirty="0" sz="1900" spc="-10">
                <a:latin typeface="Arial MT"/>
                <a:cs typeface="Arial MT"/>
              </a:rPr>
              <a:t>have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an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accuracy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of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96%.</a:t>
            </a:r>
            <a:endParaRPr sz="1900">
              <a:latin typeface="Arial MT"/>
              <a:cs typeface="Arial MT"/>
            </a:endParaRPr>
          </a:p>
          <a:p>
            <a:pPr lvl="1" marL="669925" indent="-220979">
              <a:lnSpc>
                <a:spcPct val="100000"/>
              </a:lnSpc>
              <a:spcBef>
                <a:spcPts val="625"/>
              </a:spcBef>
              <a:buChar char="–"/>
              <a:tabLst>
                <a:tab pos="669925" algn="l"/>
              </a:tabLst>
            </a:pPr>
            <a:r>
              <a:rPr dirty="0" sz="1900" spc="-30">
                <a:latin typeface="Arial MT"/>
                <a:cs typeface="Arial MT"/>
              </a:rPr>
              <a:t>Scikit-</a:t>
            </a:r>
            <a:r>
              <a:rPr dirty="0" sz="1900" spc="-10">
                <a:latin typeface="Arial MT"/>
                <a:cs typeface="Arial MT"/>
              </a:rPr>
              <a:t>learn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dummy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classifier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does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this</a:t>
            </a:r>
            <a:endParaRPr sz="1900">
              <a:latin typeface="Arial MT"/>
              <a:cs typeface="Arial MT"/>
            </a:endParaRPr>
          </a:p>
          <a:p>
            <a:pPr marL="360680" marR="368935" indent="-266700">
              <a:lnSpc>
                <a:spcPts val="2590"/>
              </a:lnSpc>
              <a:spcBef>
                <a:spcPts val="740"/>
              </a:spcBef>
              <a:buChar char="•"/>
              <a:tabLst>
                <a:tab pos="360680" algn="l"/>
              </a:tabLst>
            </a:pP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underlying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issue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is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imbalance between</a:t>
            </a:r>
            <a:r>
              <a:rPr dirty="0" sz="2200" spc="-12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12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positive</a:t>
            </a:r>
            <a:r>
              <a:rPr dirty="0" sz="2200" spc="-114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and</a:t>
            </a:r>
            <a:r>
              <a:rPr dirty="0" sz="2200" spc="-12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negative</a:t>
            </a:r>
            <a:r>
              <a:rPr dirty="0" sz="2200" spc="-114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classes</a:t>
            </a:r>
            <a:endParaRPr sz="2200">
              <a:latin typeface="Arial MT"/>
              <a:cs typeface="Arial MT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48877" y="4634030"/>
            <a:ext cx="1915725" cy="1308757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8493435" y="5122489"/>
            <a:ext cx="396875" cy="31877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48895" rIns="0" bIns="0" rtlCol="0" vert="horz">
            <a:spAutoFit/>
          </a:bodyPr>
          <a:lstStyle/>
          <a:p>
            <a:pPr marL="93980">
              <a:lnSpc>
                <a:spcPct val="100000"/>
              </a:lnSpc>
              <a:spcBef>
                <a:spcPts val="385"/>
              </a:spcBef>
            </a:pPr>
            <a:r>
              <a:rPr dirty="0" sz="1400" spc="-25">
                <a:latin typeface="Arial MT"/>
                <a:cs typeface="Arial MT"/>
              </a:rPr>
              <a:t>96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9170780" y="5122988"/>
            <a:ext cx="294005" cy="31877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48260" rIns="0" bIns="0" rtlCol="0" vert="horz">
            <a:spAutoFit/>
          </a:bodyPr>
          <a:lstStyle/>
          <a:p>
            <a:pPr marL="93980">
              <a:lnSpc>
                <a:spcPct val="100000"/>
              </a:lnSpc>
              <a:spcBef>
                <a:spcPts val="380"/>
              </a:spcBef>
            </a:pPr>
            <a:r>
              <a:rPr dirty="0" sz="1400" spc="-50">
                <a:latin typeface="Arial MT"/>
                <a:cs typeface="Arial MT"/>
              </a:rPr>
              <a:t>4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8548951" y="5530754"/>
            <a:ext cx="294005" cy="31877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48895" rIns="0" bIns="0" rtlCol="0" vert="horz">
            <a:spAutoFit/>
          </a:bodyPr>
          <a:lstStyle/>
          <a:p>
            <a:pPr marL="94615">
              <a:lnSpc>
                <a:spcPct val="100000"/>
              </a:lnSpc>
              <a:spcBef>
                <a:spcPts val="385"/>
              </a:spcBef>
            </a:pPr>
            <a:r>
              <a:rPr dirty="0" sz="1400" spc="-50">
                <a:latin typeface="Arial MT"/>
                <a:cs typeface="Arial MT"/>
              </a:rPr>
              <a:t>0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9170780" y="5530754"/>
            <a:ext cx="294005" cy="31877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48895" rIns="0" bIns="0" rtlCol="0" vert="horz">
            <a:spAutoFit/>
          </a:bodyPr>
          <a:lstStyle/>
          <a:p>
            <a:pPr marL="93980">
              <a:lnSpc>
                <a:spcPct val="100000"/>
              </a:lnSpc>
              <a:spcBef>
                <a:spcPts val="385"/>
              </a:spcBef>
            </a:pPr>
            <a:r>
              <a:rPr dirty="0" sz="1400" spc="-50">
                <a:latin typeface="Arial MT"/>
                <a:cs typeface="Arial MT"/>
              </a:rPr>
              <a:t>0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09666" y="1963488"/>
            <a:ext cx="2607946" cy="160363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37469" rIns="0" bIns="0" rtlCol="0" vert="horz">
            <a:spAutoFit/>
          </a:bodyPr>
          <a:lstStyle/>
          <a:p>
            <a:pPr marL="2446020">
              <a:lnSpc>
                <a:spcPct val="100000"/>
              </a:lnSpc>
              <a:spcBef>
                <a:spcPts val="100"/>
              </a:spcBef>
            </a:pPr>
            <a:r>
              <a:rPr dirty="0" sz="2900"/>
              <a:t>Class</a:t>
            </a:r>
            <a:r>
              <a:rPr dirty="0" sz="2900" spc="-45"/>
              <a:t> </a:t>
            </a:r>
            <a:r>
              <a:rPr dirty="0" sz="2900" spc="-10"/>
              <a:t>Imbalance</a:t>
            </a:r>
            <a:endParaRPr sz="2900"/>
          </a:p>
        </p:txBody>
      </p:sp>
      <p:sp>
        <p:nvSpPr>
          <p:cNvPr id="3" name="object 3" descr=""/>
          <p:cNvSpPr txBox="1"/>
          <p:nvPr/>
        </p:nvSpPr>
        <p:spPr>
          <a:xfrm>
            <a:off x="1396300" y="1946513"/>
            <a:ext cx="7583805" cy="3558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4165" marR="931544" indent="-2667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04165" algn="l"/>
              </a:tabLst>
            </a:pPr>
            <a:r>
              <a:rPr dirty="0" sz="2500" i="1">
                <a:latin typeface="Arial"/>
                <a:cs typeface="Arial"/>
              </a:rPr>
              <a:t>Accuracy</a:t>
            </a:r>
            <a:r>
              <a:rPr dirty="0" sz="2500">
                <a:latin typeface="Arial MT"/>
                <a:cs typeface="Arial MT"/>
              </a:rPr>
              <a:t>,</a:t>
            </a:r>
            <a:r>
              <a:rPr dirty="0" sz="2500" spc="-90">
                <a:latin typeface="Arial MT"/>
                <a:cs typeface="Arial MT"/>
              </a:rPr>
              <a:t> </a:t>
            </a:r>
            <a:r>
              <a:rPr dirty="0" sz="2500" i="1">
                <a:latin typeface="Arial"/>
                <a:cs typeface="Arial"/>
              </a:rPr>
              <a:t>Precision</a:t>
            </a:r>
            <a:r>
              <a:rPr dirty="0" sz="2500">
                <a:latin typeface="Arial MT"/>
                <a:cs typeface="Arial MT"/>
              </a:rPr>
              <a:t>,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 i="1">
                <a:latin typeface="Arial"/>
                <a:cs typeface="Arial"/>
              </a:rPr>
              <a:t>F</a:t>
            </a:r>
            <a:r>
              <a:rPr dirty="0" baseline="-16339" sz="2550" i="1">
                <a:latin typeface="Arial"/>
                <a:cs typeface="Arial"/>
              </a:rPr>
              <a:t>1</a:t>
            </a:r>
            <a:r>
              <a:rPr dirty="0" baseline="-16339" sz="2550" spc="187" i="1">
                <a:latin typeface="Arial"/>
                <a:cs typeface="Arial"/>
              </a:rPr>
              <a:t> </a:t>
            </a:r>
            <a:r>
              <a:rPr dirty="0" sz="2500" i="1">
                <a:latin typeface="Arial"/>
                <a:cs typeface="Arial"/>
              </a:rPr>
              <a:t>Score</a:t>
            </a:r>
            <a:r>
              <a:rPr dirty="0" sz="2500" spc="-90" i="1">
                <a:latin typeface="Arial"/>
                <a:cs typeface="Arial"/>
              </a:rPr>
              <a:t> </a:t>
            </a:r>
            <a:r>
              <a:rPr dirty="0" sz="2500">
                <a:latin typeface="Arial MT"/>
                <a:cs typeface="Arial MT"/>
              </a:rPr>
              <a:t>are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affected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 spc="-25">
                <a:latin typeface="Arial MT"/>
                <a:cs typeface="Arial MT"/>
              </a:rPr>
              <a:t>by </a:t>
            </a:r>
            <a:r>
              <a:rPr dirty="0" sz="2500">
                <a:latin typeface="Arial MT"/>
                <a:cs typeface="Arial MT"/>
              </a:rPr>
              <a:t>unbalanced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classes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in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test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 spc="-25">
                <a:latin typeface="Arial MT"/>
                <a:cs typeface="Arial MT"/>
              </a:rPr>
              <a:t>set</a:t>
            </a:r>
            <a:endParaRPr sz="2500">
              <a:latin typeface="Arial MT"/>
              <a:cs typeface="Arial MT"/>
            </a:endParaRPr>
          </a:p>
          <a:p>
            <a:pPr marL="304165" marR="30480" indent="-266700">
              <a:lnSpc>
                <a:spcPct val="100000"/>
              </a:lnSpc>
              <a:spcBef>
                <a:spcPts val="1295"/>
              </a:spcBef>
              <a:buChar char="•"/>
              <a:tabLst>
                <a:tab pos="304165" algn="l"/>
              </a:tabLst>
            </a:pPr>
            <a:r>
              <a:rPr dirty="0" sz="2500">
                <a:latin typeface="Arial MT"/>
                <a:cs typeface="Arial MT"/>
              </a:rPr>
              <a:t>In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fact,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data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sets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with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imbalanced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class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distributions </a:t>
            </a:r>
            <a:r>
              <a:rPr dirty="0" sz="2500">
                <a:latin typeface="Arial MT"/>
                <a:cs typeface="Arial MT"/>
              </a:rPr>
              <a:t>are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quite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common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in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many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 spc="-20">
                <a:latin typeface="Arial MT"/>
                <a:cs typeface="Arial MT"/>
              </a:rPr>
              <a:t>real-</a:t>
            </a:r>
            <a:r>
              <a:rPr dirty="0" sz="2500">
                <a:latin typeface="Arial MT"/>
                <a:cs typeface="Arial MT"/>
              </a:rPr>
              <a:t>life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applications</a:t>
            </a:r>
            <a:endParaRPr sz="2500">
              <a:latin typeface="Arial MT"/>
              <a:cs typeface="Arial MT"/>
            </a:endParaRPr>
          </a:p>
          <a:p>
            <a:pPr marL="304165" marR="451484" indent="-266700">
              <a:lnSpc>
                <a:spcPct val="100000"/>
              </a:lnSpc>
              <a:spcBef>
                <a:spcPts val="1200"/>
              </a:spcBef>
              <a:buChar char="•"/>
              <a:tabLst>
                <a:tab pos="304165" algn="l"/>
              </a:tabLst>
            </a:pPr>
            <a:r>
              <a:rPr dirty="0" sz="2500">
                <a:latin typeface="Arial MT"/>
                <a:cs typeface="Arial MT"/>
              </a:rPr>
              <a:t>This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necessitates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alternative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metrics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to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judge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 spc="-25">
                <a:latin typeface="Arial MT"/>
                <a:cs typeface="Arial MT"/>
              </a:rPr>
              <a:t>the </a:t>
            </a:r>
            <a:r>
              <a:rPr dirty="0" sz="2500">
                <a:latin typeface="Arial MT"/>
                <a:cs typeface="Arial MT"/>
              </a:rPr>
              <a:t>classifier</a:t>
            </a:r>
            <a:r>
              <a:rPr dirty="0" sz="2500" spc="-10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performance</a:t>
            </a:r>
            <a:endParaRPr sz="2500">
              <a:latin typeface="Arial MT"/>
              <a:cs typeface="Arial MT"/>
            </a:endParaRPr>
          </a:p>
          <a:p>
            <a:pPr marL="304165" marR="236854" indent="-266700">
              <a:lnSpc>
                <a:spcPct val="100800"/>
              </a:lnSpc>
              <a:spcBef>
                <a:spcPts val="1275"/>
              </a:spcBef>
              <a:buChar char="•"/>
              <a:tabLst>
                <a:tab pos="304165" algn="l"/>
              </a:tabLst>
            </a:pPr>
            <a:r>
              <a:rPr dirty="0" sz="2500">
                <a:latin typeface="Arial MT"/>
                <a:cs typeface="Arial MT"/>
              </a:rPr>
              <a:t>Two</a:t>
            </a:r>
            <a:r>
              <a:rPr dirty="0" sz="2500" spc="-9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particular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metrics</a:t>
            </a:r>
            <a:r>
              <a:rPr dirty="0" sz="2500" spc="-10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are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Balanced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Accuracy</a:t>
            </a:r>
            <a:r>
              <a:rPr dirty="0" sz="2500" spc="-90">
                <a:latin typeface="Arial MT"/>
                <a:cs typeface="Arial MT"/>
              </a:rPr>
              <a:t> </a:t>
            </a:r>
            <a:r>
              <a:rPr dirty="0" sz="2500" spc="-25">
                <a:latin typeface="Arial MT"/>
                <a:cs typeface="Arial MT"/>
              </a:rPr>
              <a:t>and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10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Matthews</a:t>
            </a:r>
            <a:r>
              <a:rPr dirty="0" sz="2500" spc="-10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Correlation</a:t>
            </a:r>
            <a:r>
              <a:rPr dirty="0" sz="2500" spc="-10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Coefficient</a:t>
            </a:r>
            <a:endParaRPr sz="2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8839" rIns="0" bIns="0" rtlCol="0" vert="horz">
            <a:spAutoFit/>
          </a:bodyPr>
          <a:lstStyle/>
          <a:p>
            <a:pPr marL="1271905">
              <a:lnSpc>
                <a:spcPct val="100000"/>
              </a:lnSpc>
              <a:spcBef>
                <a:spcPts val="100"/>
              </a:spcBef>
            </a:pPr>
            <a:r>
              <a:rPr dirty="0"/>
              <a:t>Matthews</a:t>
            </a:r>
            <a:r>
              <a:rPr dirty="0" spc="-125"/>
              <a:t> </a:t>
            </a:r>
            <a:r>
              <a:rPr dirty="0" spc="-10"/>
              <a:t>Correlation</a:t>
            </a:r>
            <a:r>
              <a:rPr dirty="0" spc="-120"/>
              <a:t> </a:t>
            </a:r>
            <a:r>
              <a:rPr dirty="0" spc="-10"/>
              <a:t>Coefficient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041054" y="2760363"/>
            <a:ext cx="8546465" cy="41128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78765" marR="5080" indent="-266700">
              <a:lnSpc>
                <a:spcPct val="99300"/>
              </a:lnSpc>
              <a:spcBef>
                <a:spcPts val="114"/>
              </a:spcBef>
              <a:buChar char="•"/>
              <a:tabLst>
                <a:tab pos="278765" algn="l"/>
              </a:tabLst>
            </a:pPr>
            <a:r>
              <a:rPr dirty="0" sz="1900">
                <a:latin typeface="Arial MT"/>
                <a:cs typeface="Arial MT"/>
              </a:rPr>
              <a:t>The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Matthews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Correlation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Coefficient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(MCC)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is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statistical</a:t>
            </a:r>
            <a:r>
              <a:rPr dirty="0" sz="1900" spc="-5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measure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used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to </a:t>
            </a:r>
            <a:r>
              <a:rPr dirty="0" sz="1900" spc="-20">
                <a:latin typeface="Arial MT"/>
                <a:cs typeface="Arial MT"/>
              </a:rPr>
              <a:t>assess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the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quality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of</a:t>
            </a:r>
            <a:r>
              <a:rPr dirty="0" sz="1900" spc="-5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binary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 spc="-35">
                <a:latin typeface="Arial MT"/>
                <a:cs typeface="Arial MT"/>
              </a:rPr>
              <a:t>(two-</a:t>
            </a:r>
            <a:r>
              <a:rPr dirty="0" sz="1900" spc="-10">
                <a:latin typeface="Arial MT"/>
                <a:cs typeface="Arial MT"/>
              </a:rPr>
              <a:t>class)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classification.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It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is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especially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useful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in evaluating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classifiers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when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the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dataset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is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i</a:t>
            </a:r>
            <a:r>
              <a:rPr dirty="0" u="heavy" sz="1900" spc="-2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mbalanced,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meaning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the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classes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are </a:t>
            </a:r>
            <a:r>
              <a:rPr dirty="0" sz="1900">
                <a:latin typeface="Arial MT"/>
                <a:cs typeface="Arial MT"/>
              </a:rPr>
              <a:t>not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equally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represented.</a:t>
            </a:r>
            <a:endParaRPr sz="1900">
              <a:latin typeface="Arial MT"/>
              <a:cs typeface="Arial MT"/>
            </a:endParaRPr>
          </a:p>
          <a:p>
            <a:pPr algn="just" marL="276225" marR="147955" indent="-264160">
              <a:lnSpc>
                <a:spcPct val="98900"/>
              </a:lnSpc>
              <a:spcBef>
                <a:spcPts val="1850"/>
              </a:spcBef>
              <a:buChar char="•"/>
              <a:tabLst>
                <a:tab pos="278765" algn="l"/>
              </a:tabLst>
            </a:pPr>
            <a:r>
              <a:rPr dirty="0" sz="1900" spc="-20">
                <a:latin typeface="Arial MT"/>
                <a:cs typeface="Arial MT"/>
              </a:rPr>
              <a:t>Unlike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accuracy,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which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can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be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misleading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in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such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cases,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the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MCC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provides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50">
                <a:latin typeface="Arial MT"/>
                <a:cs typeface="Arial MT"/>
              </a:rPr>
              <a:t>a </a:t>
            </a:r>
            <a:r>
              <a:rPr dirty="0" sz="1900" spc="-50">
                <a:latin typeface="Arial MT"/>
                <a:cs typeface="Arial MT"/>
              </a:rPr>
              <a:t>	</a:t>
            </a:r>
            <a:r>
              <a:rPr dirty="0" sz="1900" spc="-10">
                <a:latin typeface="Arial MT"/>
                <a:cs typeface="Arial MT"/>
              </a:rPr>
              <a:t>more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balanced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measure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of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 spc="-30">
                <a:latin typeface="Arial MT"/>
                <a:cs typeface="Arial MT"/>
              </a:rPr>
              <a:t>performance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by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considering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all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four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outcomes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in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50">
                <a:latin typeface="Arial MT"/>
                <a:cs typeface="Arial MT"/>
              </a:rPr>
              <a:t>a </a:t>
            </a:r>
            <a:r>
              <a:rPr dirty="0" sz="1900" spc="-50">
                <a:latin typeface="Arial MT"/>
                <a:cs typeface="Arial MT"/>
              </a:rPr>
              <a:t>	</a:t>
            </a:r>
            <a:r>
              <a:rPr dirty="0" sz="1900" spc="-25">
                <a:latin typeface="Arial MT"/>
                <a:cs typeface="Arial MT"/>
              </a:rPr>
              <a:t>confusion</a:t>
            </a:r>
            <a:r>
              <a:rPr dirty="0" sz="1900" spc="-5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matrix.</a:t>
            </a:r>
            <a:endParaRPr sz="1900">
              <a:latin typeface="Arial MT"/>
              <a:cs typeface="Arial MT"/>
            </a:endParaRPr>
          </a:p>
          <a:p>
            <a:pPr marL="278130" indent="-265430">
              <a:lnSpc>
                <a:spcPct val="100000"/>
              </a:lnSpc>
              <a:spcBef>
                <a:spcPts val="1800"/>
              </a:spcBef>
              <a:buChar char="•"/>
              <a:tabLst>
                <a:tab pos="278130" algn="l"/>
              </a:tabLst>
            </a:pPr>
            <a:r>
              <a:rPr dirty="0" sz="1900" spc="-10">
                <a:latin typeface="Arial MT"/>
                <a:cs typeface="Arial MT"/>
              </a:rPr>
              <a:t>MCC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values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range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from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 spc="-30">
                <a:latin typeface="Arial MT"/>
                <a:cs typeface="Arial MT"/>
              </a:rPr>
              <a:t>-</a:t>
            </a:r>
            <a:r>
              <a:rPr dirty="0" sz="1900">
                <a:latin typeface="Arial MT"/>
                <a:cs typeface="Arial MT"/>
              </a:rPr>
              <a:t>1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to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+1:</a:t>
            </a:r>
            <a:endParaRPr sz="1900">
              <a:latin typeface="Arial MT"/>
              <a:cs typeface="Arial MT"/>
            </a:endParaRPr>
          </a:p>
          <a:p>
            <a:pPr marL="367030">
              <a:lnSpc>
                <a:spcPct val="100000"/>
              </a:lnSpc>
              <a:spcBef>
                <a:spcPts val="430"/>
              </a:spcBef>
              <a:tabLst>
                <a:tab pos="589280" algn="l"/>
              </a:tabLst>
            </a:pPr>
            <a:r>
              <a:rPr dirty="0" sz="1900" spc="-50">
                <a:latin typeface="Arial MT"/>
                <a:cs typeface="Arial MT"/>
              </a:rPr>
              <a:t>•</a:t>
            </a:r>
            <a:r>
              <a:rPr dirty="0" sz="1900">
                <a:latin typeface="Arial MT"/>
                <a:cs typeface="Arial MT"/>
              </a:rPr>
              <a:t>	</a:t>
            </a:r>
            <a:r>
              <a:rPr dirty="0" sz="1900" b="1">
                <a:latin typeface="Arial"/>
                <a:cs typeface="Arial"/>
              </a:rPr>
              <a:t>+1</a:t>
            </a:r>
            <a:r>
              <a:rPr dirty="0" sz="1900" spc="-80" b="1">
                <a:latin typeface="Arial"/>
                <a:cs typeface="Arial"/>
              </a:rPr>
              <a:t> </a:t>
            </a:r>
            <a:r>
              <a:rPr dirty="0" sz="1900" spc="-20">
                <a:latin typeface="Arial MT"/>
                <a:cs typeface="Arial MT"/>
              </a:rPr>
              <a:t>indicates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perfect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prediction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(all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cases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are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correctly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classified).</a:t>
            </a:r>
            <a:endParaRPr sz="1900">
              <a:latin typeface="Arial MT"/>
              <a:cs typeface="Arial MT"/>
            </a:endParaRPr>
          </a:p>
          <a:p>
            <a:pPr lvl="1" marL="589280" indent="-222250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589280" algn="l"/>
              </a:tabLst>
            </a:pPr>
            <a:r>
              <a:rPr dirty="0" sz="1900" b="1">
                <a:latin typeface="Arial"/>
                <a:cs typeface="Arial"/>
              </a:rPr>
              <a:t>0</a:t>
            </a:r>
            <a:r>
              <a:rPr dirty="0" sz="1900" spc="-80" b="1">
                <a:latin typeface="Arial"/>
                <a:cs typeface="Arial"/>
              </a:rPr>
              <a:t> </a:t>
            </a:r>
            <a:r>
              <a:rPr dirty="0" sz="1900" spc="-20">
                <a:latin typeface="Arial MT"/>
                <a:cs typeface="Arial MT"/>
              </a:rPr>
              <a:t>indicates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random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prediction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(no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better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than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chance).</a:t>
            </a:r>
            <a:endParaRPr sz="1900">
              <a:latin typeface="Arial MT"/>
              <a:cs typeface="Arial MT"/>
            </a:endParaRPr>
          </a:p>
          <a:p>
            <a:pPr lvl="1" marL="589280" marR="207010" indent="-222250">
              <a:lnSpc>
                <a:spcPct val="101099"/>
              </a:lnSpc>
              <a:spcBef>
                <a:spcPts val="380"/>
              </a:spcBef>
              <a:buFont typeface="Arial MT"/>
              <a:buChar char="•"/>
              <a:tabLst>
                <a:tab pos="589280" algn="l"/>
              </a:tabLst>
            </a:pPr>
            <a:r>
              <a:rPr dirty="0" sz="1900" spc="-30" b="1">
                <a:latin typeface="Arial"/>
                <a:cs typeface="Arial"/>
              </a:rPr>
              <a:t>-</a:t>
            </a:r>
            <a:r>
              <a:rPr dirty="0" sz="1900" b="1">
                <a:latin typeface="Arial"/>
                <a:cs typeface="Arial"/>
              </a:rPr>
              <a:t>1</a:t>
            </a:r>
            <a:r>
              <a:rPr dirty="0" sz="1900" spc="-80" b="1">
                <a:latin typeface="Arial"/>
                <a:cs typeface="Arial"/>
              </a:rPr>
              <a:t> </a:t>
            </a:r>
            <a:r>
              <a:rPr dirty="0" sz="1900" spc="-20">
                <a:latin typeface="Arial MT"/>
                <a:cs typeface="Arial MT"/>
              </a:rPr>
              <a:t>indicates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total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 spc="-30">
                <a:latin typeface="Arial MT"/>
                <a:cs typeface="Arial MT"/>
              </a:rPr>
              <a:t>disagreement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between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prediction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and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truth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(all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cases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are </a:t>
            </a:r>
            <a:r>
              <a:rPr dirty="0" sz="1900" spc="-10">
                <a:latin typeface="Arial MT"/>
                <a:cs typeface="Arial MT"/>
              </a:rPr>
              <a:t>misclassified).</a:t>
            </a:r>
            <a:endParaRPr sz="19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5139" y="1554705"/>
            <a:ext cx="7030420" cy="110433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64594" y="1893704"/>
            <a:ext cx="8053070" cy="415925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278765" marR="78105" indent="-266700">
              <a:lnSpc>
                <a:spcPts val="2500"/>
              </a:lnSpc>
              <a:spcBef>
                <a:spcPts val="200"/>
              </a:spcBef>
              <a:buChar char="•"/>
              <a:tabLst>
                <a:tab pos="278765" algn="l"/>
              </a:tabLst>
            </a:pPr>
            <a:r>
              <a:rPr dirty="0" sz="2100">
                <a:latin typeface="Arial MT"/>
                <a:cs typeface="Arial MT"/>
              </a:rPr>
              <a:t>ROC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as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an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abbreviation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A50021"/>
                </a:solidFill>
                <a:latin typeface="Arial MT"/>
                <a:cs typeface="Arial MT"/>
              </a:rPr>
              <a:t>Receiver</a:t>
            </a:r>
            <a:r>
              <a:rPr dirty="0" sz="2100" spc="-80">
                <a:solidFill>
                  <a:srgbClr val="A50021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A50021"/>
                </a:solidFill>
                <a:latin typeface="Arial MT"/>
                <a:cs typeface="Arial MT"/>
              </a:rPr>
              <a:t>Operating</a:t>
            </a:r>
            <a:r>
              <a:rPr dirty="0" sz="2100" spc="-75">
                <a:solidFill>
                  <a:srgbClr val="A50021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A50021"/>
                </a:solidFill>
                <a:latin typeface="Arial MT"/>
                <a:cs typeface="Arial MT"/>
              </a:rPr>
              <a:t>Characteristic, </a:t>
            </a:r>
            <a:r>
              <a:rPr dirty="0" sz="2100" spc="-10">
                <a:latin typeface="Arial MT"/>
                <a:cs typeface="Arial MT"/>
              </a:rPr>
              <a:t>comes</a:t>
            </a:r>
            <a:r>
              <a:rPr dirty="0" sz="2100" spc="-114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from</a:t>
            </a:r>
            <a:r>
              <a:rPr dirty="0" sz="2100" spc="-114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signal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detection</a:t>
            </a:r>
            <a:r>
              <a:rPr dirty="0" sz="2100" spc="-11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theory</a:t>
            </a:r>
            <a:r>
              <a:rPr dirty="0" sz="2100" spc="-11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developed</a:t>
            </a:r>
            <a:r>
              <a:rPr dirty="0" sz="2100" spc="-1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during</a:t>
            </a:r>
            <a:r>
              <a:rPr dirty="0" sz="2100" spc="-114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World</a:t>
            </a:r>
            <a:r>
              <a:rPr dirty="0" sz="2100" spc="-1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War</a:t>
            </a:r>
            <a:r>
              <a:rPr dirty="0" sz="2100" spc="-105">
                <a:latin typeface="Arial MT"/>
                <a:cs typeface="Arial MT"/>
              </a:rPr>
              <a:t> </a:t>
            </a:r>
            <a:r>
              <a:rPr dirty="0" sz="2100" spc="-50">
                <a:latin typeface="Arial MT"/>
                <a:cs typeface="Arial MT"/>
              </a:rPr>
              <a:t>2 </a:t>
            </a:r>
            <a:r>
              <a:rPr dirty="0" sz="2100">
                <a:latin typeface="Arial MT"/>
                <a:cs typeface="Arial MT"/>
              </a:rPr>
              <a:t>for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analysis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radar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images</a:t>
            </a:r>
            <a:endParaRPr sz="2100">
              <a:latin typeface="Arial MT"/>
              <a:cs typeface="Arial MT"/>
            </a:endParaRPr>
          </a:p>
          <a:p>
            <a:pPr marL="278765" marR="401320" indent="-266700">
              <a:lnSpc>
                <a:spcPts val="2500"/>
              </a:lnSpc>
              <a:spcBef>
                <a:spcPts val="1305"/>
              </a:spcBef>
              <a:buChar char="•"/>
              <a:tabLst>
                <a:tab pos="278765" algn="l"/>
              </a:tabLst>
            </a:pPr>
            <a:r>
              <a:rPr dirty="0" sz="2100">
                <a:latin typeface="Arial MT"/>
                <a:cs typeface="Arial MT"/>
              </a:rPr>
              <a:t>In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context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classifier,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ROC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plot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useful</a:t>
            </a:r>
            <a:r>
              <a:rPr dirty="0" sz="2100" spc="-6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tool</a:t>
            </a:r>
            <a:r>
              <a:rPr dirty="0" sz="2100" spc="-6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070C0"/>
                </a:solidFill>
                <a:latin typeface="Arial MT"/>
                <a:cs typeface="Arial MT"/>
              </a:rPr>
              <a:t>study</a:t>
            </a:r>
            <a:r>
              <a:rPr dirty="0" sz="2100" spc="-75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dirty="0" sz="2100" spc="-25">
                <a:solidFill>
                  <a:srgbClr val="0070C0"/>
                </a:solidFill>
                <a:latin typeface="Arial MT"/>
                <a:cs typeface="Arial MT"/>
              </a:rPr>
              <a:t>the </a:t>
            </a:r>
            <a:r>
              <a:rPr dirty="0" sz="2100" spc="-10">
                <a:solidFill>
                  <a:srgbClr val="0070C0"/>
                </a:solidFill>
                <a:latin typeface="Arial MT"/>
                <a:cs typeface="Arial MT"/>
              </a:rPr>
              <a:t>behaviour</a:t>
            </a:r>
            <a:r>
              <a:rPr dirty="0" sz="2100" spc="-75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070C0"/>
                </a:solidFill>
                <a:latin typeface="Arial MT"/>
                <a:cs typeface="Arial MT"/>
              </a:rPr>
              <a:t>of</a:t>
            </a:r>
            <a:r>
              <a:rPr dirty="0" sz="2100" spc="-70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070C0"/>
                </a:solidFill>
                <a:latin typeface="Arial MT"/>
                <a:cs typeface="Arial MT"/>
              </a:rPr>
              <a:t>a</a:t>
            </a:r>
            <a:r>
              <a:rPr dirty="0" sz="2100" spc="-75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0070C0"/>
                </a:solidFill>
                <a:latin typeface="Arial MT"/>
                <a:cs typeface="Arial MT"/>
              </a:rPr>
              <a:t>classifier</a:t>
            </a:r>
            <a:r>
              <a:rPr dirty="0" sz="2100" spc="-85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or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for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0B5ED7"/>
                </a:solidFill>
                <a:latin typeface="Arial MT"/>
                <a:cs typeface="Arial MT"/>
              </a:rPr>
              <a:t>comparing</a:t>
            </a:r>
            <a:r>
              <a:rPr dirty="0" sz="2100" spc="-75">
                <a:solidFill>
                  <a:srgbClr val="0B5ED7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0B5ED7"/>
                </a:solidFill>
                <a:latin typeface="Arial MT"/>
                <a:cs typeface="Arial MT"/>
              </a:rPr>
              <a:t>different</a:t>
            </a:r>
            <a:r>
              <a:rPr dirty="0" sz="2100" spc="-70">
                <a:solidFill>
                  <a:srgbClr val="0B5ED7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0B5ED7"/>
                </a:solidFill>
                <a:latin typeface="Arial MT"/>
                <a:cs typeface="Arial MT"/>
              </a:rPr>
              <a:t>classifiers</a:t>
            </a:r>
            <a:endParaRPr sz="2100">
              <a:latin typeface="Arial MT"/>
              <a:cs typeface="Arial MT"/>
            </a:endParaRPr>
          </a:p>
          <a:p>
            <a:pPr marL="278765" marR="410845" indent="-266700">
              <a:lnSpc>
                <a:spcPct val="100000"/>
              </a:lnSpc>
              <a:spcBef>
                <a:spcPts val="1095"/>
              </a:spcBef>
              <a:buChar char="•"/>
              <a:tabLst>
                <a:tab pos="278765" algn="l"/>
              </a:tabLst>
            </a:pP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ROC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plot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B5ED7"/>
                </a:solidFill>
                <a:latin typeface="Arial MT"/>
                <a:cs typeface="Arial MT"/>
              </a:rPr>
              <a:t>a</a:t>
            </a:r>
            <a:r>
              <a:rPr dirty="0" sz="2100" spc="-75">
                <a:solidFill>
                  <a:srgbClr val="0B5ED7"/>
                </a:solidFill>
                <a:latin typeface="Arial MT"/>
                <a:cs typeface="Arial MT"/>
              </a:rPr>
              <a:t> </a:t>
            </a:r>
            <a:r>
              <a:rPr dirty="0" sz="2100" spc="-30">
                <a:solidFill>
                  <a:srgbClr val="0B5ED7"/>
                </a:solidFill>
                <a:latin typeface="Arial MT"/>
                <a:cs typeface="Arial MT"/>
              </a:rPr>
              <a:t>two-</a:t>
            </a:r>
            <a:r>
              <a:rPr dirty="0" sz="2100" spc="-10">
                <a:solidFill>
                  <a:srgbClr val="0B5ED7"/>
                </a:solidFill>
                <a:latin typeface="Arial MT"/>
                <a:cs typeface="Arial MT"/>
              </a:rPr>
              <a:t>dimensional</a:t>
            </a:r>
            <a:r>
              <a:rPr dirty="0" sz="2100" spc="-55">
                <a:solidFill>
                  <a:srgbClr val="0B5ED7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B5ED7"/>
                </a:solidFill>
                <a:latin typeface="Arial MT"/>
                <a:cs typeface="Arial MT"/>
              </a:rPr>
              <a:t>graph</a:t>
            </a:r>
            <a:r>
              <a:rPr dirty="0" sz="2100">
                <a:latin typeface="Arial MT"/>
                <a:cs typeface="Arial MT"/>
              </a:rPr>
              <a:t>,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where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X-</a:t>
            </a:r>
            <a:r>
              <a:rPr dirty="0" sz="2100" spc="-20">
                <a:latin typeface="Arial MT"/>
                <a:cs typeface="Arial MT"/>
              </a:rPr>
              <a:t>axis </a:t>
            </a:r>
            <a:r>
              <a:rPr dirty="0" sz="2100" spc="-10">
                <a:latin typeface="Arial MT"/>
                <a:cs typeface="Arial MT"/>
              </a:rPr>
              <a:t>represents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FP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rate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(FPR)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and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35">
                <a:latin typeface="Arial MT"/>
                <a:cs typeface="Arial MT"/>
              </a:rPr>
              <a:t>Y-</a:t>
            </a:r>
            <a:r>
              <a:rPr dirty="0" sz="2100">
                <a:latin typeface="Arial MT"/>
                <a:cs typeface="Arial MT"/>
              </a:rPr>
              <a:t>axis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represents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TP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rate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(TPR).</a:t>
            </a:r>
            <a:endParaRPr sz="2100">
              <a:latin typeface="Arial MT"/>
              <a:cs typeface="Arial MT"/>
            </a:endParaRPr>
          </a:p>
          <a:p>
            <a:pPr marL="278765" marR="325120" indent="-266700">
              <a:lnSpc>
                <a:spcPts val="2500"/>
              </a:lnSpc>
              <a:spcBef>
                <a:spcPts val="1370"/>
              </a:spcBef>
              <a:buChar char="•"/>
              <a:tabLst>
                <a:tab pos="278765" algn="l"/>
              </a:tabLst>
            </a:pPr>
            <a:r>
              <a:rPr dirty="0" sz="2100">
                <a:latin typeface="Arial MT"/>
                <a:cs typeface="Arial MT"/>
              </a:rPr>
              <a:t>Since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value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FPR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and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TPR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varies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from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0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1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two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axes </a:t>
            </a:r>
            <a:r>
              <a:rPr dirty="0" sz="2100">
                <a:latin typeface="Arial MT"/>
                <a:cs typeface="Arial MT"/>
              </a:rPr>
              <a:t>run</a:t>
            </a:r>
            <a:r>
              <a:rPr dirty="0" sz="2100" spc="-6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from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0</a:t>
            </a:r>
            <a:r>
              <a:rPr dirty="0" sz="2100" spc="-5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6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1</a:t>
            </a:r>
            <a:r>
              <a:rPr dirty="0" sz="2100" spc="-60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only</a:t>
            </a:r>
            <a:endParaRPr sz="2100">
              <a:latin typeface="Arial MT"/>
              <a:cs typeface="Arial MT"/>
            </a:endParaRPr>
          </a:p>
          <a:p>
            <a:pPr marL="278765" marR="5080" indent="-266700">
              <a:lnSpc>
                <a:spcPct val="100000"/>
              </a:lnSpc>
              <a:spcBef>
                <a:spcPts val="1095"/>
              </a:spcBef>
              <a:buChar char="•"/>
              <a:tabLst>
                <a:tab pos="278765" algn="l"/>
              </a:tabLst>
            </a:pPr>
            <a:r>
              <a:rPr dirty="0" sz="2100">
                <a:latin typeface="Arial MT"/>
                <a:cs typeface="Arial MT"/>
              </a:rPr>
              <a:t>Each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point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i="1">
                <a:latin typeface="Arial"/>
                <a:cs typeface="Arial"/>
              </a:rPr>
              <a:t>(x,</a:t>
            </a:r>
            <a:r>
              <a:rPr dirty="0" sz="2100" spc="-75" i="1">
                <a:latin typeface="Arial"/>
                <a:cs typeface="Arial"/>
              </a:rPr>
              <a:t> </a:t>
            </a:r>
            <a:r>
              <a:rPr dirty="0" sz="2100" i="1">
                <a:latin typeface="Arial"/>
                <a:cs typeface="Arial"/>
              </a:rPr>
              <a:t>y)</a:t>
            </a:r>
            <a:r>
              <a:rPr dirty="0" sz="2100" spc="-75" i="1">
                <a:latin typeface="Arial"/>
                <a:cs typeface="Arial"/>
              </a:rPr>
              <a:t> </a:t>
            </a:r>
            <a:r>
              <a:rPr dirty="0" sz="2100">
                <a:latin typeface="Arial MT"/>
                <a:cs typeface="Arial MT"/>
              </a:rPr>
              <a:t>on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plot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indicates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that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C00000"/>
                </a:solidFill>
                <a:latin typeface="Arial MT"/>
                <a:cs typeface="Arial MT"/>
              </a:rPr>
              <a:t>FPR</a:t>
            </a:r>
            <a:r>
              <a:rPr dirty="0" sz="2100" spc="-7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has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value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i="1">
                <a:solidFill>
                  <a:srgbClr val="C00000"/>
                </a:solidFill>
                <a:latin typeface="Arial"/>
                <a:cs typeface="Arial"/>
              </a:rPr>
              <a:t>x</a:t>
            </a:r>
            <a:r>
              <a:rPr dirty="0" sz="2100" spc="-75" i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100" spc="-25">
                <a:latin typeface="Arial MT"/>
                <a:cs typeface="Arial MT"/>
              </a:rPr>
              <a:t>and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C00000"/>
                </a:solidFill>
                <a:latin typeface="Arial MT"/>
                <a:cs typeface="Arial MT"/>
              </a:rPr>
              <a:t>TPR</a:t>
            </a:r>
            <a:r>
              <a:rPr dirty="0" sz="2100" spc="-8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value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50" i="1">
                <a:solidFill>
                  <a:srgbClr val="C00000"/>
                </a:solidFill>
                <a:latin typeface="Arial"/>
                <a:cs typeface="Arial"/>
              </a:rPr>
              <a:t>y</a:t>
            </a:r>
            <a:endParaRPr sz="21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42981" rIns="0" bIns="0" rtlCol="0" vert="horz">
            <a:spAutoFit/>
          </a:bodyPr>
          <a:lstStyle/>
          <a:p>
            <a:pPr marL="2801620">
              <a:lnSpc>
                <a:spcPct val="100000"/>
              </a:lnSpc>
              <a:spcBef>
                <a:spcPts val="100"/>
              </a:spcBef>
            </a:pPr>
            <a:r>
              <a:rPr dirty="0" sz="2900"/>
              <a:t>ROC</a:t>
            </a:r>
            <a:r>
              <a:rPr dirty="0" sz="2900" spc="-40"/>
              <a:t> </a:t>
            </a:r>
            <a:r>
              <a:rPr dirty="0" sz="2900" spc="-10"/>
              <a:t>Curve</a:t>
            </a:r>
            <a:endParaRPr sz="29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099471" y="1567568"/>
            <a:ext cx="6470650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solidFill>
                  <a:srgbClr val="0B5ED7"/>
                </a:solidFill>
                <a:latin typeface="Arial MT"/>
                <a:cs typeface="Arial MT"/>
              </a:rPr>
              <a:t>The</a:t>
            </a:r>
            <a:r>
              <a:rPr dirty="0" sz="2100" spc="-85">
                <a:solidFill>
                  <a:srgbClr val="0B5ED7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B5ED7"/>
                </a:solidFill>
                <a:latin typeface="Arial MT"/>
                <a:cs typeface="Arial MT"/>
              </a:rPr>
              <a:t>four</a:t>
            </a:r>
            <a:r>
              <a:rPr dirty="0" sz="2100" spc="-75">
                <a:solidFill>
                  <a:srgbClr val="0B5ED7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B5ED7"/>
                </a:solidFill>
                <a:latin typeface="Arial MT"/>
                <a:cs typeface="Arial MT"/>
              </a:rPr>
              <a:t>points</a:t>
            </a:r>
            <a:r>
              <a:rPr dirty="0" sz="2100" spc="-85">
                <a:solidFill>
                  <a:srgbClr val="0B5ED7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B5ED7"/>
                </a:solidFill>
                <a:latin typeface="Arial MT"/>
                <a:cs typeface="Arial MT"/>
              </a:rPr>
              <a:t>(A,</a:t>
            </a:r>
            <a:r>
              <a:rPr dirty="0" sz="2100" spc="-80">
                <a:solidFill>
                  <a:srgbClr val="0B5ED7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B5ED7"/>
                </a:solidFill>
                <a:latin typeface="Arial MT"/>
                <a:cs typeface="Arial MT"/>
              </a:rPr>
              <a:t>B,</a:t>
            </a:r>
            <a:r>
              <a:rPr dirty="0" sz="2100" spc="-80">
                <a:solidFill>
                  <a:srgbClr val="0B5ED7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B5ED7"/>
                </a:solidFill>
                <a:latin typeface="Arial MT"/>
                <a:cs typeface="Arial MT"/>
              </a:rPr>
              <a:t>C,</a:t>
            </a:r>
            <a:r>
              <a:rPr dirty="0" sz="2100" spc="-80">
                <a:solidFill>
                  <a:srgbClr val="0B5ED7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B5ED7"/>
                </a:solidFill>
                <a:latin typeface="Arial MT"/>
                <a:cs typeface="Arial MT"/>
              </a:rPr>
              <a:t>and</a:t>
            </a:r>
            <a:r>
              <a:rPr dirty="0" sz="2100" spc="-85">
                <a:solidFill>
                  <a:srgbClr val="0B5ED7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B5ED7"/>
                </a:solidFill>
                <a:latin typeface="Arial MT"/>
                <a:cs typeface="Arial MT"/>
              </a:rPr>
              <a:t>D)</a:t>
            </a:r>
            <a:r>
              <a:rPr dirty="0" sz="2100" spc="-75">
                <a:solidFill>
                  <a:srgbClr val="0B5ED7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0B5ED7"/>
                </a:solidFill>
                <a:latin typeface="Arial MT"/>
                <a:cs typeface="Arial MT"/>
              </a:rPr>
              <a:t>represent</a:t>
            </a:r>
            <a:r>
              <a:rPr dirty="0" sz="2100" spc="-85">
                <a:solidFill>
                  <a:srgbClr val="0B5ED7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B5ED7"/>
                </a:solidFill>
                <a:latin typeface="Arial MT"/>
                <a:cs typeface="Arial MT"/>
              </a:rPr>
              <a:t>the</a:t>
            </a:r>
            <a:r>
              <a:rPr dirty="0" sz="2100" spc="-80">
                <a:solidFill>
                  <a:srgbClr val="0B5ED7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0B5ED7"/>
                </a:solidFill>
                <a:latin typeface="Arial MT"/>
                <a:cs typeface="Arial MT"/>
              </a:rPr>
              <a:t>extremes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468590" y="2220867"/>
            <a:ext cx="2269490" cy="1750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>
                <a:solidFill>
                  <a:srgbClr val="0B5ED7"/>
                </a:solidFill>
                <a:latin typeface="Arial MT"/>
                <a:cs typeface="Arial MT"/>
              </a:rPr>
              <a:t>D:</a:t>
            </a:r>
            <a:r>
              <a:rPr dirty="0" sz="1900" spc="-70">
                <a:solidFill>
                  <a:srgbClr val="0B5ED7"/>
                </a:solidFill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FPR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=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1,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TPR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=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1,</a:t>
            </a:r>
            <a:endParaRPr sz="1900">
              <a:latin typeface="Arial MT"/>
              <a:cs typeface="Arial MT"/>
            </a:endParaRPr>
          </a:p>
          <a:p>
            <a:pPr marL="12700" marR="105410">
              <a:lnSpc>
                <a:spcPct val="98700"/>
              </a:lnSpc>
              <a:spcBef>
                <a:spcPts val="55"/>
              </a:spcBef>
              <a:tabLst>
                <a:tab pos="826769" algn="l"/>
              </a:tabLst>
            </a:pPr>
            <a:r>
              <a:rPr dirty="0" sz="1900">
                <a:latin typeface="Arial MT"/>
                <a:cs typeface="Arial MT"/>
              </a:rPr>
              <a:t>the</a:t>
            </a:r>
            <a:r>
              <a:rPr dirty="0" sz="1900" spc="-10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model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predicts every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instance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to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be </a:t>
            </a:r>
            <a:r>
              <a:rPr dirty="0" sz="1900">
                <a:latin typeface="Arial MT"/>
                <a:cs typeface="Arial MT"/>
              </a:rPr>
              <a:t>a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 spc="-20">
                <a:solidFill>
                  <a:srgbClr val="A50021"/>
                </a:solidFill>
                <a:latin typeface="Arial MT"/>
                <a:cs typeface="Arial MT"/>
              </a:rPr>
              <a:t>Positive</a:t>
            </a:r>
            <a:r>
              <a:rPr dirty="0" sz="1900" spc="-70">
                <a:solidFill>
                  <a:srgbClr val="A50021"/>
                </a:solidFill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class,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i.e., </a:t>
            </a:r>
            <a:r>
              <a:rPr dirty="0" sz="1900">
                <a:latin typeface="Arial MT"/>
                <a:cs typeface="Arial MT"/>
              </a:rPr>
              <a:t>it</a:t>
            </a:r>
            <a:r>
              <a:rPr dirty="0" sz="1900" spc="-5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is</a:t>
            </a:r>
            <a:r>
              <a:rPr dirty="0" sz="1900" spc="-5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an</a:t>
            </a:r>
            <a:r>
              <a:rPr dirty="0" sz="1900">
                <a:latin typeface="Arial MT"/>
                <a:cs typeface="Arial MT"/>
              </a:rPr>
              <a:t>	</a:t>
            </a:r>
            <a:r>
              <a:rPr dirty="0" sz="1900" spc="-30">
                <a:solidFill>
                  <a:srgbClr val="0B5ED7"/>
                </a:solidFill>
                <a:latin typeface="Arial MT"/>
                <a:cs typeface="Arial MT"/>
              </a:rPr>
              <a:t>ultra-</a:t>
            </a:r>
            <a:r>
              <a:rPr dirty="0" sz="1900" spc="-10">
                <a:solidFill>
                  <a:srgbClr val="0B5ED7"/>
                </a:solidFill>
                <a:latin typeface="Arial MT"/>
                <a:cs typeface="Arial MT"/>
              </a:rPr>
              <a:t>liberal classifier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33818" y="5326779"/>
            <a:ext cx="2696210" cy="1461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>
                <a:solidFill>
                  <a:srgbClr val="0B5ED7"/>
                </a:solidFill>
                <a:latin typeface="Arial MT"/>
                <a:cs typeface="Arial MT"/>
              </a:rPr>
              <a:t>C:</a:t>
            </a:r>
            <a:r>
              <a:rPr dirty="0" sz="1900" spc="-70">
                <a:solidFill>
                  <a:srgbClr val="0B5ED7"/>
                </a:solidFill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FPR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=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0,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TPR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=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0,</a:t>
            </a:r>
            <a:endParaRPr sz="1900">
              <a:latin typeface="Arial MT"/>
              <a:cs typeface="Arial MT"/>
            </a:endParaRPr>
          </a:p>
          <a:p>
            <a:pPr marL="12700" marR="5080">
              <a:lnSpc>
                <a:spcPct val="98200"/>
              </a:lnSpc>
              <a:spcBef>
                <a:spcPts val="65"/>
              </a:spcBef>
            </a:pPr>
            <a:r>
              <a:rPr dirty="0" sz="1900">
                <a:latin typeface="Arial MT"/>
                <a:cs typeface="Arial MT"/>
              </a:rPr>
              <a:t>the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model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predicts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every instance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to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be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 spc="-20">
                <a:solidFill>
                  <a:srgbClr val="A50021"/>
                </a:solidFill>
                <a:latin typeface="Arial MT"/>
                <a:cs typeface="Arial MT"/>
              </a:rPr>
              <a:t>Negative </a:t>
            </a:r>
            <a:r>
              <a:rPr dirty="0" sz="1900" spc="-10">
                <a:latin typeface="Arial MT"/>
                <a:cs typeface="Arial MT"/>
              </a:rPr>
              <a:t>class,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i.e.,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it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is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an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10">
                <a:solidFill>
                  <a:srgbClr val="0B5ED7"/>
                </a:solidFill>
                <a:latin typeface="Arial MT"/>
                <a:cs typeface="Arial MT"/>
              </a:rPr>
              <a:t>ultra- </a:t>
            </a:r>
            <a:r>
              <a:rPr dirty="0" sz="1900" spc="-25">
                <a:solidFill>
                  <a:srgbClr val="0B5ED7"/>
                </a:solidFill>
                <a:latin typeface="Arial MT"/>
                <a:cs typeface="Arial MT"/>
              </a:rPr>
              <a:t>conservative</a:t>
            </a:r>
            <a:r>
              <a:rPr dirty="0" sz="1900" spc="-60">
                <a:solidFill>
                  <a:srgbClr val="0B5ED7"/>
                </a:solidFill>
                <a:latin typeface="Arial MT"/>
                <a:cs typeface="Arial MT"/>
              </a:rPr>
              <a:t> </a:t>
            </a:r>
            <a:r>
              <a:rPr dirty="0" sz="1900" spc="-10">
                <a:solidFill>
                  <a:srgbClr val="0B5ED7"/>
                </a:solidFill>
                <a:latin typeface="Arial MT"/>
                <a:cs typeface="Arial MT"/>
              </a:rPr>
              <a:t>classifier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53052" y="2129427"/>
            <a:ext cx="2256155" cy="1177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1900">
                <a:solidFill>
                  <a:srgbClr val="0B5ED7"/>
                </a:solidFill>
                <a:latin typeface="Arial MT"/>
                <a:cs typeface="Arial MT"/>
              </a:rPr>
              <a:t>A:</a:t>
            </a:r>
            <a:r>
              <a:rPr dirty="0" sz="1900" spc="-65">
                <a:solidFill>
                  <a:srgbClr val="0B5ED7"/>
                </a:solidFill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FPR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=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0,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TPR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=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1,</a:t>
            </a:r>
            <a:endParaRPr sz="1900">
              <a:latin typeface="Arial MT"/>
              <a:cs typeface="Arial MT"/>
            </a:endParaRPr>
          </a:p>
          <a:p>
            <a:pPr algn="just" marL="12700" marR="78740">
              <a:lnSpc>
                <a:spcPct val="98400"/>
              </a:lnSpc>
              <a:spcBef>
                <a:spcPts val="60"/>
              </a:spcBef>
            </a:pPr>
            <a:r>
              <a:rPr dirty="0" sz="1900">
                <a:latin typeface="Arial MT"/>
                <a:cs typeface="Arial MT"/>
              </a:rPr>
              <a:t>the</a:t>
            </a:r>
            <a:r>
              <a:rPr dirty="0" sz="1900" spc="-10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ideal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model,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i.e., </a:t>
            </a:r>
            <a:r>
              <a:rPr dirty="0" sz="1900">
                <a:latin typeface="Arial MT"/>
                <a:cs typeface="Arial MT"/>
              </a:rPr>
              <a:t>the</a:t>
            </a:r>
            <a:r>
              <a:rPr dirty="0" sz="1900" spc="-120">
                <a:latin typeface="Arial MT"/>
                <a:cs typeface="Arial MT"/>
              </a:rPr>
              <a:t> </a:t>
            </a:r>
            <a:r>
              <a:rPr dirty="0" sz="1900" spc="-10">
                <a:solidFill>
                  <a:srgbClr val="0B5ED7"/>
                </a:solidFill>
                <a:latin typeface="Arial MT"/>
                <a:cs typeface="Arial MT"/>
              </a:rPr>
              <a:t>perfect</a:t>
            </a:r>
            <a:r>
              <a:rPr dirty="0" sz="1900" spc="-100">
                <a:solidFill>
                  <a:srgbClr val="0B5ED7"/>
                </a:solidFill>
                <a:latin typeface="Arial MT"/>
                <a:cs typeface="Arial MT"/>
              </a:rPr>
              <a:t> </a:t>
            </a:r>
            <a:r>
              <a:rPr dirty="0" sz="1900" spc="-30">
                <a:solidFill>
                  <a:srgbClr val="0B5ED7"/>
                </a:solidFill>
                <a:latin typeface="Arial MT"/>
                <a:cs typeface="Arial MT"/>
              </a:rPr>
              <a:t>classifier</a:t>
            </a:r>
            <a:r>
              <a:rPr dirty="0" sz="1900" spc="-30">
                <a:latin typeface="Arial MT"/>
                <a:cs typeface="Arial MT"/>
              </a:rPr>
              <a:t>, </a:t>
            </a:r>
            <a:r>
              <a:rPr dirty="0" sz="1900">
                <a:latin typeface="Arial MT"/>
                <a:cs typeface="Arial MT"/>
              </a:rPr>
              <a:t>no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false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results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468590" y="5470035"/>
            <a:ext cx="2256155" cy="1181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>
                <a:solidFill>
                  <a:srgbClr val="0B5ED7"/>
                </a:solidFill>
                <a:latin typeface="Arial MT"/>
                <a:cs typeface="Arial MT"/>
              </a:rPr>
              <a:t>B:</a:t>
            </a:r>
            <a:r>
              <a:rPr dirty="0" sz="1900" spc="-65">
                <a:solidFill>
                  <a:srgbClr val="0B5ED7"/>
                </a:solidFill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FPR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=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1,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TPR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=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0,</a:t>
            </a:r>
            <a:endParaRPr sz="1900">
              <a:latin typeface="Arial MT"/>
              <a:cs typeface="Arial MT"/>
            </a:endParaRPr>
          </a:p>
          <a:p>
            <a:pPr marL="12700" marR="155575">
              <a:lnSpc>
                <a:spcPct val="98900"/>
              </a:lnSpc>
              <a:spcBef>
                <a:spcPts val="50"/>
              </a:spcBef>
            </a:pPr>
            <a:r>
              <a:rPr dirty="0" sz="1900">
                <a:latin typeface="Arial MT"/>
                <a:cs typeface="Arial MT"/>
              </a:rPr>
              <a:t>the</a:t>
            </a:r>
            <a:r>
              <a:rPr dirty="0" sz="1900" spc="-110">
                <a:latin typeface="Arial MT"/>
                <a:cs typeface="Arial MT"/>
              </a:rPr>
              <a:t> </a:t>
            </a:r>
            <a:r>
              <a:rPr dirty="0" sz="1900" spc="-10">
                <a:solidFill>
                  <a:srgbClr val="0B5ED7"/>
                </a:solidFill>
                <a:latin typeface="Arial MT"/>
                <a:cs typeface="Arial MT"/>
              </a:rPr>
              <a:t>worst</a:t>
            </a:r>
            <a:r>
              <a:rPr dirty="0" sz="1900" spc="-100">
                <a:solidFill>
                  <a:srgbClr val="0B5ED7"/>
                </a:solidFill>
                <a:latin typeface="Arial MT"/>
                <a:cs typeface="Arial MT"/>
              </a:rPr>
              <a:t> </a:t>
            </a:r>
            <a:r>
              <a:rPr dirty="0" sz="1900" spc="-10">
                <a:solidFill>
                  <a:srgbClr val="0B5ED7"/>
                </a:solidFill>
                <a:latin typeface="Arial MT"/>
                <a:cs typeface="Arial MT"/>
              </a:rPr>
              <a:t>classifier</a:t>
            </a:r>
            <a:r>
              <a:rPr dirty="0" sz="1900" spc="-10">
                <a:latin typeface="Arial MT"/>
                <a:cs typeface="Arial MT"/>
              </a:rPr>
              <a:t>, </a:t>
            </a:r>
            <a:r>
              <a:rPr dirty="0" sz="1900">
                <a:latin typeface="Arial MT"/>
                <a:cs typeface="Arial MT"/>
              </a:rPr>
              <a:t>not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able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to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predict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50">
                <a:latin typeface="Arial MT"/>
                <a:cs typeface="Arial MT"/>
              </a:rPr>
              <a:t>a </a:t>
            </a:r>
            <a:r>
              <a:rPr dirty="0" sz="1900" spc="-10">
                <a:latin typeface="Arial MT"/>
                <a:cs typeface="Arial MT"/>
              </a:rPr>
              <a:t>single</a:t>
            </a:r>
            <a:r>
              <a:rPr dirty="0" sz="1900" spc="-114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instance</a:t>
            </a:r>
            <a:endParaRPr sz="1900">
              <a:latin typeface="Arial MT"/>
              <a:cs typeface="Arial MT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11573" y="2821061"/>
            <a:ext cx="4028866" cy="2770858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885086" y="777074"/>
            <a:ext cx="1579880" cy="4679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/>
              <a:t>ROC</a:t>
            </a:r>
            <a:r>
              <a:rPr dirty="0" sz="2900" spc="-40"/>
              <a:t> </a:t>
            </a:r>
            <a:r>
              <a:rPr dirty="0" sz="2900" spc="-20"/>
              <a:t>Plot</a:t>
            </a:r>
            <a:endParaRPr sz="29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85086" y="777074"/>
            <a:ext cx="1579880" cy="4679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/>
              <a:t>ROC</a:t>
            </a:r>
            <a:r>
              <a:rPr dirty="0" sz="2900" spc="-40"/>
              <a:t> </a:t>
            </a:r>
            <a:r>
              <a:rPr dirty="0" sz="2900" spc="-20"/>
              <a:t>Plot</a:t>
            </a:r>
            <a:endParaRPr sz="2900"/>
          </a:p>
        </p:txBody>
      </p:sp>
      <p:sp>
        <p:nvSpPr>
          <p:cNvPr id="3" name="object 3" descr=""/>
          <p:cNvSpPr txBox="1"/>
          <p:nvPr/>
        </p:nvSpPr>
        <p:spPr>
          <a:xfrm>
            <a:off x="1164594" y="1521484"/>
            <a:ext cx="7827645" cy="117157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78130" indent="-265430">
              <a:lnSpc>
                <a:spcPct val="100000"/>
              </a:lnSpc>
              <a:spcBef>
                <a:spcPts val="675"/>
              </a:spcBef>
              <a:buChar char="•"/>
              <a:tabLst>
                <a:tab pos="278130" algn="l"/>
              </a:tabLst>
            </a:pP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diagonal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line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corresponds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to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0B5ED7"/>
                </a:solidFill>
                <a:latin typeface="Arial MT"/>
                <a:cs typeface="Arial MT"/>
              </a:rPr>
              <a:t>random</a:t>
            </a:r>
            <a:r>
              <a:rPr dirty="0" sz="2200" spc="-100">
                <a:solidFill>
                  <a:srgbClr val="0B5ED7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0B5ED7"/>
                </a:solidFill>
                <a:latin typeface="Arial MT"/>
                <a:cs typeface="Arial MT"/>
              </a:rPr>
              <a:t>guessing</a:t>
            </a:r>
            <a:endParaRPr sz="2200">
              <a:latin typeface="Arial MT"/>
              <a:cs typeface="Arial MT"/>
            </a:endParaRPr>
          </a:p>
          <a:p>
            <a:pPr marL="278765" marR="5080" indent="-266700">
              <a:lnSpc>
                <a:spcPts val="2590"/>
              </a:lnSpc>
              <a:spcBef>
                <a:spcPts val="705"/>
              </a:spcBef>
              <a:buChar char="•"/>
              <a:tabLst>
                <a:tab pos="278765" algn="l"/>
              </a:tabLst>
            </a:pPr>
            <a:r>
              <a:rPr dirty="0" sz="2200">
                <a:latin typeface="Arial MT"/>
                <a:cs typeface="Arial MT"/>
              </a:rPr>
              <a:t>That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means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same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proportion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of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positive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instances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and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negative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instances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are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classified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correctly,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so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 i="1">
                <a:latin typeface="Arial"/>
                <a:cs typeface="Arial"/>
              </a:rPr>
              <a:t>TPR</a:t>
            </a:r>
            <a:r>
              <a:rPr dirty="0" sz="2200" spc="-90" i="1">
                <a:latin typeface="Arial"/>
                <a:cs typeface="Arial"/>
              </a:rPr>
              <a:t> </a:t>
            </a:r>
            <a:r>
              <a:rPr dirty="0" sz="2200">
                <a:latin typeface="Arial MT"/>
                <a:cs typeface="Arial MT"/>
              </a:rPr>
              <a:t>=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 spc="-25" i="1">
                <a:latin typeface="Arial"/>
                <a:cs typeface="Arial"/>
              </a:rPr>
              <a:t>FPR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027273" y="2918861"/>
            <a:ext cx="4330065" cy="3662045"/>
            <a:chOff x="1027273" y="2918861"/>
            <a:chExt cx="4330065" cy="366204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7273" y="2918861"/>
              <a:ext cx="4329604" cy="3661951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2178108" y="5335115"/>
              <a:ext cx="1003935" cy="835025"/>
            </a:xfrm>
            <a:custGeom>
              <a:avLst/>
              <a:gdLst/>
              <a:ahLst/>
              <a:cxnLst/>
              <a:rect l="l" t="t" r="r" b="b"/>
              <a:pathLst>
                <a:path w="1003935" h="835025">
                  <a:moveTo>
                    <a:pt x="774686" y="348736"/>
                  </a:moveTo>
                  <a:lnTo>
                    <a:pt x="542279" y="348736"/>
                  </a:lnTo>
                  <a:lnTo>
                    <a:pt x="1003565" y="834952"/>
                  </a:lnTo>
                  <a:lnTo>
                    <a:pt x="774686" y="348736"/>
                  </a:lnTo>
                  <a:close/>
                </a:path>
                <a:path w="1003935" h="835025">
                  <a:moveTo>
                    <a:pt x="871524" y="0"/>
                  </a:moveTo>
                  <a:lnTo>
                    <a:pt x="58098" y="0"/>
                  </a:lnTo>
                  <a:lnTo>
                    <a:pt x="35484" y="4567"/>
                  </a:lnTo>
                  <a:lnTo>
                    <a:pt x="17016" y="17023"/>
                  </a:lnTo>
                  <a:lnTo>
                    <a:pt x="4565" y="35499"/>
                  </a:lnTo>
                  <a:lnTo>
                    <a:pt x="0" y="58124"/>
                  </a:lnTo>
                  <a:lnTo>
                    <a:pt x="0" y="290614"/>
                  </a:lnTo>
                  <a:lnTo>
                    <a:pt x="4565" y="313237"/>
                  </a:lnTo>
                  <a:lnTo>
                    <a:pt x="17016" y="331712"/>
                  </a:lnTo>
                  <a:lnTo>
                    <a:pt x="35484" y="344169"/>
                  </a:lnTo>
                  <a:lnTo>
                    <a:pt x="58098" y="348736"/>
                  </a:lnTo>
                  <a:lnTo>
                    <a:pt x="871524" y="348736"/>
                  </a:lnTo>
                  <a:lnTo>
                    <a:pt x="894139" y="344169"/>
                  </a:lnTo>
                  <a:lnTo>
                    <a:pt x="912606" y="331712"/>
                  </a:lnTo>
                  <a:lnTo>
                    <a:pt x="925057" y="313237"/>
                  </a:lnTo>
                  <a:lnTo>
                    <a:pt x="929623" y="290614"/>
                  </a:lnTo>
                  <a:lnTo>
                    <a:pt x="929623" y="58124"/>
                  </a:lnTo>
                  <a:lnTo>
                    <a:pt x="925057" y="35499"/>
                  </a:lnTo>
                  <a:lnTo>
                    <a:pt x="912606" y="17023"/>
                  </a:lnTo>
                  <a:lnTo>
                    <a:pt x="894139" y="4567"/>
                  </a:lnTo>
                  <a:lnTo>
                    <a:pt x="871524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178108" y="5335115"/>
              <a:ext cx="1003935" cy="835025"/>
            </a:xfrm>
            <a:custGeom>
              <a:avLst/>
              <a:gdLst/>
              <a:ahLst/>
              <a:cxnLst/>
              <a:rect l="l" t="t" r="r" b="b"/>
              <a:pathLst>
                <a:path w="1003935" h="835025">
                  <a:moveTo>
                    <a:pt x="0" y="58124"/>
                  </a:moveTo>
                  <a:lnTo>
                    <a:pt x="4565" y="35499"/>
                  </a:lnTo>
                  <a:lnTo>
                    <a:pt x="17016" y="17024"/>
                  </a:lnTo>
                  <a:lnTo>
                    <a:pt x="35483" y="4567"/>
                  </a:lnTo>
                  <a:lnTo>
                    <a:pt x="58098" y="0"/>
                  </a:lnTo>
                  <a:lnTo>
                    <a:pt x="542280" y="0"/>
                  </a:lnTo>
                  <a:lnTo>
                    <a:pt x="774686" y="0"/>
                  </a:lnTo>
                  <a:lnTo>
                    <a:pt x="871524" y="0"/>
                  </a:lnTo>
                  <a:lnTo>
                    <a:pt x="894139" y="4567"/>
                  </a:lnTo>
                  <a:lnTo>
                    <a:pt x="912606" y="17024"/>
                  </a:lnTo>
                  <a:lnTo>
                    <a:pt x="925057" y="35499"/>
                  </a:lnTo>
                  <a:lnTo>
                    <a:pt x="929623" y="58124"/>
                  </a:lnTo>
                  <a:lnTo>
                    <a:pt x="929623" y="203429"/>
                  </a:lnTo>
                  <a:lnTo>
                    <a:pt x="929623" y="290614"/>
                  </a:lnTo>
                  <a:lnTo>
                    <a:pt x="925057" y="313237"/>
                  </a:lnTo>
                  <a:lnTo>
                    <a:pt x="912606" y="331713"/>
                  </a:lnTo>
                  <a:lnTo>
                    <a:pt x="894139" y="344169"/>
                  </a:lnTo>
                  <a:lnTo>
                    <a:pt x="871524" y="348737"/>
                  </a:lnTo>
                  <a:lnTo>
                    <a:pt x="774686" y="348737"/>
                  </a:lnTo>
                  <a:lnTo>
                    <a:pt x="1003565" y="834953"/>
                  </a:lnTo>
                  <a:lnTo>
                    <a:pt x="542280" y="348737"/>
                  </a:lnTo>
                  <a:lnTo>
                    <a:pt x="58098" y="348737"/>
                  </a:lnTo>
                  <a:lnTo>
                    <a:pt x="35483" y="344169"/>
                  </a:lnTo>
                  <a:lnTo>
                    <a:pt x="17016" y="331713"/>
                  </a:lnTo>
                  <a:lnTo>
                    <a:pt x="4565" y="313237"/>
                  </a:lnTo>
                  <a:lnTo>
                    <a:pt x="0" y="290612"/>
                  </a:lnTo>
                  <a:lnTo>
                    <a:pt x="0" y="203429"/>
                  </a:lnTo>
                  <a:lnTo>
                    <a:pt x="0" y="58124"/>
                  </a:lnTo>
                  <a:close/>
                </a:path>
              </a:pathLst>
            </a:custGeom>
            <a:ln w="13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2291019" y="5387259"/>
            <a:ext cx="70421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latin typeface="Arial"/>
                <a:cs typeface="Arial"/>
              </a:rPr>
              <a:t>FPR=56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3280328" y="3635056"/>
            <a:ext cx="1083310" cy="748030"/>
            <a:chOff x="3280328" y="3635056"/>
            <a:chExt cx="1083310" cy="748030"/>
          </a:xfrm>
        </p:grpSpPr>
        <p:sp>
          <p:nvSpPr>
            <p:cNvPr id="10" name="object 10" descr=""/>
            <p:cNvSpPr/>
            <p:nvPr/>
          </p:nvSpPr>
          <p:spPr>
            <a:xfrm>
              <a:off x="3286996" y="3641723"/>
              <a:ext cx="1069975" cy="734695"/>
            </a:xfrm>
            <a:custGeom>
              <a:avLst/>
              <a:gdLst/>
              <a:ahLst/>
              <a:cxnLst/>
              <a:rect l="l" t="t" r="r" b="b"/>
              <a:pathLst>
                <a:path w="1069975" h="734695">
                  <a:moveTo>
                    <a:pt x="1011758" y="385624"/>
                  </a:moveTo>
                  <a:lnTo>
                    <a:pt x="198330" y="385624"/>
                  </a:lnTo>
                  <a:lnTo>
                    <a:pt x="175716" y="390191"/>
                  </a:lnTo>
                  <a:lnTo>
                    <a:pt x="157249" y="402647"/>
                  </a:lnTo>
                  <a:lnTo>
                    <a:pt x="144798" y="421123"/>
                  </a:lnTo>
                  <a:lnTo>
                    <a:pt x="140233" y="443748"/>
                  </a:lnTo>
                  <a:lnTo>
                    <a:pt x="140233" y="676236"/>
                  </a:lnTo>
                  <a:lnTo>
                    <a:pt x="144798" y="698861"/>
                  </a:lnTo>
                  <a:lnTo>
                    <a:pt x="157249" y="717336"/>
                  </a:lnTo>
                  <a:lnTo>
                    <a:pt x="175716" y="729793"/>
                  </a:lnTo>
                  <a:lnTo>
                    <a:pt x="198330" y="734360"/>
                  </a:lnTo>
                  <a:lnTo>
                    <a:pt x="1011758" y="734360"/>
                  </a:lnTo>
                  <a:lnTo>
                    <a:pt x="1034372" y="729793"/>
                  </a:lnTo>
                  <a:lnTo>
                    <a:pt x="1052840" y="717336"/>
                  </a:lnTo>
                  <a:lnTo>
                    <a:pt x="1065291" y="698861"/>
                  </a:lnTo>
                  <a:lnTo>
                    <a:pt x="1069856" y="676236"/>
                  </a:lnTo>
                  <a:lnTo>
                    <a:pt x="1069856" y="443748"/>
                  </a:lnTo>
                  <a:lnTo>
                    <a:pt x="1065291" y="421123"/>
                  </a:lnTo>
                  <a:lnTo>
                    <a:pt x="1052840" y="402647"/>
                  </a:lnTo>
                  <a:lnTo>
                    <a:pt x="1034372" y="390191"/>
                  </a:lnTo>
                  <a:lnTo>
                    <a:pt x="1011758" y="385624"/>
                  </a:lnTo>
                  <a:close/>
                </a:path>
                <a:path w="1069975" h="734695">
                  <a:moveTo>
                    <a:pt x="0" y="0"/>
                  </a:moveTo>
                  <a:lnTo>
                    <a:pt x="295170" y="385624"/>
                  </a:lnTo>
                  <a:lnTo>
                    <a:pt x="527575" y="3856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286996" y="3641724"/>
              <a:ext cx="1069975" cy="734695"/>
            </a:xfrm>
            <a:custGeom>
              <a:avLst/>
              <a:gdLst/>
              <a:ahLst/>
              <a:cxnLst/>
              <a:rect l="l" t="t" r="r" b="b"/>
              <a:pathLst>
                <a:path w="1069975" h="734695">
                  <a:moveTo>
                    <a:pt x="140233" y="443747"/>
                  </a:moveTo>
                  <a:lnTo>
                    <a:pt x="144799" y="421123"/>
                  </a:lnTo>
                  <a:lnTo>
                    <a:pt x="157250" y="402647"/>
                  </a:lnTo>
                  <a:lnTo>
                    <a:pt x="175717" y="390191"/>
                  </a:lnTo>
                  <a:lnTo>
                    <a:pt x="198331" y="385623"/>
                  </a:lnTo>
                  <a:lnTo>
                    <a:pt x="295170" y="385623"/>
                  </a:lnTo>
                  <a:lnTo>
                    <a:pt x="0" y="0"/>
                  </a:lnTo>
                  <a:lnTo>
                    <a:pt x="527576" y="385623"/>
                  </a:lnTo>
                  <a:lnTo>
                    <a:pt x="1011758" y="385623"/>
                  </a:lnTo>
                  <a:lnTo>
                    <a:pt x="1034372" y="390191"/>
                  </a:lnTo>
                  <a:lnTo>
                    <a:pt x="1052840" y="402647"/>
                  </a:lnTo>
                  <a:lnTo>
                    <a:pt x="1065291" y="421123"/>
                  </a:lnTo>
                  <a:lnTo>
                    <a:pt x="1069856" y="443747"/>
                  </a:lnTo>
                  <a:lnTo>
                    <a:pt x="1069856" y="530931"/>
                  </a:lnTo>
                  <a:lnTo>
                    <a:pt x="1069856" y="676236"/>
                  </a:lnTo>
                  <a:lnTo>
                    <a:pt x="1065291" y="698861"/>
                  </a:lnTo>
                  <a:lnTo>
                    <a:pt x="1052840" y="717336"/>
                  </a:lnTo>
                  <a:lnTo>
                    <a:pt x="1034372" y="729793"/>
                  </a:lnTo>
                  <a:lnTo>
                    <a:pt x="1011758" y="734360"/>
                  </a:lnTo>
                  <a:lnTo>
                    <a:pt x="527576" y="734360"/>
                  </a:lnTo>
                  <a:lnTo>
                    <a:pt x="295170" y="734360"/>
                  </a:lnTo>
                  <a:lnTo>
                    <a:pt x="198331" y="734360"/>
                  </a:lnTo>
                  <a:lnTo>
                    <a:pt x="175717" y="729793"/>
                  </a:lnTo>
                  <a:lnTo>
                    <a:pt x="157250" y="717336"/>
                  </a:lnTo>
                  <a:lnTo>
                    <a:pt x="144799" y="698861"/>
                  </a:lnTo>
                  <a:lnTo>
                    <a:pt x="140233" y="676236"/>
                  </a:lnTo>
                  <a:lnTo>
                    <a:pt x="140233" y="530931"/>
                  </a:lnTo>
                  <a:lnTo>
                    <a:pt x="140233" y="443746"/>
                  </a:lnTo>
                  <a:close/>
                </a:path>
              </a:pathLst>
            </a:custGeom>
            <a:ln w="13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3526159" y="4079668"/>
            <a:ext cx="70421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latin typeface="Arial"/>
                <a:cs typeface="Arial"/>
              </a:rPr>
              <a:t>TPR=98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3204253" y="3018500"/>
            <a:ext cx="40005" cy="3388360"/>
            <a:chOff x="3204253" y="3018500"/>
            <a:chExt cx="40005" cy="3388360"/>
          </a:xfrm>
        </p:grpSpPr>
        <p:sp>
          <p:nvSpPr>
            <p:cNvPr id="14" name="object 14" descr=""/>
            <p:cNvSpPr/>
            <p:nvPr/>
          </p:nvSpPr>
          <p:spPr>
            <a:xfrm>
              <a:off x="3223964" y="3018500"/>
              <a:ext cx="0" cy="3388360"/>
            </a:xfrm>
            <a:custGeom>
              <a:avLst/>
              <a:gdLst/>
              <a:ahLst/>
              <a:cxnLst/>
              <a:rect l="l" t="t" r="r" b="b"/>
              <a:pathLst>
                <a:path w="0" h="3388360">
                  <a:moveTo>
                    <a:pt x="0" y="0"/>
                  </a:moveTo>
                  <a:lnTo>
                    <a:pt x="0" y="3387735"/>
                  </a:lnTo>
                </a:path>
              </a:pathLst>
            </a:custGeom>
            <a:solidFill>
              <a:srgbClr val="BBE0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223964" y="3018500"/>
              <a:ext cx="0" cy="3388360"/>
            </a:xfrm>
            <a:custGeom>
              <a:avLst/>
              <a:gdLst/>
              <a:ahLst/>
              <a:cxnLst/>
              <a:rect l="l" t="t" r="r" b="b"/>
              <a:pathLst>
                <a:path w="0" h="3388360">
                  <a:moveTo>
                    <a:pt x="0" y="0"/>
                  </a:moveTo>
                  <a:lnTo>
                    <a:pt x="1" y="3387735"/>
                  </a:lnTo>
                </a:path>
              </a:pathLst>
            </a:custGeom>
            <a:ln w="39422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5472447" y="3088520"/>
            <a:ext cx="3747770" cy="15030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510"/>
              </a:lnSpc>
              <a:spcBef>
                <a:spcPts val="100"/>
              </a:spcBef>
            </a:pPr>
            <a:r>
              <a:rPr dirty="0" sz="2100" spc="-10">
                <a:latin typeface="Arial MT"/>
                <a:cs typeface="Arial MT"/>
              </a:rPr>
              <a:t>Given</a:t>
            </a:r>
            <a:r>
              <a:rPr dirty="0" sz="2100" spc="-13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TPR=0.98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and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FPR=0.56</a:t>
            </a:r>
            <a:endParaRPr sz="2100">
              <a:latin typeface="Arial MT"/>
              <a:cs typeface="Arial MT"/>
            </a:endParaRPr>
          </a:p>
          <a:p>
            <a:pPr algn="ctr">
              <a:lnSpc>
                <a:spcPts val="2510"/>
              </a:lnSpc>
            </a:pPr>
            <a:r>
              <a:rPr dirty="0" sz="2100" spc="-10">
                <a:latin typeface="Arial MT"/>
                <a:cs typeface="Arial MT"/>
              </a:rPr>
              <a:t>Calculate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precision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and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recall</a:t>
            </a:r>
            <a:endParaRPr sz="2100">
              <a:latin typeface="Arial MT"/>
              <a:cs typeface="Arial MT"/>
            </a:endParaRPr>
          </a:p>
          <a:p>
            <a:pPr algn="ctr" marL="399415" marR="391795" indent="-635">
              <a:lnSpc>
                <a:spcPts val="1989"/>
              </a:lnSpc>
              <a:spcBef>
                <a:spcPts val="700"/>
              </a:spcBef>
            </a:pPr>
            <a:r>
              <a:rPr dirty="0" sz="1700" spc="-10">
                <a:latin typeface="Arial MT"/>
                <a:cs typeface="Arial MT"/>
              </a:rPr>
              <a:t>TPR</a:t>
            </a:r>
            <a:r>
              <a:rPr dirty="0" sz="1700" spc="-8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=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“recall”</a:t>
            </a:r>
            <a:r>
              <a:rPr dirty="0" sz="1700" spc="-5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=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“sensitivity” TNR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=</a:t>
            </a:r>
            <a:r>
              <a:rPr dirty="0" sz="1700" spc="-40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“precision”</a:t>
            </a:r>
            <a:r>
              <a:rPr dirty="0" sz="1700" spc="-3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=</a:t>
            </a:r>
            <a:r>
              <a:rPr dirty="0" sz="1700" spc="-40">
                <a:latin typeface="Arial MT"/>
                <a:cs typeface="Arial MT"/>
              </a:rPr>
              <a:t> </a:t>
            </a:r>
            <a:r>
              <a:rPr dirty="0" sz="1700" spc="-20">
                <a:latin typeface="Arial MT"/>
                <a:cs typeface="Arial MT"/>
              </a:rPr>
              <a:t>“specificity” </a:t>
            </a:r>
            <a:r>
              <a:rPr dirty="0" sz="1700" spc="-10">
                <a:latin typeface="Arial MT"/>
                <a:cs typeface="Arial MT"/>
              </a:rPr>
              <a:t>FPR</a:t>
            </a:r>
            <a:r>
              <a:rPr dirty="0" sz="1700" spc="-8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=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one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 spc="-20">
                <a:latin typeface="Arial MT"/>
                <a:cs typeface="Arial MT"/>
              </a:rPr>
              <a:t>minus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the</a:t>
            </a:r>
            <a:r>
              <a:rPr dirty="0" sz="1700" spc="-100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TNR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289529" y="5180465"/>
            <a:ext cx="4110354" cy="1370330"/>
          </a:xfrm>
          <a:prstGeom prst="rect">
            <a:avLst/>
          </a:prstGeom>
          <a:ln w="26292">
            <a:solidFill>
              <a:srgbClr val="C00000"/>
            </a:solidFill>
          </a:ln>
        </p:spPr>
        <p:txBody>
          <a:bodyPr wrap="square" lIns="0" tIns="48894" rIns="0" bIns="0" rtlCol="0" vert="horz">
            <a:spAutoFit/>
          </a:bodyPr>
          <a:lstStyle/>
          <a:p>
            <a:pPr algn="ctr" marL="179705" marR="171450">
              <a:lnSpc>
                <a:spcPts val="2500"/>
              </a:lnSpc>
              <a:spcBef>
                <a:spcPts val="384"/>
              </a:spcBef>
            </a:pP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area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under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curve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(AUC)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commonly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used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summarize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ROC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curve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information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as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50">
                <a:latin typeface="Arial MT"/>
                <a:cs typeface="Arial MT"/>
              </a:rPr>
              <a:t>a </a:t>
            </a:r>
            <a:r>
              <a:rPr dirty="0" sz="2100">
                <a:latin typeface="Arial MT"/>
                <a:cs typeface="Arial MT"/>
              </a:rPr>
              <a:t>single</a:t>
            </a:r>
            <a:r>
              <a:rPr dirty="0" sz="2100" spc="-114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number</a:t>
            </a:r>
            <a:endParaRPr sz="2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6942" y="477694"/>
            <a:ext cx="3692472" cy="312306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3780" y="3709537"/>
            <a:ext cx="3399232" cy="3182723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901324" y="4451119"/>
            <a:ext cx="4237355" cy="148844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340"/>
              </a:spcBef>
            </a:pPr>
            <a:r>
              <a:rPr dirty="0" sz="2100">
                <a:latin typeface="Arial MT"/>
                <a:cs typeface="Arial MT"/>
              </a:rPr>
              <a:t>Real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ROC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plots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always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look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like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this </a:t>
            </a:r>
            <a:r>
              <a:rPr dirty="0" sz="2100">
                <a:latin typeface="Arial MT"/>
                <a:cs typeface="Arial MT"/>
              </a:rPr>
              <a:t>ROC</a:t>
            </a:r>
            <a:r>
              <a:rPr dirty="0" sz="2100" spc="-1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plots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are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commonly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used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to </a:t>
            </a:r>
            <a:r>
              <a:rPr dirty="0" sz="2100" spc="-10">
                <a:latin typeface="Arial MT"/>
                <a:cs typeface="Arial MT"/>
              </a:rPr>
              <a:t>compare</a:t>
            </a:r>
            <a:r>
              <a:rPr dirty="0" sz="2100" spc="-114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classifiers</a:t>
            </a:r>
            <a:endParaRPr sz="2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2100">
                <a:latin typeface="Arial MT"/>
                <a:cs typeface="Arial MT"/>
              </a:rPr>
              <a:t>AUC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always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reported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901329" y="1515752"/>
            <a:ext cx="3557270" cy="979805"/>
          </a:xfrm>
          <a:prstGeom prst="rect"/>
        </p:spPr>
        <p:txBody>
          <a:bodyPr wrap="square" lIns="0" tIns="25400" rIns="0" bIns="0" rtlCol="0" vert="horz">
            <a:spAutoFit/>
          </a:bodyPr>
          <a:lstStyle/>
          <a:p>
            <a:pPr algn="just" marL="12700" marR="5080">
              <a:lnSpc>
                <a:spcPts val="2500"/>
              </a:lnSpc>
              <a:spcBef>
                <a:spcPts val="200"/>
              </a:spcBef>
            </a:pPr>
            <a:r>
              <a:rPr dirty="0" sz="2100" spc="-30"/>
              <a:t>Sadly,</a:t>
            </a:r>
            <a:r>
              <a:rPr dirty="0" sz="2100" spc="-95"/>
              <a:t> </a:t>
            </a:r>
            <a:r>
              <a:rPr dirty="0" sz="2100"/>
              <a:t>ROC</a:t>
            </a:r>
            <a:r>
              <a:rPr dirty="0" sz="2100" spc="-95"/>
              <a:t> </a:t>
            </a:r>
            <a:r>
              <a:rPr dirty="0" sz="2100"/>
              <a:t>plots</a:t>
            </a:r>
            <a:r>
              <a:rPr dirty="0" sz="2100" spc="-90"/>
              <a:t> </a:t>
            </a:r>
            <a:r>
              <a:rPr dirty="0" sz="2100"/>
              <a:t>that</a:t>
            </a:r>
            <a:r>
              <a:rPr dirty="0" sz="2100" spc="-95"/>
              <a:t> </a:t>
            </a:r>
            <a:r>
              <a:rPr dirty="0" sz="2100"/>
              <a:t>look</a:t>
            </a:r>
            <a:r>
              <a:rPr dirty="0" sz="2100" spc="-90"/>
              <a:t> </a:t>
            </a:r>
            <a:r>
              <a:rPr dirty="0" sz="2100" spc="-20"/>
              <a:t>like </a:t>
            </a:r>
            <a:r>
              <a:rPr dirty="0" sz="2100"/>
              <a:t>this</a:t>
            </a:r>
            <a:r>
              <a:rPr dirty="0" sz="2100" spc="-110"/>
              <a:t> </a:t>
            </a:r>
            <a:r>
              <a:rPr dirty="0" sz="2100"/>
              <a:t>come</a:t>
            </a:r>
            <a:r>
              <a:rPr dirty="0" sz="2100" spc="-114"/>
              <a:t> </a:t>
            </a:r>
            <a:r>
              <a:rPr dirty="0" sz="2100"/>
              <a:t>from</a:t>
            </a:r>
            <a:r>
              <a:rPr dirty="0" sz="2100" spc="-120"/>
              <a:t> </a:t>
            </a:r>
            <a:r>
              <a:rPr dirty="0" sz="2100"/>
              <a:t>very</a:t>
            </a:r>
            <a:r>
              <a:rPr dirty="0" sz="2100" spc="-110"/>
              <a:t> </a:t>
            </a:r>
            <a:r>
              <a:rPr dirty="0" sz="2100"/>
              <a:t>small</a:t>
            </a:r>
            <a:r>
              <a:rPr dirty="0" sz="2100" spc="-95"/>
              <a:t> </a:t>
            </a:r>
            <a:r>
              <a:rPr dirty="0" sz="2100" spc="-25"/>
              <a:t>and </a:t>
            </a:r>
            <a:r>
              <a:rPr dirty="0" sz="2100" spc="-10"/>
              <a:t>carefully</a:t>
            </a:r>
            <a:r>
              <a:rPr dirty="0" sz="2100" spc="-65"/>
              <a:t> </a:t>
            </a:r>
            <a:r>
              <a:rPr dirty="0" sz="2100" spc="-20"/>
              <a:t>constructed</a:t>
            </a:r>
            <a:r>
              <a:rPr dirty="0" sz="2100" spc="-60"/>
              <a:t> </a:t>
            </a:r>
            <a:r>
              <a:rPr dirty="0" sz="2100" spc="-10"/>
              <a:t>datasets</a:t>
            </a:r>
            <a:endParaRPr sz="2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8550" y="808067"/>
            <a:ext cx="2609215" cy="882650"/>
          </a:xfrm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12700" marR="5080" indent="203200">
              <a:lnSpc>
                <a:spcPct val="100699"/>
              </a:lnSpc>
              <a:spcBef>
                <a:spcPts val="75"/>
              </a:spcBef>
            </a:pPr>
            <a:r>
              <a:rPr dirty="0"/>
              <a:t>ML</a:t>
            </a:r>
            <a:r>
              <a:rPr dirty="0" spc="-155"/>
              <a:t> </a:t>
            </a:r>
            <a:r>
              <a:rPr dirty="0" spc="-10"/>
              <a:t>Concepts: </a:t>
            </a:r>
            <a:r>
              <a:rPr dirty="0"/>
              <a:t>Underfit</a:t>
            </a:r>
            <a:r>
              <a:rPr dirty="0" spc="-65"/>
              <a:t> </a:t>
            </a:r>
            <a:r>
              <a:rPr dirty="0"/>
              <a:t>/</a:t>
            </a:r>
            <a:r>
              <a:rPr dirty="0" spc="-65"/>
              <a:t> </a:t>
            </a:r>
            <a:r>
              <a:rPr dirty="0" spc="-10"/>
              <a:t>Overfit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3595" y="2490570"/>
            <a:ext cx="4139503" cy="3318728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8500829" y="3418731"/>
            <a:ext cx="749935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10" b="1">
                <a:solidFill>
                  <a:srgbClr val="7030A0"/>
                </a:solidFill>
                <a:latin typeface="Arial"/>
                <a:cs typeface="Arial"/>
              </a:rPr>
              <a:t>overfit</a:t>
            </a:r>
            <a:endParaRPr sz="19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268886" y="2891427"/>
            <a:ext cx="907415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20" b="1">
                <a:solidFill>
                  <a:srgbClr val="7030A0"/>
                </a:solidFill>
                <a:latin typeface="Arial"/>
                <a:cs typeface="Arial"/>
              </a:rPr>
              <a:t>underfit</a:t>
            </a:r>
            <a:endParaRPr sz="19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087818" y="1939424"/>
            <a:ext cx="4086225" cy="66294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278765" marR="5080" indent="-266700">
              <a:lnSpc>
                <a:spcPts val="2500"/>
              </a:lnSpc>
              <a:spcBef>
                <a:spcPts val="200"/>
              </a:spcBef>
              <a:buChar char="•"/>
              <a:tabLst>
                <a:tab pos="278765" algn="l"/>
              </a:tabLst>
            </a:pP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model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fit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population </a:t>
            </a:r>
            <a:r>
              <a:rPr dirty="0" sz="2100">
                <a:latin typeface="Arial MT"/>
                <a:cs typeface="Arial MT"/>
              </a:rPr>
              <a:t>using</a:t>
            </a:r>
            <a:r>
              <a:rPr dirty="0" sz="2100" spc="-114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sample</a:t>
            </a:r>
            <a:r>
              <a:rPr dirty="0" sz="2100" spc="-110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data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87818" y="2814200"/>
            <a:ext cx="4013835" cy="9829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just" marL="278765" marR="5080" indent="-266700">
              <a:lnSpc>
                <a:spcPct val="99500"/>
              </a:lnSpc>
              <a:spcBef>
                <a:spcPts val="110"/>
              </a:spcBef>
              <a:buChar char="•"/>
              <a:tabLst>
                <a:tab pos="278765" algn="l"/>
              </a:tabLst>
            </a:pPr>
            <a:r>
              <a:rPr dirty="0" sz="2100">
                <a:latin typeface="Arial MT"/>
                <a:cs typeface="Arial MT"/>
              </a:rPr>
              <a:t>Main</a:t>
            </a:r>
            <a:r>
              <a:rPr dirty="0" sz="2100" spc="-10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Idea:</a:t>
            </a:r>
            <a:r>
              <a:rPr dirty="0" sz="2100" spc="-10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10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model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should</a:t>
            </a:r>
            <a:r>
              <a:rPr dirty="0" sz="2100" spc="-105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be </a:t>
            </a:r>
            <a:r>
              <a:rPr dirty="0" sz="2100">
                <a:latin typeface="Arial MT"/>
                <a:cs typeface="Arial MT"/>
              </a:rPr>
              <a:t>generic</a:t>
            </a:r>
            <a:r>
              <a:rPr dirty="0" sz="2100" spc="-10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enough</a:t>
            </a:r>
            <a:r>
              <a:rPr dirty="0" sz="2100" spc="-10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11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represent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the </a:t>
            </a:r>
            <a:r>
              <a:rPr dirty="0" sz="2100" spc="-10">
                <a:latin typeface="Arial MT"/>
                <a:cs typeface="Arial MT"/>
              </a:rPr>
              <a:t>population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087818" y="4009016"/>
            <a:ext cx="4173220" cy="2494915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278765" marR="382270" indent="-266700">
              <a:lnSpc>
                <a:spcPts val="2500"/>
              </a:lnSpc>
              <a:spcBef>
                <a:spcPts val="200"/>
              </a:spcBef>
              <a:buChar char="•"/>
              <a:tabLst>
                <a:tab pos="278765" algn="l"/>
              </a:tabLst>
            </a:pPr>
            <a:r>
              <a:rPr dirty="0" sz="2100" spc="-25">
                <a:latin typeface="Arial MT"/>
                <a:cs typeface="Arial MT"/>
              </a:rPr>
              <a:t>However,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this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may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result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in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an </a:t>
            </a:r>
            <a:r>
              <a:rPr dirty="0" sz="2100" spc="-20" b="1">
                <a:solidFill>
                  <a:srgbClr val="0070C0"/>
                </a:solidFill>
                <a:latin typeface="Arial"/>
                <a:cs typeface="Arial"/>
              </a:rPr>
              <a:t>underfit</a:t>
            </a:r>
            <a:r>
              <a:rPr dirty="0" sz="2100" spc="-100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100">
                <a:latin typeface="Arial MT"/>
                <a:cs typeface="Arial MT"/>
              </a:rPr>
              <a:t>(loose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fit)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between sample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data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and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model.</a:t>
            </a:r>
            <a:endParaRPr sz="2100">
              <a:latin typeface="Arial MT"/>
              <a:cs typeface="Arial MT"/>
            </a:endParaRPr>
          </a:p>
          <a:p>
            <a:pPr marL="278765" marR="5080" indent="-266700">
              <a:lnSpc>
                <a:spcPct val="99700"/>
              </a:lnSpc>
              <a:spcBef>
                <a:spcPts val="1789"/>
              </a:spcBef>
              <a:buChar char="•"/>
              <a:tabLst>
                <a:tab pos="278765" algn="l"/>
              </a:tabLst>
            </a:pPr>
            <a:r>
              <a:rPr dirty="0" sz="2100">
                <a:latin typeface="Arial MT"/>
                <a:cs typeface="Arial MT"/>
              </a:rPr>
              <a:t>On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other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hand,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if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model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is </a:t>
            </a:r>
            <a:r>
              <a:rPr dirty="0" sz="2100" spc="-10" b="1">
                <a:solidFill>
                  <a:srgbClr val="0070C0"/>
                </a:solidFill>
                <a:latin typeface="Arial"/>
                <a:cs typeface="Arial"/>
              </a:rPr>
              <a:t>overfit</a:t>
            </a:r>
            <a:r>
              <a:rPr dirty="0" sz="2100" spc="-85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100">
                <a:latin typeface="Arial MT"/>
                <a:cs typeface="Arial MT"/>
              </a:rPr>
              <a:t>(tight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fit)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sample, </a:t>
            </a:r>
            <a:r>
              <a:rPr dirty="0" sz="2100">
                <a:latin typeface="Arial MT"/>
                <a:cs typeface="Arial MT"/>
              </a:rPr>
              <a:t>there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danger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that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it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may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not </a:t>
            </a:r>
            <a:r>
              <a:rPr dirty="0" sz="2100" spc="-10">
                <a:latin typeface="Arial MT"/>
                <a:cs typeface="Arial MT"/>
              </a:rPr>
              <a:t>represent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population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well.</a:t>
            </a:r>
            <a:endParaRPr sz="2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76633" y="4018160"/>
            <a:ext cx="2061845" cy="225425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 marR="5080">
              <a:lnSpc>
                <a:spcPct val="99400"/>
              </a:lnSpc>
              <a:spcBef>
                <a:spcPts val="114"/>
              </a:spcBef>
            </a:pP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15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linear</a:t>
            </a:r>
            <a:r>
              <a:rPr dirty="0" sz="2100" spc="-11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function (polynomial</a:t>
            </a:r>
            <a:r>
              <a:rPr dirty="0" sz="2100" spc="-114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with </a:t>
            </a:r>
            <a:r>
              <a:rPr dirty="0" sz="2100">
                <a:latin typeface="Arial MT"/>
                <a:cs typeface="Arial MT"/>
              </a:rPr>
              <a:t>degree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1)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not </a:t>
            </a:r>
            <a:r>
              <a:rPr dirty="0" sz="2100" spc="-20">
                <a:latin typeface="Arial MT"/>
                <a:cs typeface="Arial MT"/>
              </a:rPr>
              <a:t>sufficient</a:t>
            </a:r>
            <a:r>
              <a:rPr dirty="0" sz="2100" spc="-5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6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fit</a:t>
            </a:r>
            <a:r>
              <a:rPr dirty="0" sz="2100" spc="-50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the </a:t>
            </a:r>
            <a:r>
              <a:rPr dirty="0" sz="2100" spc="-10">
                <a:latin typeface="Arial MT"/>
                <a:cs typeface="Arial MT"/>
              </a:rPr>
              <a:t>training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samples. </a:t>
            </a:r>
            <a:r>
              <a:rPr dirty="0" sz="2100">
                <a:latin typeface="Arial MT"/>
                <a:cs typeface="Arial MT"/>
              </a:rPr>
              <a:t>This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called </a:t>
            </a:r>
            <a:r>
              <a:rPr dirty="0" sz="2100" spc="-10" b="1">
                <a:solidFill>
                  <a:srgbClr val="0070C0"/>
                </a:solidFill>
                <a:latin typeface="Arial"/>
                <a:cs typeface="Arial"/>
              </a:rPr>
              <a:t>underfitting</a:t>
            </a:r>
            <a:r>
              <a:rPr dirty="0" sz="2100" spc="-10">
                <a:latin typeface="Arial MT"/>
                <a:cs typeface="Arial MT"/>
              </a:rPr>
              <a:t>.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414347" y="4033400"/>
            <a:ext cx="1918970" cy="161671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 marR="5080">
              <a:lnSpc>
                <a:spcPct val="99300"/>
              </a:lnSpc>
              <a:spcBef>
                <a:spcPts val="114"/>
              </a:spcBef>
            </a:pP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15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polynomial</a:t>
            </a:r>
            <a:r>
              <a:rPr dirty="0" sz="2100" spc="-110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of </a:t>
            </a:r>
            <a:r>
              <a:rPr dirty="0" sz="2100">
                <a:latin typeface="Arial MT"/>
                <a:cs typeface="Arial MT"/>
              </a:rPr>
              <a:t>degree</a:t>
            </a:r>
            <a:r>
              <a:rPr dirty="0" sz="2100" spc="-130">
                <a:latin typeface="Arial MT"/>
                <a:cs typeface="Arial MT"/>
              </a:rPr>
              <a:t> </a:t>
            </a:r>
            <a:r>
              <a:rPr dirty="0" sz="2100" spc="-50">
                <a:latin typeface="Arial MT"/>
                <a:cs typeface="Arial MT"/>
              </a:rPr>
              <a:t>4 </a:t>
            </a:r>
            <a:r>
              <a:rPr dirty="0" sz="2100" spc="-10">
                <a:latin typeface="Arial MT"/>
                <a:cs typeface="Arial MT"/>
              </a:rPr>
              <a:t>approximates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true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function </a:t>
            </a:r>
            <a:r>
              <a:rPr dirty="0" sz="2100">
                <a:latin typeface="Arial MT"/>
                <a:cs typeface="Arial MT"/>
              </a:rPr>
              <a:t>almost</a:t>
            </a:r>
            <a:r>
              <a:rPr dirty="0" sz="2100" spc="-140">
                <a:latin typeface="Arial MT"/>
                <a:cs typeface="Arial MT"/>
              </a:rPr>
              <a:t> </a:t>
            </a:r>
            <a:r>
              <a:rPr dirty="0" sz="2100" spc="-35">
                <a:latin typeface="Arial MT"/>
                <a:cs typeface="Arial MT"/>
              </a:rPr>
              <a:t>perfectly.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351911" y="4018160"/>
            <a:ext cx="2200910" cy="19342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99200"/>
              </a:lnSpc>
              <a:spcBef>
                <a:spcPts val="120"/>
              </a:spcBef>
            </a:pPr>
            <a:r>
              <a:rPr dirty="0" sz="2100">
                <a:latin typeface="Arial MT"/>
                <a:cs typeface="Arial MT"/>
              </a:rPr>
              <a:t>At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higher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degrees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10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model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will </a:t>
            </a:r>
            <a:r>
              <a:rPr dirty="0" sz="2100" spc="-10" b="1">
                <a:solidFill>
                  <a:srgbClr val="0070C0"/>
                </a:solidFill>
                <a:latin typeface="Arial"/>
                <a:cs typeface="Arial"/>
              </a:rPr>
              <a:t>overfit</a:t>
            </a:r>
            <a:r>
              <a:rPr dirty="0" sz="2100" spc="-80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training </a:t>
            </a:r>
            <a:r>
              <a:rPr dirty="0" sz="2100">
                <a:latin typeface="Arial MT"/>
                <a:cs typeface="Arial MT"/>
              </a:rPr>
              <a:t>data,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i.e.,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it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learns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noise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the </a:t>
            </a:r>
            <a:r>
              <a:rPr dirty="0" sz="2100" spc="-10">
                <a:latin typeface="Arial MT"/>
                <a:cs typeface="Arial MT"/>
              </a:rPr>
              <a:t>training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data.</a:t>
            </a:r>
            <a:endParaRPr sz="2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89694" rIns="0" bIns="0" rtlCol="0" vert="horz">
            <a:spAutoFit/>
          </a:bodyPr>
          <a:lstStyle/>
          <a:p>
            <a:pPr marL="285750">
              <a:lnSpc>
                <a:spcPct val="100000"/>
              </a:lnSpc>
              <a:spcBef>
                <a:spcPts val="100"/>
              </a:spcBef>
            </a:pPr>
            <a:r>
              <a:rPr dirty="0" sz="3300" spc="-10"/>
              <a:t>Video</a:t>
            </a:r>
            <a:endParaRPr sz="3300"/>
          </a:p>
        </p:txBody>
      </p:sp>
      <p:sp>
        <p:nvSpPr>
          <p:cNvPr id="3" name="object 3" descr=""/>
          <p:cNvSpPr txBox="1"/>
          <p:nvPr/>
        </p:nvSpPr>
        <p:spPr>
          <a:xfrm>
            <a:off x="1195800" y="2007473"/>
            <a:ext cx="7629525" cy="1245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8765" marR="5080" indent="-266700">
              <a:lnSpc>
                <a:spcPct val="100000"/>
              </a:lnSpc>
              <a:spcBef>
                <a:spcPts val="100"/>
              </a:spcBef>
              <a:buChar char="•"/>
              <a:tabLst>
                <a:tab pos="278765" algn="l"/>
              </a:tabLst>
            </a:pPr>
            <a:r>
              <a:rPr dirty="0" sz="2500">
                <a:latin typeface="Arial MT"/>
                <a:cs typeface="Arial MT"/>
              </a:rPr>
              <a:t>Machine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Learning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Fundamentals: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Bias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and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Variance [6.35]</a:t>
            </a:r>
            <a:endParaRPr sz="2500">
              <a:latin typeface="Arial MT"/>
              <a:cs typeface="Arial MT"/>
            </a:endParaRPr>
          </a:p>
          <a:p>
            <a:pPr marL="278130" indent="-265430"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Char char="•"/>
              <a:tabLst>
                <a:tab pos="278130" algn="l"/>
              </a:tabLst>
            </a:pPr>
            <a:r>
              <a:rPr dirty="0" u="heavy" sz="2500" spc="-2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</a:rPr>
              <a:t>https://</a:t>
            </a:r>
            <a:r>
              <a:rPr dirty="0" u="heavy" sz="2500" spc="-2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2"/>
              </a:rPr>
              <a:t>www.youtube.com/watch?v=EuBBz3bI-</a:t>
            </a:r>
            <a:r>
              <a:rPr dirty="0" u="heavy" sz="2500" spc="-25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2"/>
              </a:rPr>
              <a:t>aA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588072" y="4348337"/>
            <a:ext cx="7272020" cy="79121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532765" marR="5080" indent="-520700">
              <a:lnSpc>
                <a:spcPct val="100800"/>
              </a:lnSpc>
              <a:spcBef>
                <a:spcPts val="75"/>
              </a:spcBef>
            </a:pPr>
            <a:r>
              <a:rPr dirty="0" sz="2500">
                <a:solidFill>
                  <a:srgbClr val="C00000"/>
                </a:solidFill>
                <a:latin typeface="Arial MT"/>
                <a:cs typeface="Arial MT"/>
              </a:rPr>
              <a:t>Reducing</a:t>
            </a:r>
            <a:r>
              <a:rPr dirty="0" sz="2500" spc="-9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070C0"/>
                </a:solidFill>
                <a:latin typeface="Arial MT"/>
                <a:cs typeface="Arial MT"/>
              </a:rPr>
              <a:t>bias</a:t>
            </a:r>
            <a:r>
              <a:rPr dirty="0" sz="2500" spc="-80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dirty="0" sz="2500" b="1">
                <a:latin typeface="Arial"/>
                <a:cs typeface="Arial"/>
              </a:rPr>
              <a:t>generally</a:t>
            </a:r>
            <a:r>
              <a:rPr dirty="0" sz="2500" spc="-80" b="1">
                <a:latin typeface="Arial"/>
                <a:cs typeface="Arial"/>
              </a:rPr>
              <a:t> </a:t>
            </a:r>
            <a:r>
              <a:rPr dirty="0" sz="2500">
                <a:solidFill>
                  <a:srgbClr val="C00000"/>
                </a:solidFill>
                <a:latin typeface="Arial MT"/>
                <a:cs typeface="Arial MT"/>
              </a:rPr>
              <a:t>increases</a:t>
            </a:r>
            <a:r>
              <a:rPr dirty="0" sz="2500" spc="-8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070C0"/>
                </a:solidFill>
                <a:latin typeface="Arial MT"/>
                <a:cs typeface="Arial MT"/>
              </a:rPr>
              <a:t>variance</a:t>
            </a:r>
            <a:r>
              <a:rPr dirty="0" sz="2500" spc="-85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dirty="0" sz="2500" spc="-25">
                <a:latin typeface="Arial MT"/>
                <a:cs typeface="Arial MT"/>
              </a:rPr>
              <a:t>but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relationship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is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NOT</a:t>
            </a:r>
            <a:r>
              <a:rPr dirty="0" sz="2500" spc="-10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fixed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and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predictable</a:t>
            </a:r>
            <a:endParaRPr sz="2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0720" y="862931"/>
            <a:ext cx="3830954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Bias</a:t>
            </a:r>
            <a:r>
              <a:rPr dirty="0" spc="-75"/>
              <a:t> </a:t>
            </a:r>
            <a:r>
              <a:rPr dirty="0"/>
              <a:t>/</a:t>
            </a:r>
            <a:r>
              <a:rPr dirty="0" spc="-70"/>
              <a:t> </a:t>
            </a:r>
            <a:r>
              <a:rPr dirty="0"/>
              <a:t>Variance</a:t>
            </a:r>
            <a:r>
              <a:rPr dirty="0" spc="-75"/>
              <a:t> </a:t>
            </a:r>
            <a:r>
              <a:rPr dirty="0" spc="-10"/>
              <a:t>Tradeoff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195800" y="1614281"/>
            <a:ext cx="8148955" cy="4701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8765" marR="60960" indent="-2667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2500" b="1" i="1">
                <a:latin typeface="Arial"/>
                <a:cs typeface="Arial"/>
              </a:rPr>
              <a:t>Bias</a:t>
            </a:r>
            <a:r>
              <a:rPr dirty="0" sz="2500" spc="-85" b="1" i="1">
                <a:latin typeface="Arial"/>
                <a:cs typeface="Arial"/>
              </a:rPr>
              <a:t> </a:t>
            </a:r>
            <a:r>
              <a:rPr dirty="0" sz="2500">
                <a:latin typeface="Arial MT"/>
                <a:cs typeface="Arial MT"/>
              </a:rPr>
              <a:t>refers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to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simplifying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assumptions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about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form</a:t>
            </a:r>
            <a:r>
              <a:rPr dirty="0" sz="2500" spc="-90">
                <a:latin typeface="Arial MT"/>
                <a:cs typeface="Arial MT"/>
              </a:rPr>
              <a:t> </a:t>
            </a:r>
            <a:r>
              <a:rPr dirty="0" sz="2500" spc="-25">
                <a:latin typeface="Arial MT"/>
                <a:cs typeface="Arial MT"/>
              </a:rPr>
              <a:t>of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target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function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that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make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it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easier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to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approximate.</a:t>
            </a:r>
            <a:endParaRPr sz="2500">
              <a:latin typeface="Arial MT"/>
              <a:cs typeface="Arial MT"/>
            </a:endParaRPr>
          </a:p>
          <a:p>
            <a:pPr lvl="1" marL="589280" marR="222885" indent="-222250">
              <a:lnSpc>
                <a:spcPts val="2500"/>
              </a:lnSpc>
              <a:spcBef>
                <a:spcPts val="810"/>
              </a:spcBef>
              <a:buChar char="–"/>
              <a:tabLst>
                <a:tab pos="589280" algn="l"/>
              </a:tabLst>
            </a:pPr>
            <a:r>
              <a:rPr dirty="0" sz="2100">
                <a:latin typeface="Arial MT"/>
                <a:cs typeface="Arial MT"/>
              </a:rPr>
              <a:t>For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example,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algorithms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that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can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only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generate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linear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functions </a:t>
            </a:r>
            <a:r>
              <a:rPr dirty="0" sz="2100">
                <a:latin typeface="Arial MT"/>
                <a:cs typeface="Arial MT"/>
              </a:rPr>
              <a:t>have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higher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bias,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which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makes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them</a:t>
            </a:r>
            <a:r>
              <a:rPr dirty="0" sz="2100" spc="-10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fast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and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easier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35">
                <a:latin typeface="Arial MT"/>
                <a:cs typeface="Arial MT"/>
              </a:rPr>
              <a:t>to </a:t>
            </a:r>
            <a:r>
              <a:rPr dirty="0" sz="2100" spc="-10">
                <a:latin typeface="Arial MT"/>
                <a:cs typeface="Arial MT"/>
              </a:rPr>
              <a:t>understand,</a:t>
            </a:r>
            <a:endParaRPr sz="2100">
              <a:latin typeface="Arial MT"/>
              <a:cs typeface="Arial MT"/>
            </a:endParaRPr>
          </a:p>
          <a:p>
            <a:pPr lvl="1" marL="589280" marR="5080" indent="-222250">
              <a:lnSpc>
                <a:spcPct val="99500"/>
              </a:lnSpc>
              <a:spcBef>
                <a:spcPts val="500"/>
              </a:spcBef>
              <a:buChar char="–"/>
              <a:tabLst>
                <a:tab pos="589280" algn="l"/>
              </a:tabLst>
            </a:pPr>
            <a:r>
              <a:rPr dirty="0" sz="2100">
                <a:latin typeface="Arial MT"/>
                <a:cs typeface="Arial MT"/>
              </a:rPr>
              <a:t>Other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algorithms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that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make</a:t>
            </a:r>
            <a:r>
              <a:rPr dirty="0" sz="2100" spc="-10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fewer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assumptions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and</a:t>
            </a:r>
            <a:r>
              <a:rPr dirty="0" sz="2100" spc="-10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can</a:t>
            </a:r>
            <a:r>
              <a:rPr dirty="0" sz="2100" spc="-10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generate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range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possible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shapes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are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generally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slower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and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the </a:t>
            </a:r>
            <a:r>
              <a:rPr dirty="0" sz="2100" spc="-10">
                <a:latin typeface="Arial MT"/>
                <a:cs typeface="Arial MT"/>
              </a:rPr>
              <a:t>outcomes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are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harder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explain</a:t>
            </a:r>
            <a:endParaRPr sz="2100">
              <a:latin typeface="Arial MT"/>
              <a:cs typeface="Arial MT"/>
            </a:endParaRPr>
          </a:p>
          <a:p>
            <a:pPr marL="278765" marR="375920" indent="-266700">
              <a:lnSpc>
                <a:spcPct val="100000"/>
              </a:lnSpc>
              <a:spcBef>
                <a:spcPts val="1185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2500" b="1" i="1">
                <a:latin typeface="Arial"/>
                <a:cs typeface="Arial"/>
              </a:rPr>
              <a:t>Variance</a:t>
            </a:r>
            <a:r>
              <a:rPr dirty="0" sz="2500" spc="-60" b="1" i="1">
                <a:latin typeface="Arial"/>
                <a:cs typeface="Arial"/>
              </a:rPr>
              <a:t> </a:t>
            </a:r>
            <a:r>
              <a:rPr dirty="0" sz="2500">
                <a:latin typeface="Arial MT"/>
                <a:cs typeface="Arial MT"/>
              </a:rPr>
              <a:t>is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amount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that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estimate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target </a:t>
            </a:r>
            <a:r>
              <a:rPr dirty="0" sz="2500">
                <a:latin typeface="Arial MT"/>
                <a:cs typeface="Arial MT"/>
              </a:rPr>
              <a:t>function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will</a:t>
            </a:r>
            <a:r>
              <a:rPr dirty="0" sz="2500" spc="-4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change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when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it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is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applied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to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data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that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 spc="-25">
                <a:latin typeface="Arial MT"/>
                <a:cs typeface="Arial MT"/>
              </a:rPr>
              <a:t>it </a:t>
            </a:r>
            <a:r>
              <a:rPr dirty="0" sz="2500">
                <a:latin typeface="Arial MT"/>
                <a:cs typeface="Arial MT"/>
              </a:rPr>
              <a:t>hasn’t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seen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before.</a:t>
            </a:r>
            <a:endParaRPr sz="2500">
              <a:latin typeface="Arial MT"/>
              <a:cs typeface="Arial MT"/>
            </a:endParaRPr>
          </a:p>
          <a:p>
            <a:pPr marL="278130" indent="-265430">
              <a:lnSpc>
                <a:spcPct val="100000"/>
              </a:lnSpc>
              <a:spcBef>
                <a:spcPts val="1295"/>
              </a:spcBef>
              <a:buChar char="•"/>
              <a:tabLst>
                <a:tab pos="278130" algn="l"/>
              </a:tabLst>
            </a:pPr>
            <a:r>
              <a:rPr dirty="0" sz="2500">
                <a:latin typeface="Arial MT"/>
                <a:cs typeface="Arial MT"/>
              </a:rPr>
              <a:t>There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is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usually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45"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070C0"/>
                </a:solidFill>
                <a:latin typeface="Arial MT"/>
                <a:cs typeface="Arial MT"/>
              </a:rPr>
              <a:t>tradeoff</a:t>
            </a:r>
            <a:r>
              <a:rPr dirty="0" sz="2500" spc="-55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070C0"/>
                </a:solidFill>
                <a:latin typeface="Arial MT"/>
                <a:cs typeface="Arial MT"/>
              </a:rPr>
              <a:t>between</a:t>
            </a:r>
            <a:r>
              <a:rPr dirty="0" sz="2500" spc="-55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070C0"/>
                </a:solidFill>
                <a:latin typeface="Arial MT"/>
                <a:cs typeface="Arial MT"/>
              </a:rPr>
              <a:t>bias</a:t>
            </a:r>
            <a:r>
              <a:rPr dirty="0" sz="2500" spc="-55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070C0"/>
                </a:solidFill>
                <a:latin typeface="Arial MT"/>
                <a:cs typeface="Arial MT"/>
              </a:rPr>
              <a:t>and</a:t>
            </a:r>
            <a:r>
              <a:rPr dirty="0" sz="2500" spc="-55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dirty="0" sz="2500" spc="-10">
                <a:solidFill>
                  <a:srgbClr val="0070C0"/>
                </a:solidFill>
                <a:latin typeface="Arial MT"/>
                <a:cs typeface="Arial MT"/>
              </a:rPr>
              <a:t>variance</a:t>
            </a:r>
            <a:endParaRPr sz="2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26780" y="862931"/>
            <a:ext cx="4658995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Bias</a:t>
            </a:r>
            <a:r>
              <a:rPr dirty="0" spc="-105"/>
              <a:t> </a:t>
            </a:r>
            <a:r>
              <a:rPr dirty="0"/>
              <a:t>Variance</a:t>
            </a:r>
            <a:r>
              <a:rPr dirty="0" spc="-110"/>
              <a:t> </a:t>
            </a:r>
            <a:r>
              <a:rPr dirty="0" spc="-10"/>
              <a:t>Decomposition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195800" y="1641713"/>
            <a:ext cx="8112125" cy="49422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8765" marR="1070610" indent="-266700">
              <a:lnSpc>
                <a:spcPct val="100000"/>
              </a:lnSpc>
              <a:spcBef>
                <a:spcPts val="100"/>
              </a:spcBef>
              <a:buChar char="•"/>
              <a:tabLst>
                <a:tab pos="278765" algn="l"/>
              </a:tabLst>
            </a:pPr>
            <a:r>
              <a:rPr dirty="0" sz="2500">
                <a:latin typeface="Arial MT"/>
                <a:cs typeface="Arial MT"/>
              </a:rPr>
              <a:t>This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function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returns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measure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bias,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 spc="-25">
                <a:latin typeface="Arial MT"/>
                <a:cs typeface="Arial MT"/>
              </a:rPr>
              <a:t>the </a:t>
            </a:r>
            <a:r>
              <a:rPr dirty="0" sz="2500">
                <a:latin typeface="Arial MT"/>
                <a:cs typeface="Arial MT"/>
              </a:rPr>
              <a:t>variance,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and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overall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“goodness”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model.</a:t>
            </a:r>
            <a:endParaRPr sz="2500">
              <a:latin typeface="Arial MT"/>
              <a:cs typeface="Arial MT"/>
            </a:endParaRPr>
          </a:p>
          <a:p>
            <a:pPr marL="278765" marR="5080" indent="-266700">
              <a:lnSpc>
                <a:spcPct val="100400"/>
              </a:lnSpc>
              <a:spcBef>
                <a:spcPts val="1885"/>
              </a:spcBef>
              <a:buChar char="•"/>
              <a:tabLst>
                <a:tab pos="278765" algn="l"/>
              </a:tabLst>
            </a:pP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average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value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returned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by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loss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function </a:t>
            </a:r>
            <a:r>
              <a:rPr dirty="0" sz="2500">
                <a:latin typeface="Arial MT"/>
                <a:cs typeface="Arial MT"/>
              </a:rPr>
              <a:t>for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all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observations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over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all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bootstrap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training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 spc="-20">
                <a:latin typeface="Arial MT"/>
                <a:cs typeface="Arial MT"/>
              </a:rPr>
              <a:t>sets </a:t>
            </a:r>
            <a:r>
              <a:rPr dirty="0" sz="2500">
                <a:latin typeface="Arial MT"/>
                <a:cs typeface="Arial MT"/>
              </a:rPr>
              <a:t>is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reported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as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 i="1">
                <a:latin typeface="Arial"/>
                <a:cs typeface="Arial"/>
              </a:rPr>
              <a:t>expected</a:t>
            </a:r>
            <a:r>
              <a:rPr dirty="0" sz="2500" spc="-55" i="1">
                <a:latin typeface="Arial"/>
                <a:cs typeface="Arial"/>
              </a:rPr>
              <a:t> </a:t>
            </a:r>
            <a:r>
              <a:rPr dirty="0" sz="2500" spc="-10" i="1">
                <a:latin typeface="Arial"/>
                <a:cs typeface="Arial"/>
              </a:rPr>
              <a:t>loss.</a:t>
            </a:r>
            <a:endParaRPr sz="2500">
              <a:latin typeface="Arial"/>
              <a:cs typeface="Arial"/>
            </a:endParaRPr>
          </a:p>
          <a:p>
            <a:pPr marL="278765" marR="354965" indent="-266700">
              <a:lnSpc>
                <a:spcPct val="100800"/>
              </a:lnSpc>
              <a:spcBef>
                <a:spcPts val="1845"/>
              </a:spcBef>
              <a:buChar char="•"/>
              <a:tabLst>
                <a:tab pos="278765" algn="l"/>
              </a:tabLst>
            </a:pPr>
            <a:r>
              <a:rPr dirty="0" sz="2500">
                <a:latin typeface="Arial MT"/>
                <a:cs typeface="Arial MT"/>
              </a:rPr>
              <a:t>Turning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this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around,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one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minus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expected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loss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is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 spc="-50">
                <a:latin typeface="Arial MT"/>
                <a:cs typeface="Arial MT"/>
              </a:rPr>
              <a:t>a </a:t>
            </a:r>
            <a:r>
              <a:rPr dirty="0" sz="2500">
                <a:latin typeface="Arial MT"/>
                <a:cs typeface="Arial MT"/>
              </a:rPr>
              <a:t>measure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“goodness”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model</a:t>
            </a:r>
            <a:endParaRPr sz="2500">
              <a:latin typeface="Arial MT"/>
              <a:cs typeface="Arial MT"/>
            </a:endParaRPr>
          </a:p>
          <a:p>
            <a:pPr marL="278765" marR="56515" indent="-266700">
              <a:lnSpc>
                <a:spcPct val="100000"/>
              </a:lnSpc>
              <a:spcBef>
                <a:spcPts val="1900"/>
              </a:spcBef>
              <a:buChar char="•"/>
              <a:tabLst>
                <a:tab pos="278765" algn="l"/>
              </a:tabLst>
            </a:pP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expected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loss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can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be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decomposed (mathematically)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into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separate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measures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bias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 spc="-25">
                <a:latin typeface="Arial MT"/>
                <a:cs typeface="Arial MT"/>
              </a:rPr>
              <a:t>and </a:t>
            </a:r>
            <a:r>
              <a:rPr dirty="0" sz="2500">
                <a:latin typeface="Arial MT"/>
                <a:cs typeface="Arial MT"/>
              </a:rPr>
              <a:t>variance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(and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an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implicit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“noise”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term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to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account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for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 spc="-25">
                <a:latin typeface="Arial MT"/>
                <a:cs typeface="Arial MT"/>
              </a:rPr>
              <a:t>any </a:t>
            </a:r>
            <a:r>
              <a:rPr dirty="0" sz="2500">
                <a:latin typeface="Arial MT"/>
                <a:cs typeface="Arial MT"/>
              </a:rPr>
              <a:t>difference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between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expected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loss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and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bias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+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variance)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310349" y="7121604"/>
            <a:ext cx="67500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latin typeface="Arial MT"/>
                <a:cs typeface="Arial MT"/>
              </a:rPr>
              <a:t>Slide</a:t>
            </a:r>
            <a:r>
              <a:rPr dirty="0" sz="800" spc="4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&lt;#&gt;</a:t>
            </a:r>
            <a:r>
              <a:rPr dirty="0" sz="800" spc="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35">
                <a:latin typeface="Arial MT"/>
                <a:cs typeface="Arial MT"/>
              </a:rPr>
              <a:t> </a:t>
            </a:r>
            <a:r>
              <a:rPr dirty="0" sz="800" spc="-50">
                <a:latin typeface="Arial MT"/>
                <a:cs typeface="Arial MT"/>
              </a:rPr>
              <a:t>9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86166" rIns="0" bIns="0" rtlCol="0" vert="horz">
            <a:spAutoFit/>
          </a:bodyPr>
          <a:lstStyle/>
          <a:p>
            <a:pPr marL="2247900">
              <a:lnSpc>
                <a:spcPct val="100000"/>
              </a:lnSpc>
              <a:spcBef>
                <a:spcPts val="100"/>
              </a:spcBef>
            </a:pPr>
            <a:r>
              <a:rPr dirty="0"/>
              <a:t>Train,</a:t>
            </a:r>
            <a:r>
              <a:rPr dirty="0" spc="-95"/>
              <a:t> </a:t>
            </a:r>
            <a:r>
              <a:rPr dirty="0"/>
              <a:t>Test,</a:t>
            </a:r>
            <a:r>
              <a:rPr dirty="0" spc="-90"/>
              <a:t> </a:t>
            </a:r>
            <a:r>
              <a:rPr dirty="0" spc="-10"/>
              <a:t>Validate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156648" y="5359280"/>
            <a:ext cx="6442710" cy="12966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4315" indent="-221615">
              <a:lnSpc>
                <a:spcPts val="2510"/>
              </a:lnSpc>
              <a:spcBef>
                <a:spcPts val="100"/>
              </a:spcBef>
              <a:buChar char="–"/>
              <a:tabLst>
                <a:tab pos="234315" algn="l"/>
              </a:tabLst>
            </a:pPr>
            <a:r>
              <a:rPr dirty="0" sz="2100" spc="-10">
                <a:latin typeface="Arial MT"/>
                <a:cs typeface="Arial MT"/>
              </a:rPr>
              <a:t>training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proceeds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on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training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set,</a:t>
            </a:r>
            <a:endParaRPr sz="2100">
              <a:latin typeface="Arial MT"/>
              <a:cs typeface="Arial MT"/>
            </a:endParaRPr>
          </a:p>
          <a:p>
            <a:pPr marL="234315" indent="-221615">
              <a:lnSpc>
                <a:spcPts val="2495"/>
              </a:lnSpc>
              <a:buChar char="–"/>
              <a:tabLst>
                <a:tab pos="234315" algn="l"/>
              </a:tabLst>
            </a:pPr>
            <a:r>
              <a:rPr dirty="0" sz="2100" spc="-10">
                <a:latin typeface="Arial MT"/>
                <a:cs typeface="Arial MT"/>
              </a:rPr>
              <a:t>evaluation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6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done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on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validation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set,</a:t>
            </a:r>
            <a:endParaRPr sz="2100">
              <a:latin typeface="Arial MT"/>
              <a:cs typeface="Arial MT"/>
            </a:endParaRPr>
          </a:p>
          <a:p>
            <a:pPr marL="603885">
              <a:lnSpc>
                <a:spcPts val="2495"/>
              </a:lnSpc>
            </a:pPr>
            <a:r>
              <a:rPr dirty="0" sz="2100">
                <a:latin typeface="Arial MT"/>
                <a:cs typeface="Arial MT"/>
              </a:rPr>
              <a:t>and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when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experiment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seems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successful,</a:t>
            </a:r>
            <a:endParaRPr sz="2100">
              <a:latin typeface="Arial MT"/>
              <a:cs typeface="Arial MT"/>
            </a:endParaRPr>
          </a:p>
          <a:p>
            <a:pPr marL="234315" indent="-221615">
              <a:lnSpc>
                <a:spcPts val="2510"/>
              </a:lnSpc>
              <a:buChar char="–"/>
              <a:tabLst>
                <a:tab pos="234315" algn="l"/>
              </a:tabLst>
            </a:pPr>
            <a:r>
              <a:rPr dirty="0" sz="2100">
                <a:latin typeface="Arial MT"/>
                <a:cs typeface="Arial MT"/>
              </a:rPr>
              <a:t>final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evaluation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done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on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test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set.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83669" y="1817504"/>
            <a:ext cx="8070215" cy="66294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278765" marR="5080" indent="-266700">
              <a:lnSpc>
                <a:spcPts val="2500"/>
              </a:lnSpc>
              <a:spcBef>
                <a:spcPts val="200"/>
              </a:spcBef>
              <a:buChar char="•"/>
              <a:tabLst>
                <a:tab pos="278765" algn="l"/>
              </a:tabLst>
            </a:pPr>
            <a:r>
              <a:rPr dirty="0" sz="2100">
                <a:latin typeface="Arial MT"/>
                <a:cs typeface="Arial MT"/>
              </a:rPr>
              <a:t>When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evaluating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model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we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can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generate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range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performance metrics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by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using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part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dataset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as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“validation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set”:</a:t>
            </a:r>
            <a:endParaRPr sz="2100">
              <a:latin typeface="Arial MT"/>
              <a:cs typeface="Arial MT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9926" y="2814484"/>
            <a:ext cx="6745197" cy="228471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2742" rIns="0" bIns="0" rtlCol="0" vert="horz">
            <a:spAutoFit/>
          </a:bodyPr>
          <a:lstStyle/>
          <a:p>
            <a:pPr marL="1725930">
              <a:lnSpc>
                <a:spcPct val="100000"/>
              </a:lnSpc>
              <a:spcBef>
                <a:spcPts val="100"/>
              </a:spcBef>
            </a:pPr>
            <a:r>
              <a:rPr dirty="0"/>
              <a:t>Concept</a:t>
            </a:r>
            <a:r>
              <a:rPr dirty="0" spc="-65"/>
              <a:t> </a:t>
            </a:r>
            <a:r>
              <a:rPr dirty="0"/>
              <a:t>of</a:t>
            </a:r>
            <a:r>
              <a:rPr dirty="0" spc="-60"/>
              <a:t> </a:t>
            </a:r>
            <a:r>
              <a:rPr dirty="0" spc="-30"/>
              <a:t>Cross-</a:t>
            </a:r>
            <a:r>
              <a:rPr dirty="0" spc="-10"/>
              <a:t>Validation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361705" y="1716920"/>
            <a:ext cx="7698105" cy="4476115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278765" marR="5080" indent="-266700">
              <a:lnSpc>
                <a:spcPts val="2500"/>
              </a:lnSpc>
              <a:spcBef>
                <a:spcPts val="200"/>
              </a:spcBef>
              <a:buChar char="•"/>
              <a:tabLst>
                <a:tab pos="278765" algn="l"/>
              </a:tabLst>
            </a:pPr>
            <a:r>
              <a:rPr dirty="0" sz="2100" spc="-10">
                <a:latin typeface="Arial MT"/>
                <a:cs typeface="Arial MT"/>
              </a:rPr>
              <a:t>Normally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we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do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not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have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large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enough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number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observations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be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certain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6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characteristics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6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population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(e.g.,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mean, variance).</a:t>
            </a:r>
            <a:endParaRPr sz="2100">
              <a:latin typeface="Arial MT"/>
              <a:cs typeface="Arial MT"/>
            </a:endParaRPr>
          </a:p>
          <a:p>
            <a:pPr marL="278130" indent="-265430">
              <a:lnSpc>
                <a:spcPct val="100000"/>
              </a:lnSpc>
              <a:spcBef>
                <a:spcPts val="1205"/>
              </a:spcBef>
              <a:buFont typeface="Arial MT"/>
              <a:buChar char="•"/>
              <a:tabLst>
                <a:tab pos="278130" algn="l"/>
              </a:tabLst>
            </a:pPr>
            <a:r>
              <a:rPr dirty="0" sz="2100" b="1">
                <a:solidFill>
                  <a:srgbClr val="0070C0"/>
                </a:solidFill>
                <a:latin typeface="Arial"/>
                <a:cs typeface="Arial"/>
              </a:rPr>
              <a:t>Cross</a:t>
            </a:r>
            <a:r>
              <a:rPr dirty="0" sz="2100" spc="-80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100" spc="-30" b="1">
                <a:solidFill>
                  <a:srgbClr val="0070C0"/>
                </a:solidFill>
                <a:latin typeface="Arial"/>
                <a:cs typeface="Arial"/>
              </a:rPr>
              <a:t>Validation</a:t>
            </a:r>
            <a:r>
              <a:rPr dirty="0" sz="2100" spc="-80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0070C0"/>
                </a:solidFill>
                <a:latin typeface="Arial"/>
                <a:cs typeface="Arial"/>
              </a:rPr>
              <a:t>(CV)</a:t>
            </a:r>
            <a:r>
              <a:rPr dirty="0" sz="2100" spc="-80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resampling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procedure</a:t>
            </a:r>
            <a:endParaRPr sz="2100">
              <a:latin typeface="Arial MT"/>
              <a:cs typeface="Arial MT"/>
            </a:endParaRPr>
          </a:p>
          <a:p>
            <a:pPr algn="just" marL="278765" marR="212725" indent="-266700">
              <a:lnSpc>
                <a:spcPct val="99500"/>
              </a:lnSpc>
              <a:spcBef>
                <a:spcPts val="1190"/>
              </a:spcBef>
              <a:buChar char="•"/>
              <a:tabLst>
                <a:tab pos="278765" algn="l"/>
              </a:tabLst>
            </a:pPr>
            <a:r>
              <a:rPr dirty="0" sz="2100" spc="-20">
                <a:latin typeface="Arial MT"/>
                <a:cs typeface="Arial MT"/>
              </a:rPr>
              <a:t>commonly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used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make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best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use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available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samples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so </a:t>
            </a:r>
            <a:r>
              <a:rPr dirty="0" sz="2100">
                <a:solidFill>
                  <a:srgbClr val="7030A0"/>
                </a:solidFill>
                <a:latin typeface="Arial MT"/>
                <a:cs typeface="Arial MT"/>
              </a:rPr>
              <a:t>the</a:t>
            </a:r>
            <a:r>
              <a:rPr dirty="0" sz="2100" spc="-95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7030A0"/>
                </a:solidFill>
                <a:latin typeface="Arial MT"/>
                <a:cs typeface="Arial MT"/>
              </a:rPr>
              <a:t>learned</a:t>
            </a:r>
            <a:r>
              <a:rPr dirty="0" sz="2100" spc="-95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7030A0"/>
                </a:solidFill>
                <a:latin typeface="Arial MT"/>
                <a:cs typeface="Arial MT"/>
              </a:rPr>
              <a:t>model</a:t>
            </a:r>
            <a:r>
              <a:rPr dirty="0" sz="2100" spc="-75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7030A0"/>
                </a:solidFill>
                <a:latin typeface="Arial MT"/>
                <a:cs typeface="Arial MT"/>
              </a:rPr>
              <a:t>will</a:t>
            </a:r>
            <a:r>
              <a:rPr dirty="0" sz="2100" spc="-75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7030A0"/>
                </a:solidFill>
                <a:latin typeface="Arial MT"/>
                <a:cs typeface="Arial MT"/>
              </a:rPr>
              <a:t>represent</a:t>
            </a:r>
            <a:r>
              <a:rPr dirty="0" sz="2100" spc="-9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7030A0"/>
                </a:solidFill>
                <a:latin typeface="Arial MT"/>
                <a:cs typeface="Arial MT"/>
              </a:rPr>
              <a:t>the</a:t>
            </a:r>
            <a:r>
              <a:rPr dirty="0" sz="2100" spc="-95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7030A0"/>
                </a:solidFill>
                <a:latin typeface="Arial MT"/>
                <a:cs typeface="Arial MT"/>
              </a:rPr>
              <a:t>true</a:t>
            </a:r>
            <a:r>
              <a:rPr dirty="0" sz="2100" spc="-95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7030A0"/>
                </a:solidFill>
                <a:latin typeface="Arial MT"/>
                <a:cs typeface="Arial MT"/>
              </a:rPr>
              <a:t>population</a:t>
            </a:r>
            <a:r>
              <a:rPr dirty="0" sz="2100" spc="-9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7030A0"/>
                </a:solidFill>
                <a:latin typeface="Arial MT"/>
                <a:cs typeface="Arial MT"/>
              </a:rPr>
              <a:t>as</a:t>
            </a:r>
            <a:r>
              <a:rPr dirty="0" sz="2100" spc="-9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7030A0"/>
                </a:solidFill>
                <a:latin typeface="Arial MT"/>
                <a:cs typeface="Arial MT"/>
              </a:rPr>
              <a:t>closely </a:t>
            </a:r>
            <a:r>
              <a:rPr dirty="0" sz="2100">
                <a:solidFill>
                  <a:srgbClr val="7030A0"/>
                </a:solidFill>
                <a:latin typeface="Arial MT"/>
                <a:cs typeface="Arial MT"/>
              </a:rPr>
              <a:t>as</a:t>
            </a:r>
            <a:r>
              <a:rPr dirty="0" sz="2100" spc="-5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7030A0"/>
                </a:solidFill>
                <a:latin typeface="Arial MT"/>
                <a:cs typeface="Arial MT"/>
              </a:rPr>
              <a:t>possible</a:t>
            </a:r>
            <a:r>
              <a:rPr dirty="0" sz="2100" spc="-10">
                <a:latin typeface="Arial MT"/>
                <a:cs typeface="Arial MT"/>
              </a:rPr>
              <a:t>.</a:t>
            </a:r>
            <a:endParaRPr sz="2100">
              <a:latin typeface="Arial MT"/>
              <a:cs typeface="Arial MT"/>
            </a:endParaRPr>
          </a:p>
          <a:p>
            <a:pPr lvl="1" marL="899160" marR="219710" indent="-177800">
              <a:lnSpc>
                <a:spcPts val="2500"/>
              </a:lnSpc>
              <a:spcBef>
                <a:spcPts val="1375"/>
              </a:spcBef>
              <a:buChar char="•"/>
              <a:tabLst>
                <a:tab pos="899160" algn="l"/>
              </a:tabLst>
            </a:pPr>
            <a:r>
              <a:rPr dirty="0" sz="2100">
                <a:latin typeface="Arial MT"/>
                <a:cs typeface="Arial MT"/>
              </a:rPr>
              <a:t>As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usual,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original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sample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partitioned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into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training </a:t>
            </a:r>
            <a:r>
              <a:rPr dirty="0" sz="2100">
                <a:latin typeface="Arial MT"/>
                <a:cs typeface="Arial MT"/>
              </a:rPr>
              <a:t>set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train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model,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and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test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set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evaluate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it.</a:t>
            </a:r>
            <a:endParaRPr sz="2100">
              <a:latin typeface="Arial MT"/>
              <a:cs typeface="Arial MT"/>
            </a:endParaRPr>
          </a:p>
          <a:p>
            <a:pPr lvl="1" marL="899160" marR="177165" indent="-177800">
              <a:lnSpc>
                <a:spcPct val="99500"/>
              </a:lnSpc>
              <a:spcBef>
                <a:spcPts val="1105"/>
              </a:spcBef>
              <a:buChar char="•"/>
              <a:tabLst>
                <a:tab pos="899160" algn="l"/>
              </a:tabLst>
            </a:pPr>
            <a:r>
              <a:rPr dirty="0" sz="2100" spc="-25">
                <a:latin typeface="Arial MT"/>
                <a:cs typeface="Arial MT"/>
              </a:rPr>
              <a:t>However,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for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 spc="-30">
                <a:latin typeface="Arial MT"/>
                <a:cs typeface="Arial MT"/>
              </a:rPr>
              <a:t>cross-</a:t>
            </a:r>
            <a:r>
              <a:rPr dirty="0" sz="2100" spc="-10">
                <a:latin typeface="Arial MT"/>
                <a:cs typeface="Arial MT"/>
              </a:rPr>
              <a:t>validation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070C0"/>
                </a:solidFill>
                <a:latin typeface="Arial MT"/>
                <a:cs typeface="Arial MT"/>
              </a:rPr>
              <a:t>the</a:t>
            </a:r>
            <a:r>
              <a:rPr dirty="0" sz="2100" spc="-65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0070C0"/>
                </a:solidFill>
                <a:latin typeface="Arial MT"/>
                <a:cs typeface="Arial MT"/>
              </a:rPr>
              <a:t>training</a:t>
            </a:r>
            <a:r>
              <a:rPr dirty="0" sz="2100" spc="-70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070C0"/>
                </a:solidFill>
                <a:latin typeface="Arial MT"/>
                <a:cs typeface="Arial MT"/>
              </a:rPr>
              <a:t>set</a:t>
            </a:r>
            <a:r>
              <a:rPr dirty="0" sz="2100" spc="-65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070C0"/>
                </a:solidFill>
                <a:latin typeface="Arial MT"/>
                <a:cs typeface="Arial MT"/>
              </a:rPr>
              <a:t>is</a:t>
            </a:r>
            <a:r>
              <a:rPr dirty="0" sz="2100" spc="-65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0070C0"/>
                </a:solidFill>
                <a:latin typeface="Arial MT"/>
                <a:cs typeface="Arial MT"/>
              </a:rPr>
              <a:t>iteratively partitioned</a:t>
            </a:r>
            <a:r>
              <a:rPr dirty="0" sz="2100" spc="-90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070C0"/>
                </a:solidFill>
                <a:latin typeface="Arial MT"/>
                <a:cs typeface="Arial MT"/>
              </a:rPr>
              <a:t>into</a:t>
            </a:r>
            <a:r>
              <a:rPr dirty="0" sz="2100" spc="-90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070C0"/>
                </a:solidFill>
                <a:latin typeface="Arial MT"/>
                <a:cs typeface="Arial MT"/>
              </a:rPr>
              <a:t>train</a:t>
            </a:r>
            <a:r>
              <a:rPr dirty="0" sz="2100" spc="-90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070C0"/>
                </a:solidFill>
                <a:latin typeface="Arial MT"/>
                <a:cs typeface="Arial MT"/>
              </a:rPr>
              <a:t>and</a:t>
            </a:r>
            <a:r>
              <a:rPr dirty="0" sz="2100" spc="-90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070C0"/>
                </a:solidFill>
                <a:latin typeface="Arial MT"/>
                <a:cs typeface="Arial MT"/>
              </a:rPr>
              <a:t>test</a:t>
            </a:r>
            <a:r>
              <a:rPr dirty="0" sz="2100" spc="-85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070C0"/>
                </a:solidFill>
                <a:latin typeface="Arial MT"/>
                <a:cs typeface="Arial MT"/>
              </a:rPr>
              <a:t>sets</a:t>
            </a:r>
            <a:r>
              <a:rPr dirty="0" sz="2100" spc="-95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provide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further </a:t>
            </a:r>
            <a:r>
              <a:rPr dirty="0" sz="2100" spc="-20">
                <a:latin typeface="Arial MT"/>
                <a:cs typeface="Arial MT"/>
              </a:rPr>
              <a:t>comparisons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and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avoid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need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for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validation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set</a:t>
            </a:r>
            <a:endParaRPr sz="2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 i="1">
                <a:latin typeface="Arial"/>
                <a:cs typeface="Arial"/>
              </a:rPr>
              <a:t>k</a:t>
            </a:r>
            <a:r>
              <a:rPr dirty="0" spc="-10"/>
              <a:t>-</a:t>
            </a:r>
            <a:r>
              <a:rPr dirty="0"/>
              <a:t>fold</a:t>
            </a:r>
            <a:r>
              <a:rPr dirty="0" spc="-65"/>
              <a:t> </a:t>
            </a:r>
            <a:r>
              <a:rPr dirty="0" spc="-25"/>
              <a:t>CV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427625" y="1841554"/>
            <a:ext cx="7783830" cy="5048885"/>
            <a:chOff x="1427625" y="1841554"/>
            <a:chExt cx="7783830" cy="504888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27625" y="1841554"/>
              <a:ext cx="7105980" cy="5048390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6459555" y="2895992"/>
              <a:ext cx="2745105" cy="1398270"/>
            </a:xfrm>
            <a:custGeom>
              <a:avLst/>
              <a:gdLst/>
              <a:ahLst/>
              <a:cxnLst/>
              <a:rect l="l" t="t" r="r" b="b"/>
              <a:pathLst>
                <a:path w="2745104" h="1398270">
                  <a:moveTo>
                    <a:pt x="0" y="0"/>
                  </a:moveTo>
                  <a:lnTo>
                    <a:pt x="1400542" y="775976"/>
                  </a:lnTo>
                  <a:lnTo>
                    <a:pt x="1400542" y="1220196"/>
                  </a:lnTo>
                  <a:lnTo>
                    <a:pt x="1406886" y="1267435"/>
                  </a:lnTo>
                  <a:lnTo>
                    <a:pt x="1424791" y="1309882"/>
                  </a:lnTo>
                  <a:lnTo>
                    <a:pt x="1452563" y="1345845"/>
                  </a:lnTo>
                  <a:lnTo>
                    <a:pt x="1488510" y="1373630"/>
                  </a:lnTo>
                  <a:lnTo>
                    <a:pt x="1530938" y="1391542"/>
                  </a:lnTo>
                  <a:lnTo>
                    <a:pt x="1578155" y="1397890"/>
                  </a:lnTo>
                  <a:lnTo>
                    <a:pt x="2567456" y="1397890"/>
                  </a:lnTo>
                  <a:lnTo>
                    <a:pt x="2614672" y="1391542"/>
                  </a:lnTo>
                  <a:lnTo>
                    <a:pt x="2657101" y="1373630"/>
                  </a:lnTo>
                  <a:lnTo>
                    <a:pt x="2693047" y="1345845"/>
                  </a:lnTo>
                  <a:lnTo>
                    <a:pt x="2720820" y="1309882"/>
                  </a:lnTo>
                  <a:lnTo>
                    <a:pt x="2738724" y="1267435"/>
                  </a:lnTo>
                  <a:lnTo>
                    <a:pt x="2745069" y="1220196"/>
                  </a:lnTo>
                  <a:lnTo>
                    <a:pt x="2745069" y="509442"/>
                  </a:lnTo>
                  <a:lnTo>
                    <a:pt x="1400549" y="509442"/>
                  </a:lnTo>
                  <a:lnTo>
                    <a:pt x="0" y="0"/>
                  </a:lnTo>
                  <a:close/>
                </a:path>
                <a:path w="2745104" h="1398270">
                  <a:moveTo>
                    <a:pt x="2567456" y="331750"/>
                  </a:moveTo>
                  <a:lnTo>
                    <a:pt x="1578155" y="331750"/>
                  </a:lnTo>
                  <a:lnTo>
                    <a:pt x="1530938" y="338097"/>
                  </a:lnTo>
                  <a:lnTo>
                    <a:pt x="1488510" y="356010"/>
                  </a:lnTo>
                  <a:lnTo>
                    <a:pt x="1452563" y="383795"/>
                  </a:lnTo>
                  <a:lnTo>
                    <a:pt x="1424791" y="419758"/>
                  </a:lnTo>
                  <a:lnTo>
                    <a:pt x="1406886" y="462205"/>
                  </a:lnTo>
                  <a:lnTo>
                    <a:pt x="1400542" y="509442"/>
                  </a:lnTo>
                  <a:lnTo>
                    <a:pt x="2745069" y="509442"/>
                  </a:lnTo>
                  <a:lnTo>
                    <a:pt x="2738724" y="462205"/>
                  </a:lnTo>
                  <a:lnTo>
                    <a:pt x="2720820" y="419758"/>
                  </a:lnTo>
                  <a:lnTo>
                    <a:pt x="2693047" y="383795"/>
                  </a:lnTo>
                  <a:lnTo>
                    <a:pt x="2657101" y="356010"/>
                  </a:lnTo>
                  <a:lnTo>
                    <a:pt x="2614672" y="338097"/>
                  </a:lnTo>
                  <a:lnTo>
                    <a:pt x="2567456" y="331750"/>
                  </a:lnTo>
                  <a:close/>
                </a:path>
              </a:pathLst>
            </a:custGeom>
            <a:solidFill>
              <a:srgbClr val="BBE0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459555" y="2895992"/>
              <a:ext cx="2745105" cy="1398270"/>
            </a:xfrm>
            <a:custGeom>
              <a:avLst/>
              <a:gdLst/>
              <a:ahLst/>
              <a:cxnLst/>
              <a:rect l="l" t="t" r="r" b="b"/>
              <a:pathLst>
                <a:path w="2745104" h="1398270">
                  <a:moveTo>
                    <a:pt x="1400541" y="509443"/>
                  </a:moveTo>
                  <a:lnTo>
                    <a:pt x="1406886" y="462205"/>
                  </a:lnTo>
                  <a:lnTo>
                    <a:pt x="1424791" y="419758"/>
                  </a:lnTo>
                  <a:lnTo>
                    <a:pt x="1452563" y="383795"/>
                  </a:lnTo>
                  <a:lnTo>
                    <a:pt x="1488510" y="356010"/>
                  </a:lnTo>
                  <a:lnTo>
                    <a:pt x="1530938" y="338097"/>
                  </a:lnTo>
                  <a:lnTo>
                    <a:pt x="1578155" y="331750"/>
                  </a:lnTo>
                  <a:lnTo>
                    <a:pt x="1624630" y="331750"/>
                  </a:lnTo>
                  <a:lnTo>
                    <a:pt x="1960762" y="331750"/>
                  </a:lnTo>
                  <a:lnTo>
                    <a:pt x="2567457" y="331750"/>
                  </a:lnTo>
                  <a:lnTo>
                    <a:pt x="2614673" y="338097"/>
                  </a:lnTo>
                  <a:lnTo>
                    <a:pt x="2657101" y="356010"/>
                  </a:lnTo>
                  <a:lnTo>
                    <a:pt x="2693048" y="383795"/>
                  </a:lnTo>
                  <a:lnTo>
                    <a:pt x="2720820" y="419758"/>
                  </a:lnTo>
                  <a:lnTo>
                    <a:pt x="2738725" y="462205"/>
                  </a:lnTo>
                  <a:lnTo>
                    <a:pt x="2745070" y="509443"/>
                  </a:lnTo>
                  <a:lnTo>
                    <a:pt x="2745070" y="775976"/>
                  </a:lnTo>
                  <a:lnTo>
                    <a:pt x="2745070" y="1220197"/>
                  </a:lnTo>
                  <a:lnTo>
                    <a:pt x="2738725" y="1267435"/>
                  </a:lnTo>
                  <a:lnTo>
                    <a:pt x="2720820" y="1309882"/>
                  </a:lnTo>
                  <a:lnTo>
                    <a:pt x="2693048" y="1345845"/>
                  </a:lnTo>
                  <a:lnTo>
                    <a:pt x="2657101" y="1373630"/>
                  </a:lnTo>
                  <a:lnTo>
                    <a:pt x="2614673" y="1391543"/>
                  </a:lnTo>
                  <a:lnTo>
                    <a:pt x="2567457" y="1397890"/>
                  </a:lnTo>
                  <a:lnTo>
                    <a:pt x="1960762" y="1397890"/>
                  </a:lnTo>
                  <a:lnTo>
                    <a:pt x="1624630" y="1397890"/>
                  </a:lnTo>
                  <a:lnTo>
                    <a:pt x="1578155" y="1397890"/>
                  </a:lnTo>
                  <a:lnTo>
                    <a:pt x="1530938" y="1391543"/>
                  </a:lnTo>
                  <a:lnTo>
                    <a:pt x="1488510" y="1373630"/>
                  </a:lnTo>
                  <a:lnTo>
                    <a:pt x="1452563" y="1345845"/>
                  </a:lnTo>
                  <a:lnTo>
                    <a:pt x="1424791" y="1309882"/>
                  </a:lnTo>
                  <a:lnTo>
                    <a:pt x="1406886" y="1267435"/>
                  </a:lnTo>
                  <a:lnTo>
                    <a:pt x="1400541" y="1220197"/>
                  </a:lnTo>
                  <a:lnTo>
                    <a:pt x="1400541" y="775976"/>
                  </a:lnTo>
                  <a:lnTo>
                    <a:pt x="0" y="0"/>
                  </a:lnTo>
                  <a:lnTo>
                    <a:pt x="1400541" y="509440"/>
                  </a:lnTo>
                  <a:close/>
                </a:path>
              </a:pathLst>
            </a:custGeom>
            <a:ln w="131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7998391" y="3302907"/>
            <a:ext cx="1069340" cy="8851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L="12065" marR="5080" indent="-635">
              <a:lnSpc>
                <a:spcPct val="98400"/>
              </a:lnSpc>
              <a:spcBef>
                <a:spcPts val="135"/>
              </a:spcBef>
            </a:pPr>
            <a:r>
              <a:rPr dirty="0" sz="1900" spc="-10">
                <a:latin typeface="Arial MT"/>
                <a:cs typeface="Arial MT"/>
              </a:rPr>
              <a:t>Initial </a:t>
            </a:r>
            <a:r>
              <a:rPr dirty="0" sz="1900" spc="-45">
                <a:latin typeface="Arial MT"/>
                <a:cs typeface="Arial MT"/>
              </a:rPr>
              <a:t>Train-</a:t>
            </a:r>
            <a:r>
              <a:rPr dirty="0" sz="1900" spc="-75">
                <a:latin typeface="Arial MT"/>
                <a:cs typeface="Arial MT"/>
              </a:rPr>
              <a:t>Test </a:t>
            </a:r>
            <a:r>
              <a:rPr dirty="0" sz="1900" spc="-20">
                <a:latin typeface="Arial MT"/>
                <a:cs typeface="Arial MT"/>
              </a:rPr>
              <a:t>Split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823100" y="388539"/>
            <a:ext cx="48152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 MT"/>
                <a:cs typeface="Arial MT"/>
              </a:rPr>
              <a:t>https://scikit-</a:t>
            </a:r>
            <a:r>
              <a:rPr dirty="0" sz="1400" spc="-10">
                <a:latin typeface="Arial MT"/>
                <a:cs typeface="Arial MT"/>
              </a:rPr>
              <a:t>learn.org/stable/modules/cross_validation.html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38566" rIns="0" bIns="0" rtlCol="0" vert="horz">
            <a:spAutoFit/>
          </a:bodyPr>
          <a:lstStyle/>
          <a:p>
            <a:pPr marL="2001520">
              <a:lnSpc>
                <a:spcPct val="100000"/>
              </a:lnSpc>
              <a:spcBef>
                <a:spcPts val="100"/>
              </a:spcBef>
            </a:pPr>
            <a:r>
              <a:rPr dirty="0" spc="-10" i="1">
                <a:latin typeface="Arial"/>
                <a:cs typeface="Arial"/>
              </a:rPr>
              <a:t>k</a:t>
            </a:r>
            <a:r>
              <a:rPr dirty="0" spc="-10"/>
              <a:t>-</a:t>
            </a:r>
            <a:r>
              <a:rPr dirty="0"/>
              <a:t>Fold</a:t>
            </a:r>
            <a:r>
              <a:rPr dirty="0" spc="-90"/>
              <a:t> </a:t>
            </a:r>
            <a:r>
              <a:rPr dirty="0"/>
              <a:t>Cross</a:t>
            </a:r>
            <a:r>
              <a:rPr dirty="0" spc="-85"/>
              <a:t> </a:t>
            </a:r>
            <a:r>
              <a:rPr dirty="0" spc="-10"/>
              <a:t>Validation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143357" y="1863224"/>
            <a:ext cx="8173720" cy="4399915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algn="just" marL="63500" marR="187960" indent="-6350">
              <a:lnSpc>
                <a:spcPts val="2500"/>
              </a:lnSpc>
              <a:spcBef>
                <a:spcPts val="200"/>
              </a:spcBef>
              <a:buSzPct val="95238"/>
              <a:buAutoNum type="alphaLcPeriod" startAt="11"/>
              <a:tabLst>
                <a:tab pos="280670" algn="l"/>
              </a:tabLst>
            </a:pPr>
            <a:r>
              <a:rPr dirty="0" sz="2100">
                <a:latin typeface="Arial MT"/>
                <a:cs typeface="Arial MT"/>
              </a:rPr>
              <a:t>	</a:t>
            </a:r>
            <a:r>
              <a:rPr dirty="0" sz="2100">
                <a:latin typeface="Arial MT"/>
                <a:cs typeface="Arial MT"/>
              </a:rPr>
              <a:t>Fold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divides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all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samples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into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b="1">
                <a:solidFill>
                  <a:srgbClr val="FF0000"/>
                </a:solidFill>
                <a:latin typeface="Arial"/>
                <a:cs typeface="Arial"/>
              </a:rPr>
              <a:t>k</a:t>
            </a:r>
            <a:r>
              <a:rPr dirty="0" sz="2100" spc="-8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100">
                <a:latin typeface="Arial MT"/>
                <a:cs typeface="Arial MT"/>
              </a:rPr>
              <a:t>groups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samples,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called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FF0000"/>
                </a:solidFill>
                <a:latin typeface="Arial MT"/>
                <a:cs typeface="Arial MT"/>
              </a:rPr>
              <a:t>folds</a:t>
            </a:r>
            <a:r>
              <a:rPr dirty="0" sz="2100" spc="-10">
                <a:latin typeface="Arial MT"/>
                <a:cs typeface="Arial MT"/>
              </a:rPr>
              <a:t>.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prediction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function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learned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using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35">
                <a:solidFill>
                  <a:srgbClr val="C00000"/>
                </a:solidFill>
                <a:latin typeface="Arial MT"/>
                <a:cs typeface="Arial MT"/>
              </a:rPr>
              <a:t>k-</a:t>
            </a:r>
            <a:r>
              <a:rPr dirty="0" sz="2100">
                <a:solidFill>
                  <a:srgbClr val="C00000"/>
                </a:solidFill>
                <a:latin typeface="Arial MT"/>
                <a:cs typeface="Arial MT"/>
              </a:rPr>
              <a:t>1</a:t>
            </a:r>
            <a:r>
              <a:rPr dirty="0" sz="2100" spc="-8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folds,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and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remaining </a:t>
            </a:r>
            <a:r>
              <a:rPr dirty="0" sz="2100">
                <a:latin typeface="Arial MT"/>
                <a:cs typeface="Arial MT"/>
              </a:rPr>
              <a:t>fold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used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as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test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set.</a:t>
            </a:r>
            <a:endParaRPr sz="2100">
              <a:latin typeface="Arial MT"/>
              <a:cs typeface="Arial MT"/>
            </a:endParaRPr>
          </a:p>
          <a:p>
            <a:pPr algn="just" marL="640080" marR="495300" indent="-222250">
              <a:lnSpc>
                <a:spcPts val="2500"/>
              </a:lnSpc>
              <a:spcBef>
                <a:spcPts val="705"/>
              </a:spcBef>
            </a:pPr>
            <a:r>
              <a:rPr dirty="0" sz="2100">
                <a:solidFill>
                  <a:srgbClr val="FF0000"/>
                </a:solidFill>
                <a:latin typeface="Arial MT"/>
                <a:cs typeface="Arial MT"/>
              </a:rPr>
              <a:t>–</a:t>
            </a:r>
            <a:r>
              <a:rPr dirty="0" sz="2100" spc="52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100" b="1">
                <a:solidFill>
                  <a:srgbClr val="FF0000"/>
                </a:solidFill>
                <a:latin typeface="Arial"/>
                <a:cs typeface="Arial"/>
              </a:rPr>
              <a:t>k</a:t>
            </a:r>
            <a:r>
              <a:rPr dirty="0" sz="2100" spc="-5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5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typically</a:t>
            </a:r>
            <a:r>
              <a:rPr dirty="0" sz="2100" spc="-5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3,</a:t>
            </a:r>
            <a:r>
              <a:rPr dirty="0" sz="2100" spc="-5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5</a:t>
            </a:r>
            <a:r>
              <a:rPr dirty="0" sz="2100" spc="-5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or</a:t>
            </a:r>
            <a:r>
              <a:rPr dirty="0" sz="2100" spc="-5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10</a:t>
            </a:r>
            <a:r>
              <a:rPr dirty="0" sz="2100" spc="-5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for</a:t>
            </a:r>
            <a:r>
              <a:rPr dirty="0" sz="2100" spc="-5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5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balance</a:t>
            </a:r>
            <a:r>
              <a:rPr dirty="0" sz="2100" spc="-5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between</a:t>
            </a:r>
            <a:r>
              <a:rPr dirty="0" sz="2100" spc="-5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computational complexity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and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validation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accuracy</a:t>
            </a:r>
            <a:endParaRPr sz="2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2100">
              <a:latin typeface="Arial MT"/>
              <a:cs typeface="Arial MT"/>
            </a:endParaRPr>
          </a:p>
          <a:p>
            <a:pPr lvl="1" marL="535940" indent="-472440">
              <a:lnSpc>
                <a:spcPct val="100000"/>
              </a:lnSpc>
              <a:buAutoNum type="arabicPeriod"/>
              <a:tabLst>
                <a:tab pos="535940" algn="l"/>
              </a:tabLst>
            </a:pP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model</a:t>
            </a:r>
            <a:r>
              <a:rPr dirty="0" sz="2100" spc="-6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trained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using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35">
                <a:solidFill>
                  <a:srgbClr val="C00000"/>
                </a:solidFill>
                <a:latin typeface="Arial MT"/>
                <a:cs typeface="Arial MT"/>
              </a:rPr>
              <a:t>k-</a:t>
            </a:r>
            <a:r>
              <a:rPr dirty="0" sz="2100">
                <a:solidFill>
                  <a:srgbClr val="C00000"/>
                </a:solidFill>
                <a:latin typeface="Arial MT"/>
                <a:cs typeface="Arial MT"/>
              </a:rPr>
              <a:t>1</a:t>
            </a:r>
            <a:r>
              <a:rPr dirty="0" sz="2100" spc="-8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folds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as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training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data</a:t>
            </a:r>
            <a:endParaRPr sz="2100">
              <a:latin typeface="Arial MT"/>
              <a:cs typeface="Arial MT"/>
            </a:endParaRPr>
          </a:p>
          <a:p>
            <a:pPr lvl="1" marL="417830" indent="-354965">
              <a:lnSpc>
                <a:spcPct val="100000"/>
              </a:lnSpc>
              <a:spcBef>
                <a:spcPts val="1175"/>
              </a:spcBef>
              <a:buAutoNum type="arabicPeriod"/>
              <a:tabLst>
                <a:tab pos="417830" algn="l"/>
                <a:tab pos="535940" algn="l"/>
              </a:tabLst>
            </a:pPr>
            <a:r>
              <a:rPr dirty="0" sz="2100">
                <a:latin typeface="Arial MT"/>
                <a:cs typeface="Arial MT"/>
              </a:rPr>
              <a:t>	The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resulting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model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validated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on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remaining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part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data</a:t>
            </a:r>
            <a:endParaRPr sz="2100">
              <a:latin typeface="Arial MT"/>
              <a:cs typeface="Arial MT"/>
            </a:endParaRPr>
          </a:p>
          <a:p>
            <a:pPr marL="640080" marR="135890" indent="-222250">
              <a:lnSpc>
                <a:spcPts val="2500"/>
              </a:lnSpc>
              <a:spcBef>
                <a:spcPts val="800"/>
              </a:spcBef>
            </a:pPr>
            <a:r>
              <a:rPr dirty="0" sz="2100">
                <a:latin typeface="Arial MT"/>
                <a:cs typeface="Arial MT"/>
              </a:rPr>
              <a:t>–</a:t>
            </a:r>
            <a:r>
              <a:rPr dirty="0" sz="2100" spc="-4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It</a:t>
            </a:r>
            <a:r>
              <a:rPr dirty="0" sz="2100" spc="-6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6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used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as</a:t>
            </a:r>
            <a:r>
              <a:rPr dirty="0" sz="2100" spc="-6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test</a:t>
            </a:r>
            <a:r>
              <a:rPr dirty="0" sz="2100" spc="-6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set</a:t>
            </a:r>
            <a:r>
              <a:rPr dirty="0" sz="2100" spc="-6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compute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performance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measure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such </a:t>
            </a:r>
            <a:r>
              <a:rPr dirty="0" sz="2100">
                <a:latin typeface="Arial MT"/>
                <a:cs typeface="Arial MT"/>
              </a:rPr>
              <a:t>as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accuracy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for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classification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or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i="1">
                <a:latin typeface="Arial"/>
                <a:cs typeface="Arial"/>
              </a:rPr>
              <a:t>r</a:t>
            </a:r>
            <a:r>
              <a:rPr dirty="0" baseline="23809" sz="2100" i="1">
                <a:latin typeface="Arial"/>
                <a:cs typeface="Arial"/>
              </a:rPr>
              <a:t>2</a:t>
            </a:r>
            <a:r>
              <a:rPr dirty="0" baseline="23809" sz="2100" spc="187" i="1">
                <a:latin typeface="Arial"/>
                <a:cs typeface="Arial"/>
              </a:rPr>
              <a:t> </a:t>
            </a:r>
            <a:r>
              <a:rPr dirty="0" sz="2100">
                <a:latin typeface="Arial MT"/>
                <a:cs typeface="Arial MT"/>
              </a:rPr>
              <a:t>for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regression</a:t>
            </a:r>
            <a:endParaRPr sz="2100">
              <a:latin typeface="Arial MT"/>
              <a:cs typeface="Arial MT"/>
            </a:endParaRPr>
          </a:p>
          <a:p>
            <a:pPr lvl="1" marL="535940" marR="259079" indent="-473075">
              <a:lnSpc>
                <a:spcPct val="100000"/>
              </a:lnSpc>
              <a:spcBef>
                <a:spcPts val="1090"/>
              </a:spcBef>
              <a:buAutoNum type="arabicPeriod" startAt="3"/>
              <a:tabLst>
                <a:tab pos="535940" algn="l"/>
              </a:tabLst>
            </a:pP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performance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measure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reported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by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 spc="-40">
                <a:latin typeface="Arial MT"/>
                <a:cs typeface="Arial MT"/>
              </a:rPr>
              <a:t>k-</a:t>
            </a:r>
            <a:r>
              <a:rPr dirty="0" sz="2100">
                <a:latin typeface="Arial MT"/>
                <a:cs typeface="Arial MT"/>
              </a:rPr>
              <a:t>fold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 spc="-30">
                <a:latin typeface="Arial MT"/>
                <a:cs typeface="Arial MT"/>
              </a:rPr>
              <a:t>cross-</a:t>
            </a:r>
            <a:r>
              <a:rPr dirty="0" sz="2100" spc="-10">
                <a:latin typeface="Arial MT"/>
                <a:cs typeface="Arial MT"/>
              </a:rPr>
              <a:t>validation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is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average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values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computed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in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loop.</a:t>
            </a:r>
            <a:endParaRPr sz="2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9260" y="2204135"/>
            <a:ext cx="4269789" cy="28750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12232" rIns="0" bIns="0" rtlCol="0" vert="horz">
            <a:spAutoFit/>
          </a:bodyPr>
          <a:lstStyle/>
          <a:p>
            <a:pPr marL="1205865">
              <a:lnSpc>
                <a:spcPct val="100000"/>
              </a:lnSpc>
              <a:spcBef>
                <a:spcPts val="100"/>
              </a:spcBef>
            </a:pPr>
            <a:r>
              <a:rPr dirty="0" sz="2700" spc="-20" i="1">
                <a:latin typeface="Arial"/>
                <a:cs typeface="Arial"/>
              </a:rPr>
              <a:t>K</a:t>
            </a:r>
            <a:r>
              <a:rPr dirty="0" sz="2700" spc="-20"/>
              <a:t>-</a:t>
            </a:r>
            <a:r>
              <a:rPr dirty="0" sz="2700"/>
              <a:t>fold</a:t>
            </a:r>
            <a:r>
              <a:rPr dirty="0" sz="2700" spc="-85"/>
              <a:t> </a:t>
            </a:r>
            <a:r>
              <a:rPr dirty="0" sz="2700"/>
              <a:t>Cross</a:t>
            </a:r>
            <a:r>
              <a:rPr dirty="0" sz="2700" spc="-75"/>
              <a:t> </a:t>
            </a:r>
            <a:r>
              <a:rPr dirty="0" sz="2700" spc="-10"/>
              <a:t>Validation</a:t>
            </a:r>
            <a:r>
              <a:rPr dirty="0" sz="2700" spc="-70"/>
              <a:t> </a:t>
            </a:r>
            <a:r>
              <a:rPr dirty="0" sz="2700" spc="-10"/>
              <a:t>Example</a:t>
            </a:r>
            <a:endParaRPr sz="27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446524" y="2101111"/>
            <a:ext cx="3991610" cy="3073400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algn="just" marL="546100" indent="-533400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546100" algn="l"/>
              </a:tabLst>
            </a:pPr>
            <a:r>
              <a:rPr dirty="0" sz="2100">
                <a:latin typeface="Arial MT"/>
                <a:cs typeface="Arial MT"/>
              </a:rPr>
              <a:t>Split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data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into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5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samples</a:t>
            </a:r>
            <a:endParaRPr sz="2100">
              <a:latin typeface="Arial MT"/>
              <a:cs typeface="Arial MT"/>
            </a:endParaRPr>
          </a:p>
          <a:p>
            <a:pPr algn="just" marL="544830" marR="476250" indent="-532765">
              <a:lnSpc>
                <a:spcPts val="2500"/>
              </a:lnSpc>
              <a:spcBef>
                <a:spcPts val="580"/>
              </a:spcBef>
              <a:buAutoNum type="arabicPeriod"/>
              <a:tabLst>
                <a:tab pos="544830" algn="l"/>
              </a:tabLst>
            </a:pPr>
            <a:r>
              <a:rPr dirty="0" sz="2100">
                <a:latin typeface="Arial MT"/>
                <a:cs typeface="Arial MT"/>
              </a:rPr>
              <a:t>Fit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model</a:t>
            </a:r>
            <a:r>
              <a:rPr dirty="0" sz="2100" spc="-6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training samples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and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use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test </a:t>
            </a:r>
            <a:r>
              <a:rPr dirty="0" sz="2100" spc="-10">
                <a:latin typeface="Arial MT"/>
                <a:cs typeface="Arial MT"/>
              </a:rPr>
              <a:t>sample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calculate</a:t>
            </a:r>
            <a:r>
              <a:rPr dirty="0" sz="2100" spc="-6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CV </a:t>
            </a:r>
            <a:r>
              <a:rPr dirty="0" sz="2100" spc="-10">
                <a:latin typeface="Arial MT"/>
                <a:cs typeface="Arial MT"/>
              </a:rPr>
              <a:t>metric.</a:t>
            </a:r>
            <a:endParaRPr sz="2100">
              <a:latin typeface="Arial MT"/>
              <a:cs typeface="Arial MT"/>
            </a:endParaRPr>
          </a:p>
          <a:p>
            <a:pPr marL="544830" marR="5080" indent="-532765">
              <a:lnSpc>
                <a:spcPct val="99400"/>
              </a:lnSpc>
              <a:spcBef>
                <a:spcPts val="400"/>
              </a:spcBef>
              <a:buAutoNum type="arabicPeriod"/>
              <a:tabLst>
                <a:tab pos="544830" algn="l"/>
              </a:tabLst>
            </a:pPr>
            <a:r>
              <a:rPr dirty="0" sz="2100">
                <a:latin typeface="Arial MT"/>
                <a:cs typeface="Arial MT"/>
              </a:rPr>
              <a:t>Repeat</a:t>
            </a:r>
            <a:r>
              <a:rPr dirty="0" sz="2100" spc="-10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10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process</a:t>
            </a:r>
            <a:r>
              <a:rPr dirty="0" sz="2100" spc="-10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for</a:t>
            </a:r>
            <a:r>
              <a:rPr dirty="0" sz="2100" spc="-105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the </a:t>
            </a:r>
            <a:r>
              <a:rPr dirty="0" sz="2100">
                <a:latin typeface="Arial MT"/>
                <a:cs typeface="Arial MT"/>
              </a:rPr>
              <a:t>next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sample,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until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all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samples </a:t>
            </a:r>
            <a:r>
              <a:rPr dirty="0" sz="2100">
                <a:latin typeface="Arial MT"/>
                <a:cs typeface="Arial MT"/>
              </a:rPr>
              <a:t>have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been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used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either </a:t>
            </a:r>
            <a:r>
              <a:rPr dirty="0" sz="2100">
                <a:latin typeface="Arial MT"/>
                <a:cs typeface="Arial MT"/>
              </a:rPr>
              <a:t>train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or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test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model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253694" y="5454795"/>
            <a:ext cx="7484745" cy="1257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>
                <a:latin typeface="Arial MT"/>
                <a:cs typeface="Arial MT"/>
              </a:rPr>
              <a:t>The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30">
                <a:latin typeface="Arial MT"/>
                <a:cs typeface="Arial MT"/>
              </a:rPr>
              <a:t>advantages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are</a:t>
            </a:r>
            <a:endParaRPr sz="1900">
              <a:latin typeface="Arial MT"/>
              <a:cs typeface="Arial MT"/>
            </a:endParaRPr>
          </a:p>
          <a:p>
            <a:pPr marL="307975" marR="198120" indent="-295910">
              <a:lnSpc>
                <a:spcPts val="2210"/>
              </a:lnSpc>
              <a:spcBef>
                <a:spcPts val="155"/>
              </a:spcBef>
              <a:buChar char="•"/>
              <a:tabLst>
                <a:tab pos="307975" algn="l"/>
              </a:tabLst>
            </a:pPr>
            <a:r>
              <a:rPr dirty="0" sz="1900">
                <a:latin typeface="Arial MT"/>
                <a:cs typeface="Arial MT"/>
              </a:rPr>
              <a:t>all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observations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are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used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for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both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training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and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validation,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and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each </a:t>
            </a:r>
            <a:r>
              <a:rPr dirty="0" sz="1900" spc="-25">
                <a:latin typeface="Arial MT"/>
                <a:cs typeface="Arial MT"/>
              </a:rPr>
              <a:t>observation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is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used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once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for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validation</a:t>
            </a:r>
            <a:endParaRPr sz="1900">
              <a:latin typeface="Arial MT"/>
              <a:cs typeface="Arial MT"/>
            </a:endParaRPr>
          </a:p>
          <a:p>
            <a:pPr marL="307975" indent="-295275">
              <a:lnSpc>
                <a:spcPct val="100000"/>
              </a:lnSpc>
              <a:spcBef>
                <a:spcPts val="560"/>
              </a:spcBef>
              <a:buChar char="•"/>
              <a:tabLst>
                <a:tab pos="307975" algn="l"/>
              </a:tabLst>
            </a:pPr>
            <a:r>
              <a:rPr dirty="0" sz="1900">
                <a:latin typeface="Arial MT"/>
                <a:cs typeface="Arial MT"/>
              </a:rPr>
              <a:t>This</a:t>
            </a:r>
            <a:r>
              <a:rPr dirty="0" sz="1900" spc="-10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can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be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done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using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the</a:t>
            </a:r>
            <a:r>
              <a:rPr dirty="0" sz="1900" spc="-12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Train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set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from</a:t>
            </a:r>
            <a:r>
              <a:rPr dirty="0" sz="1900" spc="-10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the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original</a:t>
            </a:r>
            <a:r>
              <a:rPr dirty="0" sz="1900" spc="-110">
                <a:latin typeface="Arial MT"/>
                <a:cs typeface="Arial MT"/>
              </a:rPr>
              <a:t> </a:t>
            </a:r>
            <a:r>
              <a:rPr dirty="0" sz="1900" spc="-80">
                <a:latin typeface="Arial MT"/>
                <a:cs typeface="Arial MT"/>
              </a:rPr>
              <a:t>Test-</a:t>
            </a:r>
            <a:r>
              <a:rPr dirty="0" sz="1900" spc="-25">
                <a:latin typeface="Arial MT"/>
                <a:cs typeface="Arial MT"/>
              </a:rPr>
              <a:t>Train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split</a:t>
            </a:r>
            <a:endParaRPr sz="1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2742" rIns="0" bIns="0" rtlCol="0" vert="horz">
            <a:spAutoFit/>
          </a:bodyPr>
          <a:lstStyle/>
          <a:p>
            <a:pPr marL="283591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random_state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361705" y="1716920"/>
            <a:ext cx="7882255" cy="4399915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278765" marR="253365" indent="-266700">
              <a:lnSpc>
                <a:spcPts val="2500"/>
              </a:lnSpc>
              <a:spcBef>
                <a:spcPts val="200"/>
              </a:spcBef>
              <a:buChar char="•"/>
              <a:tabLst>
                <a:tab pos="278765" algn="l"/>
              </a:tabLst>
            </a:pPr>
            <a:r>
              <a:rPr dirty="0" sz="2100">
                <a:latin typeface="Arial MT"/>
                <a:cs typeface="Arial MT"/>
              </a:rPr>
              <a:t>Most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classifiers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make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use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randomness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during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process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of </a:t>
            </a:r>
            <a:r>
              <a:rPr dirty="0" sz="2100" spc="-20">
                <a:latin typeface="Arial MT"/>
                <a:cs typeface="Arial MT"/>
              </a:rPr>
              <a:t>constructing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model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from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training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data</a:t>
            </a:r>
            <a:endParaRPr sz="2100">
              <a:latin typeface="Arial MT"/>
              <a:cs typeface="Arial MT"/>
            </a:endParaRPr>
          </a:p>
          <a:p>
            <a:pPr marL="278765" marR="515620" indent="-266700">
              <a:lnSpc>
                <a:spcPct val="100000"/>
              </a:lnSpc>
              <a:spcBef>
                <a:spcPts val="1185"/>
              </a:spcBef>
              <a:buChar char="•"/>
              <a:tabLst>
                <a:tab pos="278765" algn="l"/>
              </a:tabLst>
            </a:pPr>
            <a:r>
              <a:rPr dirty="0" sz="2100">
                <a:latin typeface="Arial MT"/>
                <a:cs typeface="Arial MT"/>
              </a:rPr>
              <a:t>This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has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effect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fitting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different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model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each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time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same </a:t>
            </a:r>
            <a:r>
              <a:rPr dirty="0" sz="2100" spc="-10">
                <a:latin typeface="Arial MT"/>
                <a:cs typeface="Arial MT"/>
              </a:rPr>
              <a:t>algorithm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run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on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same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data.</a:t>
            </a:r>
            <a:endParaRPr sz="2100">
              <a:latin typeface="Arial MT"/>
              <a:cs typeface="Arial MT"/>
            </a:endParaRPr>
          </a:p>
          <a:p>
            <a:pPr marL="278765" marR="329565" indent="-266700">
              <a:lnSpc>
                <a:spcPts val="2500"/>
              </a:lnSpc>
              <a:spcBef>
                <a:spcPts val="1280"/>
              </a:spcBef>
              <a:buChar char="•"/>
              <a:tabLst>
                <a:tab pos="278765" algn="l"/>
              </a:tabLst>
            </a:pPr>
            <a:r>
              <a:rPr dirty="0" sz="2100">
                <a:latin typeface="Arial MT"/>
                <a:cs typeface="Arial MT"/>
              </a:rPr>
              <a:t>In</a:t>
            </a:r>
            <a:r>
              <a:rPr dirty="0" sz="2100" spc="-10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turn,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slightly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different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models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have</a:t>
            </a:r>
            <a:r>
              <a:rPr dirty="0" sz="2100" spc="-10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different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performance </a:t>
            </a:r>
            <a:r>
              <a:rPr dirty="0" sz="2100">
                <a:latin typeface="Arial MT"/>
                <a:cs typeface="Arial MT"/>
              </a:rPr>
              <a:t>when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evaluated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on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same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test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dataset.</a:t>
            </a:r>
            <a:endParaRPr sz="2100">
              <a:latin typeface="Arial MT"/>
              <a:cs typeface="Arial MT"/>
            </a:endParaRPr>
          </a:p>
          <a:p>
            <a:pPr marL="278765" marR="184150" indent="-266700">
              <a:lnSpc>
                <a:spcPct val="100000"/>
              </a:lnSpc>
              <a:spcBef>
                <a:spcPts val="1185"/>
              </a:spcBef>
              <a:buChar char="•"/>
              <a:tabLst>
                <a:tab pos="278765" algn="l"/>
              </a:tabLst>
            </a:pP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proper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name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for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this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difference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or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random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behavior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within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50">
                <a:latin typeface="Arial MT"/>
                <a:cs typeface="Arial MT"/>
              </a:rPr>
              <a:t>a </a:t>
            </a:r>
            <a:r>
              <a:rPr dirty="0" sz="2100">
                <a:latin typeface="Arial MT"/>
                <a:cs typeface="Arial MT"/>
              </a:rPr>
              <a:t>range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u="heavy" sz="2100" spc="-1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stochastic</a:t>
            </a:r>
            <a:r>
              <a:rPr dirty="0" sz="2100" spc="-10">
                <a:latin typeface="Arial MT"/>
                <a:cs typeface="Arial MT"/>
              </a:rPr>
              <a:t>.</a:t>
            </a:r>
            <a:endParaRPr sz="2100">
              <a:latin typeface="Arial MT"/>
              <a:cs typeface="Arial MT"/>
            </a:endParaRPr>
          </a:p>
          <a:p>
            <a:pPr marL="278130" indent="-265430">
              <a:lnSpc>
                <a:spcPct val="100000"/>
              </a:lnSpc>
              <a:spcBef>
                <a:spcPts val="1875"/>
              </a:spcBef>
              <a:buFont typeface="Wingdings"/>
              <a:buChar char=""/>
              <a:tabLst>
                <a:tab pos="278130" algn="l"/>
              </a:tabLst>
            </a:pPr>
            <a:r>
              <a:rPr dirty="0" sz="2100" b="1">
                <a:solidFill>
                  <a:srgbClr val="FF0000"/>
                </a:solidFill>
                <a:latin typeface="Arial"/>
                <a:cs typeface="Arial"/>
              </a:rPr>
              <a:t>Expect</a:t>
            </a:r>
            <a:r>
              <a:rPr dirty="0" sz="2100" spc="-8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dirty="0" sz="2100" spc="-8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100" spc="-20" b="1">
                <a:solidFill>
                  <a:srgbClr val="FF0000"/>
                </a:solidFill>
                <a:latin typeface="Arial"/>
                <a:cs typeface="Arial"/>
              </a:rPr>
              <a:t>performance</a:t>
            </a:r>
            <a:r>
              <a:rPr dirty="0" sz="2100" spc="-9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dirty="0" sz="2100" spc="-8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FF0000"/>
                </a:solidFill>
                <a:latin typeface="Arial"/>
                <a:cs typeface="Arial"/>
              </a:rPr>
              <a:t>be</a:t>
            </a:r>
            <a:r>
              <a:rPr dirty="0" sz="2100" spc="-9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dirty="0" sz="2100" spc="-8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FF0000"/>
                </a:solidFill>
                <a:latin typeface="Arial"/>
                <a:cs typeface="Arial"/>
              </a:rPr>
              <a:t>range</a:t>
            </a:r>
            <a:r>
              <a:rPr dirty="0" sz="2100" spc="-8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FF0000"/>
                </a:solidFill>
                <a:latin typeface="Arial"/>
                <a:cs typeface="Arial"/>
              </a:rPr>
              <a:t>and</a:t>
            </a:r>
            <a:r>
              <a:rPr dirty="0" sz="2100" spc="-8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FF0000"/>
                </a:solidFill>
                <a:latin typeface="Arial"/>
                <a:cs typeface="Arial"/>
              </a:rPr>
              <a:t>not</a:t>
            </a:r>
            <a:r>
              <a:rPr dirty="0" sz="2100" spc="-8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dirty="0" sz="2100" spc="-9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FF0000"/>
                </a:solidFill>
                <a:latin typeface="Arial"/>
                <a:cs typeface="Arial"/>
              </a:rPr>
              <a:t>single</a:t>
            </a:r>
            <a:r>
              <a:rPr dirty="0" sz="2100" spc="-8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100" spc="-10" b="1">
                <a:solidFill>
                  <a:srgbClr val="FF0000"/>
                </a:solidFill>
                <a:latin typeface="Arial"/>
                <a:cs typeface="Arial"/>
              </a:rPr>
              <a:t>value.</a:t>
            </a:r>
            <a:endParaRPr sz="2100">
              <a:latin typeface="Arial"/>
              <a:cs typeface="Arial"/>
            </a:endParaRPr>
          </a:p>
          <a:p>
            <a:pPr marL="277495" marR="5080" indent="-265430">
              <a:lnSpc>
                <a:spcPct val="100000"/>
              </a:lnSpc>
              <a:spcBef>
                <a:spcPts val="1175"/>
              </a:spcBef>
              <a:buFont typeface="Wingdings"/>
              <a:buChar char=""/>
              <a:tabLst>
                <a:tab pos="278765" algn="l"/>
              </a:tabLst>
            </a:pPr>
            <a:r>
              <a:rPr dirty="0" sz="2100" b="1">
                <a:solidFill>
                  <a:srgbClr val="FF0000"/>
                </a:solidFill>
                <a:latin typeface="Arial"/>
                <a:cs typeface="Arial"/>
              </a:rPr>
              <a:t>Expect</a:t>
            </a:r>
            <a:r>
              <a:rPr dirty="0" sz="2100" spc="-9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FF0000"/>
                </a:solidFill>
                <a:latin typeface="Arial"/>
                <a:cs typeface="Arial"/>
              </a:rPr>
              <a:t>there</a:t>
            </a:r>
            <a:r>
              <a:rPr dirty="0" sz="2100" spc="-9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dirty="0" sz="2100" spc="-9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FF0000"/>
                </a:solidFill>
                <a:latin typeface="Arial"/>
                <a:cs typeface="Arial"/>
              </a:rPr>
              <a:t>be</a:t>
            </a:r>
            <a:r>
              <a:rPr dirty="0" sz="2100" spc="-9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dirty="0" sz="2100" spc="-9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FF0000"/>
                </a:solidFill>
                <a:latin typeface="Arial"/>
                <a:cs typeface="Arial"/>
              </a:rPr>
              <a:t>range</a:t>
            </a:r>
            <a:r>
              <a:rPr dirty="0" sz="2100" spc="-9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dirty="0" sz="2100" spc="-9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100" spc="-10" b="1">
                <a:solidFill>
                  <a:srgbClr val="FF0000"/>
                </a:solidFill>
                <a:latin typeface="Arial"/>
                <a:cs typeface="Arial"/>
              </a:rPr>
              <a:t>models</a:t>
            </a:r>
            <a:r>
              <a:rPr dirty="0" sz="2100" spc="-9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dirty="0" sz="2100" spc="-9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100" spc="-10" b="1">
                <a:solidFill>
                  <a:srgbClr val="FF0000"/>
                </a:solidFill>
                <a:latin typeface="Arial"/>
                <a:cs typeface="Arial"/>
              </a:rPr>
              <a:t>choose</a:t>
            </a:r>
            <a:r>
              <a:rPr dirty="0" sz="2100" spc="-9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FF0000"/>
                </a:solidFill>
                <a:latin typeface="Arial"/>
                <a:cs typeface="Arial"/>
              </a:rPr>
              <a:t>from</a:t>
            </a:r>
            <a:r>
              <a:rPr dirty="0" sz="2100" spc="-10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FF0000"/>
                </a:solidFill>
                <a:latin typeface="Arial"/>
                <a:cs typeface="Arial"/>
              </a:rPr>
              <a:t>and</a:t>
            </a:r>
            <a:r>
              <a:rPr dirty="0" sz="2100" spc="-8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100" spc="-25" b="1">
                <a:solidFill>
                  <a:srgbClr val="FF0000"/>
                </a:solidFill>
                <a:latin typeface="Arial"/>
                <a:cs typeface="Arial"/>
              </a:rPr>
              <a:t>not </a:t>
            </a:r>
            <a:r>
              <a:rPr dirty="0" sz="2100" spc="-25" b="1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dirty="0" sz="2100" b="1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dirty="0" sz="2100" spc="-7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100" spc="-10" b="1">
                <a:solidFill>
                  <a:srgbClr val="FF0000"/>
                </a:solidFill>
                <a:latin typeface="Arial"/>
                <a:cs typeface="Arial"/>
              </a:rPr>
              <a:t>single</a:t>
            </a:r>
            <a:r>
              <a:rPr dirty="0" sz="2100" spc="-6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100" spc="-10" b="1">
                <a:solidFill>
                  <a:srgbClr val="FF0000"/>
                </a:solidFill>
                <a:latin typeface="Arial"/>
                <a:cs typeface="Arial"/>
              </a:rPr>
              <a:t>model.</a:t>
            </a:r>
            <a:endParaRPr sz="2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2742" rIns="0" bIns="0" rtlCol="0" vert="horz">
            <a:spAutoFit/>
          </a:bodyPr>
          <a:lstStyle/>
          <a:p>
            <a:pPr marL="283591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random_state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361705" y="1716920"/>
            <a:ext cx="7595870" cy="400685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78765" marR="72390" indent="-266700">
              <a:lnSpc>
                <a:spcPct val="99400"/>
              </a:lnSpc>
              <a:spcBef>
                <a:spcPts val="114"/>
              </a:spcBef>
              <a:buChar char="•"/>
              <a:tabLst>
                <a:tab pos="278765" algn="l"/>
              </a:tabLst>
            </a:pPr>
            <a:r>
              <a:rPr dirty="0" sz="2100">
                <a:latin typeface="Arial MT"/>
                <a:cs typeface="Arial MT"/>
              </a:rPr>
              <a:t>Random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numbers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are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generated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in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software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using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pseudo random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number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generator.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It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simple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math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function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that </a:t>
            </a:r>
            <a:r>
              <a:rPr dirty="0" sz="2100" spc="-10">
                <a:latin typeface="Arial MT"/>
                <a:cs typeface="Arial MT"/>
              </a:rPr>
              <a:t>generates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sequence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numbers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that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are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random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enough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for </a:t>
            </a:r>
            <a:r>
              <a:rPr dirty="0" sz="2100">
                <a:latin typeface="Arial MT"/>
                <a:cs typeface="Arial MT"/>
              </a:rPr>
              <a:t>most</a:t>
            </a:r>
            <a:r>
              <a:rPr dirty="0" sz="2100" spc="-114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applications.</a:t>
            </a:r>
            <a:endParaRPr sz="2100">
              <a:latin typeface="Arial MT"/>
              <a:cs typeface="Arial MT"/>
            </a:endParaRPr>
          </a:p>
          <a:p>
            <a:pPr marL="278765" marR="149225" indent="-266700">
              <a:lnSpc>
                <a:spcPct val="99500"/>
              </a:lnSpc>
              <a:spcBef>
                <a:spcPts val="1285"/>
              </a:spcBef>
              <a:buChar char="•"/>
              <a:tabLst>
                <a:tab pos="278765" algn="l"/>
              </a:tabLst>
            </a:pPr>
            <a:r>
              <a:rPr dirty="0" sz="2100">
                <a:latin typeface="Arial MT"/>
                <a:cs typeface="Arial MT"/>
              </a:rPr>
              <a:t>This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math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function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deterministic.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If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it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uses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same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starting </a:t>
            </a:r>
            <a:r>
              <a:rPr dirty="0" sz="2100">
                <a:latin typeface="Arial MT"/>
                <a:cs typeface="Arial MT"/>
              </a:rPr>
              <a:t>point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called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seed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number,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it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will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give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same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sequence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of </a:t>
            </a:r>
            <a:r>
              <a:rPr dirty="0" sz="2100" spc="-10">
                <a:latin typeface="Arial MT"/>
                <a:cs typeface="Arial MT"/>
              </a:rPr>
              <a:t>random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numbers.</a:t>
            </a:r>
            <a:endParaRPr sz="2100">
              <a:latin typeface="Arial MT"/>
              <a:cs typeface="Arial MT"/>
            </a:endParaRPr>
          </a:p>
          <a:p>
            <a:pPr marL="278765" marR="219710" indent="-266700">
              <a:lnSpc>
                <a:spcPct val="100000"/>
              </a:lnSpc>
              <a:spcBef>
                <a:spcPts val="1150"/>
              </a:spcBef>
              <a:buChar char="•"/>
              <a:tabLst>
                <a:tab pos="278765" algn="l"/>
              </a:tabLst>
            </a:pPr>
            <a:r>
              <a:rPr dirty="0" sz="2100">
                <a:latin typeface="Arial MT"/>
                <a:cs typeface="Arial MT"/>
              </a:rPr>
              <a:t>We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can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get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reproducible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results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by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fixing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random</a:t>
            </a:r>
            <a:r>
              <a:rPr dirty="0" sz="2100" spc="-10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number generator’s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seed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before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each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model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we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construct.</a:t>
            </a:r>
            <a:endParaRPr sz="2100">
              <a:latin typeface="Arial MT"/>
              <a:cs typeface="Arial MT"/>
            </a:endParaRPr>
          </a:p>
          <a:p>
            <a:pPr marL="278765" marR="5080" indent="-266700">
              <a:lnSpc>
                <a:spcPct val="100000"/>
              </a:lnSpc>
              <a:spcBef>
                <a:spcPts val="1275"/>
              </a:spcBef>
              <a:buChar char="•"/>
              <a:tabLst>
                <a:tab pos="278765" algn="l"/>
              </a:tabLst>
            </a:pPr>
            <a:r>
              <a:rPr dirty="0" sz="2100">
                <a:latin typeface="Arial MT"/>
                <a:cs typeface="Arial MT"/>
              </a:rPr>
              <a:t>We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do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this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by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setting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 spc="-20" b="1" i="1">
                <a:latin typeface="Arial"/>
                <a:cs typeface="Arial"/>
              </a:rPr>
              <a:t>random_state</a:t>
            </a:r>
            <a:r>
              <a:rPr dirty="0" sz="2100" spc="-70" b="1" i="1">
                <a:latin typeface="Arial"/>
                <a:cs typeface="Arial"/>
              </a:rPr>
              <a:t> </a:t>
            </a:r>
            <a:r>
              <a:rPr dirty="0" sz="2100" spc="-20">
                <a:latin typeface="Arial MT"/>
                <a:cs typeface="Arial MT"/>
              </a:rPr>
              <a:t>hyperparameter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in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the </a:t>
            </a:r>
            <a:r>
              <a:rPr dirty="0" sz="2100">
                <a:latin typeface="Arial MT"/>
                <a:cs typeface="Arial MT"/>
              </a:rPr>
              <a:t>call</a:t>
            </a:r>
            <a:r>
              <a:rPr dirty="0" sz="2100" spc="-6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classifier.</a:t>
            </a:r>
            <a:endParaRPr sz="2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6959786"/>
            <a:ext cx="9461500" cy="368113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9450936" y="7086055"/>
            <a:ext cx="37592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SLIDE</a:t>
            </a:r>
            <a:r>
              <a:rPr dirty="0" sz="600" spc="-50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 spc="-25">
                <a:solidFill>
                  <a:srgbClr val="C0F9FC"/>
                </a:solidFill>
                <a:latin typeface="Verdana"/>
                <a:cs typeface="Verdana"/>
              </a:rPr>
              <a:t>36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21916" y="7086055"/>
            <a:ext cx="113982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Module</a:t>
            </a:r>
            <a:r>
              <a:rPr dirty="0" sz="600" spc="90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Code</a:t>
            </a:r>
            <a:r>
              <a:rPr dirty="0" sz="600" spc="90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 spc="-45">
                <a:solidFill>
                  <a:srgbClr val="C0F9FC"/>
                </a:solidFill>
                <a:latin typeface="Verdana"/>
                <a:cs typeface="Verdana"/>
              </a:rPr>
              <a:t>&amp;</a:t>
            </a:r>
            <a:r>
              <a:rPr dirty="0" sz="600" spc="90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Module</a:t>
            </a:r>
            <a:r>
              <a:rPr dirty="0" sz="600" spc="90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 spc="-20">
                <a:solidFill>
                  <a:srgbClr val="C0F9FC"/>
                </a:solidFill>
                <a:latin typeface="Verdana"/>
                <a:cs typeface="Verdana"/>
              </a:rPr>
              <a:t>Title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200487" y="7070816"/>
            <a:ext cx="40640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Slide</a:t>
            </a:r>
            <a:r>
              <a:rPr dirty="0" sz="600" spc="-15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 spc="-10">
                <a:solidFill>
                  <a:srgbClr val="C0F9FC"/>
                </a:solidFill>
                <a:latin typeface="Verdana"/>
                <a:cs typeface="Verdana"/>
              </a:rPr>
              <a:t>Title</a:t>
            </a:r>
            <a:endParaRPr sz="600">
              <a:latin typeface="Verdana"/>
              <a:cs typeface="Verdana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69815" y="323814"/>
            <a:ext cx="773653" cy="91221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20720" y="899028"/>
            <a:ext cx="2812415" cy="376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60" b="1">
                <a:solidFill>
                  <a:srgbClr val="0070C0"/>
                </a:solidFill>
                <a:latin typeface="Tahoma"/>
                <a:cs typeface="Tahoma"/>
              </a:rPr>
              <a:t>Review</a:t>
            </a:r>
            <a:r>
              <a:rPr dirty="0" sz="2300" spc="35" b="1">
                <a:solidFill>
                  <a:srgbClr val="0070C0"/>
                </a:solidFill>
                <a:latin typeface="Tahoma"/>
                <a:cs typeface="Tahoma"/>
              </a:rPr>
              <a:t> </a:t>
            </a:r>
            <a:r>
              <a:rPr dirty="0" sz="2300" spc="70" b="1">
                <a:solidFill>
                  <a:srgbClr val="0070C0"/>
                </a:solidFill>
                <a:latin typeface="Tahoma"/>
                <a:cs typeface="Tahoma"/>
              </a:rPr>
              <a:t>Questions</a:t>
            </a:r>
            <a:endParaRPr sz="23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920720" y="1638829"/>
            <a:ext cx="8851265" cy="176593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266065" indent="-253365">
              <a:lnSpc>
                <a:spcPct val="100000"/>
              </a:lnSpc>
              <a:spcBef>
                <a:spcPts val="720"/>
              </a:spcBef>
              <a:buAutoNum type="arabicPeriod"/>
              <a:tabLst>
                <a:tab pos="266065" algn="l"/>
              </a:tabLst>
            </a:pP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How</a:t>
            </a:r>
            <a:r>
              <a:rPr dirty="0" sz="1900" spc="-7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to</a:t>
            </a:r>
            <a:r>
              <a:rPr dirty="0" sz="1900" spc="-7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interpret</a:t>
            </a:r>
            <a:r>
              <a:rPr dirty="0" sz="1900" spc="-8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Confusion</a:t>
            </a:r>
            <a:r>
              <a:rPr dirty="0" sz="1900" spc="-7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Matrix</a:t>
            </a:r>
            <a:r>
              <a:rPr dirty="0" sz="1900" spc="-7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and</a:t>
            </a:r>
            <a:r>
              <a:rPr dirty="0" sz="1900" spc="-7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relate</a:t>
            </a:r>
            <a:r>
              <a:rPr dirty="0" sz="1900" spc="-7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to</a:t>
            </a:r>
            <a:r>
              <a:rPr dirty="0" sz="1900" spc="-8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model</a:t>
            </a:r>
            <a:r>
              <a:rPr dirty="0" sz="1900" spc="-8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Tahoma"/>
                <a:cs typeface="Tahoma"/>
              </a:rPr>
              <a:t>performance?</a:t>
            </a:r>
            <a:endParaRPr sz="1900">
              <a:latin typeface="Tahoma"/>
              <a:cs typeface="Tahoma"/>
            </a:endParaRPr>
          </a:p>
          <a:p>
            <a:pPr marL="266065" indent="-253365">
              <a:lnSpc>
                <a:spcPct val="100000"/>
              </a:lnSpc>
              <a:spcBef>
                <a:spcPts val="625"/>
              </a:spcBef>
              <a:buAutoNum type="arabicPeriod"/>
              <a:tabLst>
                <a:tab pos="266065" algn="l"/>
              </a:tabLst>
            </a:pP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How</a:t>
            </a:r>
            <a:r>
              <a:rPr dirty="0" sz="1900" spc="-8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to</a:t>
            </a:r>
            <a:r>
              <a:rPr dirty="0" sz="1900" spc="-9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Tahoma"/>
                <a:cs typeface="Tahoma"/>
              </a:rPr>
              <a:t>use</a:t>
            </a:r>
            <a:r>
              <a:rPr dirty="0" sz="1900" spc="-8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Tahoma"/>
                <a:cs typeface="Tahoma"/>
              </a:rPr>
              <a:t>ROC</a:t>
            </a:r>
            <a:r>
              <a:rPr dirty="0" sz="1900" spc="-7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 spc="-20">
                <a:solidFill>
                  <a:srgbClr val="082F50"/>
                </a:solidFill>
                <a:latin typeface="Tahoma"/>
                <a:cs typeface="Tahoma"/>
              </a:rPr>
              <a:t>Curve</a:t>
            </a:r>
            <a:r>
              <a:rPr dirty="0" sz="1900" spc="-8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to</a:t>
            </a:r>
            <a:r>
              <a:rPr dirty="0" sz="1900" spc="-9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 spc="-20">
                <a:solidFill>
                  <a:srgbClr val="082F50"/>
                </a:solidFill>
                <a:latin typeface="Tahoma"/>
                <a:cs typeface="Tahoma"/>
              </a:rPr>
              <a:t>compare</a:t>
            </a:r>
            <a:r>
              <a:rPr dirty="0" sz="1900" spc="-8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 spc="-20">
                <a:solidFill>
                  <a:srgbClr val="082F50"/>
                </a:solidFill>
                <a:latin typeface="Tahoma"/>
                <a:cs typeface="Tahoma"/>
              </a:rPr>
              <a:t>performance</a:t>
            </a:r>
            <a:r>
              <a:rPr dirty="0" sz="1900" spc="-8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of</a:t>
            </a:r>
            <a:r>
              <a:rPr dirty="0" sz="1900" spc="-9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Tahoma"/>
                <a:cs typeface="Tahoma"/>
              </a:rPr>
              <a:t>machine-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learning</a:t>
            </a:r>
            <a:r>
              <a:rPr dirty="0" sz="1900" spc="-7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Tahoma"/>
                <a:cs typeface="Tahoma"/>
              </a:rPr>
              <a:t>models?</a:t>
            </a:r>
            <a:endParaRPr sz="1900">
              <a:latin typeface="Tahoma"/>
              <a:cs typeface="Tahoma"/>
            </a:endParaRPr>
          </a:p>
          <a:p>
            <a:pPr marL="266065" indent="-253365">
              <a:lnSpc>
                <a:spcPct val="100000"/>
              </a:lnSpc>
              <a:spcBef>
                <a:spcPts val="505"/>
              </a:spcBef>
              <a:buAutoNum type="arabicPeriod"/>
              <a:tabLst>
                <a:tab pos="266065" algn="l"/>
              </a:tabLst>
            </a:pP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How</a:t>
            </a:r>
            <a:r>
              <a:rPr dirty="0" sz="1900" spc="-8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Bias</a:t>
            </a:r>
            <a:r>
              <a:rPr dirty="0" sz="1900" spc="-9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and</a:t>
            </a:r>
            <a:r>
              <a:rPr dirty="0" sz="1900" spc="-8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 spc="-20">
                <a:solidFill>
                  <a:srgbClr val="082F50"/>
                </a:solidFill>
                <a:latin typeface="Tahoma"/>
                <a:cs typeface="Tahoma"/>
              </a:rPr>
              <a:t>Variance</a:t>
            </a:r>
            <a:r>
              <a:rPr dirty="0" sz="1900" spc="-9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relates</a:t>
            </a:r>
            <a:r>
              <a:rPr dirty="0" sz="1900" spc="-9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to</a:t>
            </a:r>
            <a:r>
              <a:rPr dirty="0" sz="1900" spc="-9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Tahoma"/>
                <a:cs typeface="Tahoma"/>
              </a:rPr>
              <a:t>under-</a:t>
            </a:r>
            <a:r>
              <a:rPr dirty="0" sz="1900" spc="-9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and</a:t>
            </a:r>
            <a:r>
              <a:rPr dirty="0" sz="1900" spc="-8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overfitting</a:t>
            </a:r>
            <a:r>
              <a:rPr dirty="0" sz="1900" spc="-8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of</a:t>
            </a:r>
            <a:r>
              <a:rPr dirty="0" sz="1900" spc="-9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 spc="-20">
                <a:solidFill>
                  <a:srgbClr val="082F50"/>
                </a:solidFill>
                <a:latin typeface="Tahoma"/>
                <a:cs typeface="Tahoma"/>
              </a:rPr>
              <a:t>data?</a:t>
            </a:r>
            <a:endParaRPr sz="1900">
              <a:latin typeface="Tahoma"/>
              <a:cs typeface="Tahoma"/>
            </a:endParaRPr>
          </a:p>
          <a:p>
            <a:pPr marL="12700" marR="5080">
              <a:lnSpc>
                <a:spcPct val="101099"/>
              </a:lnSpc>
              <a:spcBef>
                <a:spcPts val="505"/>
              </a:spcBef>
            </a:pPr>
            <a:r>
              <a:rPr dirty="0" sz="1900" spc="-80">
                <a:solidFill>
                  <a:srgbClr val="082F50"/>
                </a:solidFill>
                <a:latin typeface="Tahoma"/>
                <a:cs typeface="Tahoma"/>
              </a:rPr>
              <a:t>5.</a:t>
            </a:r>
            <a:r>
              <a:rPr dirty="0" sz="1900" spc="-7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How</a:t>
            </a:r>
            <a:r>
              <a:rPr dirty="0" sz="1900" spc="-6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to</a:t>
            </a:r>
            <a:r>
              <a:rPr dirty="0" sz="1900" spc="-7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Tahoma"/>
                <a:cs typeface="Tahoma"/>
              </a:rPr>
              <a:t>use</a:t>
            </a:r>
            <a:r>
              <a:rPr dirty="0" sz="1900" spc="-6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 spc="-25">
                <a:solidFill>
                  <a:srgbClr val="082F50"/>
                </a:solidFill>
                <a:latin typeface="Tahoma"/>
                <a:cs typeface="Tahoma"/>
              </a:rPr>
              <a:t>cross-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validation</a:t>
            </a:r>
            <a:r>
              <a:rPr dirty="0" sz="1900" spc="-7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to</a:t>
            </a:r>
            <a:r>
              <a:rPr dirty="0" sz="1900" spc="-6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evaluate</a:t>
            </a:r>
            <a:r>
              <a:rPr dirty="0" sz="1900" spc="-6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the</a:t>
            </a:r>
            <a:r>
              <a:rPr dirty="0" sz="1900" spc="-6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 spc="-20">
                <a:solidFill>
                  <a:srgbClr val="082F50"/>
                </a:solidFill>
                <a:latin typeface="Tahoma"/>
                <a:cs typeface="Tahoma"/>
              </a:rPr>
              <a:t>performance</a:t>
            </a:r>
            <a:r>
              <a:rPr dirty="0" sz="1900" spc="-7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of</a:t>
            </a:r>
            <a:r>
              <a:rPr dirty="0" sz="1900" spc="-7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the</a:t>
            </a:r>
            <a:r>
              <a:rPr dirty="0" sz="1900" spc="-6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Tahoma"/>
                <a:cs typeface="Tahoma"/>
              </a:rPr>
              <a:t>machine-learning models?</a:t>
            </a:r>
            <a:endParaRPr sz="1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6959786"/>
            <a:ext cx="9461500" cy="368113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9451757" y="7086055"/>
            <a:ext cx="37401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SLIDE</a:t>
            </a:r>
            <a:r>
              <a:rPr dirty="0" sz="600" spc="-50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 spc="-25">
                <a:solidFill>
                  <a:srgbClr val="C0F9FC"/>
                </a:solidFill>
                <a:latin typeface="Verdana"/>
                <a:cs typeface="Verdana"/>
              </a:rPr>
              <a:t>37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21916" y="7086055"/>
            <a:ext cx="113982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Module</a:t>
            </a:r>
            <a:r>
              <a:rPr dirty="0" sz="600" spc="90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Code</a:t>
            </a:r>
            <a:r>
              <a:rPr dirty="0" sz="600" spc="90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 spc="-45">
                <a:solidFill>
                  <a:srgbClr val="C0F9FC"/>
                </a:solidFill>
                <a:latin typeface="Verdana"/>
                <a:cs typeface="Verdana"/>
              </a:rPr>
              <a:t>&amp;</a:t>
            </a:r>
            <a:r>
              <a:rPr dirty="0" sz="600" spc="90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Module</a:t>
            </a:r>
            <a:r>
              <a:rPr dirty="0" sz="600" spc="90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 spc="-20">
                <a:solidFill>
                  <a:srgbClr val="C0F9FC"/>
                </a:solidFill>
                <a:latin typeface="Verdana"/>
                <a:cs typeface="Verdana"/>
              </a:rPr>
              <a:t>Title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200487" y="7070816"/>
            <a:ext cx="40640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Slide</a:t>
            </a:r>
            <a:r>
              <a:rPr dirty="0" sz="600" spc="-15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 spc="-10">
                <a:solidFill>
                  <a:srgbClr val="C0F9FC"/>
                </a:solidFill>
                <a:latin typeface="Verdana"/>
                <a:cs typeface="Verdana"/>
              </a:rPr>
              <a:t>Title</a:t>
            </a:r>
            <a:endParaRPr sz="600">
              <a:latin typeface="Verdana"/>
              <a:cs typeface="Verdana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69815" y="323814"/>
            <a:ext cx="773653" cy="91221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20720" y="899028"/>
            <a:ext cx="5080000" cy="376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100" b="1">
                <a:solidFill>
                  <a:srgbClr val="0070C0"/>
                </a:solidFill>
                <a:latin typeface="Tahoma"/>
                <a:cs typeface="Tahoma"/>
              </a:rPr>
              <a:t>Summary</a:t>
            </a:r>
            <a:r>
              <a:rPr dirty="0" sz="2300" spc="15" b="1">
                <a:solidFill>
                  <a:srgbClr val="0070C0"/>
                </a:solidFill>
                <a:latin typeface="Tahoma"/>
                <a:cs typeface="Tahoma"/>
              </a:rPr>
              <a:t> </a:t>
            </a:r>
            <a:r>
              <a:rPr dirty="0" sz="2300" spc="-425" b="1">
                <a:solidFill>
                  <a:srgbClr val="0070C0"/>
                </a:solidFill>
                <a:latin typeface="Tahoma"/>
                <a:cs typeface="Tahoma"/>
              </a:rPr>
              <a:t>/</a:t>
            </a:r>
            <a:r>
              <a:rPr dirty="0" sz="2300" spc="10" b="1">
                <a:solidFill>
                  <a:srgbClr val="0070C0"/>
                </a:solidFill>
                <a:latin typeface="Tahoma"/>
                <a:cs typeface="Tahoma"/>
              </a:rPr>
              <a:t> </a:t>
            </a:r>
            <a:r>
              <a:rPr dirty="0" sz="2300" spc="90" b="1">
                <a:solidFill>
                  <a:srgbClr val="0070C0"/>
                </a:solidFill>
                <a:latin typeface="Tahoma"/>
                <a:cs typeface="Tahoma"/>
              </a:rPr>
              <a:t>Recap</a:t>
            </a:r>
            <a:r>
              <a:rPr dirty="0" sz="2300" spc="10" b="1">
                <a:solidFill>
                  <a:srgbClr val="0070C0"/>
                </a:solidFill>
                <a:latin typeface="Tahoma"/>
                <a:cs typeface="Tahoma"/>
              </a:rPr>
              <a:t> </a:t>
            </a:r>
            <a:r>
              <a:rPr dirty="0" sz="2300" spc="55" b="1">
                <a:solidFill>
                  <a:srgbClr val="0070C0"/>
                </a:solidFill>
                <a:latin typeface="Tahoma"/>
                <a:cs typeface="Tahoma"/>
              </a:rPr>
              <a:t>of</a:t>
            </a:r>
            <a:r>
              <a:rPr dirty="0" sz="2300" spc="15" b="1">
                <a:solidFill>
                  <a:srgbClr val="0070C0"/>
                </a:solidFill>
                <a:latin typeface="Tahoma"/>
                <a:cs typeface="Tahoma"/>
              </a:rPr>
              <a:t> </a:t>
            </a:r>
            <a:r>
              <a:rPr dirty="0" sz="2300" spc="75" b="1">
                <a:solidFill>
                  <a:srgbClr val="0070C0"/>
                </a:solidFill>
                <a:latin typeface="Tahoma"/>
                <a:cs typeface="Tahoma"/>
              </a:rPr>
              <a:t>Main</a:t>
            </a:r>
            <a:r>
              <a:rPr dirty="0" sz="2300" spc="10" b="1">
                <a:solidFill>
                  <a:srgbClr val="0070C0"/>
                </a:solidFill>
                <a:latin typeface="Tahoma"/>
                <a:cs typeface="Tahoma"/>
              </a:rPr>
              <a:t> </a:t>
            </a:r>
            <a:r>
              <a:rPr dirty="0" sz="2300" spc="65" b="1">
                <a:solidFill>
                  <a:srgbClr val="0070C0"/>
                </a:solidFill>
                <a:latin typeface="Tahoma"/>
                <a:cs typeface="Tahoma"/>
              </a:rPr>
              <a:t>Points</a:t>
            </a:r>
            <a:endParaRPr sz="23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920720" y="1638829"/>
            <a:ext cx="7312659" cy="1830070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At</a:t>
            </a:r>
            <a:r>
              <a:rPr dirty="0" sz="1900" spc="-8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the</a:t>
            </a:r>
            <a:r>
              <a:rPr dirty="0" sz="1900" spc="-8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end</a:t>
            </a:r>
            <a:r>
              <a:rPr dirty="0" sz="1900" spc="-7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of</a:t>
            </a:r>
            <a:r>
              <a:rPr dirty="0" sz="1900" spc="-8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this</a:t>
            </a:r>
            <a:r>
              <a:rPr dirty="0" sz="1900" spc="-8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 spc="-20">
                <a:solidFill>
                  <a:srgbClr val="082F50"/>
                </a:solidFill>
                <a:latin typeface="Tahoma"/>
                <a:cs typeface="Tahoma"/>
              </a:rPr>
              <a:t>topic,</a:t>
            </a:r>
            <a:r>
              <a:rPr dirty="0" sz="1900" spc="-9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Tahoma"/>
                <a:cs typeface="Tahoma"/>
              </a:rPr>
              <a:t>you</a:t>
            </a:r>
            <a:r>
              <a:rPr dirty="0" sz="1900" spc="-7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should</a:t>
            </a:r>
            <a:r>
              <a:rPr dirty="0" sz="1900" spc="-7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be</a:t>
            </a:r>
            <a:r>
              <a:rPr dirty="0" sz="1900" spc="-8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able</a:t>
            </a:r>
            <a:r>
              <a:rPr dirty="0" sz="1900" spc="-8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 spc="-25">
                <a:solidFill>
                  <a:srgbClr val="082F50"/>
                </a:solidFill>
                <a:latin typeface="Tahoma"/>
                <a:cs typeface="Tahoma"/>
              </a:rPr>
              <a:t>to:</a:t>
            </a:r>
            <a:endParaRPr sz="1900">
              <a:latin typeface="Tahoma"/>
              <a:cs typeface="Tahoma"/>
            </a:endParaRPr>
          </a:p>
          <a:p>
            <a:pPr marL="266065" indent="-253365">
              <a:lnSpc>
                <a:spcPct val="100000"/>
              </a:lnSpc>
              <a:spcBef>
                <a:spcPts val="625"/>
              </a:spcBef>
              <a:buAutoNum type="arabicPeriod"/>
              <a:tabLst>
                <a:tab pos="266065" algn="l"/>
              </a:tabLst>
            </a:pPr>
            <a:r>
              <a:rPr dirty="0" sz="1900" spc="-20">
                <a:solidFill>
                  <a:srgbClr val="082F50"/>
                </a:solidFill>
                <a:latin typeface="Tahoma"/>
                <a:cs typeface="Tahoma"/>
              </a:rPr>
              <a:t>Understand</a:t>
            </a:r>
            <a:r>
              <a:rPr dirty="0" sz="1900" spc="-11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and</a:t>
            </a:r>
            <a:r>
              <a:rPr dirty="0" sz="1900" spc="-10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Tahoma"/>
                <a:cs typeface="Tahoma"/>
              </a:rPr>
              <a:t>use</a:t>
            </a:r>
            <a:r>
              <a:rPr dirty="0" sz="1900" spc="-11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Confusion</a:t>
            </a:r>
            <a:r>
              <a:rPr dirty="0" sz="1900" spc="-11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Tahoma"/>
                <a:cs typeface="Tahoma"/>
              </a:rPr>
              <a:t>Matrix</a:t>
            </a:r>
            <a:endParaRPr sz="1900">
              <a:latin typeface="Tahoma"/>
              <a:cs typeface="Tahoma"/>
            </a:endParaRPr>
          </a:p>
          <a:p>
            <a:pPr marL="266065" indent="-253365">
              <a:lnSpc>
                <a:spcPct val="100000"/>
              </a:lnSpc>
              <a:spcBef>
                <a:spcPts val="505"/>
              </a:spcBef>
              <a:buAutoNum type="arabicPeriod"/>
              <a:tabLst>
                <a:tab pos="266065" algn="l"/>
              </a:tabLst>
            </a:pPr>
            <a:r>
              <a:rPr dirty="0" sz="1900" spc="-20">
                <a:solidFill>
                  <a:srgbClr val="082F50"/>
                </a:solidFill>
                <a:latin typeface="Tahoma"/>
                <a:cs typeface="Tahoma"/>
              </a:rPr>
              <a:t>Understand</a:t>
            </a:r>
            <a:r>
              <a:rPr dirty="0" sz="1900" spc="-114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and</a:t>
            </a:r>
            <a:r>
              <a:rPr dirty="0" sz="1900" spc="-11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Tahoma"/>
                <a:cs typeface="Tahoma"/>
              </a:rPr>
              <a:t>use</a:t>
            </a:r>
            <a:r>
              <a:rPr dirty="0" sz="1900" spc="-114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Tahoma"/>
                <a:cs typeface="Tahoma"/>
              </a:rPr>
              <a:t>ROC</a:t>
            </a:r>
            <a:r>
              <a:rPr dirty="0" sz="1900" spc="-10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Tahoma"/>
                <a:cs typeface="Tahoma"/>
              </a:rPr>
              <a:t>Curve</a:t>
            </a:r>
            <a:endParaRPr sz="1900">
              <a:latin typeface="Tahoma"/>
              <a:cs typeface="Tahoma"/>
            </a:endParaRPr>
          </a:p>
          <a:p>
            <a:pPr marL="266065" indent="-253365">
              <a:lnSpc>
                <a:spcPct val="100000"/>
              </a:lnSpc>
              <a:spcBef>
                <a:spcPts val="530"/>
              </a:spcBef>
              <a:buAutoNum type="arabicPeriod"/>
              <a:tabLst>
                <a:tab pos="266065" algn="l"/>
              </a:tabLst>
            </a:pPr>
            <a:r>
              <a:rPr dirty="0" sz="1900" spc="-20">
                <a:solidFill>
                  <a:srgbClr val="082F50"/>
                </a:solidFill>
                <a:latin typeface="Tahoma"/>
                <a:cs typeface="Tahoma"/>
              </a:rPr>
              <a:t>Understand</a:t>
            </a:r>
            <a:r>
              <a:rPr dirty="0" sz="1900" spc="-7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the</a:t>
            </a:r>
            <a:r>
              <a:rPr dirty="0" sz="1900" spc="-7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Tahoma"/>
                <a:cs typeface="Tahoma"/>
              </a:rPr>
              <a:t>concepts</a:t>
            </a:r>
            <a:r>
              <a:rPr dirty="0" sz="1900" spc="-7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of</a:t>
            </a:r>
            <a:r>
              <a:rPr dirty="0" sz="1900" spc="-8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Bias</a:t>
            </a:r>
            <a:r>
              <a:rPr dirty="0" sz="1900" spc="-7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and</a:t>
            </a:r>
            <a:r>
              <a:rPr dirty="0" sz="1900" spc="-6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 spc="-20">
                <a:solidFill>
                  <a:srgbClr val="082F50"/>
                </a:solidFill>
                <a:latin typeface="Tahoma"/>
                <a:cs typeface="Tahoma"/>
              </a:rPr>
              <a:t>Variance</a:t>
            </a:r>
            <a:r>
              <a:rPr dirty="0" sz="1900" spc="-7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in</a:t>
            </a:r>
            <a:r>
              <a:rPr dirty="0" sz="1900" spc="-7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Machine</a:t>
            </a:r>
            <a:r>
              <a:rPr dirty="0" sz="1900" spc="-7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Tahoma"/>
                <a:cs typeface="Tahoma"/>
              </a:rPr>
              <a:t>Learning</a:t>
            </a:r>
            <a:endParaRPr sz="1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1900" spc="-80">
                <a:solidFill>
                  <a:srgbClr val="082F50"/>
                </a:solidFill>
                <a:latin typeface="Tahoma"/>
                <a:cs typeface="Tahoma"/>
              </a:rPr>
              <a:t>5.</a:t>
            </a:r>
            <a:r>
              <a:rPr dirty="0" sz="1900" spc="-7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 spc="-20">
                <a:solidFill>
                  <a:srgbClr val="082F50"/>
                </a:solidFill>
                <a:latin typeface="Tahoma"/>
                <a:cs typeface="Tahoma"/>
              </a:rPr>
              <a:t>Understand</a:t>
            </a:r>
            <a:r>
              <a:rPr dirty="0" sz="1900" spc="-7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the</a:t>
            </a:r>
            <a:r>
              <a:rPr dirty="0" sz="1900" spc="-6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concept</a:t>
            </a:r>
            <a:r>
              <a:rPr dirty="0" sz="1900" spc="-7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82F50"/>
                </a:solidFill>
                <a:latin typeface="Tahoma"/>
                <a:cs typeface="Tahoma"/>
              </a:rPr>
              <a:t>of</a:t>
            </a:r>
            <a:r>
              <a:rPr dirty="0" sz="1900" spc="-7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1900" spc="-30">
                <a:solidFill>
                  <a:srgbClr val="082F50"/>
                </a:solidFill>
                <a:latin typeface="Tahoma"/>
                <a:cs typeface="Tahoma"/>
              </a:rPr>
              <a:t>cross-</a:t>
            </a:r>
            <a:r>
              <a:rPr dirty="0" sz="1900" spc="-10">
                <a:solidFill>
                  <a:srgbClr val="082F50"/>
                </a:solidFill>
                <a:latin typeface="Tahoma"/>
                <a:cs typeface="Tahoma"/>
              </a:rPr>
              <a:t>validation</a:t>
            </a:r>
            <a:endParaRPr sz="1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999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 Fei Thang</dc:creator>
  <dc:title>04_Machine Learning Performance Evaluation</dc:title>
  <dcterms:created xsi:type="dcterms:W3CDTF">2025-12-26T00:24:52Z</dcterms:created>
  <dcterms:modified xsi:type="dcterms:W3CDTF">2025-12-26T00:24:52Z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2025-04-07T00:00:00Z</vt:filetime>
  </property>
  <property fmtid="{D5CDD505-2E9C-101B-9397-08002B2CF9AE}" pid="3" name="Creator">
    <vt:lpwstr>PowerPoint</vt:lpwstr>
  </property>
  <property fmtid="{D5CDD505-2E9C-101B-9397-08002B2CF9AE}" pid="4" name="LastSaved">
    <vt:filetime>2025-12-26T00:00:00Z</vt:filetime>
  </property>
  <property fmtid="{D5CDD505-2E9C-101B-9397-08002B2CF9AE}" pid="5" name="Producer">
    <vt:lpwstr>macOS Version 15.4 (Build 24E248) Quartz PDFContext</vt:lpwstr>
  </property>
</Properties>
</file>