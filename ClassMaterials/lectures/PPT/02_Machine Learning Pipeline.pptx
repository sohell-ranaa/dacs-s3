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2626" y="0"/>
            <a:ext cx="1241373" cy="12984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583678"/>
            <a:ext cx="9143999" cy="2666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329" y="313182"/>
            <a:ext cx="7236460" cy="11741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7892" y="1686305"/>
            <a:ext cx="4011929" cy="3836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HWWxtVL-D9k" TargetMode="External"/><Relationship Id="rId3" Type="http://schemas.openxmlformats.org/officeDocument/2006/relationships/hyperlink" Target="https://youtu.be/nKW8Ndu7Mjw" TargetMode="Externa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75293" y="6619747"/>
            <a:ext cx="3028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5">
                <a:solidFill>
                  <a:srgbClr val="C0F8FB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13866" y="3077717"/>
            <a:ext cx="4361815" cy="144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" marR="5080">
              <a:lnSpc>
                <a:spcPct val="100000"/>
              </a:lnSpc>
              <a:spcBef>
                <a:spcPts val="95"/>
              </a:spcBef>
            </a:pPr>
            <a:r>
              <a:rPr dirty="0" sz="2500" spc="-60">
                <a:solidFill>
                  <a:srgbClr val="082E50"/>
                </a:solidFill>
                <a:latin typeface="Tahoma"/>
                <a:cs typeface="Tahoma"/>
              </a:rPr>
              <a:t>Data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82E50"/>
                </a:solidFill>
                <a:latin typeface="Tahoma"/>
                <a:cs typeface="Tahoma"/>
              </a:rPr>
              <a:t>Analytics</a:t>
            </a:r>
            <a:r>
              <a:rPr dirty="0" sz="2500" spc="-12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Cyber</a:t>
            </a:r>
            <a:r>
              <a:rPr dirty="0" sz="250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82E50"/>
                </a:solidFill>
                <a:latin typeface="Tahoma"/>
                <a:cs typeface="Tahoma"/>
              </a:rPr>
              <a:t>Security </a:t>
            </a:r>
            <a:r>
              <a:rPr dirty="0" sz="2500" spc="-75">
                <a:solidFill>
                  <a:srgbClr val="082E50"/>
                </a:solidFill>
                <a:latin typeface="Tahoma"/>
                <a:cs typeface="Tahoma"/>
              </a:rPr>
              <a:t>(CT115-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3-</a:t>
            </a:r>
            <a:r>
              <a:rPr dirty="0" sz="2500" spc="-120">
                <a:solidFill>
                  <a:srgbClr val="082E50"/>
                </a:solidFill>
                <a:latin typeface="Tahoma"/>
                <a:cs typeface="Tahoma"/>
              </a:rPr>
              <a:t>M)</a:t>
            </a:r>
            <a:r>
              <a:rPr dirty="0" sz="2500" spc="-4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(Version 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E)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dirty="0" sz="2250" spc="-60" b="1">
                <a:solidFill>
                  <a:srgbClr val="006FC0"/>
                </a:solidFill>
                <a:latin typeface="Verdana"/>
                <a:cs typeface="Verdana"/>
              </a:rPr>
              <a:t>Machine</a:t>
            </a:r>
            <a:r>
              <a:rPr dirty="0" sz="2250" spc="-150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80" b="1">
                <a:solidFill>
                  <a:srgbClr val="006FC0"/>
                </a:solidFill>
                <a:latin typeface="Verdana"/>
                <a:cs typeface="Verdana"/>
              </a:rPr>
              <a:t>Learning</a:t>
            </a:r>
            <a:r>
              <a:rPr dirty="0" sz="2250" spc="-150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10" b="1">
                <a:solidFill>
                  <a:srgbClr val="006FC0"/>
                </a:solidFill>
                <a:latin typeface="Verdana"/>
                <a:cs typeface="Verdana"/>
              </a:rPr>
              <a:t>Pipeline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7673" y="6619747"/>
            <a:ext cx="31877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5589270" cy="10547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At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end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this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topic,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you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should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be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able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to: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various</a:t>
            </a:r>
            <a:r>
              <a:rPr dirty="0" sz="1850" spc="-12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Machine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terminologies</a:t>
            </a:r>
            <a:endParaRPr sz="1850">
              <a:latin typeface="Tahoma"/>
              <a:cs typeface="Tahoma"/>
            </a:endParaRPr>
          </a:p>
          <a:p>
            <a:pPr marL="254635" indent="-2419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4635" algn="l"/>
              </a:tabLst>
            </a:pP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12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Machine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pipeline.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6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TOPIC </a:t>
            </a:r>
            <a:r>
              <a:rPr dirty="0" spc="-140"/>
              <a:t>LEARNING</a:t>
            </a:r>
            <a:r>
              <a:rPr dirty="0" spc="-150"/>
              <a:t> </a:t>
            </a:r>
            <a:r>
              <a:rPr dirty="0" spc="-2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496" rIns="0" bIns="0" rtlCol="0" vert="horz">
            <a:spAutoFit/>
          </a:bodyPr>
          <a:lstStyle/>
          <a:p>
            <a:pPr marL="3183255" marR="5080" indent="-293497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Develop</a:t>
            </a:r>
            <a:r>
              <a:rPr dirty="0" sz="32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z="320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Diabetes</a:t>
            </a:r>
            <a:r>
              <a:rPr dirty="0" sz="32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Prediction</a:t>
            </a:r>
            <a:r>
              <a:rPr dirty="0" sz="320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System (DPS)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090" y="1862738"/>
            <a:ext cx="7539278" cy="407587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7261" y="6270142"/>
            <a:ext cx="698245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Image</a:t>
            </a:r>
            <a:r>
              <a:rPr dirty="0" sz="1100" spc="16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Source:</a:t>
            </a:r>
            <a:r>
              <a:rPr dirty="0" sz="1100" spc="2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https://jnyh.medium.com/building-a-machine-learning-classifier-model-for-diabetes-4fca624daed0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5" y="1149096"/>
            <a:ext cx="8567928" cy="5423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341" rIns="0" bIns="0" rtlCol="0" vert="horz">
            <a:spAutoFit/>
          </a:bodyPr>
          <a:lstStyle/>
          <a:p>
            <a:pPr marL="180657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Sample</a:t>
            </a:r>
            <a:r>
              <a:rPr dirty="0" sz="320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Medical</a:t>
            </a:r>
            <a:r>
              <a:rPr dirty="0" sz="320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Arial MT"/>
                <a:cs typeface="Arial MT"/>
              </a:rPr>
              <a:t>Data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894" rIns="0" bIns="0" rtlCol="0" vert="horz">
            <a:spAutoFit/>
          </a:bodyPr>
          <a:lstStyle/>
          <a:p>
            <a:pPr marL="99441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Workflow</a:t>
            </a:r>
            <a:r>
              <a:rPr dirty="0" sz="32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dirty="0" sz="32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Developing</a:t>
            </a:r>
            <a:r>
              <a:rPr dirty="0" sz="32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Arial MT"/>
                <a:cs typeface="Arial MT"/>
              </a:rPr>
              <a:t>DPS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02" y="1644828"/>
            <a:ext cx="9054297" cy="4518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6150" y="6619747"/>
            <a:ext cx="3219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6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1944370" cy="711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75"/>
              </a:spcBef>
              <a:buChar char="•"/>
              <a:tabLst>
                <a:tab pos="26987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ML</a:t>
            </a:r>
            <a:r>
              <a:rPr dirty="0" sz="1850" spc="2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Terminology</a:t>
            </a:r>
            <a:endParaRPr sz="1850">
              <a:latin typeface="Tahoma"/>
              <a:cs typeface="Tahoma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Char char="•"/>
              <a:tabLst>
                <a:tab pos="26987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ML</a:t>
            </a:r>
            <a:r>
              <a:rPr dirty="0" sz="1850" spc="2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Pipeline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6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Contents</a:t>
            </a:r>
            <a:r>
              <a:rPr dirty="0" spc="-150"/>
              <a:t> </a:t>
            </a:r>
            <a:r>
              <a:rPr dirty="0" spc="-310"/>
              <a:t>&amp;</a:t>
            </a:r>
            <a:r>
              <a:rPr dirty="0" spc="-114"/>
              <a:t> </a:t>
            </a:r>
            <a:r>
              <a:rPr dirty="0" spc="-75"/>
              <a:t>Structure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6215" y="2424683"/>
            <a:ext cx="3976116" cy="2008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9020" y="1380185"/>
            <a:ext cx="8096884" cy="4370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lr>
                <a:srgbClr val="EE1828"/>
              </a:buClr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Dataset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sample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real-</a:t>
            </a:r>
            <a:r>
              <a:rPr dirty="0" sz="2400">
                <a:latin typeface="Arial MT"/>
                <a:cs typeface="Arial MT"/>
              </a:rPr>
              <a:t>world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observations,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organised</a:t>
            </a:r>
            <a:endParaRPr sz="24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into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table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rows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columns</a:t>
            </a:r>
            <a:endParaRPr sz="2400">
              <a:latin typeface="Arial MT"/>
              <a:cs typeface="Arial MT"/>
            </a:endParaRPr>
          </a:p>
          <a:p>
            <a:pPr marL="269875" marR="752475" indent="-25781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Feature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column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dataset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table.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Also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predictor,</a:t>
            </a:r>
            <a:r>
              <a:rPr dirty="0" sz="2400" spc="-7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variable,</a:t>
            </a:r>
            <a:r>
              <a:rPr dirty="0" sz="2400" spc="-6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input,</a:t>
            </a:r>
            <a:r>
              <a:rPr dirty="0" sz="2400" spc="-7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attribute,</a:t>
            </a:r>
            <a:r>
              <a:rPr dirty="0" sz="2400" spc="-9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covariate</a:t>
            </a:r>
            <a:endParaRPr sz="2400">
              <a:latin typeface="Arial MT"/>
              <a:cs typeface="Arial MT"/>
            </a:endParaRPr>
          </a:p>
          <a:p>
            <a:pPr marL="269875" marR="254000" indent="-25781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Training</a:t>
            </a:r>
            <a:r>
              <a:rPr dirty="0" sz="2400" spc="-60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example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row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table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representing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set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values.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Also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an</a:t>
            </a:r>
            <a:r>
              <a:rPr dirty="0" sz="2400" spc="-6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observation,</a:t>
            </a:r>
            <a:r>
              <a:rPr dirty="0" sz="2400" spc="-4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record,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training</a:t>
            </a:r>
            <a:r>
              <a:rPr dirty="0" sz="2400" spc="-9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instance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Target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want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Also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ground</a:t>
            </a:r>
            <a:r>
              <a:rPr dirty="0" sz="2400" spc="-4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truth,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(class)</a:t>
            </a:r>
            <a:r>
              <a:rPr dirty="0" sz="2400" spc="-7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label,</a:t>
            </a:r>
            <a:r>
              <a:rPr dirty="0" sz="2400" spc="-5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desired</a:t>
            </a:r>
            <a:r>
              <a:rPr dirty="0" sz="2400" spc="-5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or</a:t>
            </a:r>
            <a:r>
              <a:rPr dirty="0" sz="2400" spc="-7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expected</a:t>
            </a:r>
            <a:r>
              <a:rPr dirty="0" sz="2400" spc="-5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output,</a:t>
            </a:r>
            <a:r>
              <a:rPr dirty="0" sz="2400" spc="-8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response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variable,</a:t>
            </a:r>
            <a:r>
              <a:rPr dirty="0" sz="2400" spc="-12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dependent</a:t>
            </a:r>
            <a:r>
              <a:rPr dirty="0" sz="2400" spc="-10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variable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4414" y="477774"/>
            <a:ext cx="29368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Terminology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9020" y="1380185"/>
            <a:ext cx="7637145" cy="450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123825" indent="-257810">
              <a:lnSpc>
                <a:spcPct val="100000"/>
              </a:lnSpc>
              <a:spcBef>
                <a:spcPts val="100"/>
              </a:spcBef>
              <a:buClr>
                <a:srgbClr val="EE1828"/>
              </a:buClr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Model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dirty="0" sz="2400" spc="-15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=</a:t>
            </a:r>
            <a:r>
              <a:rPr dirty="0" sz="2400" spc="-20" b="1" i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f(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dirty="0" sz="2400" b="1" i="1">
                <a:latin typeface="Arial"/>
                <a:cs typeface="Arial"/>
              </a:rPr>
              <a:t>)</a:t>
            </a:r>
            <a:r>
              <a:rPr dirty="0" sz="2400" spc="-20" b="1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10">
                <a:latin typeface="Arial MT"/>
                <a:cs typeface="Arial MT"/>
              </a:rPr>
              <a:t> believe </a:t>
            </a:r>
            <a:r>
              <a:rPr dirty="0" sz="2400">
                <a:latin typeface="Arial MT"/>
                <a:cs typeface="Arial MT"/>
              </a:rPr>
              <a:t>(or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hope)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similar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represents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relationship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between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target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observations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dataset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).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Also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target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function</a:t>
            </a:r>
            <a:r>
              <a:rPr dirty="0" sz="2400" spc="-9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objective</a:t>
            </a:r>
            <a:r>
              <a:rPr dirty="0" sz="2400" spc="-9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Prediction</a:t>
            </a:r>
            <a:r>
              <a:rPr dirty="0" sz="2400" spc="-60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Output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Outcome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applying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dataset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distinguish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targets,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desired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expected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outputs</a:t>
            </a:r>
            <a:endParaRPr sz="2400">
              <a:latin typeface="Arial MT"/>
              <a:cs typeface="Arial MT"/>
            </a:endParaRPr>
          </a:p>
          <a:p>
            <a:pPr marL="269875" marR="121920" indent="-25781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Classifier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implementation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combines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 i="1">
                <a:latin typeface="Arial"/>
                <a:cs typeface="Arial"/>
              </a:rPr>
              <a:t>Learning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algorithm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Loss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function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Optimiser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create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generate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predictions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4414" y="477774"/>
            <a:ext cx="29368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Terminology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9020" y="1380185"/>
            <a:ext cx="7668895" cy="450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441325" indent="-257810">
              <a:lnSpc>
                <a:spcPct val="100000"/>
              </a:lnSpc>
              <a:spcBef>
                <a:spcPts val="100"/>
              </a:spcBef>
              <a:buClr>
                <a:srgbClr val="EE1828"/>
              </a:buClr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Learning</a:t>
            </a:r>
            <a:r>
              <a:rPr dirty="0" sz="2400" spc="-3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algorithm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(mathematical) </a:t>
            </a:r>
            <a:r>
              <a:rPr dirty="0" sz="2400">
                <a:latin typeface="Arial MT"/>
                <a:cs typeface="Arial MT"/>
              </a:rPr>
              <a:t>instructions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create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training </a:t>
            </a:r>
            <a:r>
              <a:rPr dirty="0" sz="2400">
                <a:latin typeface="Arial MT"/>
                <a:cs typeface="Arial MT"/>
              </a:rPr>
              <a:t>dataset.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classifiers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named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learning </a:t>
            </a: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implement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find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approximate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target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algn="just" marL="267970" marR="5080" indent="-255904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Loss</a:t>
            </a:r>
            <a:r>
              <a:rPr dirty="0" sz="2400" spc="-6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function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Measures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how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output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single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training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value.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Also </a:t>
            </a:r>
            <a:r>
              <a:rPr dirty="0" sz="2400" spc="-2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error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function.</a:t>
            </a:r>
            <a:endParaRPr sz="2400">
              <a:latin typeface="Arial MT"/>
              <a:cs typeface="Arial MT"/>
            </a:endParaRPr>
          </a:p>
          <a:p>
            <a:pPr marL="269875" marR="20955" indent="-257810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Optimiser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minimize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average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summed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output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entire </a:t>
            </a:r>
            <a:r>
              <a:rPr dirty="0" sz="2400">
                <a:latin typeface="Arial MT"/>
                <a:cs typeface="Arial MT"/>
              </a:rPr>
              <a:t>dataset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CC0000"/>
                </a:solidFill>
                <a:latin typeface="Arial MT"/>
                <a:cs typeface="Arial MT"/>
              </a:rPr>
              <a:t>Cost</a:t>
            </a:r>
            <a:r>
              <a:rPr dirty="0" sz="2400" spc="-5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function</a:t>
            </a:r>
            <a:r>
              <a:rPr dirty="0" sz="2400" spc="-1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4414" y="477774"/>
            <a:ext cx="29368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Terminology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6229" y="1607638"/>
            <a:ext cx="7968615" cy="4673600"/>
            <a:chOff x="316229" y="1607638"/>
            <a:chExt cx="7968615" cy="46736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684" y="1607638"/>
              <a:ext cx="7764780" cy="467301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929890" y="4315205"/>
              <a:ext cx="1885950" cy="1614805"/>
            </a:xfrm>
            <a:custGeom>
              <a:avLst/>
              <a:gdLst/>
              <a:ahLst/>
              <a:cxnLst/>
              <a:rect l="l" t="t" r="r" b="b"/>
              <a:pathLst>
                <a:path w="1885950" h="1614804">
                  <a:moveTo>
                    <a:pt x="0" y="0"/>
                  </a:moveTo>
                  <a:lnTo>
                    <a:pt x="1885950" y="1614487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40354" y="3044190"/>
              <a:ext cx="158750" cy="1271905"/>
            </a:xfrm>
            <a:custGeom>
              <a:avLst/>
              <a:gdLst/>
              <a:ahLst/>
              <a:cxnLst/>
              <a:rect l="l" t="t" r="r" b="b"/>
              <a:pathLst>
                <a:path w="158750" h="1271904">
                  <a:moveTo>
                    <a:pt x="77977" y="95250"/>
                  </a:moveTo>
                  <a:lnTo>
                    <a:pt x="62387" y="108301"/>
                  </a:lnTo>
                  <a:lnTo>
                    <a:pt x="88504" y="1271270"/>
                  </a:lnTo>
                  <a:lnTo>
                    <a:pt x="88518" y="1271905"/>
                  </a:lnTo>
                  <a:lnTo>
                    <a:pt x="120268" y="1271270"/>
                  </a:lnTo>
                  <a:lnTo>
                    <a:pt x="94154" y="108301"/>
                  </a:lnTo>
                  <a:lnTo>
                    <a:pt x="94138" y="107599"/>
                  </a:lnTo>
                  <a:lnTo>
                    <a:pt x="77977" y="95250"/>
                  </a:lnTo>
                  <a:close/>
                </a:path>
                <a:path w="158750" h="1271904">
                  <a:moveTo>
                    <a:pt x="75818" y="0"/>
                  </a:moveTo>
                  <a:lnTo>
                    <a:pt x="0" y="160527"/>
                  </a:lnTo>
                  <a:lnTo>
                    <a:pt x="62387" y="108301"/>
                  </a:lnTo>
                  <a:lnTo>
                    <a:pt x="62102" y="95631"/>
                  </a:lnTo>
                  <a:lnTo>
                    <a:pt x="93852" y="94869"/>
                  </a:lnTo>
                  <a:lnTo>
                    <a:pt x="125939" y="94869"/>
                  </a:lnTo>
                  <a:lnTo>
                    <a:pt x="75818" y="0"/>
                  </a:lnTo>
                  <a:close/>
                </a:path>
                <a:path w="158750" h="1271904">
                  <a:moveTo>
                    <a:pt x="125939" y="94869"/>
                  </a:moveTo>
                  <a:lnTo>
                    <a:pt x="93852" y="94869"/>
                  </a:lnTo>
                  <a:lnTo>
                    <a:pt x="94138" y="107599"/>
                  </a:lnTo>
                  <a:lnTo>
                    <a:pt x="158750" y="156972"/>
                  </a:lnTo>
                  <a:lnTo>
                    <a:pt x="125939" y="94869"/>
                  </a:lnTo>
                  <a:close/>
                </a:path>
                <a:path w="158750" h="1271904">
                  <a:moveTo>
                    <a:pt x="77977" y="95250"/>
                  </a:moveTo>
                  <a:lnTo>
                    <a:pt x="62102" y="95631"/>
                  </a:lnTo>
                  <a:lnTo>
                    <a:pt x="62371" y="107599"/>
                  </a:lnTo>
                  <a:lnTo>
                    <a:pt x="62387" y="108301"/>
                  </a:lnTo>
                  <a:lnTo>
                    <a:pt x="77977" y="95250"/>
                  </a:lnTo>
                  <a:close/>
                </a:path>
                <a:path w="158750" h="1271904">
                  <a:moveTo>
                    <a:pt x="93852" y="94869"/>
                  </a:moveTo>
                  <a:lnTo>
                    <a:pt x="77977" y="95250"/>
                  </a:lnTo>
                  <a:lnTo>
                    <a:pt x="94138" y="107599"/>
                  </a:lnTo>
                  <a:lnTo>
                    <a:pt x="93870" y="95631"/>
                  </a:lnTo>
                  <a:lnTo>
                    <a:pt x="93852" y="948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16229" y="2026158"/>
              <a:ext cx="1986280" cy="2554605"/>
            </a:xfrm>
            <a:custGeom>
              <a:avLst/>
              <a:gdLst/>
              <a:ahLst/>
              <a:cxnLst/>
              <a:rect l="l" t="t" r="r" b="b"/>
              <a:pathLst>
                <a:path w="1986280" h="2554604">
                  <a:moveTo>
                    <a:pt x="1985772" y="0"/>
                  </a:moveTo>
                  <a:lnTo>
                    <a:pt x="0" y="0"/>
                  </a:lnTo>
                  <a:lnTo>
                    <a:pt x="0" y="2554224"/>
                  </a:lnTo>
                  <a:lnTo>
                    <a:pt x="1985772" y="2554224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12762" y="223138"/>
          <a:ext cx="3124200" cy="133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990"/>
                <a:gridCol w="684530"/>
                <a:gridCol w="528955"/>
                <a:gridCol w="537845"/>
                <a:gridCol w="427989"/>
                <a:gridCol w="427989"/>
              </a:tblGrid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R="250190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250190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30"/>
                        </a:lnSpc>
                      </a:pPr>
                      <a:r>
                        <a:rPr dirty="0" sz="2400" spc="-25" b="1" i="1">
                          <a:latin typeface="Arial"/>
                          <a:cs typeface="Arial"/>
                        </a:rPr>
                        <a:t>Da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2230"/>
                        </a:lnSpc>
                      </a:pPr>
                      <a:r>
                        <a:rPr dirty="0" sz="2400" spc="-25" b="1" i="1">
                          <a:latin typeface="Arial"/>
                          <a:cs typeface="Arial"/>
                        </a:rPr>
                        <a:t>ta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2230"/>
                        </a:lnSpc>
                      </a:pPr>
                      <a:r>
                        <a:rPr dirty="0" sz="2400" spc="-25" b="1" i="1">
                          <a:latin typeface="Arial"/>
                          <a:cs typeface="Arial"/>
                        </a:rPr>
                        <a:t>set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250190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316229" y="2026157"/>
            <a:ext cx="1986280" cy="25546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432434" indent="-342265">
              <a:lnSpc>
                <a:spcPct val="100000"/>
              </a:lnSpc>
              <a:spcBef>
                <a:spcPts val="295"/>
              </a:spcBef>
              <a:buFont typeface="Courier New"/>
              <a:buChar char="o"/>
              <a:tabLst>
                <a:tab pos="432434" algn="l"/>
              </a:tabLst>
            </a:pPr>
            <a:r>
              <a:rPr dirty="0" sz="2000" spc="-10">
                <a:latin typeface="Arial MT"/>
                <a:cs typeface="Arial MT"/>
              </a:rPr>
              <a:t>Hyper-</a:t>
            </a:r>
            <a:endParaRPr sz="200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Parameters</a:t>
            </a:r>
            <a:endParaRPr sz="2000">
              <a:latin typeface="Arial MT"/>
              <a:cs typeface="Arial MT"/>
            </a:endParaRPr>
          </a:p>
          <a:p>
            <a:pPr marL="433070" marR="567055" indent="-342900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433070" algn="l"/>
              </a:tabLst>
            </a:pPr>
            <a:r>
              <a:rPr dirty="0" sz="2000" spc="-20">
                <a:latin typeface="Arial MT"/>
                <a:cs typeface="Arial MT"/>
              </a:rPr>
              <a:t>Loss </a:t>
            </a:r>
            <a:r>
              <a:rPr dirty="0" sz="2000" spc="-10">
                <a:latin typeface="Arial MT"/>
                <a:cs typeface="Arial MT"/>
              </a:rPr>
              <a:t>Function</a:t>
            </a:r>
            <a:endParaRPr sz="2000">
              <a:latin typeface="Arial MT"/>
              <a:cs typeface="Arial MT"/>
            </a:endParaRPr>
          </a:p>
          <a:p>
            <a:pPr marL="432434" indent="-342265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432434" algn="l"/>
              </a:tabLst>
            </a:pPr>
            <a:r>
              <a:rPr dirty="0" sz="2000" spc="-10">
                <a:latin typeface="Arial MT"/>
                <a:cs typeface="Arial MT"/>
              </a:rPr>
              <a:t>Optimiser</a:t>
            </a:r>
            <a:endParaRPr sz="2000">
              <a:latin typeface="Arial MT"/>
              <a:cs typeface="Arial MT"/>
            </a:endParaRPr>
          </a:p>
          <a:p>
            <a:pPr marL="432434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432434" algn="l"/>
              </a:tabLst>
            </a:pPr>
            <a:r>
              <a:rPr dirty="0" sz="2000" spc="-10">
                <a:latin typeface="Arial MT"/>
                <a:cs typeface="Arial MT"/>
              </a:rPr>
              <a:t>Behavior</a:t>
            </a:r>
            <a:endParaRPr sz="200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Tuning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74567" y="2050541"/>
            <a:ext cx="180467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Classifier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70528" y="1128521"/>
            <a:ext cx="13982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Input</a:t>
            </a:r>
            <a:r>
              <a:rPr dirty="0" sz="24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spc="-25" b="0">
                <a:solidFill>
                  <a:srgbClr val="000000"/>
                </a:solidFill>
                <a:latin typeface="Arial MT"/>
                <a:cs typeface="Arial MT"/>
              </a:rPr>
              <a:t>Row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12002" y="1591817"/>
            <a:ext cx="255270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6FC0"/>
                </a:solidFill>
                <a:latin typeface="Arial"/>
                <a:cs typeface="Arial"/>
              </a:rPr>
              <a:t>Essentially,</a:t>
            </a:r>
            <a:r>
              <a:rPr dirty="0" sz="18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1800" spc="-6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006FC0"/>
                </a:solidFill>
                <a:latin typeface="Arial"/>
                <a:cs typeface="Arial"/>
              </a:rPr>
              <a:t>loss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function</a:t>
            </a:r>
            <a:r>
              <a:rPr dirty="0" sz="1800" spc="-5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dirty="0" sz="18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6FC0"/>
                </a:solidFill>
                <a:latin typeface="Arial"/>
                <a:cs typeface="Arial"/>
              </a:rPr>
              <a:t>optimizer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work</a:t>
            </a:r>
            <a:r>
              <a:rPr dirty="0" sz="18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together</a:t>
            </a:r>
            <a:r>
              <a:rPr dirty="0" sz="18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dirty="0" sz="1800" spc="-1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fit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algorithm</a:t>
            </a:r>
            <a:r>
              <a:rPr dirty="0" sz="1800" spc="-2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dirty="0" sz="18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18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data</a:t>
            </a:r>
            <a:r>
              <a:rPr dirty="0" sz="18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1800" spc="-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best</a:t>
            </a:r>
            <a:r>
              <a:rPr dirty="0" sz="1800" spc="-1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way</a:t>
            </a:r>
            <a:r>
              <a:rPr dirty="0" sz="18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6FC0"/>
                </a:solidFill>
                <a:latin typeface="Arial"/>
                <a:cs typeface="Arial"/>
              </a:rPr>
              <a:t>possible.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9020" y="1380185"/>
            <a:ext cx="7901305" cy="487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67970" marR="283210" indent="-255904">
              <a:lnSpc>
                <a:spcPct val="100000"/>
              </a:lnSpc>
              <a:spcBef>
                <a:spcPts val="100"/>
              </a:spcBef>
              <a:buClr>
                <a:srgbClr val="EE1828"/>
              </a:buClr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Model</a:t>
            </a:r>
            <a:r>
              <a:rPr dirty="0" sz="2400" spc="-7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Parameters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parameters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learning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“learns”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training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example,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slope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(weight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coefficients)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y-axis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intercept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 spc="-5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regression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line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Fitting</a:t>
            </a:r>
            <a:r>
              <a:rPr dirty="0" sz="2400" spc="-7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a</a:t>
            </a:r>
            <a:r>
              <a:rPr dirty="0" sz="2400" spc="-50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Model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process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learning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</a:pPr>
            <a:r>
              <a:rPr dirty="0" sz="2400" spc="-10">
                <a:latin typeface="Arial MT"/>
                <a:cs typeface="Arial MT"/>
              </a:rPr>
              <a:t>Parameters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spc="-10" b="1">
                <a:solidFill>
                  <a:srgbClr val="EE1828"/>
                </a:solidFill>
                <a:latin typeface="Arial"/>
                <a:cs typeface="Arial"/>
              </a:rPr>
              <a:t>Hyperparameters</a:t>
            </a:r>
            <a:r>
              <a:rPr dirty="0" sz="2400" spc="-10">
                <a:latin typeface="Arial MT"/>
                <a:cs typeface="Arial MT"/>
              </a:rPr>
              <a:t>: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tuning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parameters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classifier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affect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behavior,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error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tolerance,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number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iterations,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options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between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variants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how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behaves.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programmer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specify </a:t>
            </a:r>
            <a:r>
              <a:rPr dirty="0" sz="2400">
                <a:latin typeface="Arial MT"/>
                <a:cs typeface="Arial MT"/>
              </a:rPr>
              <a:t>defaults,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pass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new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call.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4414" y="477774"/>
            <a:ext cx="29368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Terminology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9020" y="1669541"/>
            <a:ext cx="7806055" cy="37293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7785" indent="-257810">
              <a:lnSpc>
                <a:spcPct val="100000"/>
              </a:lnSpc>
              <a:spcBef>
                <a:spcPts val="100"/>
              </a:spcBef>
              <a:buClr>
                <a:srgbClr val="EE1828"/>
              </a:buClr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Model</a:t>
            </a:r>
            <a:r>
              <a:rPr dirty="0" sz="2400" spc="-75" b="1">
                <a:solidFill>
                  <a:srgbClr val="EE182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EE1828"/>
                </a:solidFill>
                <a:latin typeface="Arial"/>
                <a:cs typeface="Arial"/>
              </a:rPr>
              <a:t>Evaluation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performance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usually </a:t>
            </a:r>
            <a:r>
              <a:rPr dirty="0" sz="2400">
                <a:latin typeface="Arial MT"/>
                <a:cs typeface="Arial MT"/>
              </a:rPr>
              <a:t>evaluated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counting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fraction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correctly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classified </a:t>
            </a:r>
            <a:r>
              <a:rPr dirty="0" sz="2400">
                <a:latin typeface="Arial MT"/>
                <a:cs typeface="Arial MT"/>
              </a:rPr>
              <a:t>instances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instances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attempted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classify.</a:t>
            </a:r>
            <a:endParaRPr sz="2400">
              <a:latin typeface="Arial MT"/>
              <a:cs typeface="Arial MT"/>
            </a:endParaRPr>
          </a:p>
          <a:p>
            <a:pPr marL="570230" marR="5080" indent="-215265">
              <a:lnSpc>
                <a:spcPct val="100000"/>
              </a:lnSpc>
              <a:spcBef>
                <a:spcPts val="600"/>
              </a:spcBef>
            </a:pP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example,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dataset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10,000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instances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classified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7,000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instances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correctly,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say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has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70%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accuracy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10">
                <a:latin typeface="Arial MT"/>
                <a:cs typeface="Arial MT"/>
              </a:rPr>
              <a:t> dataset.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100">
              <a:latin typeface="Arial MT"/>
              <a:cs typeface="Arial MT"/>
            </a:endParaRPr>
          </a:p>
          <a:p>
            <a:pPr marL="469900" marR="408305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Note</a:t>
            </a:r>
            <a:r>
              <a:rPr dirty="0" sz="24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that</a:t>
            </a:r>
            <a:r>
              <a:rPr dirty="0" sz="2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optimization</a:t>
            </a:r>
            <a:r>
              <a:rPr dirty="0" sz="24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2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evaluation</a:t>
            </a:r>
            <a:r>
              <a:rPr dirty="0" sz="24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measures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dirty="0" sz="24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usually</a:t>
            </a:r>
            <a:r>
              <a:rPr dirty="0" sz="24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24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4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same</a:t>
            </a:r>
            <a:r>
              <a:rPr dirty="0" sz="2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4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practice.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926" rIns="0" bIns="0" rtlCol="0" vert="horz">
            <a:spAutoFit/>
          </a:bodyPr>
          <a:lstStyle/>
          <a:p>
            <a:pPr marL="201676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Terminology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2749" y="1629283"/>
            <a:ext cx="7686675" cy="450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67970" marR="206375" indent="-25590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Training/fitting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typically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involves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algorithm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optimizes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objective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(e.g.,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maximizing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log-</a:t>
            </a:r>
            <a:r>
              <a:rPr dirty="0" sz="2400">
                <a:latin typeface="Arial MT"/>
                <a:cs typeface="Arial MT"/>
              </a:rPr>
              <a:t>likelihood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minimizing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squared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error)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practice,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often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interested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accuracy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new,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unseen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same </a:t>
            </a:r>
            <a:r>
              <a:rPr dirty="0" sz="2400">
                <a:latin typeface="Arial MT"/>
                <a:cs typeface="Arial MT"/>
              </a:rPr>
              <a:t>distribution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training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CC0000"/>
                </a:solidFill>
                <a:latin typeface="Arial MT"/>
                <a:cs typeface="Arial MT"/>
              </a:rPr>
              <a:t>generalization performance</a:t>
            </a:r>
            <a:r>
              <a:rPr dirty="0" sz="2400" spc="-1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269875" marR="26098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  <a:tab pos="3541395" algn="l"/>
              </a:tabLst>
            </a:pP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model </a:t>
            </a:r>
            <a:r>
              <a:rPr dirty="0" sz="2400">
                <a:latin typeface="Arial MT"/>
                <a:cs typeface="Arial MT"/>
              </a:rPr>
              <a:t>parameter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optimization,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well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techniques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for</a:t>
            </a:r>
            <a:r>
              <a:rPr dirty="0" sz="2400">
                <a:latin typeface="Arial MT"/>
                <a:cs typeface="Arial MT"/>
              </a:rPr>
              <a:t>	estimating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generalization </a:t>
            </a:r>
            <a:r>
              <a:rPr dirty="0" sz="2400">
                <a:latin typeface="Arial MT"/>
                <a:cs typeface="Arial MT"/>
              </a:rPr>
              <a:t>performance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6351" rIns="0" bIns="0" rtlCol="0" vert="horz">
            <a:spAutoFit/>
          </a:bodyPr>
          <a:lstStyle/>
          <a:p>
            <a:pPr marL="215074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 Terminology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3506" rIns="0" bIns="0" rtlCol="0" vert="horz">
            <a:spAutoFit/>
          </a:bodyPr>
          <a:lstStyle/>
          <a:p>
            <a:pPr marL="2037714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Supervised</a:t>
            </a:r>
            <a:r>
              <a:rPr dirty="0" sz="3200" spc="-9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47927" y="3957320"/>
            <a:ext cx="6464935" cy="1717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45745" marR="23749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Machine</a:t>
            </a:r>
            <a:r>
              <a:rPr dirty="0" sz="24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learning</a:t>
            </a:r>
            <a:r>
              <a:rPr dirty="0" sz="2400" spc="-2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(ML)</a:t>
            </a:r>
            <a:r>
              <a:rPr dirty="0" sz="24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pipeline</a:t>
            </a:r>
            <a:r>
              <a:rPr dirty="0" sz="2400" spc="-5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consists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several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model.</a:t>
            </a:r>
            <a:endParaRPr sz="2400">
              <a:latin typeface="Arial MT"/>
              <a:cs typeface="Arial MT"/>
            </a:endParaRPr>
          </a:p>
          <a:p>
            <a:pPr algn="ctr" marL="12065" marR="5080" indent="-1270">
              <a:lnSpc>
                <a:spcPct val="100000"/>
              </a:lnSpc>
              <a:spcBef>
                <a:spcPts val="1800"/>
              </a:spcBef>
            </a:pPr>
            <a:r>
              <a:rPr dirty="0" sz="2400">
                <a:latin typeface="Arial MT"/>
                <a:cs typeface="Arial MT"/>
              </a:rPr>
              <a:t>ML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pipeline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iterative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repeated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continuously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improve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accuracy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02202" y="1933194"/>
            <a:ext cx="2667000" cy="1524000"/>
          </a:xfrm>
          <a:prstGeom prst="rect">
            <a:avLst/>
          </a:prstGeom>
          <a:solidFill>
            <a:srgbClr val="BADFE2"/>
          </a:solidFill>
          <a:ln w="25400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3200">
              <a:latin typeface="Times New Roman"/>
              <a:cs typeface="Times New Roman"/>
            </a:endParaRPr>
          </a:p>
          <a:p>
            <a:pPr marL="474980">
              <a:lnSpc>
                <a:spcPct val="100000"/>
              </a:lnSpc>
              <a:spcBef>
                <a:spcPts val="5"/>
              </a:spcBef>
            </a:pPr>
            <a:r>
              <a:rPr dirty="0" sz="3200" spc="-10">
                <a:latin typeface="Arial MT"/>
                <a:cs typeface="Arial MT"/>
              </a:rPr>
              <a:t>Algorithm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987801" y="2326894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127000"/>
                </a:lnTo>
                <a:lnTo>
                  <a:pt x="889000" y="76200"/>
                </a:lnTo>
                <a:lnTo>
                  <a:pt x="800100" y="76200"/>
                </a:lnTo>
                <a:lnTo>
                  <a:pt x="800100" y="50800"/>
                </a:lnTo>
                <a:lnTo>
                  <a:pt x="889000" y="50800"/>
                </a:lnTo>
                <a:lnTo>
                  <a:pt x="787400" y="0"/>
                </a:lnTo>
                <a:close/>
              </a:path>
              <a:path w="914400" h="127000">
                <a:moveTo>
                  <a:pt x="787400" y="50800"/>
                </a:move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50800"/>
                </a:lnTo>
                <a:close/>
              </a:path>
              <a:path w="914400" h="127000">
                <a:moveTo>
                  <a:pt x="889000" y="50800"/>
                </a:moveTo>
                <a:lnTo>
                  <a:pt x="800100" y="50800"/>
                </a:lnTo>
                <a:lnTo>
                  <a:pt x="800100" y="76200"/>
                </a:lnTo>
                <a:lnTo>
                  <a:pt x="889000" y="76200"/>
                </a:lnTo>
                <a:lnTo>
                  <a:pt x="914400" y="63500"/>
                </a:lnTo>
                <a:lnTo>
                  <a:pt x="88900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987801" y="3012694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127000"/>
                </a:lnTo>
                <a:lnTo>
                  <a:pt x="889000" y="76200"/>
                </a:lnTo>
                <a:lnTo>
                  <a:pt x="800100" y="76200"/>
                </a:lnTo>
                <a:lnTo>
                  <a:pt x="800100" y="50800"/>
                </a:lnTo>
                <a:lnTo>
                  <a:pt x="889000" y="50800"/>
                </a:lnTo>
                <a:lnTo>
                  <a:pt x="787400" y="0"/>
                </a:lnTo>
                <a:close/>
              </a:path>
              <a:path w="914400" h="127000">
                <a:moveTo>
                  <a:pt x="787400" y="50800"/>
                </a:moveTo>
                <a:lnTo>
                  <a:pt x="0" y="50800"/>
                </a:lnTo>
                <a:lnTo>
                  <a:pt x="0" y="76200"/>
                </a:lnTo>
                <a:lnTo>
                  <a:pt x="787400" y="76200"/>
                </a:lnTo>
                <a:lnTo>
                  <a:pt x="787400" y="50800"/>
                </a:lnTo>
                <a:close/>
              </a:path>
              <a:path w="914400" h="127000">
                <a:moveTo>
                  <a:pt x="889000" y="50800"/>
                </a:moveTo>
                <a:lnTo>
                  <a:pt x="800100" y="50800"/>
                </a:lnTo>
                <a:lnTo>
                  <a:pt x="800100" y="76200"/>
                </a:lnTo>
                <a:lnTo>
                  <a:pt x="889000" y="76200"/>
                </a:lnTo>
                <a:lnTo>
                  <a:pt x="914400" y="63500"/>
                </a:lnTo>
                <a:lnTo>
                  <a:pt x="88900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569202" y="2675889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127000"/>
                </a:lnTo>
                <a:lnTo>
                  <a:pt x="736600" y="76200"/>
                </a:lnTo>
                <a:lnTo>
                  <a:pt x="647700" y="76200"/>
                </a:lnTo>
                <a:lnTo>
                  <a:pt x="647700" y="50800"/>
                </a:lnTo>
                <a:lnTo>
                  <a:pt x="736600" y="50800"/>
                </a:lnTo>
                <a:lnTo>
                  <a:pt x="635000" y="0"/>
                </a:lnTo>
                <a:close/>
              </a:path>
              <a:path w="762000" h="127000">
                <a:moveTo>
                  <a:pt x="635000" y="50800"/>
                </a:moveTo>
                <a:lnTo>
                  <a:pt x="0" y="50800"/>
                </a:lnTo>
                <a:lnTo>
                  <a:pt x="0" y="76200"/>
                </a:lnTo>
                <a:lnTo>
                  <a:pt x="635000" y="76200"/>
                </a:lnTo>
                <a:lnTo>
                  <a:pt x="635000" y="50800"/>
                </a:lnTo>
                <a:close/>
              </a:path>
              <a:path w="762000" h="127000">
                <a:moveTo>
                  <a:pt x="736600" y="50800"/>
                </a:moveTo>
                <a:lnTo>
                  <a:pt x="647700" y="50800"/>
                </a:lnTo>
                <a:lnTo>
                  <a:pt x="647700" y="76200"/>
                </a:lnTo>
                <a:lnTo>
                  <a:pt x="736600" y="76200"/>
                </a:lnTo>
                <a:lnTo>
                  <a:pt x="762000" y="63500"/>
                </a:lnTo>
                <a:lnTo>
                  <a:pt x="73660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047089" y="2169033"/>
            <a:ext cx="18218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Observations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8652" y="2823717"/>
            <a:ext cx="19710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Classifications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93685" y="2533903"/>
            <a:ext cx="855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Model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2457" y="329641"/>
            <a:ext cx="4244340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 indent="116268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Pipeline</a:t>
            </a:r>
            <a:r>
              <a:rPr dirty="0" sz="32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Arial MT"/>
                <a:cs typeface="Arial MT"/>
              </a:rPr>
              <a:t>of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Machine</a:t>
            </a:r>
            <a:r>
              <a:rPr dirty="0" sz="32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20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Arial MT"/>
                <a:cs typeface="Arial MT"/>
              </a:rPr>
              <a:t>Task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6115" y="1722882"/>
            <a:ext cx="7861934" cy="4355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Machine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(ML)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pipelines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consist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several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steps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train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model.</a:t>
            </a:r>
            <a:endParaRPr sz="2400">
              <a:latin typeface="Arial MT"/>
              <a:cs typeface="Arial MT"/>
            </a:endParaRPr>
          </a:p>
          <a:p>
            <a:pPr marL="269875" marR="36322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ML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pipelines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iterative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every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repeated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continuously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improve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accuracy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achieve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successful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algorithm.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typical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machine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learning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pipeline:</a:t>
            </a:r>
            <a:endParaRPr sz="2400">
              <a:latin typeface="Arial MT"/>
              <a:cs typeface="Arial MT"/>
            </a:endParaRPr>
          </a:p>
          <a:p>
            <a:pPr lvl="1" marL="568325" indent="-213360">
              <a:lnSpc>
                <a:spcPct val="100000"/>
              </a:lnSpc>
              <a:spcBef>
                <a:spcPts val="484"/>
              </a:spcBef>
              <a:buChar char="–"/>
              <a:tabLst>
                <a:tab pos="568325" algn="l"/>
              </a:tabLst>
            </a:pP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collection</a:t>
            </a:r>
            <a:endParaRPr sz="2000">
              <a:latin typeface="Arial MT"/>
              <a:cs typeface="Arial MT"/>
            </a:endParaRPr>
          </a:p>
          <a:p>
            <a:pPr lvl="1" marL="568325" indent="-213360">
              <a:lnSpc>
                <a:spcPct val="100000"/>
              </a:lnSpc>
              <a:spcBef>
                <a:spcPts val="480"/>
              </a:spcBef>
              <a:buChar char="–"/>
              <a:tabLst>
                <a:tab pos="568325" algn="l"/>
              </a:tabLst>
            </a:pP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cleaning</a:t>
            </a:r>
            <a:endParaRPr sz="2000">
              <a:latin typeface="Arial MT"/>
              <a:cs typeface="Arial MT"/>
            </a:endParaRPr>
          </a:p>
          <a:p>
            <a:pPr lvl="1" marL="568325" indent="-213360">
              <a:lnSpc>
                <a:spcPct val="100000"/>
              </a:lnSpc>
              <a:spcBef>
                <a:spcPts val="480"/>
              </a:spcBef>
              <a:buChar char="–"/>
              <a:tabLst>
                <a:tab pos="568325" algn="l"/>
              </a:tabLst>
            </a:pPr>
            <a:r>
              <a:rPr dirty="0" sz="2000">
                <a:latin typeface="Arial MT"/>
                <a:cs typeface="Arial MT"/>
              </a:rPr>
              <a:t>Feature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extraction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(labelling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dimensionality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reduction)</a:t>
            </a:r>
            <a:endParaRPr sz="2000">
              <a:latin typeface="Arial MT"/>
              <a:cs typeface="Arial MT"/>
            </a:endParaRPr>
          </a:p>
          <a:p>
            <a:pPr lvl="1" marL="568960" indent="-213995">
              <a:lnSpc>
                <a:spcPct val="100000"/>
              </a:lnSpc>
              <a:spcBef>
                <a:spcPts val="480"/>
              </a:spcBef>
              <a:buChar char="–"/>
              <a:tabLst>
                <a:tab pos="568960" algn="l"/>
              </a:tabLst>
            </a:pP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validation</a:t>
            </a:r>
            <a:endParaRPr sz="2000">
              <a:latin typeface="Arial MT"/>
              <a:cs typeface="Arial MT"/>
            </a:endParaRPr>
          </a:p>
          <a:p>
            <a:pPr lvl="1" marL="568325" indent="-213360">
              <a:lnSpc>
                <a:spcPct val="100000"/>
              </a:lnSpc>
              <a:spcBef>
                <a:spcPts val="484"/>
              </a:spcBef>
              <a:buChar char="–"/>
              <a:tabLst>
                <a:tab pos="568325" algn="l"/>
              </a:tabLst>
            </a:pPr>
            <a:r>
              <a:rPr dirty="0" sz="2000" spc="-10">
                <a:latin typeface="Arial MT"/>
                <a:cs typeface="Arial MT"/>
              </a:rPr>
              <a:t>Visualisation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6664" y="313182"/>
            <a:ext cx="480758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Machine</a:t>
            </a:r>
            <a:r>
              <a:rPr dirty="0" sz="32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20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Arial MT"/>
                <a:cs typeface="Arial MT"/>
              </a:rPr>
              <a:t>Pipeline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66517" y="1209801"/>
            <a:ext cx="2772410" cy="9036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7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Problem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Definition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57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collection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66517" y="2085948"/>
            <a:ext cx="3287395" cy="190373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9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extraction</a:t>
            </a:r>
            <a:endParaRPr sz="2400">
              <a:latin typeface="Arial MT"/>
              <a:cs typeface="Arial MT"/>
            </a:endParaRPr>
          </a:p>
          <a:p>
            <a:pPr lvl="1" marL="612140" indent="-256540">
              <a:lnSpc>
                <a:spcPct val="100000"/>
              </a:lnSpc>
              <a:spcBef>
                <a:spcPts val="455"/>
              </a:spcBef>
              <a:buChar char="–"/>
              <a:tabLst>
                <a:tab pos="612140" algn="l"/>
              </a:tabLst>
            </a:pPr>
            <a:r>
              <a:rPr dirty="0" sz="1850">
                <a:latin typeface="Arial MT"/>
                <a:cs typeface="Arial MT"/>
              </a:rPr>
              <a:t>Flattening,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Labeling</a:t>
            </a:r>
            <a:endParaRPr sz="185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56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preparation</a:t>
            </a:r>
            <a:endParaRPr sz="2400">
              <a:latin typeface="Arial MT"/>
              <a:cs typeface="Arial MT"/>
            </a:endParaRPr>
          </a:p>
          <a:p>
            <a:pPr lvl="1" marL="570230" indent="-214629">
              <a:lnSpc>
                <a:spcPct val="100000"/>
              </a:lnSpc>
              <a:spcBef>
                <a:spcPts val="445"/>
              </a:spcBef>
              <a:buChar char="–"/>
              <a:tabLst>
                <a:tab pos="570230" algn="l"/>
              </a:tabLst>
            </a:pPr>
            <a:r>
              <a:rPr dirty="0" sz="1800">
                <a:latin typeface="Arial MT"/>
                <a:cs typeface="Arial MT"/>
              </a:rPr>
              <a:t>Normalisation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type</a:t>
            </a:r>
            <a:endParaRPr sz="1800">
              <a:latin typeface="Arial MT"/>
              <a:cs typeface="Arial MT"/>
            </a:endParaRPr>
          </a:p>
          <a:p>
            <a:pPr lvl="1" marL="569595" indent="-213995">
              <a:lnSpc>
                <a:spcPct val="100000"/>
              </a:lnSpc>
              <a:spcBef>
                <a:spcPts val="430"/>
              </a:spcBef>
              <a:buChar char="–"/>
              <a:tabLst>
                <a:tab pos="569595" algn="l"/>
              </a:tabLst>
            </a:pPr>
            <a:r>
              <a:rPr dirty="0" sz="1800">
                <a:latin typeface="Arial MT"/>
                <a:cs typeface="Arial MT"/>
              </a:rPr>
              <a:t>Dimensionality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reduction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66517" y="3960748"/>
            <a:ext cx="3535045" cy="157416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9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Selection</a:t>
            </a:r>
            <a:endParaRPr sz="2400">
              <a:latin typeface="Arial MT"/>
              <a:cs typeface="Arial MT"/>
            </a:endParaRPr>
          </a:p>
          <a:p>
            <a:pPr lvl="1" marL="570230" indent="-214629">
              <a:lnSpc>
                <a:spcPct val="100000"/>
              </a:lnSpc>
              <a:spcBef>
                <a:spcPts val="445"/>
              </a:spcBef>
              <a:buChar char="–"/>
              <a:tabLst>
                <a:tab pos="570230" algn="l"/>
              </a:tabLst>
            </a:pPr>
            <a:r>
              <a:rPr dirty="0" sz="1800">
                <a:latin typeface="Arial MT"/>
                <a:cs typeface="Arial MT"/>
              </a:rPr>
              <a:t>Train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Test</a:t>
            </a:r>
            <a:endParaRPr sz="18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56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Performance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Evaluation</a:t>
            </a:r>
            <a:endParaRPr sz="2400">
              <a:latin typeface="Arial MT"/>
              <a:cs typeface="Arial MT"/>
            </a:endParaRPr>
          </a:p>
          <a:p>
            <a:pPr lvl="1" marL="612140" indent="-256540">
              <a:lnSpc>
                <a:spcPct val="100000"/>
              </a:lnSpc>
              <a:spcBef>
                <a:spcPts val="455"/>
              </a:spcBef>
              <a:buChar char="–"/>
              <a:tabLst>
                <a:tab pos="612140" algn="l"/>
              </a:tabLst>
            </a:pPr>
            <a:r>
              <a:rPr dirty="0" sz="1850" spc="-10">
                <a:latin typeface="Arial MT"/>
                <a:cs typeface="Arial MT"/>
              </a:rPr>
              <a:t>Visualisation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66517" y="5510970"/>
            <a:ext cx="2534920" cy="80073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535"/>
              </a:spcBef>
            </a:pP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46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Parameter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tuning</a:t>
            </a:r>
            <a:endParaRPr sz="185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56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Validation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26109" y="4175505"/>
            <a:ext cx="1708785" cy="809625"/>
            <a:chOff x="626109" y="4175505"/>
            <a:chExt cx="1708785" cy="809625"/>
          </a:xfrm>
        </p:grpSpPr>
        <p:sp>
          <p:nvSpPr>
            <p:cNvPr id="8" name="object 8" descr=""/>
            <p:cNvSpPr/>
            <p:nvPr/>
          </p:nvSpPr>
          <p:spPr>
            <a:xfrm>
              <a:off x="632459" y="4181855"/>
              <a:ext cx="1696085" cy="796925"/>
            </a:xfrm>
            <a:custGeom>
              <a:avLst/>
              <a:gdLst/>
              <a:ahLst/>
              <a:cxnLst/>
              <a:rect l="l" t="t" r="r" b="b"/>
              <a:pathLst>
                <a:path w="1696085" h="796925">
                  <a:moveTo>
                    <a:pt x="1353820" y="640080"/>
                  </a:moveTo>
                  <a:lnTo>
                    <a:pt x="947674" y="640080"/>
                  </a:lnTo>
                  <a:lnTo>
                    <a:pt x="1695703" y="796544"/>
                  </a:lnTo>
                  <a:lnTo>
                    <a:pt x="1353820" y="640080"/>
                  </a:lnTo>
                  <a:close/>
                </a:path>
                <a:path w="1696085" h="796925">
                  <a:moveTo>
                    <a:pt x="1517904" y="0"/>
                  </a:moveTo>
                  <a:lnTo>
                    <a:pt x="106680" y="0"/>
                  </a:lnTo>
                  <a:lnTo>
                    <a:pt x="65156" y="8382"/>
                  </a:lnTo>
                  <a:lnTo>
                    <a:pt x="31246" y="31242"/>
                  </a:lnTo>
                  <a:lnTo>
                    <a:pt x="8383" y="65151"/>
                  </a:lnTo>
                  <a:lnTo>
                    <a:pt x="0" y="106680"/>
                  </a:lnTo>
                  <a:lnTo>
                    <a:pt x="0" y="533400"/>
                  </a:lnTo>
                  <a:lnTo>
                    <a:pt x="8383" y="574929"/>
                  </a:lnTo>
                  <a:lnTo>
                    <a:pt x="31246" y="608838"/>
                  </a:lnTo>
                  <a:lnTo>
                    <a:pt x="65156" y="631698"/>
                  </a:lnTo>
                  <a:lnTo>
                    <a:pt x="106680" y="640080"/>
                  </a:lnTo>
                  <a:lnTo>
                    <a:pt x="1517904" y="640080"/>
                  </a:lnTo>
                  <a:lnTo>
                    <a:pt x="1559433" y="631698"/>
                  </a:lnTo>
                  <a:lnTo>
                    <a:pt x="1593342" y="608838"/>
                  </a:lnTo>
                  <a:lnTo>
                    <a:pt x="1616202" y="574929"/>
                  </a:lnTo>
                  <a:lnTo>
                    <a:pt x="1624584" y="533400"/>
                  </a:lnTo>
                  <a:lnTo>
                    <a:pt x="1624584" y="106680"/>
                  </a:lnTo>
                  <a:lnTo>
                    <a:pt x="1616202" y="65151"/>
                  </a:lnTo>
                  <a:lnTo>
                    <a:pt x="1593342" y="31242"/>
                  </a:lnTo>
                  <a:lnTo>
                    <a:pt x="1559433" y="8382"/>
                  </a:lnTo>
                  <a:lnTo>
                    <a:pt x="151790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2459" y="4181855"/>
              <a:ext cx="1696085" cy="796925"/>
            </a:xfrm>
            <a:custGeom>
              <a:avLst/>
              <a:gdLst/>
              <a:ahLst/>
              <a:cxnLst/>
              <a:rect l="l" t="t" r="r" b="b"/>
              <a:pathLst>
                <a:path w="1696085" h="796925">
                  <a:moveTo>
                    <a:pt x="0" y="106680"/>
                  </a:moveTo>
                  <a:lnTo>
                    <a:pt x="8383" y="65151"/>
                  </a:lnTo>
                  <a:lnTo>
                    <a:pt x="31246" y="31242"/>
                  </a:lnTo>
                  <a:lnTo>
                    <a:pt x="65156" y="8382"/>
                  </a:lnTo>
                  <a:lnTo>
                    <a:pt x="106680" y="0"/>
                  </a:lnTo>
                  <a:lnTo>
                    <a:pt x="947674" y="0"/>
                  </a:lnTo>
                  <a:lnTo>
                    <a:pt x="1353820" y="0"/>
                  </a:lnTo>
                  <a:lnTo>
                    <a:pt x="1517904" y="0"/>
                  </a:lnTo>
                  <a:lnTo>
                    <a:pt x="1559433" y="8382"/>
                  </a:lnTo>
                  <a:lnTo>
                    <a:pt x="1593342" y="31242"/>
                  </a:lnTo>
                  <a:lnTo>
                    <a:pt x="1616202" y="65151"/>
                  </a:lnTo>
                  <a:lnTo>
                    <a:pt x="1624584" y="106680"/>
                  </a:lnTo>
                  <a:lnTo>
                    <a:pt x="1624584" y="373380"/>
                  </a:lnTo>
                  <a:lnTo>
                    <a:pt x="1624584" y="533400"/>
                  </a:lnTo>
                  <a:lnTo>
                    <a:pt x="1616202" y="574929"/>
                  </a:lnTo>
                  <a:lnTo>
                    <a:pt x="1593342" y="608838"/>
                  </a:lnTo>
                  <a:lnTo>
                    <a:pt x="1559433" y="631698"/>
                  </a:lnTo>
                  <a:lnTo>
                    <a:pt x="1517904" y="640080"/>
                  </a:lnTo>
                  <a:lnTo>
                    <a:pt x="1353820" y="640080"/>
                  </a:lnTo>
                  <a:lnTo>
                    <a:pt x="1695703" y="796544"/>
                  </a:lnTo>
                  <a:lnTo>
                    <a:pt x="947674" y="640080"/>
                  </a:lnTo>
                  <a:lnTo>
                    <a:pt x="106680" y="640080"/>
                  </a:lnTo>
                  <a:lnTo>
                    <a:pt x="65156" y="631698"/>
                  </a:lnTo>
                  <a:lnTo>
                    <a:pt x="31246" y="608838"/>
                  </a:lnTo>
                  <a:lnTo>
                    <a:pt x="8383" y="574929"/>
                  </a:lnTo>
                  <a:lnTo>
                    <a:pt x="0" y="533400"/>
                  </a:lnTo>
                  <a:lnTo>
                    <a:pt x="0" y="373380"/>
                  </a:lnTo>
                  <a:lnTo>
                    <a:pt x="0" y="10668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41984" y="4242257"/>
            <a:ext cx="1084580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Selection</a:t>
            </a:r>
            <a:r>
              <a:rPr dirty="0" sz="1600" spc="-8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of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latin typeface="Arial MT"/>
                <a:cs typeface="Arial MT"/>
              </a:rPr>
              <a:t>metrics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6718" y="1083310"/>
            <a:ext cx="2202180" cy="889000"/>
            <a:chOff x="156718" y="1083310"/>
            <a:chExt cx="2202180" cy="889000"/>
          </a:xfrm>
        </p:grpSpPr>
        <p:sp>
          <p:nvSpPr>
            <p:cNvPr id="12" name="object 12" descr=""/>
            <p:cNvSpPr/>
            <p:nvPr/>
          </p:nvSpPr>
          <p:spPr>
            <a:xfrm>
              <a:off x="163068" y="1089660"/>
              <a:ext cx="2189480" cy="876300"/>
            </a:xfrm>
            <a:custGeom>
              <a:avLst/>
              <a:gdLst/>
              <a:ahLst/>
              <a:cxnLst/>
              <a:rect l="l" t="t" r="r" b="b"/>
              <a:pathLst>
                <a:path w="2189480" h="876300">
                  <a:moveTo>
                    <a:pt x="1568450" y="0"/>
                  </a:moveTo>
                  <a:lnTo>
                    <a:pt x="146050" y="0"/>
                  </a:lnTo>
                  <a:lnTo>
                    <a:pt x="99888" y="7447"/>
                  </a:lnTo>
                  <a:lnTo>
                    <a:pt x="59796" y="28183"/>
                  </a:lnTo>
                  <a:lnTo>
                    <a:pt x="28180" y="59801"/>
                  </a:lnTo>
                  <a:lnTo>
                    <a:pt x="7446" y="99893"/>
                  </a:lnTo>
                  <a:lnTo>
                    <a:pt x="0" y="146050"/>
                  </a:lnTo>
                  <a:lnTo>
                    <a:pt x="0" y="730250"/>
                  </a:lnTo>
                  <a:lnTo>
                    <a:pt x="7446" y="776406"/>
                  </a:lnTo>
                  <a:lnTo>
                    <a:pt x="28180" y="816498"/>
                  </a:lnTo>
                  <a:lnTo>
                    <a:pt x="59796" y="848116"/>
                  </a:lnTo>
                  <a:lnTo>
                    <a:pt x="99888" y="868852"/>
                  </a:lnTo>
                  <a:lnTo>
                    <a:pt x="146050" y="876300"/>
                  </a:lnTo>
                  <a:lnTo>
                    <a:pt x="1568450" y="876300"/>
                  </a:lnTo>
                  <a:lnTo>
                    <a:pt x="1614606" y="868852"/>
                  </a:lnTo>
                  <a:lnTo>
                    <a:pt x="1654698" y="848116"/>
                  </a:lnTo>
                  <a:lnTo>
                    <a:pt x="1686316" y="816498"/>
                  </a:lnTo>
                  <a:lnTo>
                    <a:pt x="1707052" y="776406"/>
                  </a:lnTo>
                  <a:lnTo>
                    <a:pt x="1714500" y="730250"/>
                  </a:lnTo>
                  <a:lnTo>
                    <a:pt x="2059790" y="730250"/>
                  </a:lnTo>
                  <a:lnTo>
                    <a:pt x="1714500" y="511175"/>
                  </a:lnTo>
                  <a:lnTo>
                    <a:pt x="1714500" y="146050"/>
                  </a:lnTo>
                  <a:lnTo>
                    <a:pt x="1707052" y="99893"/>
                  </a:lnTo>
                  <a:lnTo>
                    <a:pt x="1686316" y="59801"/>
                  </a:lnTo>
                  <a:lnTo>
                    <a:pt x="1654698" y="28183"/>
                  </a:lnTo>
                  <a:lnTo>
                    <a:pt x="1614606" y="7447"/>
                  </a:lnTo>
                  <a:lnTo>
                    <a:pt x="1568450" y="0"/>
                  </a:lnTo>
                  <a:close/>
                </a:path>
                <a:path w="2189480" h="876300">
                  <a:moveTo>
                    <a:pt x="2059790" y="730250"/>
                  </a:moveTo>
                  <a:lnTo>
                    <a:pt x="1714500" y="730250"/>
                  </a:lnTo>
                  <a:lnTo>
                    <a:pt x="2189099" y="812291"/>
                  </a:lnTo>
                  <a:lnTo>
                    <a:pt x="2059790" y="73025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3068" y="1089660"/>
              <a:ext cx="2189480" cy="876300"/>
            </a:xfrm>
            <a:custGeom>
              <a:avLst/>
              <a:gdLst/>
              <a:ahLst/>
              <a:cxnLst/>
              <a:rect l="l" t="t" r="r" b="b"/>
              <a:pathLst>
                <a:path w="2189480" h="876300">
                  <a:moveTo>
                    <a:pt x="0" y="146050"/>
                  </a:moveTo>
                  <a:lnTo>
                    <a:pt x="7446" y="99893"/>
                  </a:lnTo>
                  <a:lnTo>
                    <a:pt x="28180" y="59801"/>
                  </a:lnTo>
                  <a:lnTo>
                    <a:pt x="59796" y="28183"/>
                  </a:lnTo>
                  <a:lnTo>
                    <a:pt x="99888" y="7447"/>
                  </a:lnTo>
                  <a:lnTo>
                    <a:pt x="146050" y="0"/>
                  </a:lnTo>
                  <a:lnTo>
                    <a:pt x="1000125" y="0"/>
                  </a:lnTo>
                  <a:lnTo>
                    <a:pt x="1428750" y="0"/>
                  </a:lnTo>
                  <a:lnTo>
                    <a:pt x="1568450" y="0"/>
                  </a:lnTo>
                  <a:lnTo>
                    <a:pt x="1614606" y="7447"/>
                  </a:lnTo>
                  <a:lnTo>
                    <a:pt x="1654698" y="28183"/>
                  </a:lnTo>
                  <a:lnTo>
                    <a:pt x="1686316" y="59801"/>
                  </a:lnTo>
                  <a:lnTo>
                    <a:pt x="1707052" y="99893"/>
                  </a:lnTo>
                  <a:lnTo>
                    <a:pt x="1714500" y="146050"/>
                  </a:lnTo>
                  <a:lnTo>
                    <a:pt x="1714500" y="511175"/>
                  </a:lnTo>
                  <a:lnTo>
                    <a:pt x="2189099" y="812291"/>
                  </a:lnTo>
                  <a:lnTo>
                    <a:pt x="1714500" y="730250"/>
                  </a:lnTo>
                  <a:lnTo>
                    <a:pt x="1707052" y="776406"/>
                  </a:lnTo>
                  <a:lnTo>
                    <a:pt x="1686316" y="816498"/>
                  </a:lnTo>
                  <a:lnTo>
                    <a:pt x="1654698" y="848116"/>
                  </a:lnTo>
                  <a:lnTo>
                    <a:pt x="1614606" y="868852"/>
                  </a:lnTo>
                  <a:lnTo>
                    <a:pt x="1568450" y="876300"/>
                  </a:lnTo>
                  <a:lnTo>
                    <a:pt x="1428750" y="876300"/>
                  </a:lnTo>
                  <a:lnTo>
                    <a:pt x="1000125" y="876300"/>
                  </a:lnTo>
                  <a:lnTo>
                    <a:pt x="146050" y="876300"/>
                  </a:lnTo>
                  <a:lnTo>
                    <a:pt x="99888" y="868852"/>
                  </a:lnTo>
                  <a:lnTo>
                    <a:pt x="59796" y="848116"/>
                  </a:lnTo>
                  <a:lnTo>
                    <a:pt x="28180" y="816498"/>
                  </a:lnTo>
                  <a:lnTo>
                    <a:pt x="7446" y="776406"/>
                  </a:lnTo>
                  <a:lnTo>
                    <a:pt x="0" y="730250"/>
                  </a:lnTo>
                  <a:lnTo>
                    <a:pt x="0" y="511175"/>
                  </a:lnTo>
                  <a:lnTo>
                    <a:pt x="0" y="1460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85089" y="1160779"/>
            <a:ext cx="140589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What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 </a:t>
            </a:r>
            <a:r>
              <a:rPr dirty="0" sz="1600" spc="-20">
                <a:latin typeface="Arial MT"/>
                <a:cs typeface="Arial MT"/>
              </a:rPr>
              <a:t>have </a:t>
            </a:r>
            <a:r>
              <a:rPr dirty="0" sz="1600">
                <a:latin typeface="Arial MT"/>
                <a:cs typeface="Arial MT"/>
              </a:rPr>
              <a:t>What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 </a:t>
            </a:r>
            <a:r>
              <a:rPr dirty="0" sz="1600" spc="-20">
                <a:latin typeface="Arial MT"/>
                <a:cs typeface="Arial MT"/>
              </a:rPr>
              <a:t>need </a:t>
            </a:r>
            <a:r>
              <a:rPr dirty="0" sz="1600">
                <a:latin typeface="Arial MT"/>
                <a:cs typeface="Arial MT"/>
              </a:rPr>
              <a:t>What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can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get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347589" y="2435605"/>
            <a:ext cx="2262505" cy="988060"/>
            <a:chOff x="5347589" y="2435605"/>
            <a:chExt cx="2262505" cy="988060"/>
          </a:xfrm>
        </p:grpSpPr>
        <p:sp>
          <p:nvSpPr>
            <p:cNvPr id="16" name="object 16" descr=""/>
            <p:cNvSpPr/>
            <p:nvPr/>
          </p:nvSpPr>
          <p:spPr>
            <a:xfrm>
              <a:off x="5353939" y="2441955"/>
              <a:ext cx="2249805" cy="975360"/>
            </a:xfrm>
            <a:custGeom>
              <a:avLst/>
              <a:gdLst/>
              <a:ahLst/>
              <a:cxnLst/>
              <a:rect l="l" t="t" r="r" b="b"/>
              <a:pathLst>
                <a:path w="2249804" h="975360">
                  <a:moveTo>
                    <a:pt x="2143125" y="337820"/>
                  </a:moveTo>
                  <a:lnTo>
                    <a:pt x="595249" y="337820"/>
                  </a:lnTo>
                  <a:lnTo>
                    <a:pt x="553906" y="346158"/>
                  </a:lnTo>
                  <a:lnTo>
                    <a:pt x="520160" y="368903"/>
                  </a:lnTo>
                  <a:lnTo>
                    <a:pt x="497415" y="402649"/>
                  </a:lnTo>
                  <a:lnTo>
                    <a:pt x="489076" y="443992"/>
                  </a:lnTo>
                  <a:lnTo>
                    <a:pt x="489076" y="868680"/>
                  </a:lnTo>
                  <a:lnTo>
                    <a:pt x="497415" y="910022"/>
                  </a:lnTo>
                  <a:lnTo>
                    <a:pt x="520160" y="943768"/>
                  </a:lnTo>
                  <a:lnTo>
                    <a:pt x="553906" y="966513"/>
                  </a:lnTo>
                  <a:lnTo>
                    <a:pt x="595249" y="974852"/>
                  </a:lnTo>
                  <a:lnTo>
                    <a:pt x="2143125" y="974852"/>
                  </a:lnTo>
                  <a:lnTo>
                    <a:pt x="2184467" y="966513"/>
                  </a:lnTo>
                  <a:lnTo>
                    <a:pt x="2218213" y="943768"/>
                  </a:lnTo>
                  <a:lnTo>
                    <a:pt x="2240958" y="910022"/>
                  </a:lnTo>
                  <a:lnTo>
                    <a:pt x="2249296" y="868680"/>
                  </a:lnTo>
                  <a:lnTo>
                    <a:pt x="2249296" y="443992"/>
                  </a:lnTo>
                  <a:lnTo>
                    <a:pt x="2240958" y="402649"/>
                  </a:lnTo>
                  <a:lnTo>
                    <a:pt x="2218213" y="368903"/>
                  </a:lnTo>
                  <a:lnTo>
                    <a:pt x="2184467" y="346158"/>
                  </a:lnTo>
                  <a:lnTo>
                    <a:pt x="2143125" y="337820"/>
                  </a:lnTo>
                  <a:close/>
                </a:path>
                <a:path w="2249804" h="975360">
                  <a:moveTo>
                    <a:pt x="0" y="0"/>
                  </a:moveTo>
                  <a:lnTo>
                    <a:pt x="782447" y="337820"/>
                  </a:lnTo>
                  <a:lnTo>
                    <a:pt x="1222502" y="33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53939" y="2441955"/>
              <a:ext cx="2249805" cy="975360"/>
            </a:xfrm>
            <a:custGeom>
              <a:avLst/>
              <a:gdLst/>
              <a:ahLst/>
              <a:cxnLst/>
              <a:rect l="l" t="t" r="r" b="b"/>
              <a:pathLst>
                <a:path w="2249804" h="975360">
                  <a:moveTo>
                    <a:pt x="489076" y="443992"/>
                  </a:moveTo>
                  <a:lnTo>
                    <a:pt x="497415" y="402649"/>
                  </a:lnTo>
                  <a:lnTo>
                    <a:pt x="520160" y="368903"/>
                  </a:lnTo>
                  <a:lnTo>
                    <a:pt x="553906" y="346158"/>
                  </a:lnTo>
                  <a:lnTo>
                    <a:pt x="595249" y="337820"/>
                  </a:lnTo>
                  <a:lnTo>
                    <a:pt x="782447" y="337820"/>
                  </a:lnTo>
                  <a:lnTo>
                    <a:pt x="0" y="0"/>
                  </a:lnTo>
                  <a:lnTo>
                    <a:pt x="1222502" y="337820"/>
                  </a:lnTo>
                  <a:lnTo>
                    <a:pt x="2143125" y="337820"/>
                  </a:lnTo>
                  <a:lnTo>
                    <a:pt x="2184467" y="346158"/>
                  </a:lnTo>
                  <a:lnTo>
                    <a:pt x="2218213" y="368903"/>
                  </a:lnTo>
                  <a:lnTo>
                    <a:pt x="2240958" y="402649"/>
                  </a:lnTo>
                  <a:lnTo>
                    <a:pt x="2249296" y="443992"/>
                  </a:lnTo>
                  <a:lnTo>
                    <a:pt x="2249296" y="603250"/>
                  </a:lnTo>
                  <a:lnTo>
                    <a:pt x="2249296" y="868680"/>
                  </a:lnTo>
                  <a:lnTo>
                    <a:pt x="2240958" y="910022"/>
                  </a:lnTo>
                  <a:lnTo>
                    <a:pt x="2218213" y="943768"/>
                  </a:lnTo>
                  <a:lnTo>
                    <a:pt x="2184467" y="966513"/>
                  </a:lnTo>
                  <a:lnTo>
                    <a:pt x="2143125" y="974852"/>
                  </a:lnTo>
                  <a:lnTo>
                    <a:pt x="1222502" y="974852"/>
                  </a:lnTo>
                  <a:lnTo>
                    <a:pt x="782447" y="974852"/>
                  </a:lnTo>
                  <a:lnTo>
                    <a:pt x="595249" y="974852"/>
                  </a:lnTo>
                  <a:lnTo>
                    <a:pt x="553906" y="966513"/>
                  </a:lnTo>
                  <a:lnTo>
                    <a:pt x="520160" y="943768"/>
                  </a:lnTo>
                  <a:lnTo>
                    <a:pt x="497415" y="910022"/>
                  </a:lnTo>
                  <a:lnTo>
                    <a:pt x="489076" y="868680"/>
                  </a:lnTo>
                  <a:lnTo>
                    <a:pt x="489076" y="603250"/>
                  </a:lnTo>
                  <a:lnTo>
                    <a:pt x="489076" y="44399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953125" y="2839288"/>
            <a:ext cx="1537970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Exploratory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Arial MT"/>
                <a:cs typeface="Arial MT"/>
              </a:rPr>
              <a:t>Analysis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(EDA)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372100" y="4148073"/>
            <a:ext cx="3354704" cy="662305"/>
            <a:chOff x="5372100" y="4148073"/>
            <a:chExt cx="3354704" cy="662305"/>
          </a:xfrm>
        </p:grpSpPr>
        <p:sp>
          <p:nvSpPr>
            <p:cNvPr id="20" name="object 20" descr=""/>
            <p:cNvSpPr/>
            <p:nvPr/>
          </p:nvSpPr>
          <p:spPr>
            <a:xfrm>
              <a:off x="5378450" y="4154423"/>
              <a:ext cx="3342004" cy="649605"/>
            </a:xfrm>
            <a:custGeom>
              <a:avLst/>
              <a:gdLst/>
              <a:ahLst/>
              <a:cxnLst/>
              <a:rect l="l" t="t" r="r" b="b"/>
              <a:pathLst>
                <a:path w="3342004" h="649604">
                  <a:moveTo>
                    <a:pt x="3233674" y="0"/>
                  </a:moveTo>
                  <a:lnTo>
                    <a:pt x="851662" y="0"/>
                  </a:lnTo>
                  <a:lnTo>
                    <a:pt x="809519" y="8495"/>
                  </a:lnTo>
                  <a:lnTo>
                    <a:pt x="775128" y="31670"/>
                  </a:lnTo>
                  <a:lnTo>
                    <a:pt x="751953" y="66061"/>
                  </a:lnTo>
                  <a:lnTo>
                    <a:pt x="743458" y="108203"/>
                  </a:lnTo>
                  <a:lnTo>
                    <a:pt x="0" y="175132"/>
                  </a:lnTo>
                  <a:lnTo>
                    <a:pt x="743458" y="270509"/>
                  </a:lnTo>
                  <a:lnTo>
                    <a:pt x="743458" y="541019"/>
                  </a:lnTo>
                  <a:lnTo>
                    <a:pt x="751953" y="583162"/>
                  </a:lnTo>
                  <a:lnTo>
                    <a:pt x="775128" y="617553"/>
                  </a:lnTo>
                  <a:lnTo>
                    <a:pt x="809519" y="640728"/>
                  </a:lnTo>
                  <a:lnTo>
                    <a:pt x="851662" y="649224"/>
                  </a:lnTo>
                  <a:lnTo>
                    <a:pt x="3233674" y="649224"/>
                  </a:lnTo>
                  <a:lnTo>
                    <a:pt x="3275816" y="640728"/>
                  </a:lnTo>
                  <a:lnTo>
                    <a:pt x="3310207" y="617553"/>
                  </a:lnTo>
                  <a:lnTo>
                    <a:pt x="3333382" y="583162"/>
                  </a:lnTo>
                  <a:lnTo>
                    <a:pt x="3341878" y="541019"/>
                  </a:lnTo>
                  <a:lnTo>
                    <a:pt x="3341878" y="108203"/>
                  </a:lnTo>
                  <a:lnTo>
                    <a:pt x="3333382" y="66061"/>
                  </a:lnTo>
                  <a:lnTo>
                    <a:pt x="3310207" y="31670"/>
                  </a:lnTo>
                  <a:lnTo>
                    <a:pt x="3275816" y="8495"/>
                  </a:lnTo>
                  <a:lnTo>
                    <a:pt x="323367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378450" y="4154423"/>
              <a:ext cx="3342004" cy="649605"/>
            </a:xfrm>
            <a:custGeom>
              <a:avLst/>
              <a:gdLst/>
              <a:ahLst/>
              <a:cxnLst/>
              <a:rect l="l" t="t" r="r" b="b"/>
              <a:pathLst>
                <a:path w="3342004" h="649604">
                  <a:moveTo>
                    <a:pt x="743458" y="108203"/>
                  </a:moveTo>
                  <a:lnTo>
                    <a:pt x="751953" y="66061"/>
                  </a:lnTo>
                  <a:lnTo>
                    <a:pt x="775128" y="31670"/>
                  </a:lnTo>
                  <a:lnTo>
                    <a:pt x="809519" y="8495"/>
                  </a:lnTo>
                  <a:lnTo>
                    <a:pt x="851662" y="0"/>
                  </a:lnTo>
                  <a:lnTo>
                    <a:pt x="1176527" y="0"/>
                  </a:lnTo>
                  <a:lnTo>
                    <a:pt x="1826132" y="0"/>
                  </a:lnTo>
                  <a:lnTo>
                    <a:pt x="3233674" y="0"/>
                  </a:lnTo>
                  <a:lnTo>
                    <a:pt x="3275816" y="8495"/>
                  </a:lnTo>
                  <a:lnTo>
                    <a:pt x="3310207" y="31670"/>
                  </a:lnTo>
                  <a:lnTo>
                    <a:pt x="3333382" y="66061"/>
                  </a:lnTo>
                  <a:lnTo>
                    <a:pt x="3341878" y="108203"/>
                  </a:lnTo>
                  <a:lnTo>
                    <a:pt x="3341878" y="270509"/>
                  </a:lnTo>
                  <a:lnTo>
                    <a:pt x="3341878" y="541019"/>
                  </a:lnTo>
                  <a:lnTo>
                    <a:pt x="3333382" y="583162"/>
                  </a:lnTo>
                  <a:lnTo>
                    <a:pt x="3310207" y="617553"/>
                  </a:lnTo>
                  <a:lnTo>
                    <a:pt x="3275816" y="640728"/>
                  </a:lnTo>
                  <a:lnTo>
                    <a:pt x="3233674" y="649224"/>
                  </a:lnTo>
                  <a:lnTo>
                    <a:pt x="1826132" y="649224"/>
                  </a:lnTo>
                  <a:lnTo>
                    <a:pt x="1176527" y="649224"/>
                  </a:lnTo>
                  <a:lnTo>
                    <a:pt x="851662" y="649224"/>
                  </a:lnTo>
                  <a:lnTo>
                    <a:pt x="809519" y="640728"/>
                  </a:lnTo>
                  <a:lnTo>
                    <a:pt x="775128" y="617553"/>
                  </a:lnTo>
                  <a:lnTo>
                    <a:pt x="751953" y="583162"/>
                  </a:lnTo>
                  <a:lnTo>
                    <a:pt x="743458" y="541019"/>
                  </a:lnTo>
                  <a:lnTo>
                    <a:pt x="743458" y="270509"/>
                  </a:lnTo>
                  <a:lnTo>
                    <a:pt x="0" y="175132"/>
                  </a:lnTo>
                  <a:lnTo>
                    <a:pt x="743458" y="108203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232905" y="4215765"/>
            <a:ext cx="229171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May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have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special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data </a:t>
            </a:r>
            <a:r>
              <a:rPr dirty="0" sz="1600" spc="-10">
                <a:latin typeface="Arial MT"/>
                <a:cs typeface="Arial MT"/>
              </a:rPr>
              <a:t>preparation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requirements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020436" y="5729973"/>
            <a:ext cx="2821305" cy="426084"/>
            <a:chOff x="5020436" y="5729973"/>
            <a:chExt cx="2821305" cy="426084"/>
          </a:xfrm>
        </p:grpSpPr>
        <p:sp>
          <p:nvSpPr>
            <p:cNvPr id="24" name="object 24" descr=""/>
            <p:cNvSpPr/>
            <p:nvPr/>
          </p:nvSpPr>
          <p:spPr>
            <a:xfrm>
              <a:off x="5026786" y="5736323"/>
              <a:ext cx="2808605" cy="413384"/>
            </a:xfrm>
            <a:custGeom>
              <a:avLst/>
              <a:gdLst/>
              <a:ahLst/>
              <a:cxnLst/>
              <a:rect l="l" t="t" r="r" b="b"/>
              <a:pathLst>
                <a:path w="2808604" h="413385">
                  <a:moveTo>
                    <a:pt x="0" y="0"/>
                  </a:moveTo>
                  <a:lnTo>
                    <a:pt x="604392" y="196989"/>
                  </a:lnTo>
                  <a:lnTo>
                    <a:pt x="604392" y="351294"/>
                  </a:lnTo>
                  <a:lnTo>
                    <a:pt x="609250" y="375319"/>
                  </a:lnTo>
                  <a:lnTo>
                    <a:pt x="622490" y="394938"/>
                  </a:lnTo>
                  <a:lnTo>
                    <a:pt x="642112" y="408166"/>
                  </a:lnTo>
                  <a:lnTo>
                    <a:pt x="666114" y="413016"/>
                  </a:lnTo>
                  <a:lnTo>
                    <a:pt x="2746374" y="413016"/>
                  </a:lnTo>
                  <a:lnTo>
                    <a:pt x="2770377" y="408166"/>
                  </a:lnTo>
                  <a:lnTo>
                    <a:pt x="2789999" y="394938"/>
                  </a:lnTo>
                  <a:lnTo>
                    <a:pt x="2803239" y="375319"/>
                  </a:lnTo>
                  <a:lnTo>
                    <a:pt x="2808096" y="351294"/>
                  </a:lnTo>
                  <a:lnTo>
                    <a:pt x="2808096" y="104406"/>
                  </a:lnTo>
                  <a:lnTo>
                    <a:pt x="604392" y="104406"/>
                  </a:lnTo>
                  <a:lnTo>
                    <a:pt x="0" y="0"/>
                  </a:lnTo>
                  <a:close/>
                </a:path>
                <a:path w="2808604" h="413385">
                  <a:moveTo>
                    <a:pt x="2746374" y="42684"/>
                  </a:moveTo>
                  <a:lnTo>
                    <a:pt x="666114" y="42684"/>
                  </a:lnTo>
                  <a:lnTo>
                    <a:pt x="642112" y="47535"/>
                  </a:lnTo>
                  <a:lnTo>
                    <a:pt x="622490" y="60763"/>
                  </a:lnTo>
                  <a:lnTo>
                    <a:pt x="609250" y="80382"/>
                  </a:lnTo>
                  <a:lnTo>
                    <a:pt x="604392" y="104406"/>
                  </a:lnTo>
                  <a:lnTo>
                    <a:pt x="2808096" y="104406"/>
                  </a:lnTo>
                  <a:lnTo>
                    <a:pt x="2803239" y="80382"/>
                  </a:lnTo>
                  <a:lnTo>
                    <a:pt x="2789999" y="60763"/>
                  </a:lnTo>
                  <a:lnTo>
                    <a:pt x="2770377" y="47535"/>
                  </a:lnTo>
                  <a:lnTo>
                    <a:pt x="2746374" y="426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026786" y="5736323"/>
              <a:ext cx="2808605" cy="413384"/>
            </a:xfrm>
            <a:custGeom>
              <a:avLst/>
              <a:gdLst/>
              <a:ahLst/>
              <a:cxnLst/>
              <a:rect l="l" t="t" r="r" b="b"/>
              <a:pathLst>
                <a:path w="2808604" h="413385">
                  <a:moveTo>
                    <a:pt x="604392" y="104406"/>
                  </a:moveTo>
                  <a:lnTo>
                    <a:pt x="609250" y="80382"/>
                  </a:lnTo>
                  <a:lnTo>
                    <a:pt x="622490" y="60763"/>
                  </a:lnTo>
                  <a:lnTo>
                    <a:pt x="642112" y="47535"/>
                  </a:lnTo>
                  <a:lnTo>
                    <a:pt x="666114" y="42684"/>
                  </a:lnTo>
                  <a:lnTo>
                    <a:pt x="971676" y="42684"/>
                  </a:lnTo>
                  <a:lnTo>
                    <a:pt x="1522603" y="42684"/>
                  </a:lnTo>
                  <a:lnTo>
                    <a:pt x="2746374" y="42684"/>
                  </a:lnTo>
                  <a:lnTo>
                    <a:pt x="2770377" y="47535"/>
                  </a:lnTo>
                  <a:lnTo>
                    <a:pt x="2789999" y="60763"/>
                  </a:lnTo>
                  <a:lnTo>
                    <a:pt x="2803239" y="80382"/>
                  </a:lnTo>
                  <a:lnTo>
                    <a:pt x="2808096" y="104406"/>
                  </a:lnTo>
                  <a:lnTo>
                    <a:pt x="2808096" y="196989"/>
                  </a:lnTo>
                  <a:lnTo>
                    <a:pt x="2808096" y="351294"/>
                  </a:lnTo>
                  <a:lnTo>
                    <a:pt x="2803239" y="375319"/>
                  </a:lnTo>
                  <a:lnTo>
                    <a:pt x="2789999" y="394938"/>
                  </a:lnTo>
                  <a:lnTo>
                    <a:pt x="2770377" y="408166"/>
                  </a:lnTo>
                  <a:lnTo>
                    <a:pt x="2746374" y="413016"/>
                  </a:lnTo>
                  <a:lnTo>
                    <a:pt x="1522603" y="413016"/>
                  </a:lnTo>
                  <a:lnTo>
                    <a:pt x="971676" y="413016"/>
                  </a:lnTo>
                  <a:lnTo>
                    <a:pt x="666114" y="413016"/>
                  </a:lnTo>
                  <a:lnTo>
                    <a:pt x="642112" y="408166"/>
                  </a:lnTo>
                  <a:lnTo>
                    <a:pt x="622490" y="394938"/>
                  </a:lnTo>
                  <a:lnTo>
                    <a:pt x="609250" y="375319"/>
                  </a:lnTo>
                  <a:lnTo>
                    <a:pt x="604392" y="351294"/>
                  </a:lnTo>
                  <a:lnTo>
                    <a:pt x="604392" y="196989"/>
                  </a:lnTo>
                  <a:lnTo>
                    <a:pt x="0" y="0"/>
                  </a:lnTo>
                  <a:lnTo>
                    <a:pt x="604392" y="10440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728461" y="5826963"/>
            <a:ext cx="2007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Repeat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Train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Test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186934" y="1545082"/>
            <a:ext cx="3646804" cy="427355"/>
            <a:chOff x="5186934" y="1545082"/>
            <a:chExt cx="3646804" cy="427355"/>
          </a:xfrm>
        </p:grpSpPr>
        <p:sp>
          <p:nvSpPr>
            <p:cNvPr id="28" name="object 28" descr=""/>
            <p:cNvSpPr/>
            <p:nvPr/>
          </p:nvSpPr>
          <p:spPr>
            <a:xfrm>
              <a:off x="5193284" y="1551432"/>
              <a:ext cx="3634104" cy="414655"/>
            </a:xfrm>
            <a:custGeom>
              <a:avLst/>
              <a:gdLst/>
              <a:ahLst/>
              <a:cxnLst/>
              <a:rect l="l" t="t" r="r" b="b"/>
              <a:pathLst>
                <a:path w="3634104" h="414655">
                  <a:moveTo>
                    <a:pt x="0" y="0"/>
                  </a:moveTo>
                  <a:lnTo>
                    <a:pt x="437895" y="186943"/>
                  </a:lnTo>
                  <a:lnTo>
                    <a:pt x="437895" y="349503"/>
                  </a:lnTo>
                  <a:lnTo>
                    <a:pt x="443001" y="374826"/>
                  </a:lnTo>
                  <a:lnTo>
                    <a:pt x="456930" y="395493"/>
                  </a:lnTo>
                  <a:lnTo>
                    <a:pt x="477597" y="409422"/>
                  </a:lnTo>
                  <a:lnTo>
                    <a:pt x="502919" y="414527"/>
                  </a:lnTo>
                  <a:lnTo>
                    <a:pt x="3568699" y="414527"/>
                  </a:lnTo>
                  <a:lnTo>
                    <a:pt x="3594022" y="409422"/>
                  </a:lnTo>
                  <a:lnTo>
                    <a:pt x="3614689" y="395493"/>
                  </a:lnTo>
                  <a:lnTo>
                    <a:pt x="3628618" y="374826"/>
                  </a:lnTo>
                  <a:lnTo>
                    <a:pt x="3633723" y="349503"/>
                  </a:lnTo>
                  <a:lnTo>
                    <a:pt x="3633723" y="89407"/>
                  </a:lnTo>
                  <a:lnTo>
                    <a:pt x="437895" y="89407"/>
                  </a:lnTo>
                  <a:lnTo>
                    <a:pt x="0" y="0"/>
                  </a:lnTo>
                  <a:close/>
                </a:path>
                <a:path w="3634104" h="414655">
                  <a:moveTo>
                    <a:pt x="3568699" y="24383"/>
                  </a:moveTo>
                  <a:lnTo>
                    <a:pt x="502919" y="24383"/>
                  </a:lnTo>
                  <a:lnTo>
                    <a:pt x="477597" y="29489"/>
                  </a:lnTo>
                  <a:lnTo>
                    <a:pt x="456930" y="43418"/>
                  </a:lnTo>
                  <a:lnTo>
                    <a:pt x="443001" y="64085"/>
                  </a:lnTo>
                  <a:lnTo>
                    <a:pt x="437895" y="89407"/>
                  </a:lnTo>
                  <a:lnTo>
                    <a:pt x="3633723" y="89407"/>
                  </a:lnTo>
                  <a:lnTo>
                    <a:pt x="3628618" y="64085"/>
                  </a:lnTo>
                  <a:lnTo>
                    <a:pt x="3614689" y="43418"/>
                  </a:lnTo>
                  <a:lnTo>
                    <a:pt x="3594022" y="29489"/>
                  </a:lnTo>
                  <a:lnTo>
                    <a:pt x="3568699" y="243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193284" y="1551432"/>
              <a:ext cx="3634104" cy="414655"/>
            </a:xfrm>
            <a:custGeom>
              <a:avLst/>
              <a:gdLst/>
              <a:ahLst/>
              <a:cxnLst/>
              <a:rect l="l" t="t" r="r" b="b"/>
              <a:pathLst>
                <a:path w="3634104" h="414655">
                  <a:moveTo>
                    <a:pt x="437895" y="89407"/>
                  </a:moveTo>
                  <a:lnTo>
                    <a:pt x="443001" y="64085"/>
                  </a:lnTo>
                  <a:lnTo>
                    <a:pt x="456930" y="43418"/>
                  </a:lnTo>
                  <a:lnTo>
                    <a:pt x="477597" y="29489"/>
                  </a:lnTo>
                  <a:lnTo>
                    <a:pt x="502919" y="24383"/>
                  </a:lnTo>
                  <a:lnTo>
                    <a:pt x="970533" y="24383"/>
                  </a:lnTo>
                  <a:lnTo>
                    <a:pt x="1769490" y="24383"/>
                  </a:lnTo>
                  <a:lnTo>
                    <a:pt x="3568699" y="24383"/>
                  </a:lnTo>
                  <a:lnTo>
                    <a:pt x="3594022" y="29489"/>
                  </a:lnTo>
                  <a:lnTo>
                    <a:pt x="3614689" y="43418"/>
                  </a:lnTo>
                  <a:lnTo>
                    <a:pt x="3628618" y="64085"/>
                  </a:lnTo>
                  <a:lnTo>
                    <a:pt x="3633723" y="89407"/>
                  </a:lnTo>
                  <a:lnTo>
                    <a:pt x="3633723" y="186943"/>
                  </a:lnTo>
                  <a:lnTo>
                    <a:pt x="3633723" y="349503"/>
                  </a:lnTo>
                  <a:lnTo>
                    <a:pt x="3628618" y="374826"/>
                  </a:lnTo>
                  <a:lnTo>
                    <a:pt x="3614689" y="395493"/>
                  </a:lnTo>
                  <a:lnTo>
                    <a:pt x="3594022" y="409422"/>
                  </a:lnTo>
                  <a:lnTo>
                    <a:pt x="3568699" y="414527"/>
                  </a:lnTo>
                  <a:lnTo>
                    <a:pt x="1769490" y="414527"/>
                  </a:lnTo>
                  <a:lnTo>
                    <a:pt x="970533" y="414527"/>
                  </a:lnTo>
                  <a:lnTo>
                    <a:pt x="502919" y="414527"/>
                  </a:lnTo>
                  <a:lnTo>
                    <a:pt x="477597" y="409422"/>
                  </a:lnTo>
                  <a:lnTo>
                    <a:pt x="456930" y="395493"/>
                  </a:lnTo>
                  <a:lnTo>
                    <a:pt x="443001" y="374826"/>
                  </a:lnTo>
                  <a:lnTo>
                    <a:pt x="437895" y="349503"/>
                  </a:lnTo>
                  <a:lnTo>
                    <a:pt x="437895" y="186943"/>
                  </a:lnTo>
                  <a:lnTo>
                    <a:pt x="0" y="0"/>
                  </a:lnTo>
                  <a:lnTo>
                    <a:pt x="437895" y="8940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729478" y="1624329"/>
            <a:ext cx="298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“Objective”</a:t>
            </a:r>
            <a:r>
              <a:rPr dirty="0" sz="1600" spc="-5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“objective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function”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163829" y="4010405"/>
            <a:ext cx="8865235" cy="10160"/>
          </a:xfrm>
          <a:custGeom>
            <a:avLst/>
            <a:gdLst/>
            <a:ahLst/>
            <a:cxnLst/>
            <a:rect l="l" t="t" r="r" b="b"/>
            <a:pathLst>
              <a:path w="8865235" h="10160">
                <a:moveTo>
                  <a:pt x="0" y="9652"/>
                </a:moveTo>
                <a:lnTo>
                  <a:pt x="8864854" y="0"/>
                </a:lnTo>
              </a:path>
            </a:pathLst>
          </a:custGeom>
          <a:ln w="381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63829" y="2146554"/>
            <a:ext cx="8865235" cy="10160"/>
          </a:xfrm>
          <a:custGeom>
            <a:avLst/>
            <a:gdLst/>
            <a:ahLst/>
            <a:cxnLst/>
            <a:rect l="l" t="t" r="r" b="b"/>
            <a:pathLst>
              <a:path w="8865235" h="10160">
                <a:moveTo>
                  <a:pt x="0" y="9651"/>
                </a:moveTo>
                <a:lnTo>
                  <a:pt x="8864854" y="0"/>
                </a:lnTo>
              </a:path>
            </a:pathLst>
          </a:custGeom>
          <a:ln w="381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74285" y="1533651"/>
            <a:ext cx="3993515" cy="42938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Problem</a:t>
            </a:r>
            <a:r>
              <a:rPr dirty="0" sz="2400" spc="-65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Definition</a:t>
            </a:r>
            <a:endParaRPr sz="2400">
              <a:latin typeface="Arial"/>
              <a:cs typeface="Arial"/>
            </a:endParaRPr>
          </a:p>
          <a:p>
            <a:pPr marL="269875" marR="800735" indent="-25781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Decide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what </a:t>
            </a:r>
            <a:r>
              <a:rPr dirty="0" sz="2400">
                <a:latin typeface="Arial MT"/>
                <a:cs typeface="Arial MT"/>
              </a:rPr>
              <a:t>information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needed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10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Typically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used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committee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meetings, </a:t>
            </a:r>
            <a:r>
              <a:rPr dirty="0" sz="2400">
                <a:latin typeface="Arial MT"/>
                <a:cs typeface="Arial MT"/>
              </a:rPr>
              <a:t>brainstorming,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analysis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business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objectives</a:t>
            </a:r>
            <a:endParaRPr sz="2400">
              <a:latin typeface="Arial MT"/>
              <a:cs typeface="Arial MT"/>
            </a:endParaRPr>
          </a:p>
          <a:p>
            <a:pPr marL="269875" marR="361315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project specification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Data </a:t>
            </a:r>
            <a:r>
              <a:rPr dirty="0" sz="2400" spc="-10">
                <a:latin typeface="Arial MT"/>
                <a:cs typeface="Arial MT"/>
              </a:rPr>
              <a:t>Scientists.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74285" y="1533651"/>
            <a:ext cx="3840479" cy="319659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Data</a:t>
            </a:r>
            <a:r>
              <a:rPr dirty="0" sz="2400" spc="-60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Collection</a:t>
            </a:r>
            <a:endParaRPr sz="2400">
              <a:latin typeface="Arial"/>
              <a:cs typeface="Arial"/>
            </a:endParaRPr>
          </a:p>
          <a:p>
            <a:pPr marL="269875" marR="243840" indent="-25781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Representative </a:t>
            </a:r>
            <a:r>
              <a:rPr dirty="0" sz="2400">
                <a:latin typeface="Arial MT"/>
                <a:cs typeface="Arial MT"/>
              </a:rPr>
              <a:t>sample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population</a:t>
            </a:r>
            <a:endParaRPr sz="2400">
              <a:latin typeface="Arial MT"/>
              <a:cs typeface="Arial MT"/>
            </a:endParaRPr>
          </a:p>
          <a:p>
            <a:pPr marL="269875" marR="60325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Extract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existing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databases, </a:t>
            </a:r>
            <a:r>
              <a:rPr dirty="0" sz="2400">
                <a:latin typeface="Arial MT"/>
                <a:cs typeface="Arial MT"/>
              </a:rPr>
              <a:t>gather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large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dataset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351782" y="1533651"/>
            <a:ext cx="4386580" cy="392811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Feature</a:t>
            </a:r>
            <a:r>
              <a:rPr dirty="0" sz="2400" spc="-125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Extraction</a:t>
            </a:r>
            <a:endParaRPr sz="2400">
              <a:latin typeface="Arial"/>
              <a:cs typeface="Arial"/>
            </a:endParaRPr>
          </a:p>
          <a:p>
            <a:pPr algn="just" marL="268605" marR="652145" indent="-25654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Specifying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features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useful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prediction</a:t>
            </a:r>
            <a:endParaRPr sz="2400">
              <a:latin typeface="Arial MT"/>
              <a:cs typeface="Arial MT"/>
            </a:endParaRPr>
          </a:p>
          <a:p>
            <a:pPr algn="just" marL="268605" marR="5080" indent="-25654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Check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distributions, 	correlation/covariance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checks,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drop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unique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identifiers</a:t>
            </a:r>
            <a:endParaRPr sz="2400">
              <a:latin typeface="Arial MT"/>
              <a:cs typeface="Arial MT"/>
            </a:endParaRPr>
          </a:p>
          <a:p>
            <a:pPr marL="269875" marR="415290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“flat”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(single </a:t>
            </a:r>
            <a:r>
              <a:rPr dirty="0" sz="2400">
                <a:latin typeface="Arial MT"/>
                <a:cs typeface="Arial MT"/>
              </a:rPr>
              <a:t>table)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dataset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selected features.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74285" y="1533651"/>
            <a:ext cx="4010660" cy="392811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Data</a:t>
            </a:r>
            <a:r>
              <a:rPr dirty="0" sz="2400" spc="-60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Preparation</a:t>
            </a:r>
            <a:endParaRPr sz="2400">
              <a:latin typeface="Arial"/>
              <a:cs typeface="Arial"/>
            </a:endParaRPr>
          </a:p>
          <a:p>
            <a:pPr marL="269875" marR="57150" indent="-25781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Clean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up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(normalize, </a:t>
            </a:r>
            <a:r>
              <a:rPr dirty="0" sz="2400">
                <a:latin typeface="Arial MT"/>
                <a:cs typeface="Arial MT"/>
              </a:rPr>
              <a:t>regularize)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values</a:t>
            </a:r>
            <a:endParaRPr sz="2400">
              <a:latin typeface="Arial MT"/>
              <a:cs typeface="Arial MT"/>
            </a:endParaRPr>
          </a:p>
          <a:p>
            <a:pPr marL="269875" marR="125730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10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Scaling,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dummy </a:t>
            </a:r>
            <a:r>
              <a:rPr dirty="0" sz="2400">
                <a:latin typeface="Arial MT"/>
                <a:cs typeface="Arial MT"/>
              </a:rPr>
              <a:t>variables,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interpolating </a:t>
            </a:r>
            <a:r>
              <a:rPr dirty="0" sz="2400">
                <a:latin typeface="Arial MT"/>
                <a:cs typeface="Arial MT"/>
              </a:rPr>
              <a:t>missing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values</a:t>
            </a:r>
            <a:endParaRPr sz="2400">
              <a:latin typeface="Arial MT"/>
              <a:cs typeface="Arial MT"/>
            </a:endParaRPr>
          </a:p>
          <a:p>
            <a:pPr algn="just" marL="267970" marR="5080" indent="-255904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12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Normalized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data </a:t>
            </a:r>
            <a:r>
              <a:rPr dirty="0" sz="2400" spc="-2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numeric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appropriate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for </a:t>
            </a:r>
            <a:r>
              <a:rPr dirty="0" sz="2400" spc="-10">
                <a:latin typeface="Arial MT"/>
                <a:cs typeface="Arial MT"/>
              </a:rPr>
              <a:t>modeling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41419" y="1533651"/>
            <a:ext cx="4521200" cy="465963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Algorithm</a:t>
            </a:r>
            <a:r>
              <a:rPr dirty="0" sz="2400" spc="-25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  <a:p>
            <a:pPr marL="269875" marR="567690" indent="-25781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No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a-</a:t>
            </a:r>
            <a:r>
              <a:rPr dirty="0" sz="2400">
                <a:latin typeface="Arial MT"/>
                <a:cs typeface="Arial MT"/>
              </a:rPr>
              <a:t>priori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best </a:t>
            </a:r>
            <a:r>
              <a:rPr dirty="0" sz="2400">
                <a:latin typeface="Arial MT"/>
                <a:cs typeface="Arial MT"/>
              </a:rPr>
              <a:t>algorithm;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experiment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Draw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problem </a:t>
            </a:r>
            <a:r>
              <a:rPr dirty="0" sz="2400">
                <a:latin typeface="Arial MT"/>
                <a:cs typeface="Arial MT"/>
              </a:rPr>
              <a:t>statement,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domain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knowledge, </a:t>
            </a:r>
            <a:r>
              <a:rPr dirty="0" sz="2400">
                <a:latin typeface="Arial MT"/>
                <a:cs typeface="Arial MT"/>
              </a:rPr>
              <a:t>knowledge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statistical </a:t>
            </a:r>
            <a:r>
              <a:rPr dirty="0" sz="2400">
                <a:latin typeface="Arial MT"/>
                <a:cs typeface="Arial MT"/>
              </a:rPr>
              <a:t>methods,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library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help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files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choose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candidate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algorithms</a:t>
            </a:r>
            <a:endParaRPr sz="2400">
              <a:latin typeface="Arial MT"/>
              <a:cs typeface="Arial MT"/>
            </a:endParaRPr>
          </a:p>
          <a:p>
            <a:pPr algn="just" marL="267970" marR="214629" indent="-255904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algorithms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should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appropriate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for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analytical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task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78300" y="1533651"/>
            <a:ext cx="4733290" cy="392811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Performance</a:t>
            </a:r>
            <a:r>
              <a:rPr dirty="0" sz="2400" spc="-80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Evaluation</a:t>
            </a:r>
            <a:endParaRPr sz="2400">
              <a:latin typeface="Arial"/>
              <a:cs typeface="Arial"/>
            </a:endParaRPr>
          </a:p>
          <a:p>
            <a:pPr marL="269875" marR="5080" indent="-25781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Test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candidate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algorithms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evaluate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predictive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accuracy</a:t>
            </a:r>
            <a:endParaRPr sz="2400">
              <a:latin typeface="Arial MT"/>
              <a:cs typeface="Arial MT"/>
            </a:endParaRPr>
          </a:p>
          <a:p>
            <a:pPr marL="269875" marR="168910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Fit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on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same set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historic</a:t>
            </a:r>
            <a:r>
              <a:rPr dirty="0" sz="2400" spc="-10">
                <a:latin typeface="Arial MT"/>
                <a:cs typeface="Arial MT"/>
              </a:rPr>
              <a:t> training </a:t>
            </a:r>
            <a:r>
              <a:rPr dirty="0" sz="2400">
                <a:latin typeface="Arial MT"/>
                <a:cs typeface="Arial MT"/>
              </a:rPr>
              <a:t>data,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analyse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confusion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matrix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various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metrics</a:t>
            </a:r>
            <a:endParaRPr sz="2400">
              <a:latin typeface="Arial MT"/>
              <a:cs typeface="Arial MT"/>
            </a:endParaRPr>
          </a:p>
          <a:p>
            <a:pPr marL="269875" marR="144780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Comparison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results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algorithms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336160" y="1533651"/>
            <a:ext cx="3994785" cy="429387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Model</a:t>
            </a:r>
            <a:r>
              <a:rPr dirty="0" sz="2400" spc="-20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Validation</a:t>
            </a:r>
            <a:endParaRPr sz="2400">
              <a:latin typeface="Arial"/>
              <a:cs typeface="Arial"/>
            </a:endParaRPr>
          </a:p>
          <a:p>
            <a:pPr marL="269875" marR="41275" indent="-25781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Goal: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Evaluate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robustness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predictive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model, </a:t>
            </a:r>
            <a:r>
              <a:rPr dirty="0" sz="2400">
                <a:latin typeface="Arial MT"/>
                <a:cs typeface="Arial MT"/>
              </a:rPr>
              <a:t>check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over-</a:t>
            </a:r>
            <a:r>
              <a:rPr dirty="0" sz="2400">
                <a:latin typeface="Arial MT"/>
                <a:cs typeface="Arial MT"/>
              </a:rPr>
              <a:t>fitting,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refine hyperparameters</a:t>
            </a:r>
            <a:endParaRPr sz="2400">
              <a:latin typeface="Arial MT"/>
              <a:cs typeface="Arial MT"/>
            </a:endParaRPr>
          </a:p>
          <a:p>
            <a:pPr marL="269875" marR="107314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Methods: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Grid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search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CV, </a:t>
            </a:r>
            <a:r>
              <a:rPr dirty="0" sz="2400" spc="-10">
                <a:latin typeface="Arial MT"/>
                <a:cs typeface="Arial MT"/>
              </a:rPr>
              <a:t>k-</a:t>
            </a:r>
            <a:r>
              <a:rPr dirty="0" sz="2400">
                <a:latin typeface="Arial MT"/>
                <a:cs typeface="Arial MT"/>
              </a:rPr>
              <a:t>fold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CV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Outcome: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Optimization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objective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good </a:t>
            </a:r>
            <a:r>
              <a:rPr dirty="0" sz="2400" spc="-10">
                <a:latin typeface="Arial MT"/>
                <a:cs typeface="Arial MT"/>
              </a:rPr>
              <a:t>generalisation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performance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72761" y="1686305"/>
            <a:ext cx="3688079" cy="3104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Iteration: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00AFEF"/>
                </a:solidFill>
                <a:latin typeface="Arial"/>
                <a:cs typeface="Arial"/>
              </a:rPr>
              <a:t>Algorithm</a:t>
            </a:r>
            <a:r>
              <a:rPr dirty="0" sz="2400" spc="-35" b="1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AFEF"/>
                </a:solidFill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Certain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may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selected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because</a:t>
            </a:r>
            <a:r>
              <a:rPr dirty="0" sz="2400" spc="6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measure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importance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which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extraction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phase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78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Pipeline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Iteration: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AFEF"/>
                </a:solidFill>
              </a:rPr>
              <a:t>Model</a:t>
            </a:r>
            <a:r>
              <a:rPr dirty="0" spc="-45">
                <a:solidFill>
                  <a:srgbClr val="00AFEF"/>
                </a:solidFill>
              </a:rPr>
              <a:t> </a:t>
            </a:r>
            <a:r>
              <a:rPr dirty="0" spc="-10">
                <a:solidFill>
                  <a:srgbClr val="00AFEF"/>
                </a:solidFill>
              </a:rPr>
              <a:t>Validation</a:t>
            </a: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10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model</a:t>
            </a:r>
            <a:r>
              <a:rPr dirty="0" spc="-9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validation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phase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should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lead</a:t>
            </a:r>
            <a:r>
              <a:rPr dirty="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new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round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performance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evaluation,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set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candidate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algorithms</a:t>
            </a:r>
            <a:r>
              <a:rPr dirty="0" spc="-9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will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gradually</a:t>
            </a:r>
            <a:r>
              <a:rPr dirty="0" spc="-9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be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reduced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until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one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algorithm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(or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one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ensemble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of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algorithms)</a:t>
            </a:r>
            <a:r>
              <a:rPr dirty="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selected.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04" y="1554480"/>
            <a:ext cx="3552444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335" y="577722"/>
            <a:ext cx="316293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Further</a:t>
            </a:r>
            <a:r>
              <a:rPr dirty="0" sz="3200" spc="-6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Reading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1415351"/>
            <a:ext cx="5730875" cy="211201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What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Machine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Learning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Pipeline?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u="sng" sz="2400" spc="-10" b="1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  <a:hlinkClick r:id="rId2"/>
              </a:rPr>
              <a:t>https://youtu.be/HWWxtVL-</a:t>
            </a:r>
            <a:r>
              <a:rPr dirty="0" u="sng" sz="2400" spc="-25" b="1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  <a:hlinkClick r:id="rId2"/>
              </a:rPr>
              <a:t>D9k</a:t>
            </a:r>
            <a:endParaRPr sz="2400">
              <a:latin typeface="Arial"/>
              <a:cs typeface="Arial"/>
            </a:endParaRPr>
          </a:p>
          <a:p>
            <a:pPr marL="12700" marR="698500" indent="257175">
              <a:lnSpc>
                <a:spcPct val="120100"/>
              </a:lnSpc>
              <a:spcBef>
                <a:spcPts val="2590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7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Steps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Machine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Learning </a:t>
            </a:r>
            <a:r>
              <a:rPr dirty="0" u="sng" sz="2400" spc="-10" b="1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  <a:hlinkClick r:id="rId3"/>
              </a:rPr>
              <a:t>https://youtu.be/nKW8Ndu7Mjw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46338" y="6619747"/>
            <a:ext cx="3625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27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6049645" cy="711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55904" algn="l"/>
              </a:tabLst>
            </a:pP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5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different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terminology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Machine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Learning?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 spc="-45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5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40">
                <a:solidFill>
                  <a:srgbClr val="082E50"/>
                </a:solidFill>
                <a:latin typeface="Tahoma"/>
                <a:cs typeface="Tahoma"/>
              </a:rPr>
              <a:t>key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steps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(pipeline)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Machine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Learning?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6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Review</a:t>
            </a:r>
            <a:r>
              <a:rPr dirty="0" spc="-95"/>
              <a:t> </a:t>
            </a:r>
            <a:r>
              <a:rPr dirty="0" spc="-65"/>
              <a:t>Questions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905"/>
            <a:ext cx="9143999" cy="3550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43290" y="6619747"/>
            <a:ext cx="3663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28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942" y="68676"/>
            <a:ext cx="777058" cy="9202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5089525" cy="711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55904" algn="l"/>
              </a:tabLst>
            </a:pP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Various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terminologies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Machine</a:t>
            </a: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Learning.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Various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steps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1850" spc="-10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Machine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pipeline.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0329" y="648461"/>
            <a:ext cx="4914900" cy="3695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Summary</a:t>
            </a:r>
            <a:r>
              <a:rPr dirty="0" spc="-120"/>
              <a:t> </a:t>
            </a:r>
            <a:r>
              <a:rPr dirty="0" spc="-670"/>
              <a:t>/</a:t>
            </a:r>
            <a:r>
              <a:rPr dirty="0" spc="-110"/>
              <a:t> </a:t>
            </a:r>
            <a:r>
              <a:rPr dirty="0" spc="-70"/>
              <a:t>Recap</a:t>
            </a:r>
            <a:r>
              <a:rPr dirty="0" spc="-130"/>
              <a:t> </a:t>
            </a:r>
            <a:r>
              <a:rPr dirty="0" spc="-75"/>
              <a:t>of</a:t>
            </a:r>
            <a:r>
              <a:rPr dirty="0" spc="-110"/>
              <a:t> </a:t>
            </a:r>
            <a:r>
              <a:rPr dirty="0" spc="-70"/>
              <a:t>Main</a:t>
            </a:r>
            <a:r>
              <a:rPr dirty="0" spc="-145"/>
              <a:t> </a:t>
            </a:r>
            <a:r>
              <a:rPr dirty="0" spc="-55"/>
              <a:t>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dc:title>PowerPoint Presentation</dc:title>
  <dcterms:created xsi:type="dcterms:W3CDTF">2025-12-26T00:23:34Z</dcterms:created>
  <dcterms:modified xsi:type="dcterms:W3CDTF">2025-12-26T00:23:34Z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2025-12-26T00:00:00Z</vt:filetime>
  </property>
  <property fmtid="{D5CDD505-2E9C-101B-9397-08002B2CF9AE}" pid="5" name="Producer">
    <vt:lpwstr>Microsoft® PowerPoint® for Microsoft 365</vt:lpwstr>
  </property>
</Properties>
</file>