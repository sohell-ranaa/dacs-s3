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46782" y="633476"/>
            <a:ext cx="3818254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905"/>
            <a:ext cx="9143999" cy="3550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02626" y="0"/>
            <a:ext cx="1241373" cy="12984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583678"/>
            <a:ext cx="9143999" cy="2666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329" y="327786"/>
            <a:ext cx="7034606" cy="9483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6115" y="1722882"/>
            <a:ext cx="8011159" cy="3043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4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5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dtechtalks.com/2021/03/29/ai-algorithms-representations-herbert-roitblat/" TargetMode="External"/><Relationship Id="rId3" Type="http://schemas.openxmlformats.org/officeDocument/2006/relationships/hyperlink" Target="https://bdtechtalks.com/2021/08/30/unsupervised-learning-adversarial-attacks-detection/" TargetMode="External"/><Relationship Id="rId4" Type="http://schemas.openxmlformats.org/officeDocument/2006/relationships/hyperlink" Target="https://bdtechtalks.com/2021/06/14/google-reinforcement-learning-ai-chip-design/amp/" TargetMode="Externa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575293" y="6619747"/>
            <a:ext cx="30353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5">
                <a:solidFill>
                  <a:srgbClr val="C0F8FB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6942" y="68676"/>
            <a:ext cx="777058" cy="92026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13866" y="3077717"/>
            <a:ext cx="4361815" cy="144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" marR="5080">
              <a:lnSpc>
                <a:spcPct val="100000"/>
              </a:lnSpc>
              <a:spcBef>
                <a:spcPts val="95"/>
              </a:spcBef>
            </a:pPr>
            <a:r>
              <a:rPr dirty="0" sz="2500" spc="-60">
                <a:solidFill>
                  <a:srgbClr val="082E50"/>
                </a:solidFill>
                <a:latin typeface="Tahoma"/>
                <a:cs typeface="Tahoma"/>
              </a:rPr>
              <a:t>Data</a:t>
            </a:r>
            <a:r>
              <a:rPr dirty="0" sz="250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82E50"/>
                </a:solidFill>
                <a:latin typeface="Tahoma"/>
                <a:cs typeface="Tahoma"/>
              </a:rPr>
              <a:t>Analytics</a:t>
            </a:r>
            <a:r>
              <a:rPr dirty="0" sz="2500" spc="-12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Cyber</a:t>
            </a:r>
            <a:r>
              <a:rPr dirty="0" sz="250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082E50"/>
                </a:solidFill>
                <a:latin typeface="Tahoma"/>
                <a:cs typeface="Tahoma"/>
              </a:rPr>
              <a:t>Security </a:t>
            </a:r>
            <a:r>
              <a:rPr dirty="0" sz="2500" spc="-80">
                <a:solidFill>
                  <a:srgbClr val="082E50"/>
                </a:solidFill>
                <a:latin typeface="Tahoma"/>
                <a:cs typeface="Tahoma"/>
              </a:rPr>
              <a:t>(CT115-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3-</a:t>
            </a:r>
            <a:r>
              <a:rPr dirty="0" sz="2500" spc="-70">
                <a:solidFill>
                  <a:srgbClr val="082E50"/>
                </a:solidFill>
                <a:latin typeface="Tahoma"/>
                <a:cs typeface="Tahoma"/>
              </a:rPr>
              <a:t>M)(Version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E)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dirty="0" sz="2250" spc="-60" b="1">
                <a:solidFill>
                  <a:srgbClr val="006FC0"/>
                </a:solidFill>
                <a:latin typeface="Verdana"/>
                <a:cs typeface="Verdana"/>
              </a:rPr>
              <a:t>Model</a:t>
            </a:r>
            <a:r>
              <a:rPr dirty="0" sz="2250" spc="-155" b="1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dirty="0" sz="2250" spc="-20" b="1">
                <a:solidFill>
                  <a:srgbClr val="006FC0"/>
                </a:solidFill>
                <a:latin typeface="Verdana"/>
                <a:cs typeface="Verdana"/>
              </a:rPr>
              <a:t>Logic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905"/>
            <a:ext cx="9143999" cy="35509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67673" y="6619747"/>
            <a:ext cx="31940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50">
                <a:solidFill>
                  <a:srgbClr val="C0F8FB"/>
                </a:solidFill>
                <a:latin typeface="Verdana"/>
                <a:cs typeface="Verdana"/>
              </a:rPr>
              <a:t>2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942" y="68676"/>
            <a:ext cx="777058" cy="92026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1080"/>
            <a:ext cx="5129530" cy="173990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At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end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this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topic,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you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should</a:t>
            </a:r>
            <a:r>
              <a:rPr dirty="0" sz="1850" spc="-11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be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able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to:</a:t>
            </a:r>
            <a:endParaRPr sz="1850">
              <a:latin typeface="Tahoma"/>
              <a:cs typeface="Tahoma"/>
            </a:endParaRPr>
          </a:p>
          <a:p>
            <a:pPr marL="254635" indent="-24193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4635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To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concepts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statistics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255904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To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5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concepts</a:t>
            </a:r>
            <a:r>
              <a:rPr dirty="0" sz="1850" spc="-5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statistical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modelling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5904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To</a:t>
            </a:r>
            <a:r>
              <a:rPr dirty="0" sz="1850" spc="-10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concepts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predictive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modelling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5904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To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concepts</a:t>
            </a: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scientific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methods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40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TOPIC </a:t>
            </a:r>
            <a:r>
              <a:rPr dirty="0" spc="-140"/>
              <a:t>LEARNING</a:t>
            </a:r>
            <a:r>
              <a:rPr dirty="0" spc="-150"/>
              <a:t> </a:t>
            </a:r>
            <a:r>
              <a:rPr dirty="0" spc="-2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77465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52573"/>
                </a:solidFill>
                <a:latin typeface="Arial"/>
                <a:cs typeface="Arial"/>
              </a:rPr>
              <a:t>Supervised</a:t>
            </a:r>
            <a:r>
              <a:rPr dirty="0" sz="2700" spc="-7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113" y="1531027"/>
            <a:ext cx="7456996" cy="32732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13308" y="5581903"/>
            <a:ext cx="50120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That’s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nice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where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labels come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from?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91897" y="2624582"/>
            <a:ext cx="1750060" cy="2972435"/>
            <a:chOff x="391897" y="2624582"/>
            <a:chExt cx="1750060" cy="29724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927" y="4014266"/>
              <a:ext cx="1343915" cy="158219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49402" y="2637282"/>
              <a:ext cx="1152525" cy="128270"/>
            </a:xfrm>
            <a:custGeom>
              <a:avLst/>
              <a:gdLst/>
              <a:ahLst/>
              <a:cxnLst/>
              <a:rect l="l" t="t" r="r" b="b"/>
              <a:pathLst>
                <a:path w="1152525" h="128269">
                  <a:moveTo>
                    <a:pt x="1152144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1152144" y="128015"/>
                  </a:lnTo>
                  <a:lnTo>
                    <a:pt x="1152144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9402" y="2637282"/>
              <a:ext cx="1152525" cy="128270"/>
            </a:xfrm>
            <a:custGeom>
              <a:avLst/>
              <a:gdLst/>
              <a:ahLst/>
              <a:cxnLst/>
              <a:rect l="l" t="t" r="r" b="b"/>
              <a:pathLst>
                <a:path w="1152525" h="128269">
                  <a:moveTo>
                    <a:pt x="0" y="128015"/>
                  </a:moveTo>
                  <a:lnTo>
                    <a:pt x="1152144" y="128015"/>
                  </a:lnTo>
                  <a:lnTo>
                    <a:pt x="1152144" y="0"/>
                  </a:lnTo>
                  <a:lnTo>
                    <a:pt x="0" y="0"/>
                  </a:lnTo>
                  <a:lnTo>
                    <a:pt x="0" y="128015"/>
                  </a:lnTo>
                  <a:close/>
                </a:path>
              </a:pathLst>
            </a:custGeom>
            <a:ln w="25399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74697" y="2637282"/>
              <a:ext cx="303530" cy="128270"/>
            </a:xfrm>
            <a:custGeom>
              <a:avLst/>
              <a:gdLst/>
              <a:ahLst/>
              <a:cxnLst/>
              <a:rect l="l" t="t" r="r" b="b"/>
              <a:pathLst>
                <a:path w="303530" h="128269">
                  <a:moveTo>
                    <a:pt x="303275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303275" y="128015"/>
                  </a:lnTo>
                  <a:lnTo>
                    <a:pt x="303275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4697" y="2637282"/>
              <a:ext cx="303530" cy="128270"/>
            </a:xfrm>
            <a:custGeom>
              <a:avLst/>
              <a:gdLst/>
              <a:ahLst/>
              <a:cxnLst/>
              <a:rect l="l" t="t" r="r" b="b"/>
              <a:pathLst>
                <a:path w="303530" h="128269">
                  <a:moveTo>
                    <a:pt x="0" y="128015"/>
                  </a:moveTo>
                  <a:lnTo>
                    <a:pt x="303275" y="128015"/>
                  </a:lnTo>
                  <a:lnTo>
                    <a:pt x="303275" y="0"/>
                  </a:lnTo>
                  <a:lnTo>
                    <a:pt x="0" y="0"/>
                  </a:lnTo>
                  <a:lnTo>
                    <a:pt x="0" y="128015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82596" y="2764536"/>
              <a:ext cx="492125" cy="1175385"/>
            </a:xfrm>
            <a:custGeom>
              <a:avLst/>
              <a:gdLst/>
              <a:ahLst/>
              <a:cxnLst/>
              <a:rect l="l" t="t" r="r" b="b"/>
              <a:pathLst>
                <a:path w="492125" h="1175385">
                  <a:moveTo>
                    <a:pt x="258862" y="584580"/>
                  </a:moveTo>
                  <a:lnTo>
                    <a:pt x="202312" y="584580"/>
                  </a:lnTo>
                  <a:lnTo>
                    <a:pt x="201042" y="584835"/>
                  </a:lnTo>
                  <a:lnTo>
                    <a:pt x="158878" y="612013"/>
                  </a:lnTo>
                  <a:lnTo>
                    <a:pt x="129287" y="647064"/>
                  </a:lnTo>
                  <a:lnTo>
                    <a:pt x="101474" y="693038"/>
                  </a:lnTo>
                  <a:lnTo>
                    <a:pt x="84456" y="728979"/>
                  </a:lnTo>
                  <a:lnTo>
                    <a:pt x="68327" y="768858"/>
                  </a:lnTo>
                  <a:lnTo>
                    <a:pt x="53595" y="812038"/>
                  </a:lnTo>
                  <a:lnTo>
                    <a:pt x="40387" y="858265"/>
                  </a:lnTo>
                  <a:lnTo>
                    <a:pt x="28703" y="907161"/>
                  </a:lnTo>
                  <a:lnTo>
                    <a:pt x="18797" y="958088"/>
                  </a:lnTo>
                  <a:lnTo>
                    <a:pt x="10796" y="1010919"/>
                  </a:lnTo>
                  <a:lnTo>
                    <a:pt x="4827" y="1064768"/>
                  </a:lnTo>
                  <a:lnTo>
                    <a:pt x="1271" y="1119632"/>
                  </a:lnTo>
                  <a:lnTo>
                    <a:pt x="0" y="1174877"/>
                  </a:lnTo>
                  <a:lnTo>
                    <a:pt x="12701" y="1174877"/>
                  </a:lnTo>
                  <a:lnTo>
                    <a:pt x="12955" y="1147318"/>
                  </a:lnTo>
                  <a:lnTo>
                    <a:pt x="13971" y="1120013"/>
                  </a:lnTo>
                  <a:lnTo>
                    <a:pt x="17527" y="1065783"/>
                  </a:lnTo>
                  <a:lnTo>
                    <a:pt x="23369" y="1012189"/>
                  </a:lnTo>
                  <a:lnTo>
                    <a:pt x="31243" y="959993"/>
                  </a:lnTo>
                  <a:lnTo>
                    <a:pt x="41149" y="909574"/>
                  </a:lnTo>
                  <a:lnTo>
                    <a:pt x="52706" y="861440"/>
                  </a:lnTo>
                  <a:lnTo>
                    <a:pt x="65787" y="815721"/>
                  </a:lnTo>
                  <a:lnTo>
                    <a:pt x="80392" y="773049"/>
                  </a:lnTo>
                  <a:lnTo>
                    <a:pt x="96140" y="733933"/>
                  </a:lnTo>
                  <a:lnTo>
                    <a:pt x="112904" y="698626"/>
                  </a:lnTo>
                  <a:lnTo>
                    <a:pt x="139828" y="654050"/>
                  </a:lnTo>
                  <a:lnTo>
                    <a:pt x="168022" y="620902"/>
                  </a:lnTo>
                  <a:lnTo>
                    <a:pt x="205360" y="596900"/>
                  </a:lnTo>
                  <a:lnTo>
                    <a:pt x="204979" y="596900"/>
                  </a:lnTo>
                  <a:lnTo>
                    <a:pt x="214724" y="594613"/>
                  </a:lnTo>
                  <a:lnTo>
                    <a:pt x="214250" y="594613"/>
                  </a:lnTo>
                  <a:lnTo>
                    <a:pt x="234570" y="592836"/>
                  </a:lnTo>
                  <a:lnTo>
                    <a:pt x="235051" y="592836"/>
                  </a:lnTo>
                  <a:lnTo>
                    <a:pt x="245746" y="590296"/>
                  </a:lnTo>
                  <a:lnTo>
                    <a:pt x="246127" y="590168"/>
                  </a:lnTo>
                  <a:lnTo>
                    <a:pt x="256795" y="585724"/>
                  </a:lnTo>
                  <a:lnTo>
                    <a:pt x="258862" y="584580"/>
                  </a:lnTo>
                  <a:close/>
                </a:path>
                <a:path w="492125" h="1175385">
                  <a:moveTo>
                    <a:pt x="205900" y="596683"/>
                  </a:moveTo>
                  <a:lnTo>
                    <a:pt x="204979" y="596900"/>
                  </a:lnTo>
                  <a:lnTo>
                    <a:pt x="205360" y="596900"/>
                  </a:lnTo>
                  <a:lnTo>
                    <a:pt x="205900" y="596683"/>
                  </a:lnTo>
                  <a:close/>
                </a:path>
                <a:path w="492125" h="1175385">
                  <a:moveTo>
                    <a:pt x="440997" y="25260"/>
                  </a:moveTo>
                  <a:lnTo>
                    <a:pt x="434344" y="36286"/>
                  </a:lnTo>
                  <a:lnTo>
                    <a:pt x="433833" y="54610"/>
                  </a:lnTo>
                  <a:lnTo>
                    <a:pt x="432309" y="81914"/>
                  </a:lnTo>
                  <a:lnTo>
                    <a:pt x="424308" y="162305"/>
                  </a:lnTo>
                  <a:lnTo>
                    <a:pt x="416434" y="214502"/>
                  </a:lnTo>
                  <a:lnTo>
                    <a:pt x="406655" y="265049"/>
                  </a:lnTo>
                  <a:lnTo>
                    <a:pt x="395098" y="313309"/>
                  </a:lnTo>
                  <a:lnTo>
                    <a:pt x="382017" y="358901"/>
                  </a:lnTo>
                  <a:lnTo>
                    <a:pt x="367412" y="401574"/>
                  </a:lnTo>
                  <a:lnTo>
                    <a:pt x="351664" y="440689"/>
                  </a:lnTo>
                  <a:lnTo>
                    <a:pt x="334900" y="475996"/>
                  </a:lnTo>
                  <a:lnTo>
                    <a:pt x="308230" y="520446"/>
                  </a:lnTo>
                  <a:lnTo>
                    <a:pt x="280036" y="553592"/>
                  </a:lnTo>
                  <a:lnTo>
                    <a:pt x="241809" y="578230"/>
                  </a:lnTo>
                  <a:lnTo>
                    <a:pt x="241282" y="578230"/>
                  </a:lnTo>
                  <a:lnTo>
                    <a:pt x="232538" y="580389"/>
                  </a:lnTo>
                  <a:lnTo>
                    <a:pt x="231860" y="580389"/>
                  </a:lnTo>
                  <a:lnTo>
                    <a:pt x="223394" y="581025"/>
                  </a:lnTo>
                  <a:lnTo>
                    <a:pt x="211782" y="582040"/>
                  </a:lnTo>
                  <a:lnTo>
                    <a:pt x="212218" y="582040"/>
                  </a:lnTo>
                  <a:lnTo>
                    <a:pt x="202058" y="584580"/>
                  </a:lnTo>
                  <a:lnTo>
                    <a:pt x="201296" y="584835"/>
                  </a:lnTo>
                  <a:lnTo>
                    <a:pt x="201042" y="584835"/>
                  </a:lnTo>
                  <a:lnTo>
                    <a:pt x="202312" y="584580"/>
                  </a:lnTo>
                  <a:lnTo>
                    <a:pt x="258862" y="584580"/>
                  </a:lnTo>
                  <a:lnTo>
                    <a:pt x="267590" y="579754"/>
                  </a:lnTo>
                  <a:lnTo>
                    <a:pt x="269723" y="578230"/>
                  </a:lnTo>
                  <a:lnTo>
                    <a:pt x="241809" y="578230"/>
                  </a:lnTo>
                  <a:lnTo>
                    <a:pt x="242673" y="577906"/>
                  </a:lnTo>
                  <a:lnTo>
                    <a:pt x="270177" y="577906"/>
                  </a:lnTo>
                  <a:lnTo>
                    <a:pt x="278258" y="572135"/>
                  </a:lnTo>
                  <a:lnTo>
                    <a:pt x="308611" y="541019"/>
                  </a:lnTo>
                  <a:lnTo>
                    <a:pt x="337059" y="498475"/>
                  </a:lnTo>
                  <a:lnTo>
                    <a:pt x="354712" y="464438"/>
                  </a:lnTo>
                  <a:lnTo>
                    <a:pt x="371349" y="426465"/>
                  </a:lnTo>
                  <a:lnTo>
                    <a:pt x="386843" y="384937"/>
                  </a:lnTo>
                  <a:lnTo>
                    <a:pt x="400813" y="340105"/>
                  </a:lnTo>
                  <a:lnTo>
                    <a:pt x="413386" y="292480"/>
                  </a:lnTo>
                  <a:lnTo>
                    <a:pt x="428880" y="216915"/>
                  </a:lnTo>
                  <a:lnTo>
                    <a:pt x="436881" y="164211"/>
                  </a:lnTo>
                  <a:lnTo>
                    <a:pt x="442723" y="110236"/>
                  </a:lnTo>
                  <a:lnTo>
                    <a:pt x="446406" y="55372"/>
                  </a:lnTo>
                  <a:lnTo>
                    <a:pt x="447030" y="35916"/>
                  </a:lnTo>
                  <a:lnTo>
                    <a:pt x="440997" y="25260"/>
                  </a:lnTo>
                  <a:close/>
                </a:path>
                <a:path w="492125" h="1175385">
                  <a:moveTo>
                    <a:pt x="448364" y="12446"/>
                  </a:moveTo>
                  <a:lnTo>
                    <a:pt x="434849" y="12446"/>
                  </a:lnTo>
                  <a:lnTo>
                    <a:pt x="447549" y="12700"/>
                  </a:lnTo>
                  <a:lnTo>
                    <a:pt x="447336" y="25260"/>
                  </a:lnTo>
                  <a:lnTo>
                    <a:pt x="447295" y="27686"/>
                  </a:lnTo>
                  <a:lnTo>
                    <a:pt x="447030" y="35916"/>
                  </a:lnTo>
                  <a:lnTo>
                    <a:pt x="479045" y="92455"/>
                  </a:lnTo>
                  <a:lnTo>
                    <a:pt x="480823" y="95503"/>
                  </a:lnTo>
                  <a:lnTo>
                    <a:pt x="484633" y="96647"/>
                  </a:lnTo>
                  <a:lnTo>
                    <a:pt x="487681" y="94868"/>
                  </a:lnTo>
                  <a:lnTo>
                    <a:pt x="490729" y="93217"/>
                  </a:lnTo>
                  <a:lnTo>
                    <a:pt x="491872" y="89280"/>
                  </a:lnTo>
                  <a:lnTo>
                    <a:pt x="490094" y="86233"/>
                  </a:lnTo>
                  <a:lnTo>
                    <a:pt x="448364" y="12446"/>
                  </a:lnTo>
                  <a:close/>
                </a:path>
                <a:path w="492125" h="1175385">
                  <a:moveTo>
                    <a:pt x="441326" y="0"/>
                  </a:moveTo>
                  <a:lnTo>
                    <a:pt x="390272" y="84836"/>
                  </a:lnTo>
                  <a:lnTo>
                    <a:pt x="388494" y="87884"/>
                  </a:lnTo>
                  <a:lnTo>
                    <a:pt x="389297" y="91439"/>
                  </a:lnTo>
                  <a:lnTo>
                    <a:pt x="389383" y="91821"/>
                  </a:lnTo>
                  <a:lnTo>
                    <a:pt x="392431" y="93599"/>
                  </a:lnTo>
                  <a:lnTo>
                    <a:pt x="395560" y="95503"/>
                  </a:lnTo>
                  <a:lnTo>
                    <a:pt x="394789" y="95503"/>
                  </a:lnTo>
                  <a:lnTo>
                    <a:pt x="399289" y="94487"/>
                  </a:lnTo>
                  <a:lnTo>
                    <a:pt x="401067" y="91439"/>
                  </a:lnTo>
                  <a:lnTo>
                    <a:pt x="434344" y="36286"/>
                  </a:lnTo>
                  <a:lnTo>
                    <a:pt x="434584" y="27686"/>
                  </a:lnTo>
                  <a:lnTo>
                    <a:pt x="434790" y="15875"/>
                  </a:lnTo>
                  <a:lnTo>
                    <a:pt x="434849" y="12446"/>
                  </a:lnTo>
                  <a:lnTo>
                    <a:pt x="448364" y="12446"/>
                  </a:lnTo>
                  <a:lnTo>
                    <a:pt x="441326" y="0"/>
                  </a:lnTo>
                  <a:close/>
                </a:path>
                <a:path w="492125" h="1175385">
                  <a:moveTo>
                    <a:pt x="434849" y="12446"/>
                  </a:moveTo>
                  <a:lnTo>
                    <a:pt x="434630" y="25260"/>
                  </a:lnTo>
                  <a:lnTo>
                    <a:pt x="434584" y="27686"/>
                  </a:lnTo>
                  <a:lnTo>
                    <a:pt x="434354" y="35916"/>
                  </a:lnTo>
                  <a:lnTo>
                    <a:pt x="434344" y="36286"/>
                  </a:lnTo>
                  <a:lnTo>
                    <a:pt x="440997" y="25260"/>
                  </a:lnTo>
                  <a:lnTo>
                    <a:pt x="435683" y="15875"/>
                  </a:lnTo>
                  <a:lnTo>
                    <a:pt x="447495" y="15875"/>
                  </a:lnTo>
                  <a:lnTo>
                    <a:pt x="447549" y="12700"/>
                  </a:lnTo>
                  <a:lnTo>
                    <a:pt x="434849" y="12446"/>
                  </a:lnTo>
                  <a:close/>
                </a:path>
                <a:path w="492125" h="1175385">
                  <a:moveTo>
                    <a:pt x="447495" y="15875"/>
                  </a:moveTo>
                  <a:lnTo>
                    <a:pt x="446660" y="15875"/>
                  </a:lnTo>
                  <a:lnTo>
                    <a:pt x="440997" y="25260"/>
                  </a:lnTo>
                  <a:lnTo>
                    <a:pt x="447030" y="35916"/>
                  </a:lnTo>
                  <a:lnTo>
                    <a:pt x="447295" y="27686"/>
                  </a:lnTo>
                  <a:lnTo>
                    <a:pt x="447495" y="15875"/>
                  </a:lnTo>
                  <a:close/>
                </a:path>
                <a:path w="492125" h="1175385">
                  <a:moveTo>
                    <a:pt x="446660" y="15875"/>
                  </a:moveTo>
                  <a:lnTo>
                    <a:pt x="435683" y="15875"/>
                  </a:lnTo>
                  <a:lnTo>
                    <a:pt x="440997" y="25260"/>
                  </a:lnTo>
                  <a:lnTo>
                    <a:pt x="446660" y="15875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91897" y="2764409"/>
              <a:ext cx="737870" cy="2143760"/>
            </a:xfrm>
            <a:custGeom>
              <a:avLst/>
              <a:gdLst/>
              <a:ahLst/>
              <a:cxnLst/>
              <a:rect l="l" t="t" r="r" b="b"/>
              <a:pathLst>
                <a:path w="737869" h="2143760">
                  <a:moveTo>
                    <a:pt x="204893" y="2102263"/>
                  </a:moveTo>
                  <a:lnTo>
                    <a:pt x="138174" y="2130171"/>
                  </a:lnTo>
                  <a:lnTo>
                    <a:pt x="134949" y="2131567"/>
                  </a:lnTo>
                  <a:lnTo>
                    <a:pt x="133425" y="2135251"/>
                  </a:lnTo>
                  <a:lnTo>
                    <a:pt x="134771" y="2138553"/>
                  </a:lnTo>
                  <a:lnTo>
                    <a:pt x="136184" y="2141854"/>
                  </a:lnTo>
                  <a:lnTo>
                    <a:pt x="136440" y="2141854"/>
                  </a:lnTo>
                  <a:lnTo>
                    <a:pt x="139851" y="2143252"/>
                  </a:lnTo>
                  <a:lnTo>
                    <a:pt x="143089" y="2141854"/>
                  </a:lnTo>
                  <a:lnTo>
                    <a:pt x="223863" y="2108072"/>
                  </a:lnTo>
                  <a:lnTo>
                    <a:pt x="220191" y="2108072"/>
                  </a:lnTo>
                  <a:lnTo>
                    <a:pt x="211326" y="2105405"/>
                  </a:lnTo>
                  <a:lnTo>
                    <a:pt x="210285" y="2105024"/>
                  </a:lnTo>
                  <a:lnTo>
                    <a:pt x="204893" y="2102263"/>
                  </a:lnTo>
                  <a:close/>
                </a:path>
                <a:path w="737869" h="2143760">
                  <a:moveTo>
                    <a:pt x="209467" y="2100349"/>
                  </a:moveTo>
                  <a:lnTo>
                    <a:pt x="204893" y="2102263"/>
                  </a:lnTo>
                  <a:lnTo>
                    <a:pt x="210285" y="2105024"/>
                  </a:lnTo>
                  <a:lnTo>
                    <a:pt x="211326" y="2105405"/>
                  </a:lnTo>
                  <a:lnTo>
                    <a:pt x="220191" y="2108072"/>
                  </a:lnTo>
                  <a:lnTo>
                    <a:pt x="220493" y="2107057"/>
                  </a:lnTo>
                  <a:lnTo>
                    <a:pt x="218108" y="2107057"/>
                  </a:lnTo>
                  <a:lnTo>
                    <a:pt x="209467" y="2100349"/>
                  </a:lnTo>
                  <a:close/>
                </a:path>
                <a:path w="737869" h="2143760">
                  <a:moveTo>
                    <a:pt x="166913" y="2051240"/>
                  </a:moveTo>
                  <a:lnTo>
                    <a:pt x="196061" y="2082038"/>
                  </a:lnTo>
                  <a:lnTo>
                    <a:pt x="223811" y="2095880"/>
                  </a:lnTo>
                  <a:lnTo>
                    <a:pt x="220191" y="2108072"/>
                  </a:lnTo>
                  <a:lnTo>
                    <a:pt x="223863" y="2108072"/>
                  </a:lnTo>
                  <a:lnTo>
                    <a:pt x="234491" y="2103628"/>
                  </a:lnTo>
                  <a:lnTo>
                    <a:pt x="166913" y="2051240"/>
                  </a:lnTo>
                  <a:close/>
                </a:path>
                <a:path w="737869" h="2143760">
                  <a:moveTo>
                    <a:pt x="219543" y="2096134"/>
                  </a:moveTo>
                  <a:lnTo>
                    <a:pt x="209467" y="2100349"/>
                  </a:lnTo>
                  <a:lnTo>
                    <a:pt x="218108" y="2107057"/>
                  </a:lnTo>
                  <a:lnTo>
                    <a:pt x="219543" y="2096134"/>
                  </a:lnTo>
                  <a:close/>
                </a:path>
                <a:path w="737869" h="2143760">
                  <a:moveTo>
                    <a:pt x="223735" y="2096134"/>
                  </a:moveTo>
                  <a:lnTo>
                    <a:pt x="219543" y="2096134"/>
                  </a:lnTo>
                  <a:lnTo>
                    <a:pt x="218108" y="2107057"/>
                  </a:lnTo>
                  <a:lnTo>
                    <a:pt x="220493" y="2107057"/>
                  </a:lnTo>
                  <a:lnTo>
                    <a:pt x="223735" y="2096134"/>
                  </a:lnTo>
                  <a:close/>
                </a:path>
                <a:path w="737869" h="2143760">
                  <a:moveTo>
                    <a:pt x="158046" y="2060433"/>
                  </a:moveTo>
                  <a:lnTo>
                    <a:pt x="187717" y="2091563"/>
                  </a:lnTo>
                  <a:lnTo>
                    <a:pt x="204893" y="2102263"/>
                  </a:lnTo>
                  <a:lnTo>
                    <a:pt x="209467" y="2100349"/>
                  </a:lnTo>
                  <a:lnTo>
                    <a:pt x="158046" y="2060433"/>
                  </a:lnTo>
                  <a:close/>
                </a:path>
                <a:path w="737869" h="2143760">
                  <a:moveTo>
                    <a:pt x="153414" y="2040763"/>
                  </a:moveTo>
                  <a:lnTo>
                    <a:pt x="149414" y="2041270"/>
                  </a:lnTo>
                  <a:lnTo>
                    <a:pt x="146767" y="2044716"/>
                  </a:lnTo>
                  <a:lnTo>
                    <a:pt x="155624" y="2057399"/>
                  </a:lnTo>
                  <a:lnTo>
                    <a:pt x="158046" y="2060433"/>
                  </a:lnTo>
                  <a:lnTo>
                    <a:pt x="209467" y="2100349"/>
                  </a:lnTo>
                  <a:lnTo>
                    <a:pt x="219543" y="2096134"/>
                  </a:lnTo>
                  <a:lnTo>
                    <a:pt x="223735" y="2096134"/>
                  </a:lnTo>
                  <a:lnTo>
                    <a:pt x="223811" y="2095880"/>
                  </a:lnTo>
                  <a:lnTo>
                    <a:pt x="216624" y="2093721"/>
                  </a:lnTo>
                  <a:lnTo>
                    <a:pt x="215975" y="2093721"/>
                  </a:lnTo>
                  <a:lnTo>
                    <a:pt x="206043" y="2088768"/>
                  </a:lnTo>
                  <a:lnTo>
                    <a:pt x="196061" y="2082038"/>
                  </a:lnTo>
                  <a:lnTo>
                    <a:pt x="186041" y="2073274"/>
                  </a:lnTo>
                  <a:lnTo>
                    <a:pt x="175995" y="2062607"/>
                  </a:lnTo>
                  <a:lnTo>
                    <a:pt x="166913" y="2051240"/>
                  </a:lnTo>
                  <a:lnTo>
                    <a:pt x="153414" y="2040763"/>
                  </a:lnTo>
                  <a:close/>
                </a:path>
                <a:path w="737869" h="2143760">
                  <a:moveTo>
                    <a:pt x="214991" y="2093231"/>
                  </a:moveTo>
                  <a:lnTo>
                    <a:pt x="215975" y="2093721"/>
                  </a:lnTo>
                  <a:lnTo>
                    <a:pt x="216624" y="2093721"/>
                  </a:lnTo>
                  <a:lnTo>
                    <a:pt x="214991" y="2093231"/>
                  </a:lnTo>
                  <a:close/>
                </a:path>
                <a:path w="737869" h="2143760">
                  <a:moveTo>
                    <a:pt x="146767" y="2044716"/>
                  </a:moveTo>
                  <a:lnTo>
                    <a:pt x="145121" y="2046858"/>
                  </a:lnTo>
                  <a:lnTo>
                    <a:pt x="145547" y="2050160"/>
                  </a:lnTo>
                  <a:lnTo>
                    <a:pt x="145629" y="2050795"/>
                  </a:lnTo>
                  <a:lnTo>
                    <a:pt x="158046" y="2060433"/>
                  </a:lnTo>
                  <a:lnTo>
                    <a:pt x="155624" y="2057399"/>
                  </a:lnTo>
                  <a:lnTo>
                    <a:pt x="146767" y="2044716"/>
                  </a:lnTo>
                  <a:close/>
                </a:path>
                <a:path w="737869" h="2143760">
                  <a:moveTo>
                    <a:pt x="159506" y="2040763"/>
                  </a:moveTo>
                  <a:lnTo>
                    <a:pt x="153414" y="2040763"/>
                  </a:lnTo>
                  <a:lnTo>
                    <a:pt x="166913" y="2051240"/>
                  </a:lnTo>
                  <a:lnTo>
                    <a:pt x="166051" y="2050160"/>
                  </a:lnTo>
                  <a:lnTo>
                    <a:pt x="159506" y="2040763"/>
                  </a:lnTo>
                  <a:close/>
                </a:path>
                <a:path w="737869" h="2143760">
                  <a:moveTo>
                    <a:pt x="725041" y="0"/>
                  </a:moveTo>
                  <a:lnTo>
                    <a:pt x="722946" y="56641"/>
                  </a:lnTo>
                  <a:lnTo>
                    <a:pt x="716990" y="112521"/>
                  </a:lnTo>
                  <a:lnTo>
                    <a:pt x="707249" y="167639"/>
                  </a:lnTo>
                  <a:lnTo>
                    <a:pt x="694092" y="221361"/>
                  </a:lnTo>
                  <a:lnTo>
                    <a:pt x="677823" y="273303"/>
                  </a:lnTo>
                  <a:lnTo>
                    <a:pt x="658633" y="323088"/>
                  </a:lnTo>
                  <a:lnTo>
                    <a:pt x="636802" y="370204"/>
                  </a:lnTo>
                  <a:lnTo>
                    <a:pt x="612621" y="414146"/>
                  </a:lnTo>
                  <a:lnTo>
                    <a:pt x="586294" y="454660"/>
                  </a:lnTo>
                  <a:lnTo>
                    <a:pt x="558252" y="490981"/>
                  </a:lnTo>
                  <a:lnTo>
                    <a:pt x="528712" y="522858"/>
                  </a:lnTo>
                  <a:lnTo>
                    <a:pt x="497864" y="550037"/>
                  </a:lnTo>
                  <a:lnTo>
                    <a:pt x="465995" y="571753"/>
                  </a:lnTo>
                  <a:lnTo>
                    <a:pt x="417536" y="593216"/>
                  </a:lnTo>
                  <a:lnTo>
                    <a:pt x="368540" y="600582"/>
                  </a:lnTo>
                  <a:lnTo>
                    <a:pt x="351522" y="601726"/>
                  </a:lnTo>
                  <a:lnTo>
                    <a:pt x="298715" y="617854"/>
                  </a:lnTo>
                  <a:lnTo>
                    <a:pt x="264578" y="638682"/>
                  </a:lnTo>
                  <a:lnTo>
                    <a:pt x="231456" y="666495"/>
                  </a:lnTo>
                  <a:lnTo>
                    <a:pt x="199681" y="701039"/>
                  </a:lnTo>
                  <a:lnTo>
                    <a:pt x="169302" y="741426"/>
                  </a:lnTo>
                  <a:lnTo>
                    <a:pt x="140714" y="787273"/>
                  </a:lnTo>
                  <a:lnTo>
                    <a:pt x="113930" y="837945"/>
                  </a:lnTo>
                  <a:lnTo>
                    <a:pt x="89368" y="892936"/>
                  </a:lnTo>
                  <a:lnTo>
                    <a:pt x="67232" y="951864"/>
                  </a:lnTo>
                  <a:lnTo>
                    <a:pt x="47789" y="1014094"/>
                  </a:lnTo>
                  <a:lnTo>
                    <a:pt x="31317" y="1078991"/>
                  </a:lnTo>
                  <a:lnTo>
                    <a:pt x="18007" y="1146047"/>
                  </a:lnTo>
                  <a:lnTo>
                    <a:pt x="8139" y="1214882"/>
                  </a:lnTo>
                  <a:lnTo>
                    <a:pt x="2107" y="1284732"/>
                  </a:lnTo>
                  <a:lnTo>
                    <a:pt x="0" y="1355343"/>
                  </a:lnTo>
                  <a:lnTo>
                    <a:pt x="277" y="1390268"/>
                  </a:lnTo>
                  <a:lnTo>
                    <a:pt x="2928" y="1459864"/>
                  </a:lnTo>
                  <a:lnTo>
                    <a:pt x="7842" y="1528698"/>
                  </a:lnTo>
                  <a:lnTo>
                    <a:pt x="7923" y="1529714"/>
                  </a:lnTo>
                  <a:lnTo>
                    <a:pt x="11139" y="1562608"/>
                  </a:lnTo>
                  <a:lnTo>
                    <a:pt x="11263" y="1563877"/>
                  </a:lnTo>
                  <a:lnTo>
                    <a:pt x="19658" y="1630807"/>
                  </a:lnTo>
                  <a:lnTo>
                    <a:pt x="29983" y="1695703"/>
                  </a:lnTo>
                  <a:lnTo>
                    <a:pt x="42226" y="1757807"/>
                  </a:lnTo>
                  <a:lnTo>
                    <a:pt x="56082" y="1816480"/>
                  </a:lnTo>
                  <a:lnTo>
                    <a:pt x="71588" y="1871598"/>
                  </a:lnTo>
                  <a:lnTo>
                    <a:pt x="88352" y="1922145"/>
                  </a:lnTo>
                  <a:lnTo>
                    <a:pt x="106285" y="1967864"/>
                  </a:lnTo>
                  <a:lnTo>
                    <a:pt x="125335" y="2008251"/>
                  </a:lnTo>
                  <a:lnTo>
                    <a:pt x="145337" y="2042667"/>
                  </a:lnTo>
                  <a:lnTo>
                    <a:pt x="146767" y="2044716"/>
                  </a:lnTo>
                  <a:lnTo>
                    <a:pt x="149414" y="2041270"/>
                  </a:lnTo>
                  <a:lnTo>
                    <a:pt x="153414" y="2040763"/>
                  </a:lnTo>
                  <a:lnTo>
                    <a:pt x="159506" y="2040763"/>
                  </a:lnTo>
                  <a:lnTo>
                    <a:pt x="156145" y="2035936"/>
                  </a:lnTo>
                  <a:lnTo>
                    <a:pt x="146302" y="2020061"/>
                  </a:lnTo>
                  <a:lnTo>
                    <a:pt x="127291" y="1983613"/>
                  </a:lnTo>
                  <a:lnTo>
                    <a:pt x="109066" y="1941195"/>
                  </a:lnTo>
                  <a:lnTo>
                    <a:pt x="91832" y="1893570"/>
                  </a:lnTo>
                  <a:lnTo>
                    <a:pt x="75906" y="1841245"/>
                  </a:lnTo>
                  <a:lnTo>
                    <a:pt x="61403" y="1784858"/>
                  </a:lnTo>
                  <a:lnTo>
                    <a:pt x="48398" y="1724786"/>
                  </a:lnTo>
                  <a:lnTo>
                    <a:pt x="37197" y="1661667"/>
                  </a:lnTo>
                  <a:lnTo>
                    <a:pt x="23900" y="1562608"/>
                  </a:lnTo>
                  <a:lnTo>
                    <a:pt x="17890" y="1495297"/>
                  </a:lnTo>
                  <a:lnTo>
                    <a:pt x="14037" y="1425574"/>
                  </a:lnTo>
                  <a:lnTo>
                    <a:pt x="12686" y="1355343"/>
                  </a:lnTo>
                  <a:lnTo>
                    <a:pt x="13156" y="1320545"/>
                  </a:lnTo>
                  <a:lnTo>
                    <a:pt x="17232" y="1250949"/>
                  </a:lnTo>
                  <a:lnTo>
                    <a:pt x="25195" y="1182242"/>
                  </a:lnTo>
                  <a:lnTo>
                    <a:pt x="36651" y="1114933"/>
                  </a:lnTo>
                  <a:lnTo>
                    <a:pt x="51433" y="1049527"/>
                  </a:lnTo>
                  <a:lnTo>
                    <a:pt x="69239" y="986663"/>
                  </a:lnTo>
                  <a:lnTo>
                    <a:pt x="89889" y="926591"/>
                  </a:lnTo>
                  <a:lnTo>
                    <a:pt x="112876" y="870330"/>
                  </a:lnTo>
                  <a:lnTo>
                    <a:pt x="138213" y="818133"/>
                  </a:lnTo>
                  <a:lnTo>
                    <a:pt x="165391" y="770508"/>
                  </a:lnTo>
                  <a:lnTo>
                    <a:pt x="194308" y="728344"/>
                  </a:lnTo>
                  <a:lnTo>
                    <a:pt x="224547" y="691895"/>
                  </a:lnTo>
                  <a:lnTo>
                    <a:pt x="255738" y="661796"/>
                  </a:lnTo>
                  <a:lnTo>
                    <a:pt x="287450" y="638682"/>
                  </a:lnTo>
                  <a:lnTo>
                    <a:pt x="336142" y="617474"/>
                  </a:lnTo>
                  <a:lnTo>
                    <a:pt x="386802" y="612393"/>
                  </a:lnTo>
                  <a:lnTo>
                    <a:pt x="404303" y="609600"/>
                  </a:lnTo>
                  <a:lnTo>
                    <a:pt x="456195" y="591438"/>
                  </a:lnTo>
                  <a:lnTo>
                    <a:pt x="489672" y="571753"/>
                  </a:lnTo>
                  <a:lnTo>
                    <a:pt x="522057" y="546353"/>
                  </a:lnTo>
                  <a:lnTo>
                    <a:pt x="553172" y="515874"/>
                  </a:lnTo>
                  <a:lnTo>
                    <a:pt x="582776" y="480949"/>
                  </a:lnTo>
                  <a:lnTo>
                    <a:pt x="610462" y="441578"/>
                  </a:lnTo>
                  <a:lnTo>
                    <a:pt x="636230" y="398525"/>
                  </a:lnTo>
                  <a:lnTo>
                    <a:pt x="659560" y="352170"/>
                  </a:lnTo>
                  <a:lnTo>
                    <a:pt x="680477" y="302894"/>
                  </a:lnTo>
                  <a:lnTo>
                    <a:pt x="698511" y="251205"/>
                  </a:lnTo>
                  <a:lnTo>
                    <a:pt x="713484" y="197485"/>
                  </a:lnTo>
                  <a:lnTo>
                    <a:pt x="725080" y="142239"/>
                  </a:lnTo>
                  <a:lnTo>
                    <a:pt x="733042" y="85725"/>
                  </a:lnTo>
                  <a:lnTo>
                    <a:pt x="737157" y="28701"/>
                  </a:lnTo>
                  <a:lnTo>
                    <a:pt x="737729" y="253"/>
                  </a:lnTo>
                  <a:lnTo>
                    <a:pt x="725041" y="0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97783" y="327786"/>
            <a:ext cx="341630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52573"/>
                </a:solidFill>
                <a:latin typeface="Arial"/>
                <a:cs typeface="Arial"/>
              </a:rPr>
              <a:t>Supervised</a:t>
            </a:r>
            <a:r>
              <a:rPr dirty="0" sz="2700" spc="-7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297166" y="2834894"/>
            <a:ext cx="1752600" cy="1435100"/>
            <a:chOff x="7297166" y="2834894"/>
            <a:chExt cx="1752600" cy="1435100"/>
          </a:xfrm>
        </p:grpSpPr>
        <p:sp>
          <p:nvSpPr>
            <p:cNvPr id="12" name="object 12" descr=""/>
            <p:cNvSpPr/>
            <p:nvPr/>
          </p:nvSpPr>
          <p:spPr>
            <a:xfrm>
              <a:off x="7309866" y="2847594"/>
              <a:ext cx="1727200" cy="1409700"/>
            </a:xfrm>
            <a:custGeom>
              <a:avLst/>
              <a:gdLst/>
              <a:ahLst/>
              <a:cxnLst/>
              <a:rect l="l" t="t" r="r" b="b"/>
              <a:pathLst>
                <a:path w="1727200" h="1409700">
                  <a:moveTo>
                    <a:pt x="1726691" y="0"/>
                  </a:moveTo>
                  <a:lnTo>
                    <a:pt x="0" y="0"/>
                  </a:lnTo>
                  <a:lnTo>
                    <a:pt x="0" y="1333626"/>
                  </a:lnTo>
                  <a:lnTo>
                    <a:pt x="58854" y="1349826"/>
                  </a:lnTo>
                  <a:lnTo>
                    <a:pt x="115037" y="1363890"/>
                  </a:lnTo>
                  <a:lnTo>
                    <a:pt x="168679" y="1375902"/>
                  </a:lnTo>
                  <a:lnTo>
                    <a:pt x="219911" y="1385947"/>
                  </a:lnTo>
                  <a:lnTo>
                    <a:pt x="268862" y="1394111"/>
                  </a:lnTo>
                  <a:lnTo>
                    <a:pt x="315663" y="1400476"/>
                  </a:lnTo>
                  <a:lnTo>
                    <a:pt x="360445" y="1405129"/>
                  </a:lnTo>
                  <a:lnTo>
                    <a:pt x="403337" y="1408153"/>
                  </a:lnTo>
                  <a:lnTo>
                    <a:pt x="444470" y="1409633"/>
                  </a:lnTo>
                  <a:lnTo>
                    <a:pt x="483974" y="1409654"/>
                  </a:lnTo>
                  <a:lnTo>
                    <a:pt x="521979" y="1408300"/>
                  </a:lnTo>
                  <a:lnTo>
                    <a:pt x="594016" y="1401806"/>
                  </a:lnTo>
                  <a:lnTo>
                    <a:pt x="661623" y="1390828"/>
                  </a:lnTo>
                  <a:lnTo>
                    <a:pt x="725841" y="1376042"/>
                  </a:lnTo>
                  <a:lnTo>
                    <a:pt x="787714" y="1358125"/>
                  </a:lnTo>
                  <a:lnTo>
                    <a:pt x="848284" y="1337754"/>
                  </a:lnTo>
                  <a:lnTo>
                    <a:pt x="908594" y="1315604"/>
                  </a:lnTo>
                  <a:lnTo>
                    <a:pt x="1032601" y="1268677"/>
                  </a:lnTo>
                  <a:lnTo>
                    <a:pt x="1065068" y="1256891"/>
                  </a:lnTo>
                  <a:lnTo>
                    <a:pt x="1132675" y="1233846"/>
                  </a:lnTo>
                  <a:lnTo>
                    <a:pt x="1204712" y="1212068"/>
                  </a:lnTo>
                  <a:lnTo>
                    <a:pt x="1242717" y="1201865"/>
                  </a:lnTo>
                  <a:lnTo>
                    <a:pt x="1282221" y="1192232"/>
                  </a:lnTo>
                  <a:lnTo>
                    <a:pt x="1323354" y="1183255"/>
                  </a:lnTo>
                  <a:lnTo>
                    <a:pt x="1366246" y="1175017"/>
                  </a:lnTo>
                  <a:lnTo>
                    <a:pt x="1411028" y="1167602"/>
                  </a:lnTo>
                  <a:lnTo>
                    <a:pt x="1457829" y="1161097"/>
                  </a:lnTo>
                  <a:lnTo>
                    <a:pt x="1506780" y="1155585"/>
                  </a:lnTo>
                  <a:lnTo>
                    <a:pt x="1558012" y="1151150"/>
                  </a:lnTo>
                  <a:lnTo>
                    <a:pt x="1611654" y="1147878"/>
                  </a:lnTo>
                  <a:lnTo>
                    <a:pt x="1667837" y="1145852"/>
                  </a:lnTo>
                  <a:lnTo>
                    <a:pt x="1726691" y="1145158"/>
                  </a:lnTo>
                  <a:lnTo>
                    <a:pt x="1726691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309866" y="2847594"/>
              <a:ext cx="1727200" cy="1409700"/>
            </a:xfrm>
            <a:custGeom>
              <a:avLst/>
              <a:gdLst/>
              <a:ahLst/>
              <a:cxnLst/>
              <a:rect l="l" t="t" r="r" b="b"/>
              <a:pathLst>
                <a:path w="1727200" h="1409700">
                  <a:moveTo>
                    <a:pt x="0" y="0"/>
                  </a:moveTo>
                  <a:lnTo>
                    <a:pt x="1726691" y="0"/>
                  </a:lnTo>
                  <a:lnTo>
                    <a:pt x="1726691" y="1145158"/>
                  </a:lnTo>
                  <a:lnTo>
                    <a:pt x="1667837" y="1145852"/>
                  </a:lnTo>
                  <a:lnTo>
                    <a:pt x="1611654" y="1147878"/>
                  </a:lnTo>
                  <a:lnTo>
                    <a:pt x="1558012" y="1151150"/>
                  </a:lnTo>
                  <a:lnTo>
                    <a:pt x="1506780" y="1155585"/>
                  </a:lnTo>
                  <a:lnTo>
                    <a:pt x="1457829" y="1161097"/>
                  </a:lnTo>
                  <a:lnTo>
                    <a:pt x="1411028" y="1167602"/>
                  </a:lnTo>
                  <a:lnTo>
                    <a:pt x="1366246" y="1175017"/>
                  </a:lnTo>
                  <a:lnTo>
                    <a:pt x="1323354" y="1183255"/>
                  </a:lnTo>
                  <a:lnTo>
                    <a:pt x="1282221" y="1192232"/>
                  </a:lnTo>
                  <a:lnTo>
                    <a:pt x="1242717" y="1201865"/>
                  </a:lnTo>
                  <a:lnTo>
                    <a:pt x="1204712" y="1212068"/>
                  </a:lnTo>
                  <a:lnTo>
                    <a:pt x="1168074" y="1222756"/>
                  </a:lnTo>
                  <a:lnTo>
                    <a:pt x="1098383" y="1245252"/>
                  </a:lnTo>
                  <a:lnTo>
                    <a:pt x="1032601" y="1268677"/>
                  </a:lnTo>
                  <a:lnTo>
                    <a:pt x="969685" y="1292353"/>
                  </a:lnTo>
                  <a:lnTo>
                    <a:pt x="938977" y="1304074"/>
                  </a:lnTo>
                  <a:lnTo>
                    <a:pt x="908594" y="1315604"/>
                  </a:lnTo>
                  <a:lnTo>
                    <a:pt x="848284" y="1337754"/>
                  </a:lnTo>
                  <a:lnTo>
                    <a:pt x="787714" y="1358125"/>
                  </a:lnTo>
                  <a:lnTo>
                    <a:pt x="725841" y="1376042"/>
                  </a:lnTo>
                  <a:lnTo>
                    <a:pt x="661623" y="1390828"/>
                  </a:lnTo>
                  <a:lnTo>
                    <a:pt x="594016" y="1401806"/>
                  </a:lnTo>
                  <a:lnTo>
                    <a:pt x="521979" y="1408300"/>
                  </a:lnTo>
                  <a:lnTo>
                    <a:pt x="483974" y="1409654"/>
                  </a:lnTo>
                  <a:lnTo>
                    <a:pt x="444470" y="1409633"/>
                  </a:lnTo>
                  <a:lnTo>
                    <a:pt x="403337" y="1408153"/>
                  </a:lnTo>
                  <a:lnTo>
                    <a:pt x="360445" y="1405129"/>
                  </a:lnTo>
                  <a:lnTo>
                    <a:pt x="315663" y="1400476"/>
                  </a:lnTo>
                  <a:lnTo>
                    <a:pt x="268862" y="1394111"/>
                  </a:lnTo>
                  <a:lnTo>
                    <a:pt x="219911" y="1385947"/>
                  </a:lnTo>
                  <a:lnTo>
                    <a:pt x="168679" y="1375902"/>
                  </a:lnTo>
                  <a:lnTo>
                    <a:pt x="115037" y="1363890"/>
                  </a:lnTo>
                  <a:lnTo>
                    <a:pt x="58854" y="1349826"/>
                  </a:lnTo>
                  <a:lnTo>
                    <a:pt x="0" y="133362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700264" y="2989275"/>
            <a:ext cx="947419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177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Learning “Healthy” Concept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99516" y="2314955"/>
            <a:ext cx="1225550" cy="215265"/>
          </a:xfrm>
          <a:custGeom>
            <a:avLst/>
            <a:gdLst/>
            <a:ahLst/>
            <a:cxnLst/>
            <a:rect l="l" t="t" r="r" b="b"/>
            <a:pathLst>
              <a:path w="1225550" h="215264">
                <a:moveTo>
                  <a:pt x="0" y="214884"/>
                </a:moveTo>
                <a:lnTo>
                  <a:pt x="1406" y="173075"/>
                </a:lnTo>
                <a:lnTo>
                  <a:pt x="5243" y="138922"/>
                </a:lnTo>
                <a:lnTo>
                  <a:pt x="10935" y="115889"/>
                </a:lnTo>
                <a:lnTo>
                  <a:pt x="17907" y="107442"/>
                </a:lnTo>
                <a:lnTo>
                  <a:pt x="594741" y="107442"/>
                </a:lnTo>
                <a:lnTo>
                  <a:pt x="601718" y="98994"/>
                </a:lnTo>
                <a:lnTo>
                  <a:pt x="607409" y="75961"/>
                </a:lnTo>
                <a:lnTo>
                  <a:pt x="611243" y="41808"/>
                </a:lnTo>
                <a:lnTo>
                  <a:pt x="612647" y="0"/>
                </a:lnTo>
                <a:lnTo>
                  <a:pt x="614052" y="41808"/>
                </a:lnTo>
                <a:lnTo>
                  <a:pt x="617886" y="75961"/>
                </a:lnTo>
                <a:lnTo>
                  <a:pt x="623577" y="98994"/>
                </a:lnTo>
                <a:lnTo>
                  <a:pt x="630555" y="107442"/>
                </a:lnTo>
                <a:lnTo>
                  <a:pt x="1207389" y="107442"/>
                </a:lnTo>
                <a:lnTo>
                  <a:pt x="1214366" y="115889"/>
                </a:lnTo>
                <a:lnTo>
                  <a:pt x="1220057" y="138922"/>
                </a:lnTo>
                <a:lnTo>
                  <a:pt x="1223891" y="173075"/>
                </a:lnTo>
                <a:lnTo>
                  <a:pt x="1225296" y="214884"/>
                </a:lnTo>
              </a:path>
            </a:pathLst>
          </a:custGeom>
          <a:ln w="9525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3153410" y="2397505"/>
          <a:ext cx="3380104" cy="274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/>
                <a:gridCol w="465454"/>
                <a:gridCol w="463550"/>
                <a:gridCol w="502284"/>
                <a:gridCol w="887730"/>
                <a:gridCol w="409574"/>
              </a:tblGrid>
              <a:tr h="342900">
                <a:tc>
                  <a:txBody>
                    <a:bodyPr/>
                    <a:lstStyle/>
                    <a:p>
                      <a:pPr algn="ctr" marR="342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88A3A7"/>
                      </a:solidFill>
                      <a:prstDash val="solid"/>
                    </a:lnL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0129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755"/>
                        </a:lnSpc>
                      </a:pPr>
                      <a:r>
                        <a:rPr dirty="0" sz="1600" spc="-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8A3A7"/>
                      </a:solidFill>
                      <a:prstDash val="solid"/>
                    </a:lnL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88A3A7"/>
                      </a:solidFill>
                      <a:prstDash val="solid"/>
                    </a:lnL>
                    <a:lnT w="28575">
                      <a:solidFill>
                        <a:srgbClr val="88A3A7"/>
                      </a:solidFill>
                      <a:prstDash val="solid"/>
                    </a:lnT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T w="28575">
                      <a:solidFill>
                        <a:srgbClr val="88A3A7"/>
                      </a:solidFill>
                      <a:prstDash val="solid"/>
                    </a:lnT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T w="28575">
                      <a:solidFill>
                        <a:srgbClr val="88A3A7"/>
                      </a:solidFill>
                      <a:prstDash val="solid"/>
                    </a:lnT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T w="28575">
                      <a:solidFill>
                        <a:srgbClr val="88A3A7"/>
                      </a:solidFill>
                      <a:prstDash val="solid"/>
                    </a:lnT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solidFill>
                      <a:srgbClr val="252573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40640" marR="990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H H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NH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H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NH NH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H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40640">
                    <a:lnL w="28575">
                      <a:solidFill>
                        <a:srgbClr val="88A3A7"/>
                      </a:solidFill>
                      <a:prstDash val="solid"/>
                    </a:lnL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marR="762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8A3A7"/>
                      </a:solidFill>
                      <a:prstDash val="solid"/>
                    </a:lnL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8A3A7"/>
                      </a:solidFill>
                      <a:prstDash val="solid"/>
                    </a:lnR>
                    <a:solidFill>
                      <a:srgbClr val="2525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0640">
                    <a:lnL w="28575">
                      <a:solidFill>
                        <a:srgbClr val="88A3A7"/>
                      </a:solidFill>
                      <a:prstDash val="solid"/>
                    </a:lnL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marR="762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8A3A7"/>
                      </a:solidFill>
                      <a:prstDash val="solid"/>
                    </a:lnL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8A3A7"/>
                      </a:solidFill>
                      <a:prstDash val="solid"/>
                    </a:lnR>
                    <a:solidFill>
                      <a:srgbClr val="2525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0640">
                    <a:lnL w="28575">
                      <a:solidFill>
                        <a:srgbClr val="88A3A7"/>
                      </a:solidFill>
                      <a:prstDash val="solid"/>
                    </a:lnL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 marR="762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8A3A7"/>
                      </a:solidFill>
                      <a:prstDash val="solid"/>
                    </a:lnL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8A3A7"/>
                      </a:solidFill>
                      <a:prstDash val="solid"/>
                    </a:lnR>
                    <a:solidFill>
                      <a:srgbClr val="2525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0640">
                    <a:lnL w="28575">
                      <a:solidFill>
                        <a:srgbClr val="88A3A7"/>
                      </a:solidFill>
                      <a:prstDash val="solid"/>
                    </a:lnL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 marR="762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8A3A7"/>
                      </a:solidFill>
                      <a:prstDash val="solid"/>
                    </a:lnL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8A3A7"/>
                      </a:solidFill>
                      <a:prstDash val="solid"/>
                    </a:lnR>
                    <a:solidFill>
                      <a:srgbClr val="2525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0640">
                    <a:lnL w="28575">
                      <a:solidFill>
                        <a:srgbClr val="88A3A7"/>
                      </a:solidFill>
                      <a:prstDash val="solid"/>
                    </a:lnL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marR="762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8A3A7"/>
                      </a:solidFill>
                      <a:prstDash val="solid"/>
                    </a:lnL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334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859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8A3A7"/>
                      </a:solidFill>
                      <a:prstDash val="solid"/>
                    </a:lnR>
                    <a:solidFill>
                      <a:srgbClr val="2525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0640">
                    <a:lnL w="28575">
                      <a:solidFill>
                        <a:srgbClr val="88A3A7"/>
                      </a:solidFill>
                      <a:prstDash val="solid"/>
                    </a:lnL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marR="762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8A3A7"/>
                      </a:solidFill>
                      <a:prstDash val="solid"/>
                    </a:lnL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8A3A7"/>
                      </a:solidFill>
                      <a:prstDash val="solid"/>
                    </a:lnR>
                    <a:solidFill>
                      <a:srgbClr val="2525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0640">
                    <a:lnL w="28575">
                      <a:solidFill>
                        <a:srgbClr val="88A3A7"/>
                      </a:solidFill>
                      <a:prstDash val="solid"/>
                    </a:lnL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 algn="ctr" marR="762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8A3A7"/>
                      </a:solidFill>
                      <a:prstDash val="solid"/>
                    </a:lnL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8A3A7"/>
                      </a:solidFill>
                      <a:prstDash val="solid"/>
                    </a:lnR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0640">
                    <a:lnL w="28575">
                      <a:solidFill>
                        <a:srgbClr val="88A3A7"/>
                      </a:solidFill>
                      <a:prstDash val="solid"/>
                    </a:lnL>
                    <a:lnR w="28575">
                      <a:solidFill>
                        <a:srgbClr val="88A3A7"/>
                      </a:solidFill>
                      <a:prstDash val="solid"/>
                    </a:lnR>
                    <a:lnT w="28575">
                      <a:solidFill>
                        <a:srgbClr val="88A3A7"/>
                      </a:solidFill>
                      <a:prstDash val="solid"/>
                    </a:lnT>
                    <a:lnB w="28575">
                      <a:solidFill>
                        <a:srgbClr val="88A3A7"/>
                      </a:solidFill>
                      <a:prstDash val="solid"/>
                    </a:lnB>
                    <a:solidFill>
                      <a:srgbClr val="252573"/>
                    </a:solidFill>
                  </a:tcPr>
                </a:tc>
              </a:tr>
            </a:tbl>
          </a:graphicData>
        </a:graphic>
      </p:graphicFrame>
      <p:grpSp>
        <p:nvGrpSpPr>
          <p:cNvPr id="17" name="object 17" descr=""/>
          <p:cNvGrpSpPr/>
          <p:nvPr/>
        </p:nvGrpSpPr>
        <p:grpSpPr>
          <a:xfrm>
            <a:off x="6495541" y="3369817"/>
            <a:ext cx="789305" cy="423545"/>
            <a:chOff x="6495541" y="3369817"/>
            <a:chExt cx="789305" cy="423545"/>
          </a:xfrm>
        </p:grpSpPr>
        <p:sp>
          <p:nvSpPr>
            <p:cNvPr id="18" name="object 18" descr=""/>
            <p:cNvSpPr/>
            <p:nvPr/>
          </p:nvSpPr>
          <p:spPr>
            <a:xfrm>
              <a:off x="6508241" y="3382517"/>
              <a:ext cx="763905" cy="398145"/>
            </a:xfrm>
            <a:custGeom>
              <a:avLst/>
              <a:gdLst/>
              <a:ahLst/>
              <a:cxnLst/>
              <a:rect l="l" t="t" r="r" b="b"/>
              <a:pathLst>
                <a:path w="763904" h="398145">
                  <a:moveTo>
                    <a:pt x="564641" y="0"/>
                  </a:moveTo>
                  <a:lnTo>
                    <a:pt x="564641" y="99441"/>
                  </a:lnTo>
                  <a:lnTo>
                    <a:pt x="0" y="99441"/>
                  </a:lnTo>
                  <a:lnTo>
                    <a:pt x="0" y="298323"/>
                  </a:lnTo>
                  <a:lnTo>
                    <a:pt x="564641" y="298323"/>
                  </a:lnTo>
                  <a:lnTo>
                    <a:pt x="564641" y="397764"/>
                  </a:lnTo>
                  <a:lnTo>
                    <a:pt x="763524" y="198882"/>
                  </a:lnTo>
                  <a:lnTo>
                    <a:pt x="564641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508241" y="3382517"/>
              <a:ext cx="763905" cy="398145"/>
            </a:xfrm>
            <a:custGeom>
              <a:avLst/>
              <a:gdLst/>
              <a:ahLst/>
              <a:cxnLst/>
              <a:rect l="l" t="t" r="r" b="b"/>
              <a:pathLst>
                <a:path w="763904" h="398145">
                  <a:moveTo>
                    <a:pt x="0" y="99441"/>
                  </a:moveTo>
                  <a:lnTo>
                    <a:pt x="564641" y="99441"/>
                  </a:lnTo>
                  <a:lnTo>
                    <a:pt x="564641" y="0"/>
                  </a:lnTo>
                  <a:lnTo>
                    <a:pt x="763524" y="198882"/>
                  </a:lnTo>
                  <a:lnTo>
                    <a:pt x="564641" y="397764"/>
                  </a:lnTo>
                  <a:lnTo>
                    <a:pt x="564641" y="298323"/>
                  </a:lnTo>
                  <a:lnTo>
                    <a:pt x="0" y="298323"/>
                  </a:lnTo>
                  <a:lnTo>
                    <a:pt x="0" y="99441"/>
                  </a:lnTo>
                  <a:close/>
                </a:path>
              </a:pathLst>
            </a:custGeom>
            <a:ln w="25399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2229611" y="2642742"/>
            <a:ext cx="802005" cy="103505"/>
          </a:xfrm>
          <a:custGeom>
            <a:avLst/>
            <a:gdLst/>
            <a:ahLst/>
            <a:cxnLst/>
            <a:rect l="l" t="t" r="r" b="b"/>
            <a:pathLst>
              <a:path w="802005" h="103505">
                <a:moveTo>
                  <a:pt x="776514" y="51689"/>
                </a:moveTo>
                <a:lnTo>
                  <a:pt x="706627" y="92456"/>
                </a:lnTo>
                <a:lnTo>
                  <a:pt x="705612" y="96266"/>
                </a:lnTo>
                <a:lnTo>
                  <a:pt x="709168" y="102362"/>
                </a:lnTo>
                <a:lnTo>
                  <a:pt x="713105" y="103378"/>
                </a:lnTo>
                <a:lnTo>
                  <a:pt x="790860" y="58039"/>
                </a:lnTo>
                <a:lnTo>
                  <a:pt x="789051" y="58039"/>
                </a:lnTo>
                <a:lnTo>
                  <a:pt x="789051" y="57150"/>
                </a:lnTo>
                <a:lnTo>
                  <a:pt x="785876" y="57150"/>
                </a:lnTo>
                <a:lnTo>
                  <a:pt x="776514" y="51689"/>
                </a:lnTo>
                <a:close/>
              </a:path>
              <a:path w="802005" h="103505">
                <a:moveTo>
                  <a:pt x="765628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765628" y="58039"/>
                </a:lnTo>
                <a:lnTo>
                  <a:pt x="776514" y="51689"/>
                </a:lnTo>
                <a:lnTo>
                  <a:pt x="765628" y="45339"/>
                </a:lnTo>
                <a:close/>
              </a:path>
              <a:path w="802005" h="103505">
                <a:moveTo>
                  <a:pt x="790860" y="45339"/>
                </a:moveTo>
                <a:lnTo>
                  <a:pt x="789051" y="45339"/>
                </a:lnTo>
                <a:lnTo>
                  <a:pt x="789051" y="58039"/>
                </a:lnTo>
                <a:lnTo>
                  <a:pt x="790860" y="58039"/>
                </a:lnTo>
                <a:lnTo>
                  <a:pt x="801751" y="51689"/>
                </a:lnTo>
                <a:lnTo>
                  <a:pt x="790860" y="45339"/>
                </a:lnTo>
                <a:close/>
              </a:path>
              <a:path w="802005" h="103505">
                <a:moveTo>
                  <a:pt x="785876" y="46228"/>
                </a:moveTo>
                <a:lnTo>
                  <a:pt x="776514" y="51689"/>
                </a:lnTo>
                <a:lnTo>
                  <a:pt x="785876" y="57150"/>
                </a:lnTo>
                <a:lnTo>
                  <a:pt x="785876" y="46228"/>
                </a:lnTo>
                <a:close/>
              </a:path>
              <a:path w="802005" h="103505">
                <a:moveTo>
                  <a:pt x="789051" y="46228"/>
                </a:moveTo>
                <a:lnTo>
                  <a:pt x="785876" y="46228"/>
                </a:lnTo>
                <a:lnTo>
                  <a:pt x="785876" y="57150"/>
                </a:lnTo>
                <a:lnTo>
                  <a:pt x="789051" y="57150"/>
                </a:lnTo>
                <a:lnTo>
                  <a:pt x="789051" y="46228"/>
                </a:lnTo>
                <a:close/>
              </a:path>
              <a:path w="802005" h="103505">
                <a:moveTo>
                  <a:pt x="713105" y="0"/>
                </a:moveTo>
                <a:lnTo>
                  <a:pt x="709168" y="1016"/>
                </a:lnTo>
                <a:lnTo>
                  <a:pt x="705612" y="7112"/>
                </a:lnTo>
                <a:lnTo>
                  <a:pt x="706627" y="10922"/>
                </a:lnTo>
                <a:lnTo>
                  <a:pt x="776514" y="51689"/>
                </a:lnTo>
                <a:lnTo>
                  <a:pt x="785876" y="46228"/>
                </a:lnTo>
                <a:lnTo>
                  <a:pt x="789051" y="46228"/>
                </a:lnTo>
                <a:lnTo>
                  <a:pt x="789051" y="45339"/>
                </a:lnTo>
                <a:lnTo>
                  <a:pt x="790860" y="45339"/>
                </a:lnTo>
                <a:lnTo>
                  <a:pt x="713105" y="0"/>
                </a:lnTo>
                <a:close/>
              </a:path>
            </a:pathLst>
          </a:custGeom>
          <a:solidFill>
            <a:srgbClr val="B6DC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141272" y="5693155"/>
            <a:ext cx="996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 MT"/>
                <a:cs typeface="Arial MT"/>
              </a:rPr>
              <a:t>Supervisor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707895" y="3034741"/>
            <a:ext cx="81406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i="1">
                <a:latin typeface="Times New Roman"/>
                <a:cs typeface="Times New Roman"/>
              </a:rPr>
              <a:t>y</a:t>
            </a:r>
            <a:r>
              <a:rPr dirty="0" sz="1600" spc="390" i="1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(Label)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75868" y="3066033"/>
            <a:ext cx="1155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i="1"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141726" y="5277992"/>
            <a:ext cx="177355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BP: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Blood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pressure </a:t>
            </a:r>
            <a:r>
              <a:rPr dirty="0" sz="1600" spc="-100">
                <a:latin typeface="Arial MT"/>
                <a:cs typeface="Arial MT"/>
              </a:rPr>
              <a:t>T:</a:t>
            </a:r>
            <a:r>
              <a:rPr dirty="0" sz="1600" spc="-10">
                <a:latin typeface="Arial MT"/>
                <a:cs typeface="Arial MT"/>
              </a:rPr>
              <a:t> Temperature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Arial MT"/>
                <a:cs typeface="Arial MT"/>
              </a:rPr>
              <a:t>A: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Age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296027" y="5311266"/>
            <a:ext cx="106553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G: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Gender </a:t>
            </a:r>
            <a:r>
              <a:rPr dirty="0" sz="1600">
                <a:latin typeface="Arial MT"/>
                <a:cs typeface="Arial MT"/>
              </a:rPr>
              <a:t>S:</a:t>
            </a:r>
            <a:r>
              <a:rPr dirty="0" sz="1600" spc="-10">
                <a:latin typeface="Arial MT"/>
                <a:cs typeface="Arial MT"/>
              </a:rPr>
              <a:t> Smoking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3203448" y="2060448"/>
            <a:ext cx="2466340" cy="241300"/>
          </a:xfrm>
          <a:custGeom>
            <a:avLst/>
            <a:gdLst/>
            <a:ahLst/>
            <a:cxnLst/>
            <a:rect l="l" t="t" r="r" b="b"/>
            <a:pathLst>
              <a:path w="2466340" h="241300">
                <a:moveTo>
                  <a:pt x="0" y="240791"/>
                </a:moveTo>
                <a:lnTo>
                  <a:pt x="1581" y="193905"/>
                </a:lnTo>
                <a:lnTo>
                  <a:pt x="5889" y="155638"/>
                </a:lnTo>
                <a:lnTo>
                  <a:pt x="12269" y="129849"/>
                </a:lnTo>
                <a:lnTo>
                  <a:pt x="20065" y="120396"/>
                </a:lnTo>
                <a:lnTo>
                  <a:pt x="1212850" y="120396"/>
                </a:lnTo>
                <a:lnTo>
                  <a:pt x="1220646" y="110942"/>
                </a:lnTo>
                <a:lnTo>
                  <a:pt x="1227026" y="85153"/>
                </a:lnTo>
                <a:lnTo>
                  <a:pt x="1231334" y="46886"/>
                </a:lnTo>
                <a:lnTo>
                  <a:pt x="1232915" y="0"/>
                </a:lnTo>
                <a:lnTo>
                  <a:pt x="1234497" y="46886"/>
                </a:lnTo>
                <a:lnTo>
                  <a:pt x="1238805" y="85153"/>
                </a:lnTo>
                <a:lnTo>
                  <a:pt x="1245185" y="110942"/>
                </a:lnTo>
                <a:lnTo>
                  <a:pt x="1252981" y="120396"/>
                </a:lnTo>
                <a:lnTo>
                  <a:pt x="2445766" y="120396"/>
                </a:lnTo>
                <a:lnTo>
                  <a:pt x="2453562" y="129849"/>
                </a:lnTo>
                <a:lnTo>
                  <a:pt x="2459942" y="155638"/>
                </a:lnTo>
                <a:lnTo>
                  <a:pt x="2464250" y="193905"/>
                </a:lnTo>
                <a:lnTo>
                  <a:pt x="2465831" y="240791"/>
                </a:lnTo>
              </a:path>
            </a:pathLst>
          </a:custGeom>
          <a:ln w="9525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86639" y="1521485"/>
            <a:ext cx="6511925" cy="76581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3267075">
              <a:lnSpc>
                <a:spcPct val="100000"/>
              </a:lnSpc>
              <a:spcBef>
                <a:spcPts val="1090"/>
              </a:spcBef>
            </a:pPr>
            <a:r>
              <a:rPr dirty="0" sz="1600">
                <a:latin typeface="Arial MT"/>
                <a:cs typeface="Arial MT"/>
              </a:rPr>
              <a:t>X:</a:t>
            </a:r>
            <a:r>
              <a:rPr dirty="0" sz="1600" spc="-11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Attributes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(Features,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Descriptors)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600">
                <a:latin typeface="Arial MT"/>
                <a:cs typeface="Arial MT"/>
              </a:rPr>
              <a:t>Labeled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example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/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Concept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377810" y="4423664"/>
            <a:ext cx="145859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H:</a:t>
            </a:r>
            <a:r>
              <a:rPr dirty="0" sz="1600" spc="-10">
                <a:latin typeface="Arial MT"/>
                <a:cs typeface="Arial MT"/>
              </a:rPr>
              <a:t> Healthy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Arial MT"/>
                <a:cs typeface="Arial MT"/>
              </a:rPr>
              <a:t>NH: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Not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healthy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79933" y="990346"/>
            <a:ext cx="60039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labels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come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from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006FC0"/>
                </a:solidFill>
                <a:latin typeface="Arial"/>
                <a:cs typeface="Arial"/>
              </a:rPr>
              <a:t>human</a:t>
            </a:r>
            <a:r>
              <a:rPr dirty="0" sz="2400" spc="-40" b="1" i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 i="1">
                <a:solidFill>
                  <a:srgbClr val="006FC0"/>
                </a:solidFill>
                <a:latin typeface="Arial"/>
                <a:cs typeface="Arial"/>
              </a:rPr>
              <a:t>intelligence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905"/>
            <a:ext cx="9143999" cy="35509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67673" y="6619747"/>
            <a:ext cx="31940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50">
                <a:solidFill>
                  <a:srgbClr val="C0F8FB"/>
                </a:solidFill>
                <a:latin typeface="Verdana"/>
                <a:cs typeface="Verdana"/>
              </a:rPr>
              <a:t>5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942" y="68676"/>
            <a:ext cx="777058" cy="92026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1080"/>
            <a:ext cx="2315845" cy="105410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570"/>
              </a:spcBef>
              <a:buChar char="•"/>
              <a:tabLst>
                <a:tab pos="269875" algn="l"/>
              </a:tabLst>
            </a:pP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Statistics</a:t>
            </a:r>
            <a:endParaRPr sz="1850">
              <a:latin typeface="Tahoma"/>
              <a:cs typeface="Tahoma"/>
            </a:endParaRPr>
          </a:p>
          <a:p>
            <a:pPr marL="269875" indent="-257175">
              <a:lnSpc>
                <a:spcPct val="100000"/>
              </a:lnSpc>
              <a:spcBef>
                <a:spcPts val="480"/>
              </a:spcBef>
              <a:buChar char="•"/>
              <a:tabLst>
                <a:tab pos="269875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Predictive</a:t>
            </a:r>
            <a:r>
              <a:rPr dirty="0" sz="1850" spc="-6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Modeling</a:t>
            </a:r>
            <a:endParaRPr sz="1850">
              <a:latin typeface="Tahoma"/>
              <a:cs typeface="Tahoma"/>
            </a:endParaRPr>
          </a:p>
          <a:p>
            <a:pPr marL="269875" indent="-257175">
              <a:lnSpc>
                <a:spcPct val="100000"/>
              </a:lnSpc>
              <a:spcBef>
                <a:spcPts val="484"/>
              </a:spcBef>
              <a:buChar char="•"/>
              <a:tabLst>
                <a:tab pos="269875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Scientific</a:t>
            </a:r>
            <a:r>
              <a:rPr dirty="0" sz="1850" spc="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Method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40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Contents</a:t>
            </a:r>
            <a:r>
              <a:rPr dirty="0" spc="-150"/>
              <a:t> </a:t>
            </a:r>
            <a:r>
              <a:rPr dirty="0" spc="-310"/>
              <a:t>&amp;</a:t>
            </a:r>
            <a:r>
              <a:rPr dirty="0" spc="-114"/>
              <a:t> </a:t>
            </a:r>
            <a:r>
              <a:rPr dirty="0" spc="-75"/>
              <a:t>Structure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3459" y="2955035"/>
            <a:ext cx="3976116" cy="2008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3324" rIns="0" bIns="0" rtlCol="0" vert="horz">
            <a:spAutoFit/>
          </a:bodyPr>
          <a:lstStyle/>
          <a:p>
            <a:pPr marL="1099185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Why</a:t>
            </a:r>
            <a:r>
              <a:rPr dirty="0" sz="32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Do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We</a:t>
            </a:r>
            <a:r>
              <a:rPr dirty="0" sz="32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Need</a:t>
            </a:r>
            <a:r>
              <a:rPr dirty="0" sz="32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Statistics?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14804" rIns="0" bIns="0" rtlCol="0" vert="horz">
            <a:spAutoFit/>
          </a:bodyPr>
          <a:lstStyle/>
          <a:p>
            <a:pPr marL="776605">
              <a:lnSpc>
                <a:spcPct val="100000"/>
              </a:lnSpc>
              <a:spcBef>
                <a:spcPts val="770"/>
              </a:spcBef>
            </a:pPr>
            <a:r>
              <a:rPr dirty="0" sz="2800"/>
              <a:t>“Impossible</a:t>
            </a:r>
            <a:r>
              <a:rPr dirty="0" sz="2800" spc="-90"/>
              <a:t> </a:t>
            </a:r>
            <a:r>
              <a:rPr dirty="0" sz="2800"/>
              <a:t>things</a:t>
            </a:r>
            <a:r>
              <a:rPr dirty="0" sz="2800" spc="-55"/>
              <a:t> </a:t>
            </a:r>
            <a:r>
              <a:rPr dirty="0" u="sng" sz="2800">
                <a:uFill>
                  <a:solidFill>
                    <a:srgbClr val="000000"/>
                  </a:solidFill>
                </a:uFill>
              </a:rPr>
              <a:t>usually</a:t>
            </a:r>
            <a:r>
              <a:rPr dirty="0" sz="2800" spc="-85"/>
              <a:t> </a:t>
            </a:r>
            <a:r>
              <a:rPr dirty="0" sz="2800"/>
              <a:t>don’t</a:t>
            </a:r>
            <a:r>
              <a:rPr dirty="0" sz="2800" spc="-90"/>
              <a:t> </a:t>
            </a:r>
            <a:r>
              <a:rPr dirty="0" sz="2800" spc="-10"/>
              <a:t>happen.”</a:t>
            </a:r>
            <a:endParaRPr sz="2800"/>
          </a:p>
          <a:p>
            <a:pPr marL="1316355">
              <a:lnSpc>
                <a:spcPct val="100000"/>
              </a:lnSpc>
              <a:spcBef>
                <a:spcPts val="670"/>
              </a:spcBef>
            </a:pPr>
            <a:r>
              <a:rPr dirty="0" sz="2800" i="1">
                <a:latin typeface="Arial"/>
                <a:cs typeface="Arial"/>
              </a:rPr>
              <a:t>-</a:t>
            </a:r>
            <a:r>
              <a:rPr dirty="0" sz="2800" spc="-7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Sam</a:t>
            </a:r>
            <a:r>
              <a:rPr dirty="0" sz="2800" spc="-8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Treiman,</a:t>
            </a:r>
            <a:r>
              <a:rPr dirty="0" sz="2800" spc="-5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Princeton</a:t>
            </a:r>
            <a:r>
              <a:rPr dirty="0" sz="2800" spc="-75" i="1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University</a:t>
            </a:r>
            <a:endParaRPr sz="28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1785"/>
              </a:spcBef>
            </a:pPr>
            <a:r>
              <a:rPr dirty="0" sz="3200" i="1">
                <a:solidFill>
                  <a:srgbClr val="009900"/>
                </a:solidFill>
                <a:latin typeface="Arial"/>
                <a:cs typeface="Arial"/>
              </a:rPr>
              <a:t>Statistics</a:t>
            </a:r>
            <a:r>
              <a:rPr dirty="0" sz="3200" spc="-35" i="1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dirty="0" sz="3200"/>
              <a:t>helps</a:t>
            </a:r>
            <a:r>
              <a:rPr dirty="0" sz="3200" spc="-35"/>
              <a:t> </a:t>
            </a:r>
            <a:r>
              <a:rPr dirty="0" sz="3200"/>
              <a:t>us</a:t>
            </a:r>
            <a:r>
              <a:rPr dirty="0" sz="3200" spc="-35"/>
              <a:t> </a:t>
            </a:r>
            <a:r>
              <a:rPr dirty="0" sz="3200"/>
              <a:t>quantify</a:t>
            </a:r>
            <a:r>
              <a:rPr dirty="0" sz="3200" spc="-15"/>
              <a:t> </a:t>
            </a:r>
            <a:r>
              <a:rPr dirty="0" sz="3200" spc="-10"/>
              <a:t>“usually.”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271" rIns="0" bIns="0" rtlCol="0" vert="horz">
            <a:spAutoFit/>
          </a:bodyPr>
          <a:lstStyle/>
          <a:p>
            <a:pPr marL="197993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dirty="0" sz="3200" spc="-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z="32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 i="1">
                <a:solidFill>
                  <a:srgbClr val="000000"/>
                </a:solidFill>
                <a:latin typeface="Arial"/>
                <a:cs typeface="Arial"/>
              </a:rPr>
              <a:t>Statistic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?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6115" y="1649476"/>
            <a:ext cx="7800975" cy="259207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675"/>
              </a:spcBef>
              <a:buChar char="•"/>
              <a:tabLst>
                <a:tab pos="622300" algn="l"/>
              </a:tabLst>
            </a:pPr>
            <a:r>
              <a:rPr dirty="0" sz="2400">
                <a:latin typeface="Arial MT"/>
                <a:cs typeface="Arial MT"/>
              </a:rPr>
              <a:t>“A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quantity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computed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sample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[of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data].”</a:t>
            </a:r>
            <a:endParaRPr sz="2400">
              <a:latin typeface="Arial MT"/>
              <a:cs typeface="Arial MT"/>
            </a:endParaRPr>
          </a:p>
          <a:p>
            <a:pPr marL="1003300">
              <a:lnSpc>
                <a:spcPct val="100000"/>
              </a:lnSpc>
              <a:spcBef>
                <a:spcPts val="580"/>
              </a:spcBef>
            </a:pPr>
            <a:r>
              <a:rPr dirty="0" sz="2400" spc="-25" i="1">
                <a:latin typeface="Arial"/>
                <a:cs typeface="Arial"/>
              </a:rPr>
              <a:t>Merriam-</a:t>
            </a:r>
            <a:r>
              <a:rPr dirty="0" sz="2400" spc="-10" i="1">
                <a:latin typeface="Arial"/>
                <a:cs typeface="Arial"/>
              </a:rPr>
              <a:t>Webster</a:t>
            </a:r>
            <a:endParaRPr sz="2400">
              <a:latin typeface="Arial"/>
              <a:cs typeface="Arial"/>
            </a:endParaRPr>
          </a:p>
          <a:p>
            <a:pPr marL="819150" marR="126364" indent="-506730">
              <a:lnSpc>
                <a:spcPct val="100000"/>
              </a:lnSpc>
              <a:spcBef>
                <a:spcPts val="1764"/>
              </a:spcBef>
            </a:pPr>
            <a:r>
              <a:rPr dirty="0" sz="3200" i="1">
                <a:latin typeface="Arial"/>
                <a:cs typeface="Arial"/>
              </a:rPr>
              <a:t>→</a:t>
            </a:r>
            <a:r>
              <a:rPr dirty="0" sz="3200" spc="-30" i="1">
                <a:latin typeface="Arial"/>
                <a:cs typeface="Arial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fact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or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piece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data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obtained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from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50">
                <a:latin typeface="Arial MT"/>
                <a:cs typeface="Arial MT"/>
              </a:rPr>
              <a:t>a </a:t>
            </a:r>
            <a:r>
              <a:rPr dirty="0" sz="3200">
                <a:latin typeface="Arial MT"/>
                <a:cs typeface="Arial MT"/>
              </a:rPr>
              <a:t>study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large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quantity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numerical data.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1511" y="4088891"/>
            <a:ext cx="2142743" cy="2144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9733" y="282905"/>
            <a:ext cx="122491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Basics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98120" y="978408"/>
            <a:ext cx="4427220" cy="5524500"/>
          </a:xfrm>
          <a:custGeom>
            <a:avLst/>
            <a:gdLst/>
            <a:ahLst/>
            <a:cxnLst/>
            <a:rect l="l" t="t" r="r" b="b"/>
            <a:pathLst>
              <a:path w="4427220" h="5524500">
                <a:moveTo>
                  <a:pt x="4427220" y="0"/>
                </a:moveTo>
                <a:lnTo>
                  <a:pt x="0" y="0"/>
                </a:lnTo>
                <a:lnTo>
                  <a:pt x="0" y="5524500"/>
                </a:lnTo>
                <a:lnTo>
                  <a:pt x="4427220" y="5524500"/>
                </a:lnTo>
                <a:lnTo>
                  <a:pt x="4427220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76859" y="905596"/>
            <a:ext cx="4269740" cy="535813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875"/>
              </a:spcBef>
              <a:buChar char="•"/>
              <a:tabLst>
                <a:tab pos="269875" algn="l"/>
              </a:tabLst>
            </a:pP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Independent</a:t>
            </a:r>
            <a:r>
              <a:rPr dirty="0" sz="20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Arial MT"/>
                <a:cs typeface="Arial MT"/>
              </a:rPr>
              <a:t>Events:</a:t>
            </a:r>
            <a:endParaRPr sz="2000">
              <a:latin typeface="Arial MT"/>
              <a:cs typeface="Arial MT"/>
            </a:endParaRPr>
          </a:p>
          <a:p>
            <a:pPr lvl="1" marL="570230" indent="-215265">
              <a:lnSpc>
                <a:spcPct val="100000"/>
              </a:lnSpc>
              <a:spcBef>
                <a:spcPts val="615"/>
              </a:spcBef>
              <a:buChar char="–"/>
              <a:tabLst>
                <a:tab pos="570230" algn="l"/>
              </a:tabLst>
            </a:pPr>
            <a:r>
              <a:rPr dirty="0" sz="1600">
                <a:latin typeface="Arial MT"/>
                <a:cs typeface="Arial MT"/>
              </a:rPr>
              <a:t>One event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does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not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affect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10">
                <a:latin typeface="Arial MT"/>
                <a:cs typeface="Arial MT"/>
              </a:rPr>
              <a:t> other</a:t>
            </a:r>
            <a:endParaRPr sz="1600">
              <a:latin typeface="Arial MT"/>
              <a:cs typeface="Arial MT"/>
            </a:endParaRPr>
          </a:p>
          <a:p>
            <a:pPr lvl="1" marL="570230" marR="255904" indent="-215265">
              <a:lnSpc>
                <a:spcPct val="100000"/>
              </a:lnSpc>
              <a:spcBef>
                <a:spcPts val="605"/>
              </a:spcBef>
              <a:buChar char="–"/>
              <a:tabLst>
                <a:tab pos="570230" algn="l"/>
              </a:tabLst>
            </a:pPr>
            <a:r>
              <a:rPr dirty="0" sz="1600">
                <a:latin typeface="Arial MT"/>
                <a:cs typeface="Arial MT"/>
              </a:rPr>
              <a:t>Knowing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probability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event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does </a:t>
            </a:r>
            <a:r>
              <a:rPr dirty="0" sz="1600">
                <a:latin typeface="Arial MT"/>
                <a:cs typeface="Arial MT"/>
              </a:rPr>
              <a:t>not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change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estimate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another</a:t>
            </a:r>
            <a:endParaRPr sz="16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785"/>
              </a:spcBef>
              <a:buChar char="•"/>
              <a:tabLst>
                <a:tab pos="269875" algn="l"/>
              </a:tabLst>
            </a:pPr>
            <a:r>
              <a:rPr dirty="0" sz="2000" spc="-10">
                <a:solidFill>
                  <a:srgbClr val="FF0000"/>
                </a:solidFill>
                <a:latin typeface="Arial MT"/>
                <a:cs typeface="Arial MT"/>
              </a:rPr>
              <a:t>Covariance</a:t>
            </a:r>
            <a:r>
              <a:rPr dirty="0" sz="2000" spc="-1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lvl="1" marL="570230" indent="-215265">
              <a:lnSpc>
                <a:spcPct val="100000"/>
              </a:lnSpc>
              <a:spcBef>
                <a:spcPts val="400"/>
              </a:spcBef>
              <a:buChar char="–"/>
              <a:tabLst>
                <a:tab pos="570230" algn="l"/>
              </a:tabLst>
            </a:pPr>
            <a:r>
              <a:rPr dirty="0" sz="1600">
                <a:latin typeface="Arial MT"/>
                <a:cs typeface="Arial MT"/>
              </a:rPr>
              <a:t>Degree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that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two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variables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vary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with</a:t>
            </a:r>
            <a:r>
              <a:rPr dirty="0" sz="1600" spc="-20">
                <a:latin typeface="Arial MT"/>
                <a:cs typeface="Arial MT"/>
              </a:rPr>
              <a:t> each</a:t>
            </a:r>
            <a:endParaRPr sz="1600">
              <a:latin typeface="Arial MT"/>
              <a:cs typeface="Arial MT"/>
            </a:endParaRPr>
          </a:p>
          <a:p>
            <a:pPr marL="570230">
              <a:lnSpc>
                <a:spcPct val="100000"/>
              </a:lnSpc>
            </a:pPr>
            <a:r>
              <a:rPr dirty="0" sz="1600" spc="-10">
                <a:latin typeface="Arial MT"/>
                <a:cs typeface="Arial MT"/>
              </a:rPr>
              <a:t>other</a:t>
            </a:r>
            <a:endParaRPr sz="1600">
              <a:latin typeface="Arial MT"/>
              <a:cs typeface="Arial MT"/>
            </a:endParaRPr>
          </a:p>
          <a:p>
            <a:pPr lvl="1" marL="570230" marR="765175" indent="-215265">
              <a:lnSpc>
                <a:spcPct val="100000"/>
              </a:lnSpc>
              <a:spcBef>
                <a:spcPts val="385"/>
              </a:spcBef>
              <a:buChar char="–"/>
              <a:tabLst>
                <a:tab pos="570230" algn="l"/>
              </a:tabLst>
            </a:pPr>
            <a:r>
              <a:rPr dirty="0" sz="1600">
                <a:latin typeface="Arial MT"/>
                <a:cs typeface="Arial MT"/>
              </a:rPr>
              <a:t>Two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independent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variables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have </a:t>
            </a:r>
            <a:r>
              <a:rPr dirty="0" sz="1600">
                <a:latin typeface="Arial MT"/>
                <a:cs typeface="Arial MT"/>
              </a:rPr>
              <a:t>Covariance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Zero</a:t>
            </a:r>
            <a:endParaRPr sz="16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785"/>
              </a:spcBef>
              <a:buChar char="•"/>
              <a:tabLst>
                <a:tab pos="269875" algn="l"/>
              </a:tabLst>
            </a:pPr>
            <a:r>
              <a:rPr dirty="0" sz="2000" spc="-10">
                <a:solidFill>
                  <a:srgbClr val="FF0000"/>
                </a:solidFill>
                <a:latin typeface="Arial MT"/>
                <a:cs typeface="Arial MT"/>
              </a:rPr>
              <a:t>Correlation</a:t>
            </a:r>
            <a:r>
              <a:rPr dirty="0" sz="2000" spc="-1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lvl="1" marL="570230" marR="12065" indent="-215265">
              <a:lnSpc>
                <a:spcPct val="100000"/>
              </a:lnSpc>
              <a:spcBef>
                <a:spcPts val="400"/>
              </a:spcBef>
              <a:buChar char="–"/>
              <a:tabLst>
                <a:tab pos="570230" algn="l"/>
              </a:tabLst>
            </a:pPr>
            <a:r>
              <a:rPr dirty="0" sz="1600">
                <a:solidFill>
                  <a:srgbClr val="00AF50"/>
                </a:solidFill>
                <a:latin typeface="Arial MT"/>
                <a:cs typeface="Arial MT"/>
              </a:rPr>
              <a:t>Normalized</a:t>
            </a:r>
            <a:r>
              <a:rPr dirty="0" sz="1600" spc="-6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Covariance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</a:t>
            </a:r>
            <a:r>
              <a:rPr dirty="0" sz="1600">
                <a:solidFill>
                  <a:srgbClr val="00AF50"/>
                </a:solidFill>
                <a:latin typeface="Arial MT"/>
                <a:cs typeface="Arial MT"/>
              </a:rPr>
              <a:t>between</a:t>
            </a:r>
            <a:r>
              <a:rPr dirty="0" sz="1600" spc="-2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AF50"/>
                </a:solidFill>
                <a:latin typeface="Arial MT"/>
                <a:cs typeface="Arial MT"/>
              </a:rPr>
              <a:t>–1</a:t>
            </a:r>
            <a:r>
              <a:rPr dirty="0" sz="1600" spc="-3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00AF50"/>
                </a:solidFill>
                <a:latin typeface="Arial MT"/>
                <a:cs typeface="Arial MT"/>
              </a:rPr>
              <a:t>and 1</a:t>
            </a:r>
            <a:r>
              <a:rPr dirty="0" sz="1600" spc="-25"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lvl="1" marL="570865" indent="-215900">
              <a:lnSpc>
                <a:spcPct val="100000"/>
              </a:lnSpc>
              <a:spcBef>
                <a:spcPts val="385"/>
              </a:spcBef>
              <a:buChar char="–"/>
              <a:tabLst>
                <a:tab pos="570865" algn="l"/>
              </a:tabLst>
            </a:pPr>
            <a:r>
              <a:rPr dirty="0" sz="1600">
                <a:latin typeface="Arial MT"/>
                <a:cs typeface="Arial MT"/>
              </a:rPr>
              <a:t>Represents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degree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linear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relationship</a:t>
            </a:r>
            <a:endParaRPr sz="1600">
              <a:latin typeface="Arial MT"/>
              <a:cs typeface="Arial MT"/>
            </a:endParaRPr>
          </a:p>
          <a:p>
            <a:pPr lvl="1" marL="570230" marR="5080" indent="-215265">
              <a:lnSpc>
                <a:spcPct val="100000"/>
              </a:lnSpc>
              <a:spcBef>
                <a:spcPts val="385"/>
              </a:spcBef>
              <a:buChar char="–"/>
              <a:tabLst>
                <a:tab pos="570230" algn="l"/>
              </a:tabLst>
            </a:pPr>
            <a:r>
              <a:rPr dirty="0" sz="1600">
                <a:latin typeface="Arial MT"/>
                <a:cs typeface="Arial MT"/>
              </a:rPr>
              <a:t>Positive: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when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gets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bigger,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other </a:t>
            </a:r>
            <a:r>
              <a:rPr dirty="0" sz="1600">
                <a:latin typeface="Arial MT"/>
                <a:cs typeface="Arial MT"/>
              </a:rPr>
              <a:t>gets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bigger</a:t>
            </a:r>
            <a:endParaRPr sz="1600">
              <a:latin typeface="Arial MT"/>
              <a:cs typeface="Arial MT"/>
            </a:endParaRPr>
          </a:p>
          <a:p>
            <a:pPr lvl="1" marL="570230" marR="435609" indent="-215265">
              <a:lnSpc>
                <a:spcPct val="100000"/>
              </a:lnSpc>
              <a:spcBef>
                <a:spcPts val="385"/>
              </a:spcBef>
              <a:buChar char="–"/>
              <a:tabLst>
                <a:tab pos="570230" algn="l"/>
              </a:tabLst>
            </a:pPr>
            <a:r>
              <a:rPr dirty="0" sz="1600">
                <a:latin typeface="Arial MT"/>
                <a:cs typeface="Arial MT"/>
              </a:rPr>
              <a:t>Negative: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when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gets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bigger,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>
                <a:latin typeface="Arial MT"/>
                <a:cs typeface="Arial MT"/>
              </a:rPr>
              <a:t>other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gets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smaller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3044" y="1518151"/>
            <a:ext cx="3141944" cy="20625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9172" y="3951863"/>
            <a:ext cx="3389593" cy="2384629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4703064" y="2647314"/>
            <a:ext cx="693420" cy="586740"/>
            <a:chOff x="4703064" y="2647314"/>
            <a:chExt cx="693420" cy="586740"/>
          </a:xfrm>
        </p:grpSpPr>
        <p:sp>
          <p:nvSpPr>
            <p:cNvPr id="8" name="object 8" descr=""/>
            <p:cNvSpPr/>
            <p:nvPr/>
          </p:nvSpPr>
          <p:spPr>
            <a:xfrm>
              <a:off x="4709414" y="2653664"/>
              <a:ext cx="680720" cy="574040"/>
            </a:xfrm>
            <a:custGeom>
              <a:avLst/>
              <a:gdLst/>
              <a:ahLst/>
              <a:cxnLst/>
              <a:rect l="l" t="t" r="r" b="b"/>
              <a:pathLst>
                <a:path w="680720" h="574039">
                  <a:moveTo>
                    <a:pt x="393064" y="0"/>
                  </a:moveTo>
                  <a:lnTo>
                    <a:pt x="452755" y="84074"/>
                  </a:lnTo>
                  <a:lnTo>
                    <a:pt x="0" y="405638"/>
                  </a:lnTo>
                  <a:lnTo>
                    <a:pt x="119380" y="573659"/>
                  </a:lnTo>
                  <a:lnTo>
                    <a:pt x="572135" y="252095"/>
                  </a:lnTo>
                  <a:lnTo>
                    <a:pt x="631825" y="336169"/>
                  </a:lnTo>
                  <a:lnTo>
                    <a:pt x="680593" y="48768"/>
                  </a:lnTo>
                  <a:lnTo>
                    <a:pt x="393064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09414" y="2653664"/>
              <a:ext cx="680720" cy="574040"/>
            </a:xfrm>
            <a:custGeom>
              <a:avLst/>
              <a:gdLst/>
              <a:ahLst/>
              <a:cxnLst/>
              <a:rect l="l" t="t" r="r" b="b"/>
              <a:pathLst>
                <a:path w="680720" h="574039">
                  <a:moveTo>
                    <a:pt x="0" y="405638"/>
                  </a:moveTo>
                  <a:lnTo>
                    <a:pt x="452755" y="84074"/>
                  </a:lnTo>
                  <a:lnTo>
                    <a:pt x="393064" y="0"/>
                  </a:lnTo>
                  <a:lnTo>
                    <a:pt x="680593" y="48768"/>
                  </a:lnTo>
                  <a:lnTo>
                    <a:pt x="631825" y="336169"/>
                  </a:lnTo>
                  <a:lnTo>
                    <a:pt x="572135" y="252095"/>
                  </a:lnTo>
                  <a:lnTo>
                    <a:pt x="119380" y="573659"/>
                  </a:lnTo>
                  <a:lnTo>
                    <a:pt x="0" y="4056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4683633" y="5251196"/>
            <a:ext cx="699135" cy="491490"/>
            <a:chOff x="4683633" y="5251196"/>
            <a:chExt cx="699135" cy="491490"/>
          </a:xfrm>
        </p:grpSpPr>
        <p:sp>
          <p:nvSpPr>
            <p:cNvPr id="11" name="object 11" descr=""/>
            <p:cNvSpPr/>
            <p:nvPr/>
          </p:nvSpPr>
          <p:spPr>
            <a:xfrm>
              <a:off x="4689983" y="5257546"/>
              <a:ext cx="686435" cy="478790"/>
            </a:xfrm>
            <a:custGeom>
              <a:avLst/>
              <a:gdLst/>
              <a:ahLst/>
              <a:cxnLst/>
              <a:rect l="l" t="t" r="r" b="b"/>
              <a:pathLst>
                <a:path w="686435" h="478789">
                  <a:moveTo>
                    <a:pt x="80517" y="0"/>
                  </a:moveTo>
                  <a:lnTo>
                    <a:pt x="0" y="189864"/>
                  </a:lnTo>
                  <a:lnTo>
                    <a:pt x="456183" y="383324"/>
                  </a:lnTo>
                  <a:lnTo>
                    <a:pt x="415925" y="478243"/>
                  </a:lnTo>
                  <a:lnTo>
                    <a:pt x="686180" y="368909"/>
                  </a:lnTo>
                  <a:lnTo>
                    <a:pt x="576961" y="98551"/>
                  </a:lnTo>
                  <a:lnTo>
                    <a:pt x="536701" y="193547"/>
                  </a:lnTo>
                  <a:lnTo>
                    <a:pt x="80517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89983" y="5257546"/>
              <a:ext cx="686435" cy="478790"/>
            </a:xfrm>
            <a:custGeom>
              <a:avLst/>
              <a:gdLst/>
              <a:ahLst/>
              <a:cxnLst/>
              <a:rect l="l" t="t" r="r" b="b"/>
              <a:pathLst>
                <a:path w="686435" h="478789">
                  <a:moveTo>
                    <a:pt x="80517" y="0"/>
                  </a:moveTo>
                  <a:lnTo>
                    <a:pt x="536701" y="193547"/>
                  </a:lnTo>
                  <a:lnTo>
                    <a:pt x="576961" y="98551"/>
                  </a:lnTo>
                  <a:lnTo>
                    <a:pt x="686180" y="368909"/>
                  </a:lnTo>
                  <a:lnTo>
                    <a:pt x="415925" y="478243"/>
                  </a:lnTo>
                  <a:lnTo>
                    <a:pt x="456183" y="383324"/>
                  </a:lnTo>
                  <a:lnTo>
                    <a:pt x="0" y="189864"/>
                  </a:lnTo>
                  <a:lnTo>
                    <a:pt x="80517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598" rIns="0" bIns="0" rtlCol="0" vert="horz">
            <a:spAutoFit/>
          </a:bodyPr>
          <a:lstStyle/>
          <a:p>
            <a:pPr marL="3001645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Correlation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" y="1205483"/>
            <a:ext cx="8292083" cy="52166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7792" rIns="0" bIns="0" rtlCol="0" vert="horz">
            <a:spAutoFit/>
          </a:bodyPr>
          <a:lstStyle/>
          <a:p>
            <a:pPr marL="3184525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Basics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557615"/>
            <a:ext cx="7728584" cy="30251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400" b="1" i="1">
                <a:latin typeface="Arial"/>
                <a:cs typeface="Arial"/>
              </a:rPr>
              <a:t>Indices</a:t>
            </a:r>
            <a:r>
              <a:rPr dirty="0" sz="2400" spc="-55" b="1" i="1">
                <a:latin typeface="Arial"/>
                <a:cs typeface="Arial"/>
              </a:rPr>
              <a:t> </a:t>
            </a:r>
            <a:r>
              <a:rPr dirty="0" sz="2400" b="1" i="1">
                <a:latin typeface="Arial"/>
                <a:cs typeface="Arial"/>
              </a:rPr>
              <a:t>of</a:t>
            </a:r>
            <a:r>
              <a:rPr dirty="0" sz="2400" spc="-65" b="1" i="1">
                <a:latin typeface="Arial"/>
                <a:cs typeface="Arial"/>
              </a:rPr>
              <a:t> </a:t>
            </a:r>
            <a:r>
              <a:rPr dirty="0" sz="2400" b="1" i="1">
                <a:latin typeface="Arial"/>
                <a:cs typeface="Arial"/>
              </a:rPr>
              <a:t>central</a:t>
            </a:r>
            <a:r>
              <a:rPr dirty="0" sz="2400" spc="-35" b="1" i="1">
                <a:latin typeface="Arial"/>
                <a:cs typeface="Arial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tendency</a:t>
            </a:r>
            <a:endParaRPr sz="2400">
              <a:latin typeface="Arial"/>
              <a:cs typeface="Arial"/>
            </a:endParaRPr>
          </a:p>
          <a:p>
            <a:pPr marL="61341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Arial MT"/>
                <a:cs typeface="Arial MT"/>
              </a:rPr>
              <a:t>Summarize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Single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Number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5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Three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popular: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9900"/>
                </a:solidFill>
                <a:latin typeface="Arial MT"/>
                <a:cs typeface="Arial MT"/>
              </a:rPr>
              <a:t>mean,</a:t>
            </a:r>
            <a:r>
              <a:rPr dirty="0" sz="2100" spc="-2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9900"/>
                </a:solidFill>
                <a:latin typeface="Arial MT"/>
                <a:cs typeface="Arial MT"/>
              </a:rPr>
              <a:t>median,</a:t>
            </a:r>
            <a:r>
              <a:rPr dirty="0" sz="2100" spc="-35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009900"/>
                </a:solidFill>
                <a:latin typeface="Arial MT"/>
                <a:cs typeface="Arial MT"/>
              </a:rPr>
              <a:t>mode</a:t>
            </a:r>
            <a:endParaRPr sz="21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solidFill>
                  <a:srgbClr val="009900"/>
                </a:solidFill>
                <a:latin typeface="Arial MT"/>
                <a:cs typeface="Arial MT"/>
              </a:rPr>
              <a:t>Mean</a:t>
            </a:r>
            <a:r>
              <a:rPr dirty="0" sz="2100" spc="-35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sum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all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observations,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divide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observations</a:t>
            </a:r>
            <a:endParaRPr sz="21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solidFill>
                  <a:srgbClr val="009900"/>
                </a:solidFill>
                <a:latin typeface="Arial MT"/>
                <a:cs typeface="Arial MT"/>
              </a:rPr>
              <a:t>Median</a:t>
            </a:r>
            <a:r>
              <a:rPr dirty="0" sz="2100" spc="-45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midpoint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when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sorted</a:t>
            </a:r>
            <a:endParaRPr sz="21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solidFill>
                  <a:srgbClr val="009900"/>
                </a:solidFill>
                <a:latin typeface="Arial MT"/>
                <a:cs typeface="Arial MT"/>
              </a:rPr>
              <a:t>Mode</a:t>
            </a:r>
            <a:r>
              <a:rPr dirty="0" sz="2100" spc="-5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frequent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observed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784" rIns="0" bIns="0" rtlCol="0" vert="horz">
            <a:spAutoFit/>
          </a:bodyPr>
          <a:lstStyle/>
          <a:p>
            <a:pPr marL="391795">
              <a:lnSpc>
                <a:spcPct val="100000"/>
              </a:lnSpc>
              <a:spcBef>
                <a:spcPts val="100"/>
              </a:spcBef>
            </a:pP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Relationship</a:t>
            </a:r>
            <a:r>
              <a:rPr dirty="0" sz="270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Between</a:t>
            </a:r>
            <a:r>
              <a:rPr dirty="0" sz="27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Mean,</a:t>
            </a:r>
            <a:r>
              <a:rPr dirty="0" sz="270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Median,</a:t>
            </a:r>
            <a:r>
              <a:rPr dirty="0" sz="27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0" b="0">
                <a:solidFill>
                  <a:srgbClr val="000000"/>
                </a:solidFill>
                <a:latin typeface="Arial MT"/>
                <a:cs typeface="Arial MT"/>
              </a:rPr>
              <a:t>Mode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04900" y="1522475"/>
            <a:ext cx="2019300" cy="2019300"/>
            <a:chOff x="1104900" y="1522475"/>
            <a:chExt cx="2019300" cy="2019300"/>
          </a:xfrm>
        </p:grpSpPr>
        <p:sp>
          <p:nvSpPr>
            <p:cNvPr id="4" name="object 4" descr=""/>
            <p:cNvSpPr/>
            <p:nvPr/>
          </p:nvSpPr>
          <p:spPr>
            <a:xfrm>
              <a:off x="1104900" y="1522475"/>
              <a:ext cx="2019300" cy="2019300"/>
            </a:xfrm>
            <a:custGeom>
              <a:avLst/>
              <a:gdLst/>
              <a:ahLst/>
              <a:cxnLst/>
              <a:rect l="l" t="t" r="r" b="b"/>
              <a:pathLst>
                <a:path w="2019300" h="2019300">
                  <a:moveTo>
                    <a:pt x="2019300" y="1981200"/>
                  </a:moveTo>
                  <a:lnTo>
                    <a:pt x="2006600" y="1974850"/>
                  </a:lnTo>
                  <a:lnTo>
                    <a:pt x="1943100" y="1943100"/>
                  </a:lnTo>
                  <a:lnTo>
                    <a:pt x="1943100" y="1974850"/>
                  </a:lnTo>
                  <a:lnTo>
                    <a:pt x="44450" y="197485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981200"/>
                  </a:lnTo>
                  <a:lnTo>
                    <a:pt x="38100" y="1981200"/>
                  </a:lnTo>
                  <a:lnTo>
                    <a:pt x="38100" y="1987550"/>
                  </a:lnTo>
                  <a:lnTo>
                    <a:pt x="1943100" y="1987550"/>
                  </a:lnTo>
                  <a:lnTo>
                    <a:pt x="1943100" y="2019300"/>
                  </a:lnTo>
                  <a:lnTo>
                    <a:pt x="2006600" y="1987550"/>
                  </a:lnTo>
                  <a:lnTo>
                    <a:pt x="2019300" y="1981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19962" y="2107437"/>
              <a:ext cx="1524000" cy="1244600"/>
            </a:xfrm>
            <a:custGeom>
              <a:avLst/>
              <a:gdLst/>
              <a:ahLst/>
              <a:cxnLst/>
              <a:rect l="l" t="t" r="r" b="b"/>
              <a:pathLst>
                <a:path w="1524000" h="1244600">
                  <a:moveTo>
                    <a:pt x="0" y="1244600"/>
                  </a:moveTo>
                  <a:lnTo>
                    <a:pt x="30154" y="1190658"/>
                  </a:lnTo>
                  <a:lnTo>
                    <a:pt x="60258" y="1136816"/>
                  </a:lnTo>
                  <a:lnTo>
                    <a:pt x="90264" y="1083174"/>
                  </a:lnTo>
                  <a:lnTo>
                    <a:pt x="120120" y="1029830"/>
                  </a:lnTo>
                  <a:lnTo>
                    <a:pt x="149778" y="976884"/>
                  </a:lnTo>
                  <a:lnTo>
                    <a:pt x="179189" y="924434"/>
                  </a:lnTo>
                  <a:lnTo>
                    <a:pt x="208301" y="872581"/>
                  </a:lnTo>
                  <a:lnTo>
                    <a:pt x="237066" y="821421"/>
                  </a:lnTo>
                  <a:lnTo>
                    <a:pt x="265434" y="771056"/>
                  </a:lnTo>
                  <a:lnTo>
                    <a:pt x="293356" y="721583"/>
                  </a:lnTo>
                  <a:lnTo>
                    <a:pt x="320782" y="673103"/>
                  </a:lnTo>
                  <a:lnTo>
                    <a:pt x="347662" y="625713"/>
                  </a:lnTo>
                  <a:lnTo>
                    <a:pt x="373947" y="579513"/>
                  </a:lnTo>
                  <a:lnTo>
                    <a:pt x="399586" y="534602"/>
                  </a:lnTo>
                  <a:lnTo>
                    <a:pt x="424532" y="491079"/>
                  </a:lnTo>
                  <a:lnTo>
                    <a:pt x="448733" y="449043"/>
                  </a:lnTo>
                  <a:lnTo>
                    <a:pt x="472140" y="408594"/>
                  </a:lnTo>
                  <a:lnTo>
                    <a:pt x="494704" y="369829"/>
                  </a:lnTo>
                  <a:lnTo>
                    <a:pt x="516375" y="332849"/>
                  </a:lnTo>
                  <a:lnTo>
                    <a:pt x="537104" y="297753"/>
                  </a:lnTo>
                  <a:lnTo>
                    <a:pt x="556840" y="264638"/>
                  </a:lnTo>
                  <a:lnTo>
                    <a:pt x="593137" y="204753"/>
                  </a:lnTo>
                  <a:lnTo>
                    <a:pt x="655364" y="106471"/>
                  </a:lnTo>
                  <a:lnTo>
                    <a:pt x="686466" y="61406"/>
                  </a:lnTo>
                  <a:lnTo>
                    <a:pt x="720678" y="27230"/>
                  </a:lnTo>
                  <a:lnTo>
                    <a:pt x="731786" y="26127"/>
                  </a:lnTo>
                  <a:lnTo>
                    <a:pt x="744227" y="27684"/>
                  </a:lnTo>
                  <a:lnTo>
                    <a:pt x="762000" y="25908"/>
                  </a:lnTo>
                </a:path>
                <a:path w="1524000" h="1244600">
                  <a:moveTo>
                    <a:pt x="1524000" y="1218691"/>
                  </a:moveTo>
                  <a:lnTo>
                    <a:pt x="1493845" y="1164750"/>
                  </a:lnTo>
                  <a:lnTo>
                    <a:pt x="1463741" y="1110908"/>
                  </a:lnTo>
                  <a:lnTo>
                    <a:pt x="1433735" y="1057266"/>
                  </a:lnTo>
                  <a:lnTo>
                    <a:pt x="1403879" y="1003922"/>
                  </a:lnTo>
                  <a:lnTo>
                    <a:pt x="1374221" y="950976"/>
                  </a:lnTo>
                  <a:lnTo>
                    <a:pt x="1344810" y="898526"/>
                  </a:lnTo>
                  <a:lnTo>
                    <a:pt x="1315698" y="846673"/>
                  </a:lnTo>
                  <a:lnTo>
                    <a:pt x="1286933" y="795513"/>
                  </a:lnTo>
                  <a:lnTo>
                    <a:pt x="1258565" y="745148"/>
                  </a:lnTo>
                  <a:lnTo>
                    <a:pt x="1230643" y="695675"/>
                  </a:lnTo>
                  <a:lnTo>
                    <a:pt x="1203217" y="647195"/>
                  </a:lnTo>
                  <a:lnTo>
                    <a:pt x="1176337" y="599805"/>
                  </a:lnTo>
                  <a:lnTo>
                    <a:pt x="1150052" y="553605"/>
                  </a:lnTo>
                  <a:lnTo>
                    <a:pt x="1124413" y="508694"/>
                  </a:lnTo>
                  <a:lnTo>
                    <a:pt x="1099467" y="465171"/>
                  </a:lnTo>
                  <a:lnTo>
                    <a:pt x="1075266" y="423135"/>
                  </a:lnTo>
                  <a:lnTo>
                    <a:pt x="1051859" y="382686"/>
                  </a:lnTo>
                  <a:lnTo>
                    <a:pt x="1029295" y="343921"/>
                  </a:lnTo>
                  <a:lnTo>
                    <a:pt x="1007624" y="306941"/>
                  </a:lnTo>
                  <a:lnTo>
                    <a:pt x="986895" y="271845"/>
                  </a:lnTo>
                  <a:lnTo>
                    <a:pt x="967159" y="238730"/>
                  </a:lnTo>
                  <a:lnTo>
                    <a:pt x="930862" y="178845"/>
                  </a:lnTo>
                  <a:lnTo>
                    <a:pt x="868635" y="80563"/>
                  </a:lnTo>
                  <a:lnTo>
                    <a:pt x="837533" y="35498"/>
                  </a:lnTo>
                  <a:lnTo>
                    <a:pt x="803321" y="1322"/>
                  </a:lnTo>
                  <a:lnTo>
                    <a:pt x="792213" y="219"/>
                  </a:lnTo>
                  <a:lnTo>
                    <a:pt x="779772" y="1776"/>
                  </a:ln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81961" y="2132837"/>
              <a:ext cx="0" cy="1371600"/>
            </a:xfrm>
            <a:custGeom>
              <a:avLst/>
              <a:gdLst/>
              <a:ahLst/>
              <a:cxnLst/>
              <a:rect l="l" t="t" r="r" b="b"/>
              <a:pathLst>
                <a:path w="0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745742" y="1397253"/>
            <a:ext cx="564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mean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48205" y="1588973"/>
            <a:ext cx="7639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9900"/>
                </a:solidFill>
                <a:latin typeface="Comic Sans MS"/>
                <a:cs typeface="Comic Sans MS"/>
              </a:rPr>
              <a:t>median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38122" y="1780997"/>
            <a:ext cx="5842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mode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438900" y="1522475"/>
            <a:ext cx="2019300" cy="2019300"/>
            <a:chOff x="6438900" y="1522475"/>
            <a:chExt cx="2019300" cy="2019300"/>
          </a:xfrm>
        </p:grpSpPr>
        <p:sp>
          <p:nvSpPr>
            <p:cNvPr id="11" name="object 11" descr=""/>
            <p:cNvSpPr/>
            <p:nvPr/>
          </p:nvSpPr>
          <p:spPr>
            <a:xfrm>
              <a:off x="6438900" y="1522475"/>
              <a:ext cx="2019300" cy="2019300"/>
            </a:xfrm>
            <a:custGeom>
              <a:avLst/>
              <a:gdLst/>
              <a:ahLst/>
              <a:cxnLst/>
              <a:rect l="l" t="t" r="r" b="b"/>
              <a:pathLst>
                <a:path w="2019300" h="2019300">
                  <a:moveTo>
                    <a:pt x="2019300" y="1981200"/>
                  </a:moveTo>
                  <a:lnTo>
                    <a:pt x="2006600" y="1974850"/>
                  </a:lnTo>
                  <a:lnTo>
                    <a:pt x="1943100" y="1943100"/>
                  </a:lnTo>
                  <a:lnTo>
                    <a:pt x="1943100" y="1974850"/>
                  </a:lnTo>
                  <a:lnTo>
                    <a:pt x="44450" y="197485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981200"/>
                  </a:lnTo>
                  <a:lnTo>
                    <a:pt x="38100" y="1981200"/>
                  </a:lnTo>
                  <a:lnTo>
                    <a:pt x="38100" y="1987550"/>
                  </a:lnTo>
                  <a:lnTo>
                    <a:pt x="1943100" y="1987550"/>
                  </a:lnTo>
                  <a:lnTo>
                    <a:pt x="1943100" y="2019300"/>
                  </a:lnTo>
                  <a:lnTo>
                    <a:pt x="2006600" y="1987550"/>
                  </a:lnTo>
                  <a:lnTo>
                    <a:pt x="2019300" y="1981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630162" y="2544825"/>
              <a:ext cx="457200" cy="708660"/>
            </a:xfrm>
            <a:custGeom>
              <a:avLst/>
              <a:gdLst/>
              <a:ahLst/>
              <a:cxnLst/>
              <a:rect l="l" t="t" r="r" b="b"/>
              <a:pathLst>
                <a:path w="457200" h="708660">
                  <a:moveTo>
                    <a:pt x="0" y="708151"/>
                  </a:moveTo>
                  <a:lnTo>
                    <a:pt x="30999" y="654454"/>
                  </a:lnTo>
                  <a:lnTo>
                    <a:pt x="61848" y="601049"/>
                  </a:lnTo>
                  <a:lnTo>
                    <a:pt x="92398" y="548228"/>
                  </a:lnTo>
                  <a:lnTo>
                    <a:pt x="122497" y="496279"/>
                  </a:lnTo>
                  <a:lnTo>
                    <a:pt x="151997" y="445493"/>
                  </a:lnTo>
                  <a:lnTo>
                    <a:pt x="180747" y="396159"/>
                  </a:lnTo>
                  <a:lnTo>
                    <a:pt x="208597" y="348567"/>
                  </a:lnTo>
                  <a:lnTo>
                    <a:pt x="235398" y="303006"/>
                  </a:lnTo>
                  <a:lnTo>
                    <a:pt x="260998" y="259766"/>
                  </a:lnTo>
                  <a:lnTo>
                    <a:pt x="285250" y="219137"/>
                  </a:lnTo>
                  <a:lnTo>
                    <a:pt x="308001" y="181408"/>
                  </a:lnTo>
                  <a:lnTo>
                    <a:pt x="329104" y="146869"/>
                  </a:lnTo>
                  <a:lnTo>
                    <a:pt x="365760" y="88519"/>
                  </a:lnTo>
                  <a:lnTo>
                    <a:pt x="407908" y="25949"/>
                  </a:lnTo>
                  <a:lnTo>
                    <a:pt x="440769" y="347"/>
                  </a:lnTo>
                  <a:lnTo>
                    <a:pt x="457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087362" y="2591561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w="0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167118" y="2159634"/>
            <a:ext cx="762635" cy="4921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 indent="97155">
              <a:lnSpc>
                <a:spcPct val="70000"/>
              </a:lnSpc>
              <a:spcBef>
                <a:spcPts val="745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mean </a:t>
            </a:r>
            <a:r>
              <a:rPr dirty="0" sz="1800" spc="-10">
                <a:solidFill>
                  <a:srgbClr val="009900"/>
                </a:solidFill>
                <a:latin typeface="Comic Sans MS"/>
                <a:cs typeface="Comic Sans MS"/>
              </a:rPr>
              <a:t>median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073074" y="2530538"/>
            <a:ext cx="1400175" cy="913765"/>
            <a:chOff x="7073074" y="2530538"/>
            <a:chExt cx="1400175" cy="913765"/>
          </a:xfrm>
        </p:grpSpPr>
        <p:sp>
          <p:nvSpPr>
            <p:cNvPr id="16" name="object 16" descr=""/>
            <p:cNvSpPr/>
            <p:nvPr/>
          </p:nvSpPr>
          <p:spPr>
            <a:xfrm>
              <a:off x="7087361" y="2544826"/>
              <a:ext cx="1371600" cy="708660"/>
            </a:xfrm>
            <a:custGeom>
              <a:avLst/>
              <a:gdLst/>
              <a:ahLst/>
              <a:cxnLst/>
              <a:rect l="l" t="t" r="r" b="b"/>
              <a:pathLst>
                <a:path w="1371600" h="708660">
                  <a:moveTo>
                    <a:pt x="457200" y="708151"/>
                  </a:moveTo>
                  <a:lnTo>
                    <a:pt x="426200" y="654454"/>
                  </a:lnTo>
                  <a:lnTo>
                    <a:pt x="395351" y="601049"/>
                  </a:lnTo>
                  <a:lnTo>
                    <a:pt x="364801" y="548228"/>
                  </a:lnTo>
                  <a:lnTo>
                    <a:pt x="334702" y="496279"/>
                  </a:lnTo>
                  <a:lnTo>
                    <a:pt x="305202" y="445493"/>
                  </a:lnTo>
                  <a:lnTo>
                    <a:pt x="276452" y="396159"/>
                  </a:lnTo>
                  <a:lnTo>
                    <a:pt x="248602" y="348567"/>
                  </a:lnTo>
                  <a:lnTo>
                    <a:pt x="221801" y="303006"/>
                  </a:lnTo>
                  <a:lnTo>
                    <a:pt x="196201" y="259766"/>
                  </a:lnTo>
                  <a:lnTo>
                    <a:pt x="171949" y="219137"/>
                  </a:lnTo>
                  <a:lnTo>
                    <a:pt x="149198" y="181408"/>
                  </a:lnTo>
                  <a:lnTo>
                    <a:pt x="128095" y="146869"/>
                  </a:lnTo>
                  <a:lnTo>
                    <a:pt x="91440" y="88519"/>
                  </a:lnTo>
                  <a:lnTo>
                    <a:pt x="49291" y="25949"/>
                  </a:lnTo>
                  <a:lnTo>
                    <a:pt x="16430" y="347"/>
                  </a:lnTo>
                  <a:lnTo>
                    <a:pt x="0" y="0"/>
                  </a:lnTo>
                </a:path>
                <a:path w="1371600" h="708660">
                  <a:moveTo>
                    <a:pt x="457200" y="708151"/>
                  </a:moveTo>
                  <a:lnTo>
                    <a:pt x="488199" y="654454"/>
                  </a:lnTo>
                  <a:lnTo>
                    <a:pt x="519048" y="601049"/>
                  </a:lnTo>
                  <a:lnTo>
                    <a:pt x="549598" y="548228"/>
                  </a:lnTo>
                  <a:lnTo>
                    <a:pt x="579697" y="496279"/>
                  </a:lnTo>
                  <a:lnTo>
                    <a:pt x="609197" y="445493"/>
                  </a:lnTo>
                  <a:lnTo>
                    <a:pt x="637947" y="396159"/>
                  </a:lnTo>
                  <a:lnTo>
                    <a:pt x="665797" y="348567"/>
                  </a:lnTo>
                  <a:lnTo>
                    <a:pt x="692598" y="303006"/>
                  </a:lnTo>
                  <a:lnTo>
                    <a:pt x="718198" y="259766"/>
                  </a:lnTo>
                  <a:lnTo>
                    <a:pt x="742450" y="219137"/>
                  </a:lnTo>
                  <a:lnTo>
                    <a:pt x="765201" y="181408"/>
                  </a:lnTo>
                  <a:lnTo>
                    <a:pt x="786304" y="146869"/>
                  </a:lnTo>
                  <a:lnTo>
                    <a:pt x="822960" y="88519"/>
                  </a:lnTo>
                  <a:lnTo>
                    <a:pt x="865108" y="25949"/>
                  </a:lnTo>
                  <a:lnTo>
                    <a:pt x="897969" y="347"/>
                  </a:lnTo>
                  <a:lnTo>
                    <a:pt x="914400" y="0"/>
                  </a:lnTo>
                </a:path>
                <a:path w="1371600" h="708660">
                  <a:moveTo>
                    <a:pt x="1371600" y="708151"/>
                  </a:moveTo>
                  <a:lnTo>
                    <a:pt x="1340600" y="654454"/>
                  </a:lnTo>
                  <a:lnTo>
                    <a:pt x="1309751" y="601049"/>
                  </a:lnTo>
                  <a:lnTo>
                    <a:pt x="1279201" y="548228"/>
                  </a:lnTo>
                  <a:lnTo>
                    <a:pt x="1249102" y="496279"/>
                  </a:lnTo>
                  <a:lnTo>
                    <a:pt x="1219602" y="445493"/>
                  </a:lnTo>
                  <a:lnTo>
                    <a:pt x="1190852" y="396159"/>
                  </a:lnTo>
                  <a:lnTo>
                    <a:pt x="1163002" y="348567"/>
                  </a:lnTo>
                  <a:lnTo>
                    <a:pt x="1136201" y="303006"/>
                  </a:lnTo>
                  <a:lnTo>
                    <a:pt x="1110601" y="259766"/>
                  </a:lnTo>
                  <a:lnTo>
                    <a:pt x="1086349" y="219137"/>
                  </a:lnTo>
                  <a:lnTo>
                    <a:pt x="1063598" y="181408"/>
                  </a:lnTo>
                  <a:lnTo>
                    <a:pt x="1042495" y="146869"/>
                  </a:lnTo>
                  <a:lnTo>
                    <a:pt x="1005840" y="88519"/>
                  </a:lnTo>
                  <a:lnTo>
                    <a:pt x="963691" y="25949"/>
                  </a:lnTo>
                  <a:lnTo>
                    <a:pt x="930830" y="347"/>
                  </a:lnTo>
                  <a:lnTo>
                    <a:pt x="914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544561" y="2591562"/>
              <a:ext cx="457200" cy="838200"/>
            </a:xfrm>
            <a:custGeom>
              <a:avLst/>
              <a:gdLst/>
              <a:ahLst/>
              <a:cxnLst/>
              <a:rect l="l" t="t" r="r" b="b"/>
              <a:pathLst>
                <a:path w="457200" h="838200">
                  <a:moveTo>
                    <a:pt x="457200" y="0"/>
                  </a:moveTo>
                  <a:lnTo>
                    <a:pt x="457200" y="838200"/>
                  </a:lnTo>
                </a:path>
                <a:path w="457200" h="838200">
                  <a:moveTo>
                    <a:pt x="0" y="609600"/>
                  </a:moveTo>
                  <a:lnTo>
                    <a:pt x="0" y="83820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201916" y="1549349"/>
            <a:ext cx="6953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9900"/>
                </a:solidFill>
                <a:latin typeface="Comic Sans MS"/>
                <a:cs typeface="Comic Sans MS"/>
              </a:rPr>
              <a:t>modes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074535" y="1826767"/>
            <a:ext cx="938530" cy="688340"/>
          </a:xfrm>
          <a:custGeom>
            <a:avLst/>
            <a:gdLst/>
            <a:ahLst/>
            <a:cxnLst/>
            <a:rect l="l" t="t" r="r" b="b"/>
            <a:pathLst>
              <a:path w="938529" h="688339">
                <a:moveTo>
                  <a:pt x="246634" y="4064"/>
                </a:moveTo>
                <a:lnTo>
                  <a:pt x="234696" y="0"/>
                </a:lnTo>
                <a:lnTo>
                  <a:pt x="30162" y="613587"/>
                </a:lnTo>
                <a:lnTo>
                  <a:pt x="0" y="603504"/>
                </a:lnTo>
                <a:lnTo>
                  <a:pt x="12065" y="687832"/>
                </a:lnTo>
                <a:lnTo>
                  <a:pt x="70345" y="629539"/>
                </a:lnTo>
                <a:lnTo>
                  <a:pt x="72263" y="627634"/>
                </a:lnTo>
                <a:lnTo>
                  <a:pt x="42202" y="617601"/>
                </a:lnTo>
                <a:lnTo>
                  <a:pt x="246634" y="4064"/>
                </a:lnTo>
                <a:close/>
              </a:path>
              <a:path w="938529" h="688339">
                <a:moveTo>
                  <a:pt x="938530" y="603504"/>
                </a:moveTo>
                <a:lnTo>
                  <a:pt x="908354" y="613587"/>
                </a:lnTo>
                <a:lnTo>
                  <a:pt x="703834" y="0"/>
                </a:lnTo>
                <a:lnTo>
                  <a:pt x="691896" y="4064"/>
                </a:lnTo>
                <a:lnTo>
                  <a:pt x="896315" y="617601"/>
                </a:lnTo>
                <a:lnTo>
                  <a:pt x="866267" y="627634"/>
                </a:lnTo>
                <a:lnTo>
                  <a:pt x="926465" y="687832"/>
                </a:lnTo>
                <a:lnTo>
                  <a:pt x="934796" y="629539"/>
                </a:lnTo>
                <a:lnTo>
                  <a:pt x="938530" y="6035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1104900" y="4191000"/>
            <a:ext cx="2019300" cy="2019300"/>
            <a:chOff x="1104900" y="4191000"/>
            <a:chExt cx="2019300" cy="2019300"/>
          </a:xfrm>
        </p:grpSpPr>
        <p:sp>
          <p:nvSpPr>
            <p:cNvPr id="21" name="object 21" descr=""/>
            <p:cNvSpPr/>
            <p:nvPr/>
          </p:nvSpPr>
          <p:spPr>
            <a:xfrm>
              <a:off x="1104900" y="4190999"/>
              <a:ext cx="2019300" cy="2019300"/>
            </a:xfrm>
            <a:custGeom>
              <a:avLst/>
              <a:gdLst/>
              <a:ahLst/>
              <a:cxnLst/>
              <a:rect l="l" t="t" r="r" b="b"/>
              <a:pathLst>
                <a:path w="2019300" h="2019300">
                  <a:moveTo>
                    <a:pt x="2019300" y="1981200"/>
                  </a:moveTo>
                  <a:lnTo>
                    <a:pt x="2006600" y="1974850"/>
                  </a:lnTo>
                  <a:lnTo>
                    <a:pt x="1943100" y="1943100"/>
                  </a:lnTo>
                  <a:lnTo>
                    <a:pt x="1943100" y="1974850"/>
                  </a:lnTo>
                  <a:lnTo>
                    <a:pt x="44450" y="197485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981200"/>
                  </a:lnTo>
                  <a:lnTo>
                    <a:pt x="38100" y="1981200"/>
                  </a:lnTo>
                  <a:lnTo>
                    <a:pt x="38100" y="1987550"/>
                  </a:lnTo>
                  <a:lnTo>
                    <a:pt x="1943100" y="1987550"/>
                  </a:lnTo>
                  <a:lnTo>
                    <a:pt x="1943100" y="2019300"/>
                  </a:lnTo>
                  <a:lnTo>
                    <a:pt x="2006600" y="1987550"/>
                  </a:lnTo>
                  <a:lnTo>
                    <a:pt x="2019300" y="1981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96162" y="4859212"/>
              <a:ext cx="1676400" cy="1161415"/>
            </a:xfrm>
            <a:custGeom>
              <a:avLst/>
              <a:gdLst/>
              <a:ahLst/>
              <a:cxnLst/>
              <a:rect l="l" t="t" r="r" b="b"/>
              <a:pathLst>
                <a:path w="1676400" h="1161414">
                  <a:moveTo>
                    <a:pt x="0" y="1161349"/>
                  </a:moveTo>
                  <a:lnTo>
                    <a:pt x="10390" y="1100742"/>
                  </a:lnTo>
                  <a:lnTo>
                    <a:pt x="20781" y="1040284"/>
                  </a:lnTo>
                  <a:lnTo>
                    <a:pt x="31172" y="980126"/>
                  </a:lnTo>
                  <a:lnTo>
                    <a:pt x="41563" y="920418"/>
                  </a:lnTo>
                  <a:lnTo>
                    <a:pt x="51954" y="861310"/>
                  </a:lnTo>
                  <a:lnTo>
                    <a:pt x="62345" y="802952"/>
                  </a:lnTo>
                  <a:lnTo>
                    <a:pt x="72736" y="745497"/>
                  </a:lnTo>
                  <a:lnTo>
                    <a:pt x="83127" y="689093"/>
                  </a:lnTo>
                  <a:lnTo>
                    <a:pt x="93518" y="633892"/>
                  </a:lnTo>
                  <a:lnTo>
                    <a:pt x="103909" y="580043"/>
                  </a:lnTo>
                  <a:lnTo>
                    <a:pt x="114299" y="527698"/>
                  </a:lnTo>
                  <a:lnTo>
                    <a:pt x="124690" y="477007"/>
                  </a:lnTo>
                  <a:lnTo>
                    <a:pt x="135081" y="428120"/>
                  </a:lnTo>
                  <a:lnTo>
                    <a:pt x="145472" y="381188"/>
                  </a:lnTo>
                  <a:lnTo>
                    <a:pt x="155863" y="336361"/>
                  </a:lnTo>
                  <a:lnTo>
                    <a:pt x="166254" y="293791"/>
                  </a:lnTo>
                  <a:lnTo>
                    <a:pt x="176645" y="253626"/>
                  </a:lnTo>
                  <a:lnTo>
                    <a:pt x="187036" y="216019"/>
                  </a:lnTo>
                  <a:lnTo>
                    <a:pt x="207818" y="149077"/>
                  </a:lnTo>
                  <a:lnTo>
                    <a:pt x="228600" y="94168"/>
                  </a:lnTo>
                  <a:lnTo>
                    <a:pt x="253581" y="45211"/>
                  </a:lnTo>
                  <a:lnTo>
                    <a:pt x="277936" y="15080"/>
                  </a:lnTo>
                  <a:lnTo>
                    <a:pt x="326018" y="0"/>
                  </a:lnTo>
                  <a:lnTo>
                    <a:pt x="350373" y="9407"/>
                  </a:lnTo>
                  <a:lnTo>
                    <a:pt x="375355" y="26350"/>
                  </a:lnTo>
                  <a:lnTo>
                    <a:pt x="401278" y="48005"/>
                  </a:lnTo>
                  <a:lnTo>
                    <a:pt x="428455" y="71552"/>
                  </a:lnTo>
                  <a:lnTo>
                    <a:pt x="457200" y="94168"/>
                  </a:lnTo>
                  <a:lnTo>
                    <a:pt x="509625" y="144765"/>
                  </a:lnTo>
                  <a:lnTo>
                    <a:pt x="535838" y="178067"/>
                  </a:lnTo>
                  <a:lnTo>
                    <a:pt x="562660" y="215486"/>
                  </a:lnTo>
                  <a:lnTo>
                    <a:pt x="590549" y="256109"/>
                  </a:lnTo>
                  <a:lnTo>
                    <a:pt x="619963" y="299021"/>
                  </a:lnTo>
                  <a:lnTo>
                    <a:pt x="651357" y="343309"/>
                  </a:lnTo>
                  <a:lnTo>
                    <a:pt x="685190" y="388060"/>
                  </a:lnTo>
                  <a:lnTo>
                    <a:pt x="721918" y="432360"/>
                  </a:lnTo>
                  <a:lnTo>
                    <a:pt x="762000" y="475295"/>
                  </a:lnTo>
                  <a:lnTo>
                    <a:pt x="793421" y="506148"/>
                  </a:lnTo>
                  <a:lnTo>
                    <a:pt x="827536" y="538616"/>
                  </a:lnTo>
                  <a:lnTo>
                    <a:pt x="863928" y="572364"/>
                  </a:lnTo>
                  <a:lnTo>
                    <a:pt x="902181" y="607058"/>
                  </a:lnTo>
                  <a:lnTo>
                    <a:pt x="941878" y="642365"/>
                  </a:lnTo>
                  <a:lnTo>
                    <a:pt x="982602" y="677951"/>
                  </a:lnTo>
                  <a:lnTo>
                    <a:pt x="1023937" y="713483"/>
                  </a:lnTo>
                  <a:lnTo>
                    <a:pt x="1065467" y="748627"/>
                  </a:lnTo>
                  <a:lnTo>
                    <a:pt x="1106774" y="783049"/>
                  </a:lnTo>
                  <a:lnTo>
                    <a:pt x="1147443" y="816416"/>
                  </a:lnTo>
                  <a:lnTo>
                    <a:pt x="1187056" y="848395"/>
                  </a:lnTo>
                  <a:lnTo>
                    <a:pt x="1225198" y="878650"/>
                  </a:lnTo>
                  <a:lnTo>
                    <a:pt x="1261451" y="906850"/>
                  </a:lnTo>
                  <a:lnTo>
                    <a:pt x="1295400" y="932660"/>
                  </a:lnTo>
                  <a:lnTo>
                    <a:pt x="1345677" y="969361"/>
                  </a:lnTo>
                  <a:lnTo>
                    <a:pt x="1394700" y="1003240"/>
                  </a:lnTo>
                  <a:lnTo>
                    <a:pt x="1442155" y="1034297"/>
                  </a:lnTo>
                  <a:lnTo>
                    <a:pt x="1487729" y="1062531"/>
                  </a:lnTo>
                  <a:lnTo>
                    <a:pt x="1531107" y="1087941"/>
                  </a:lnTo>
                  <a:lnTo>
                    <a:pt x="1571977" y="1110528"/>
                  </a:lnTo>
                  <a:lnTo>
                    <a:pt x="1610025" y="1130292"/>
                  </a:lnTo>
                  <a:lnTo>
                    <a:pt x="1644937" y="1147232"/>
                  </a:lnTo>
                  <a:lnTo>
                    <a:pt x="1676400" y="1161349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3810000" y="2666999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1981200"/>
                </a:moveTo>
                <a:lnTo>
                  <a:pt x="2006600" y="1974850"/>
                </a:lnTo>
                <a:lnTo>
                  <a:pt x="1943100" y="1943100"/>
                </a:lnTo>
                <a:lnTo>
                  <a:pt x="1943100" y="1974850"/>
                </a:lnTo>
                <a:lnTo>
                  <a:pt x="44450" y="197485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981200"/>
                </a:lnTo>
                <a:lnTo>
                  <a:pt x="38100" y="1981200"/>
                </a:lnTo>
                <a:lnTo>
                  <a:pt x="38100" y="1987550"/>
                </a:lnTo>
                <a:lnTo>
                  <a:pt x="1943100" y="1987550"/>
                </a:lnTo>
                <a:lnTo>
                  <a:pt x="1943100" y="2019300"/>
                </a:lnTo>
                <a:lnTo>
                  <a:pt x="2006600" y="1987550"/>
                </a:lnTo>
                <a:lnTo>
                  <a:pt x="2019300" y="1981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4482846" y="3512311"/>
            <a:ext cx="565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mean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385309" y="3704031"/>
            <a:ext cx="7639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9900"/>
                </a:solidFill>
                <a:latin typeface="Comic Sans MS"/>
                <a:cs typeface="Comic Sans MS"/>
              </a:rPr>
              <a:t>median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309109" y="3073730"/>
            <a:ext cx="8921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9900"/>
                </a:solidFill>
                <a:latin typeface="Comic Sans MS"/>
                <a:cs typeface="Comic Sans MS"/>
              </a:rPr>
              <a:t>no</a:t>
            </a:r>
            <a:r>
              <a:rPr dirty="0" sz="1800" spc="-5">
                <a:solidFill>
                  <a:srgbClr val="009900"/>
                </a:solidFill>
                <a:latin typeface="Comic Sans MS"/>
                <a:cs typeface="Comic Sans MS"/>
              </a:rPr>
              <a:t> </a:t>
            </a: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mode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139374" y="4025074"/>
            <a:ext cx="1323975" cy="624205"/>
            <a:chOff x="4139374" y="4025074"/>
            <a:chExt cx="1323975" cy="624205"/>
          </a:xfrm>
        </p:grpSpPr>
        <p:sp>
          <p:nvSpPr>
            <p:cNvPr id="28" name="object 28" descr=""/>
            <p:cNvSpPr/>
            <p:nvPr/>
          </p:nvSpPr>
          <p:spPr>
            <a:xfrm>
              <a:off x="4153661" y="4039361"/>
              <a:ext cx="1295400" cy="609600"/>
            </a:xfrm>
            <a:custGeom>
              <a:avLst/>
              <a:gdLst/>
              <a:ahLst/>
              <a:cxnLst/>
              <a:rect l="l" t="t" r="r" b="b"/>
              <a:pathLst>
                <a:path w="1295400" h="609600">
                  <a:moveTo>
                    <a:pt x="0" y="609600"/>
                  </a:moveTo>
                  <a:lnTo>
                    <a:pt x="0" y="0"/>
                  </a:lnTo>
                </a:path>
                <a:path w="1295400" h="609600">
                  <a:moveTo>
                    <a:pt x="0" y="0"/>
                  </a:moveTo>
                  <a:lnTo>
                    <a:pt x="1295400" y="0"/>
                  </a:lnTo>
                </a:path>
                <a:path w="1295400" h="609600">
                  <a:moveTo>
                    <a:pt x="1295400" y="609600"/>
                  </a:moveTo>
                  <a:lnTo>
                    <a:pt x="1295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763261" y="40393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603628" y="4293489"/>
            <a:ext cx="583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mode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586674" y="4863274"/>
            <a:ext cx="1857375" cy="1323975"/>
            <a:chOff x="1586674" y="4863274"/>
            <a:chExt cx="1857375" cy="1323975"/>
          </a:xfrm>
        </p:grpSpPr>
        <p:sp>
          <p:nvSpPr>
            <p:cNvPr id="32" name="object 32" descr=""/>
            <p:cNvSpPr/>
            <p:nvPr/>
          </p:nvSpPr>
          <p:spPr>
            <a:xfrm>
              <a:off x="1600961" y="4877561"/>
              <a:ext cx="762000" cy="1295400"/>
            </a:xfrm>
            <a:custGeom>
              <a:avLst/>
              <a:gdLst/>
              <a:ahLst/>
              <a:cxnLst/>
              <a:rect l="l" t="t" r="r" b="b"/>
              <a:pathLst>
                <a:path w="762000" h="1295400">
                  <a:moveTo>
                    <a:pt x="0" y="0"/>
                  </a:moveTo>
                  <a:lnTo>
                    <a:pt x="0" y="1295400"/>
                  </a:lnTo>
                </a:path>
                <a:path w="762000" h="1295400">
                  <a:moveTo>
                    <a:pt x="381000" y="381000"/>
                  </a:moveTo>
                  <a:lnTo>
                    <a:pt x="381000" y="1295400"/>
                  </a:lnTo>
                </a:path>
                <a:path w="762000" h="1295400">
                  <a:moveTo>
                    <a:pt x="762000" y="762000"/>
                  </a:moveTo>
                  <a:lnTo>
                    <a:pt x="762000" y="129540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972561" y="6020561"/>
              <a:ext cx="457200" cy="83185"/>
            </a:xfrm>
            <a:custGeom>
              <a:avLst/>
              <a:gdLst/>
              <a:ahLst/>
              <a:cxnLst/>
              <a:rect l="l" t="t" r="r" b="b"/>
              <a:pathLst>
                <a:path w="457200" h="83185">
                  <a:moveTo>
                    <a:pt x="0" y="0"/>
                  </a:moveTo>
                  <a:lnTo>
                    <a:pt x="61912" y="44984"/>
                  </a:lnTo>
                  <a:lnTo>
                    <a:pt x="101798" y="63038"/>
                  </a:lnTo>
                  <a:lnTo>
                    <a:pt x="152400" y="75768"/>
                  </a:lnTo>
                  <a:lnTo>
                    <a:pt x="193498" y="80589"/>
                  </a:lnTo>
                  <a:lnTo>
                    <a:pt x="239888" y="82781"/>
                  </a:lnTo>
                  <a:lnTo>
                    <a:pt x="290512" y="82869"/>
                  </a:lnTo>
                  <a:lnTo>
                    <a:pt x="344311" y="81378"/>
                  </a:lnTo>
                  <a:lnTo>
                    <a:pt x="400226" y="78836"/>
                  </a:lnTo>
                  <a:lnTo>
                    <a:pt x="457200" y="7576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2202307" y="4827270"/>
            <a:ext cx="12712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9900"/>
                </a:solidFill>
                <a:latin typeface="Comic Sans MS"/>
                <a:cs typeface="Comic Sans MS"/>
              </a:rPr>
              <a:t>median</a:t>
            </a:r>
            <a:endParaRPr sz="1800">
              <a:latin typeface="Comic Sans MS"/>
              <a:cs typeface="Comic Sans MS"/>
            </a:endParaRPr>
          </a:p>
          <a:p>
            <a:pPr marL="718820">
              <a:lnSpc>
                <a:spcPct val="100000"/>
              </a:lnSpc>
              <a:spcBef>
                <a:spcPts val="1440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mean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581658" y="4570476"/>
            <a:ext cx="1238885" cy="1093470"/>
            <a:chOff x="1581658" y="4570476"/>
            <a:chExt cx="1238885" cy="1093470"/>
          </a:xfrm>
        </p:grpSpPr>
        <p:sp>
          <p:nvSpPr>
            <p:cNvPr id="36" name="object 36" descr=""/>
            <p:cNvSpPr/>
            <p:nvPr/>
          </p:nvSpPr>
          <p:spPr>
            <a:xfrm>
              <a:off x="1581658" y="4570476"/>
              <a:ext cx="100965" cy="306705"/>
            </a:xfrm>
            <a:custGeom>
              <a:avLst/>
              <a:gdLst/>
              <a:ahLst/>
              <a:cxnLst/>
              <a:rect l="l" t="t" r="r" b="b"/>
              <a:pathLst>
                <a:path w="100964" h="306704">
                  <a:moveTo>
                    <a:pt x="0" y="223138"/>
                  </a:moveTo>
                  <a:lnTo>
                    <a:pt x="18541" y="306324"/>
                  </a:lnTo>
                  <a:lnTo>
                    <a:pt x="70115" y="246253"/>
                  </a:lnTo>
                  <a:lnTo>
                    <a:pt x="40131" y="246253"/>
                  </a:lnTo>
                  <a:lnTo>
                    <a:pt x="27812" y="243205"/>
                  </a:lnTo>
                  <a:lnTo>
                    <a:pt x="30890" y="230874"/>
                  </a:lnTo>
                  <a:lnTo>
                    <a:pt x="0" y="223138"/>
                  </a:lnTo>
                  <a:close/>
                </a:path>
                <a:path w="100964" h="306704">
                  <a:moveTo>
                    <a:pt x="30890" y="230874"/>
                  </a:moveTo>
                  <a:lnTo>
                    <a:pt x="27812" y="243205"/>
                  </a:lnTo>
                  <a:lnTo>
                    <a:pt x="40131" y="246253"/>
                  </a:lnTo>
                  <a:lnTo>
                    <a:pt x="43207" y="233959"/>
                  </a:lnTo>
                  <a:lnTo>
                    <a:pt x="30890" y="230874"/>
                  </a:lnTo>
                  <a:close/>
                </a:path>
                <a:path w="100964" h="306704">
                  <a:moveTo>
                    <a:pt x="43207" y="233959"/>
                  </a:moveTo>
                  <a:lnTo>
                    <a:pt x="40131" y="246253"/>
                  </a:lnTo>
                  <a:lnTo>
                    <a:pt x="70115" y="246253"/>
                  </a:lnTo>
                  <a:lnTo>
                    <a:pt x="74040" y="241681"/>
                  </a:lnTo>
                  <a:lnTo>
                    <a:pt x="43207" y="233959"/>
                  </a:lnTo>
                  <a:close/>
                </a:path>
                <a:path w="100964" h="306704">
                  <a:moveTo>
                    <a:pt x="88518" y="0"/>
                  </a:moveTo>
                  <a:lnTo>
                    <a:pt x="30890" y="230874"/>
                  </a:lnTo>
                  <a:lnTo>
                    <a:pt x="43207" y="233959"/>
                  </a:lnTo>
                  <a:lnTo>
                    <a:pt x="100965" y="3048"/>
                  </a:lnTo>
                  <a:lnTo>
                    <a:pt x="885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0" y="5100955"/>
              <a:ext cx="233044" cy="233044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362200" y="5556377"/>
              <a:ext cx="458470" cy="107950"/>
            </a:xfrm>
            <a:custGeom>
              <a:avLst/>
              <a:gdLst/>
              <a:ahLst/>
              <a:cxnLst/>
              <a:rect l="l" t="t" r="r" b="b"/>
              <a:pathLst>
                <a:path w="458469" h="107950">
                  <a:moveTo>
                    <a:pt x="68961" y="32308"/>
                  </a:moveTo>
                  <a:lnTo>
                    <a:pt x="0" y="82423"/>
                  </a:lnTo>
                  <a:lnTo>
                    <a:pt x="81406" y="107480"/>
                  </a:lnTo>
                  <a:lnTo>
                    <a:pt x="76566" y="78244"/>
                  </a:lnTo>
                  <a:lnTo>
                    <a:pt x="63626" y="78244"/>
                  </a:lnTo>
                  <a:lnTo>
                    <a:pt x="61594" y="65722"/>
                  </a:lnTo>
                  <a:lnTo>
                    <a:pt x="74147" y="63631"/>
                  </a:lnTo>
                  <a:lnTo>
                    <a:pt x="68961" y="32308"/>
                  </a:lnTo>
                  <a:close/>
                </a:path>
                <a:path w="458469" h="107950">
                  <a:moveTo>
                    <a:pt x="74147" y="63631"/>
                  </a:moveTo>
                  <a:lnTo>
                    <a:pt x="61594" y="65722"/>
                  </a:lnTo>
                  <a:lnTo>
                    <a:pt x="63626" y="78244"/>
                  </a:lnTo>
                  <a:lnTo>
                    <a:pt x="76218" y="76144"/>
                  </a:lnTo>
                  <a:lnTo>
                    <a:pt x="74147" y="63631"/>
                  </a:lnTo>
                  <a:close/>
                </a:path>
                <a:path w="458469" h="107950">
                  <a:moveTo>
                    <a:pt x="76218" y="76144"/>
                  </a:moveTo>
                  <a:lnTo>
                    <a:pt x="63626" y="78244"/>
                  </a:lnTo>
                  <a:lnTo>
                    <a:pt x="76566" y="78244"/>
                  </a:lnTo>
                  <a:lnTo>
                    <a:pt x="76218" y="76144"/>
                  </a:lnTo>
                  <a:close/>
                </a:path>
                <a:path w="458469" h="107950">
                  <a:moveTo>
                    <a:pt x="456183" y="0"/>
                  </a:moveTo>
                  <a:lnTo>
                    <a:pt x="74147" y="63631"/>
                  </a:lnTo>
                  <a:lnTo>
                    <a:pt x="76218" y="76144"/>
                  </a:lnTo>
                  <a:lnTo>
                    <a:pt x="458216" y="12446"/>
                  </a:lnTo>
                  <a:lnTo>
                    <a:pt x="4561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/>
          <p:nvPr/>
        </p:nvSpPr>
        <p:spPr>
          <a:xfrm>
            <a:off x="6438900" y="411480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1981200"/>
                </a:moveTo>
                <a:lnTo>
                  <a:pt x="2006600" y="1974850"/>
                </a:lnTo>
                <a:lnTo>
                  <a:pt x="1943100" y="1943100"/>
                </a:lnTo>
                <a:lnTo>
                  <a:pt x="1943100" y="1974850"/>
                </a:lnTo>
                <a:lnTo>
                  <a:pt x="44450" y="197485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981200"/>
                </a:lnTo>
                <a:lnTo>
                  <a:pt x="38100" y="1981200"/>
                </a:lnTo>
                <a:lnTo>
                  <a:pt x="38100" y="1987550"/>
                </a:lnTo>
                <a:lnTo>
                  <a:pt x="1943100" y="1987550"/>
                </a:lnTo>
                <a:lnTo>
                  <a:pt x="1943100" y="2019300"/>
                </a:lnTo>
                <a:lnTo>
                  <a:pt x="2006600" y="1987550"/>
                </a:lnTo>
                <a:lnTo>
                  <a:pt x="2019300" y="1981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7843519" y="4141089"/>
            <a:ext cx="583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mode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586918" y="4692525"/>
            <a:ext cx="2162175" cy="1342390"/>
            <a:chOff x="6586918" y="4692525"/>
            <a:chExt cx="2162175" cy="1342390"/>
          </a:xfrm>
        </p:grpSpPr>
        <p:sp>
          <p:nvSpPr>
            <p:cNvPr id="42" name="object 42" descr=""/>
            <p:cNvSpPr/>
            <p:nvPr/>
          </p:nvSpPr>
          <p:spPr>
            <a:xfrm>
              <a:off x="7668006" y="4725161"/>
              <a:ext cx="762000" cy="1295400"/>
            </a:xfrm>
            <a:custGeom>
              <a:avLst/>
              <a:gdLst/>
              <a:ahLst/>
              <a:cxnLst/>
              <a:rect l="l" t="t" r="r" b="b"/>
              <a:pathLst>
                <a:path w="762000" h="1295400">
                  <a:moveTo>
                    <a:pt x="762000" y="0"/>
                  </a:moveTo>
                  <a:lnTo>
                    <a:pt x="762000" y="1295400"/>
                  </a:lnTo>
                </a:path>
                <a:path w="762000" h="1295400">
                  <a:moveTo>
                    <a:pt x="381000" y="381000"/>
                  </a:moveTo>
                  <a:lnTo>
                    <a:pt x="381000" y="1295400"/>
                  </a:lnTo>
                </a:path>
                <a:path w="762000" h="1295400">
                  <a:moveTo>
                    <a:pt x="0" y="762000"/>
                  </a:moveTo>
                  <a:lnTo>
                    <a:pt x="0" y="129540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601206" y="4706812"/>
              <a:ext cx="2133600" cy="1244600"/>
            </a:xfrm>
            <a:custGeom>
              <a:avLst/>
              <a:gdLst/>
              <a:ahLst/>
              <a:cxnLst/>
              <a:rect l="l" t="t" r="r" b="b"/>
              <a:pathLst>
                <a:path w="2133600" h="1244600">
                  <a:moveTo>
                    <a:pt x="2133600" y="1161349"/>
                  </a:moveTo>
                  <a:lnTo>
                    <a:pt x="2123209" y="1100742"/>
                  </a:lnTo>
                  <a:lnTo>
                    <a:pt x="2112818" y="1040284"/>
                  </a:lnTo>
                  <a:lnTo>
                    <a:pt x="2102427" y="980126"/>
                  </a:lnTo>
                  <a:lnTo>
                    <a:pt x="2092036" y="920418"/>
                  </a:lnTo>
                  <a:lnTo>
                    <a:pt x="2081645" y="861310"/>
                  </a:lnTo>
                  <a:lnTo>
                    <a:pt x="2071254" y="802952"/>
                  </a:lnTo>
                  <a:lnTo>
                    <a:pt x="2060863" y="745497"/>
                  </a:lnTo>
                  <a:lnTo>
                    <a:pt x="2050472" y="689093"/>
                  </a:lnTo>
                  <a:lnTo>
                    <a:pt x="2040081" y="633892"/>
                  </a:lnTo>
                  <a:lnTo>
                    <a:pt x="2029690" y="580043"/>
                  </a:lnTo>
                  <a:lnTo>
                    <a:pt x="2019299" y="527698"/>
                  </a:lnTo>
                  <a:lnTo>
                    <a:pt x="2008909" y="477007"/>
                  </a:lnTo>
                  <a:lnTo>
                    <a:pt x="1998518" y="428120"/>
                  </a:lnTo>
                  <a:lnTo>
                    <a:pt x="1988127" y="381188"/>
                  </a:lnTo>
                  <a:lnTo>
                    <a:pt x="1977736" y="336361"/>
                  </a:lnTo>
                  <a:lnTo>
                    <a:pt x="1967345" y="293791"/>
                  </a:lnTo>
                  <a:lnTo>
                    <a:pt x="1956954" y="253626"/>
                  </a:lnTo>
                  <a:lnTo>
                    <a:pt x="1946563" y="216019"/>
                  </a:lnTo>
                  <a:lnTo>
                    <a:pt x="1925781" y="149077"/>
                  </a:lnTo>
                  <a:lnTo>
                    <a:pt x="1905000" y="94168"/>
                  </a:lnTo>
                  <a:lnTo>
                    <a:pt x="1880018" y="45211"/>
                  </a:lnTo>
                  <a:lnTo>
                    <a:pt x="1855663" y="15080"/>
                  </a:lnTo>
                  <a:lnTo>
                    <a:pt x="1807581" y="0"/>
                  </a:lnTo>
                  <a:lnTo>
                    <a:pt x="1783226" y="9407"/>
                  </a:lnTo>
                  <a:lnTo>
                    <a:pt x="1758244" y="26350"/>
                  </a:lnTo>
                  <a:lnTo>
                    <a:pt x="1732321" y="48005"/>
                  </a:lnTo>
                  <a:lnTo>
                    <a:pt x="1705144" y="71552"/>
                  </a:lnTo>
                  <a:lnTo>
                    <a:pt x="1676400" y="94168"/>
                  </a:lnTo>
                  <a:lnTo>
                    <a:pt x="1623974" y="144765"/>
                  </a:lnTo>
                  <a:lnTo>
                    <a:pt x="1597761" y="178067"/>
                  </a:lnTo>
                  <a:lnTo>
                    <a:pt x="1570939" y="215486"/>
                  </a:lnTo>
                  <a:lnTo>
                    <a:pt x="1543050" y="256109"/>
                  </a:lnTo>
                  <a:lnTo>
                    <a:pt x="1513636" y="299021"/>
                  </a:lnTo>
                  <a:lnTo>
                    <a:pt x="1482242" y="343309"/>
                  </a:lnTo>
                  <a:lnTo>
                    <a:pt x="1448409" y="388060"/>
                  </a:lnTo>
                  <a:lnTo>
                    <a:pt x="1411681" y="432360"/>
                  </a:lnTo>
                  <a:lnTo>
                    <a:pt x="1371600" y="475295"/>
                  </a:lnTo>
                  <a:lnTo>
                    <a:pt x="1340178" y="506149"/>
                  </a:lnTo>
                  <a:lnTo>
                    <a:pt x="1306063" y="538617"/>
                  </a:lnTo>
                  <a:lnTo>
                    <a:pt x="1269671" y="572365"/>
                  </a:lnTo>
                  <a:lnTo>
                    <a:pt x="1231418" y="607060"/>
                  </a:lnTo>
                  <a:lnTo>
                    <a:pt x="1191721" y="642368"/>
                  </a:lnTo>
                  <a:lnTo>
                    <a:pt x="1150997" y="677955"/>
                  </a:lnTo>
                  <a:lnTo>
                    <a:pt x="1109662" y="713488"/>
                  </a:lnTo>
                  <a:lnTo>
                    <a:pt x="1068132" y="748632"/>
                  </a:lnTo>
                  <a:lnTo>
                    <a:pt x="1026825" y="783055"/>
                  </a:lnTo>
                  <a:lnTo>
                    <a:pt x="986156" y="816422"/>
                  </a:lnTo>
                  <a:lnTo>
                    <a:pt x="946543" y="848400"/>
                  </a:lnTo>
                  <a:lnTo>
                    <a:pt x="908401" y="878654"/>
                  </a:lnTo>
                  <a:lnTo>
                    <a:pt x="872148" y="906852"/>
                  </a:lnTo>
                  <a:lnTo>
                    <a:pt x="838200" y="932660"/>
                  </a:lnTo>
                  <a:lnTo>
                    <a:pt x="787922" y="969361"/>
                  </a:lnTo>
                  <a:lnTo>
                    <a:pt x="738899" y="1003240"/>
                  </a:lnTo>
                  <a:lnTo>
                    <a:pt x="691444" y="1034297"/>
                  </a:lnTo>
                  <a:lnTo>
                    <a:pt x="645870" y="1062531"/>
                  </a:lnTo>
                  <a:lnTo>
                    <a:pt x="602492" y="1087941"/>
                  </a:lnTo>
                  <a:lnTo>
                    <a:pt x="561622" y="1110528"/>
                  </a:lnTo>
                  <a:lnTo>
                    <a:pt x="523574" y="1130292"/>
                  </a:lnTo>
                  <a:lnTo>
                    <a:pt x="488662" y="1147232"/>
                  </a:lnTo>
                  <a:lnTo>
                    <a:pt x="457200" y="1161349"/>
                  </a:lnTo>
                </a:path>
                <a:path w="2133600" h="1244600">
                  <a:moveTo>
                    <a:pt x="457200" y="1161349"/>
                  </a:moveTo>
                  <a:lnTo>
                    <a:pt x="395287" y="1206334"/>
                  </a:lnTo>
                  <a:lnTo>
                    <a:pt x="355401" y="1224387"/>
                  </a:lnTo>
                  <a:lnTo>
                    <a:pt x="304800" y="1237117"/>
                  </a:lnTo>
                  <a:lnTo>
                    <a:pt x="263701" y="1241938"/>
                  </a:lnTo>
                  <a:lnTo>
                    <a:pt x="217311" y="1244130"/>
                  </a:lnTo>
                  <a:lnTo>
                    <a:pt x="166687" y="1244218"/>
                  </a:lnTo>
                  <a:lnTo>
                    <a:pt x="112888" y="1242727"/>
                  </a:lnTo>
                  <a:lnTo>
                    <a:pt x="56973" y="1240185"/>
                  </a:lnTo>
                  <a:lnTo>
                    <a:pt x="0" y="123711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6557518" y="4674870"/>
            <a:ext cx="12731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06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9900"/>
                </a:solidFill>
                <a:latin typeface="Comic Sans MS"/>
                <a:cs typeface="Comic Sans MS"/>
              </a:rPr>
              <a:t>median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mean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7209028" y="4418076"/>
            <a:ext cx="1238885" cy="1093470"/>
            <a:chOff x="7209028" y="4418076"/>
            <a:chExt cx="1238885" cy="1093470"/>
          </a:xfrm>
        </p:grpSpPr>
        <p:sp>
          <p:nvSpPr>
            <p:cNvPr id="46" name="object 46" descr=""/>
            <p:cNvSpPr/>
            <p:nvPr/>
          </p:nvSpPr>
          <p:spPr>
            <a:xfrm>
              <a:off x="8346821" y="4418076"/>
              <a:ext cx="100965" cy="306705"/>
            </a:xfrm>
            <a:custGeom>
              <a:avLst/>
              <a:gdLst/>
              <a:ahLst/>
              <a:cxnLst/>
              <a:rect l="l" t="t" r="r" b="b"/>
              <a:pathLst>
                <a:path w="100965" h="306704">
                  <a:moveTo>
                    <a:pt x="57757" y="233959"/>
                  </a:moveTo>
                  <a:lnTo>
                    <a:pt x="26924" y="241681"/>
                  </a:lnTo>
                  <a:lnTo>
                    <a:pt x="82423" y="306324"/>
                  </a:lnTo>
                  <a:lnTo>
                    <a:pt x="95812" y="246253"/>
                  </a:lnTo>
                  <a:lnTo>
                    <a:pt x="60832" y="246253"/>
                  </a:lnTo>
                  <a:lnTo>
                    <a:pt x="57757" y="233959"/>
                  </a:lnTo>
                  <a:close/>
                </a:path>
                <a:path w="100965" h="306704">
                  <a:moveTo>
                    <a:pt x="70068" y="230876"/>
                  </a:moveTo>
                  <a:lnTo>
                    <a:pt x="57757" y="233959"/>
                  </a:lnTo>
                  <a:lnTo>
                    <a:pt x="60832" y="246253"/>
                  </a:lnTo>
                  <a:lnTo>
                    <a:pt x="73151" y="243205"/>
                  </a:lnTo>
                  <a:lnTo>
                    <a:pt x="70068" y="230876"/>
                  </a:lnTo>
                  <a:close/>
                </a:path>
                <a:path w="100965" h="306704">
                  <a:moveTo>
                    <a:pt x="100964" y="223138"/>
                  </a:moveTo>
                  <a:lnTo>
                    <a:pt x="70068" y="230876"/>
                  </a:lnTo>
                  <a:lnTo>
                    <a:pt x="73151" y="243205"/>
                  </a:lnTo>
                  <a:lnTo>
                    <a:pt x="60832" y="246253"/>
                  </a:lnTo>
                  <a:lnTo>
                    <a:pt x="95812" y="246253"/>
                  </a:lnTo>
                  <a:lnTo>
                    <a:pt x="100964" y="223138"/>
                  </a:lnTo>
                  <a:close/>
                </a:path>
                <a:path w="100965" h="306704">
                  <a:moveTo>
                    <a:pt x="12319" y="0"/>
                  </a:moveTo>
                  <a:lnTo>
                    <a:pt x="0" y="3048"/>
                  </a:lnTo>
                  <a:lnTo>
                    <a:pt x="57757" y="233959"/>
                  </a:lnTo>
                  <a:lnTo>
                    <a:pt x="70068" y="230876"/>
                  </a:lnTo>
                  <a:lnTo>
                    <a:pt x="12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5199" y="4948555"/>
              <a:ext cx="233045" cy="233044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7209028" y="5403977"/>
              <a:ext cx="458470" cy="107950"/>
            </a:xfrm>
            <a:custGeom>
              <a:avLst/>
              <a:gdLst/>
              <a:ahLst/>
              <a:cxnLst/>
              <a:rect l="l" t="t" r="r" b="b"/>
              <a:pathLst>
                <a:path w="458470" h="107950">
                  <a:moveTo>
                    <a:pt x="381992" y="76131"/>
                  </a:moveTo>
                  <a:lnTo>
                    <a:pt x="376808" y="107442"/>
                  </a:lnTo>
                  <a:lnTo>
                    <a:pt x="458216" y="82423"/>
                  </a:lnTo>
                  <a:lnTo>
                    <a:pt x="452454" y="78232"/>
                  </a:lnTo>
                  <a:lnTo>
                    <a:pt x="394589" y="78232"/>
                  </a:lnTo>
                  <a:lnTo>
                    <a:pt x="381992" y="76131"/>
                  </a:lnTo>
                  <a:close/>
                </a:path>
                <a:path w="458470" h="107950">
                  <a:moveTo>
                    <a:pt x="384071" y="63570"/>
                  </a:moveTo>
                  <a:lnTo>
                    <a:pt x="381992" y="76131"/>
                  </a:lnTo>
                  <a:lnTo>
                    <a:pt x="394589" y="78232"/>
                  </a:lnTo>
                  <a:lnTo>
                    <a:pt x="396621" y="65659"/>
                  </a:lnTo>
                  <a:lnTo>
                    <a:pt x="384071" y="63570"/>
                  </a:lnTo>
                  <a:close/>
                </a:path>
                <a:path w="458470" h="107950">
                  <a:moveTo>
                    <a:pt x="389254" y="32258"/>
                  </a:moveTo>
                  <a:lnTo>
                    <a:pt x="384071" y="63570"/>
                  </a:lnTo>
                  <a:lnTo>
                    <a:pt x="396621" y="65659"/>
                  </a:lnTo>
                  <a:lnTo>
                    <a:pt x="394589" y="78232"/>
                  </a:lnTo>
                  <a:lnTo>
                    <a:pt x="452454" y="78232"/>
                  </a:lnTo>
                  <a:lnTo>
                    <a:pt x="389254" y="32258"/>
                  </a:lnTo>
                  <a:close/>
                </a:path>
                <a:path w="458470" h="107950">
                  <a:moveTo>
                    <a:pt x="2031" y="0"/>
                  </a:moveTo>
                  <a:lnTo>
                    <a:pt x="0" y="12446"/>
                  </a:lnTo>
                  <a:lnTo>
                    <a:pt x="381992" y="76131"/>
                  </a:lnTo>
                  <a:lnTo>
                    <a:pt x="384071" y="63570"/>
                  </a:lnTo>
                  <a:lnTo>
                    <a:pt x="20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1180287" y="3590035"/>
            <a:ext cx="18097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latin typeface="Arial"/>
                <a:cs typeface="Arial"/>
              </a:rPr>
              <a:t>“Gaussian”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or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“normal”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125969" y="3589401"/>
            <a:ext cx="7689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i="1">
                <a:latin typeface="Arial"/>
                <a:cs typeface="Arial"/>
              </a:rPr>
              <a:t>“bimodal”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7036434" y="6198209"/>
            <a:ext cx="7499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i="1">
                <a:latin typeface="Arial"/>
                <a:cs typeface="Arial"/>
              </a:rPr>
              <a:t>“skewed”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709420" y="6242710"/>
            <a:ext cx="7493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i="1">
                <a:latin typeface="Arial"/>
                <a:cs typeface="Arial"/>
              </a:rPr>
              <a:t>“skewed”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100576" y="4728209"/>
            <a:ext cx="14293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latin typeface="Arial"/>
                <a:cs typeface="Arial"/>
              </a:rPr>
              <a:t>Possible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in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theory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784" rIns="0" bIns="0" rtlCol="0" vert="horz">
            <a:spAutoFit/>
          </a:bodyPr>
          <a:lstStyle/>
          <a:p>
            <a:pPr marL="1914525">
              <a:lnSpc>
                <a:spcPct val="100000"/>
              </a:lnSpc>
              <a:spcBef>
                <a:spcPts val="100"/>
              </a:spcBef>
            </a:pP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Summarizing</a:t>
            </a:r>
            <a:r>
              <a:rPr dirty="0" sz="270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" b="0">
                <a:solidFill>
                  <a:srgbClr val="000000"/>
                </a:solidFill>
                <a:latin typeface="Arial MT"/>
                <a:cs typeface="Arial MT"/>
              </a:rPr>
              <a:t>Variability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3437" y="1513713"/>
            <a:ext cx="7389495" cy="1337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266065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Summarizing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single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rarely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enough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Wingdings"/>
                <a:cs typeface="Wingdings"/>
              </a:rPr>
              <a:t>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Arial MT"/>
                <a:cs typeface="Arial MT"/>
              </a:rPr>
              <a:t>need </a:t>
            </a:r>
            <a:r>
              <a:rPr dirty="0" sz="2100">
                <a:latin typeface="Arial MT"/>
                <a:cs typeface="Arial MT"/>
              </a:rPr>
              <a:t>statement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about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 spc="-10" i="1">
                <a:latin typeface="Arial"/>
                <a:cs typeface="Arial"/>
              </a:rPr>
              <a:t>variability</a:t>
            </a:r>
            <a:endParaRPr sz="2100">
              <a:latin typeface="Arial"/>
              <a:cs typeface="Arial"/>
            </a:endParaRPr>
          </a:p>
          <a:p>
            <a:pPr marL="570230" marR="5080" indent="-215265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two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have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mean,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tend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prefer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less </a:t>
            </a:r>
            <a:r>
              <a:rPr dirty="0" sz="2000" spc="-10">
                <a:latin typeface="Arial MT"/>
                <a:cs typeface="Arial MT"/>
              </a:rPr>
              <a:t>variability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439668" y="3316223"/>
            <a:ext cx="1416050" cy="2234565"/>
          </a:xfrm>
          <a:custGeom>
            <a:avLst/>
            <a:gdLst/>
            <a:ahLst/>
            <a:cxnLst/>
            <a:rect l="l" t="t" r="r" b="b"/>
            <a:pathLst>
              <a:path w="1416050" h="2234565">
                <a:moveTo>
                  <a:pt x="1415796" y="2196084"/>
                </a:moveTo>
                <a:lnTo>
                  <a:pt x="1403096" y="2189734"/>
                </a:lnTo>
                <a:lnTo>
                  <a:pt x="1339596" y="2157984"/>
                </a:lnTo>
                <a:lnTo>
                  <a:pt x="1339596" y="2189734"/>
                </a:lnTo>
                <a:lnTo>
                  <a:pt x="44450" y="2189734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196084"/>
                </a:lnTo>
                <a:lnTo>
                  <a:pt x="38100" y="2196096"/>
                </a:lnTo>
                <a:lnTo>
                  <a:pt x="38100" y="2202434"/>
                </a:lnTo>
                <a:lnTo>
                  <a:pt x="1339596" y="2202434"/>
                </a:lnTo>
                <a:lnTo>
                  <a:pt x="1339596" y="2234184"/>
                </a:lnTo>
                <a:lnTo>
                  <a:pt x="1403096" y="2202434"/>
                </a:lnTo>
                <a:lnTo>
                  <a:pt x="1415796" y="2196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208084" y="3916341"/>
            <a:ext cx="281305" cy="11029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10">
                <a:latin typeface="Arial MT"/>
                <a:cs typeface="Arial MT"/>
              </a:rPr>
              <a:t>Frequency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71086" y="4280407"/>
            <a:ext cx="564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mean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66008" y="5540450"/>
            <a:ext cx="1614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Response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Time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631501" y="4071937"/>
            <a:ext cx="1017269" cy="1445260"/>
            <a:chOff x="3631501" y="4071937"/>
            <a:chExt cx="1017269" cy="1445260"/>
          </a:xfrm>
        </p:grpSpPr>
        <p:sp>
          <p:nvSpPr>
            <p:cNvPr id="9" name="object 9" descr=""/>
            <p:cNvSpPr/>
            <p:nvPr/>
          </p:nvSpPr>
          <p:spPr>
            <a:xfrm>
              <a:off x="3636264" y="4076700"/>
              <a:ext cx="106680" cy="1435735"/>
            </a:xfrm>
            <a:custGeom>
              <a:avLst/>
              <a:gdLst/>
              <a:ahLst/>
              <a:cxnLst/>
              <a:rect l="l" t="t" r="r" b="b"/>
              <a:pathLst>
                <a:path w="106679" h="1435735">
                  <a:moveTo>
                    <a:pt x="106679" y="0"/>
                  </a:moveTo>
                  <a:lnTo>
                    <a:pt x="0" y="0"/>
                  </a:lnTo>
                  <a:lnTo>
                    <a:pt x="0" y="1435608"/>
                  </a:lnTo>
                  <a:lnTo>
                    <a:pt x="106679" y="1435608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636264" y="4076700"/>
              <a:ext cx="106680" cy="1435735"/>
            </a:xfrm>
            <a:custGeom>
              <a:avLst/>
              <a:gdLst/>
              <a:ahLst/>
              <a:cxnLst/>
              <a:rect l="l" t="t" r="r" b="b"/>
              <a:pathLst>
                <a:path w="106679" h="1435735">
                  <a:moveTo>
                    <a:pt x="0" y="1435608"/>
                  </a:moveTo>
                  <a:lnTo>
                    <a:pt x="106679" y="1435608"/>
                  </a:lnTo>
                  <a:lnTo>
                    <a:pt x="106679" y="0"/>
                  </a:lnTo>
                  <a:lnTo>
                    <a:pt x="0" y="0"/>
                  </a:lnTo>
                  <a:lnTo>
                    <a:pt x="0" y="143560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36948" y="4329684"/>
              <a:ext cx="106680" cy="1183005"/>
            </a:xfrm>
            <a:custGeom>
              <a:avLst/>
              <a:gdLst/>
              <a:ahLst/>
              <a:cxnLst/>
              <a:rect l="l" t="t" r="r" b="b"/>
              <a:pathLst>
                <a:path w="106679" h="1183004">
                  <a:moveTo>
                    <a:pt x="106679" y="0"/>
                  </a:moveTo>
                  <a:lnTo>
                    <a:pt x="0" y="0"/>
                  </a:lnTo>
                  <a:lnTo>
                    <a:pt x="0" y="1182623"/>
                  </a:lnTo>
                  <a:lnTo>
                    <a:pt x="106679" y="1182623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36948" y="4329684"/>
              <a:ext cx="106680" cy="1183005"/>
            </a:xfrm>
            <a:custGeom>
              <a:avLst/>
              <a:gdLst/>
              <a:ahLst/>
              <a:cxnLst/>
              <a:rect l="l" t="t" r="r" b="b"/>
              <a:pathLst>
                <a:path w="106679" h="1183004">
                  <a:moveTo>
                    <a:pt x="0" y="1182623"/>
                  </a:moveTo>
                  <a:lnTo>
                    <a:pt x="106679" y="1182623"/>
                  </a:lnTo>
                  <a:lnTo>
                    <a:pt x="106679" y="0"/>
                  </a:lnTo>
                  <a:lnTo>
                    <a:pt x="0" y="0"/>
                  </a:lnTo>
                  <a:lnTo>
                    <a:pt x="0" y="118262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26281" y="4583811"/>
              <a:ext cx="93345" cy="929005"/>
            </a:xfrm>
            <a:custGeom>
              <a:avLst/>
              <a:gdLst/>
              <a:ahLst/>
              <a:cxnLst/>
              <a:rect l="l" t="t" r="r" b="b"/>
              <a:pathLst>
                <a:path w="93345" h="929004">
                  <a:moveTo>
                    <a:pt x="0" y="850264"/>
                  </a:moveTo>
                  <a:lnTo>
                    <a:pt x="33655" y="928497"/>
                  </a:lnTo>
                  <a:lnTo>
                    <a:pt x="69805" y="865504"/>
                  </a:lnTo>
                  <a:lnTo>
                    <a:pt x="43688" y="865504"/>
                  </a:lnTo>
                  <a:lnTo>
                    <a:pt x="30988" y="864742"/>
                  </a:lnTo>
                  <a:lnTo>
                    <a:pt x="31571" y="854582"/>
                  </a:lnTo>
                  <a:lnTo>
                    <a:pt x="31674" y="852786"/>
                  </a:lnTo>
                  <a:lnTo>
                    <a:pt x="31716" y="852065"/>
                  </a:lnTo>
                  <a:lnTo>
                    <a:pt x="0" y="850264"/>
                  </a:lnTo>
                  <a:close/>
                </a:path>
                <a:path w="93345" h="929004">
                  <a:moveTo>
                    <a:pt x="31716" y="852065"/>
                  </a:moveTo>
                  <a:lnTo>
                    <a:pt x="30988" y="864742"/>
                  </a:lnTo>
                  <a:lnTo>
                    <a:pt x="43688" y="865504"/>
                  </a:lnTo>
                  <a:lnTo>
                    <a:pt x="44315" y="854582"/>
                  </a:lnTo>
                  <a:lnTo>
                    <a:pt x="44418" y="852786"/>
                  </a:lnTo>
                  <a:lnTo>
                    <a:pt x="31716" y="852065"/>
                  </a:lnTo>
                  <a:close/>
                </a:path>
                <a:path w="93345" h="929004">
                  <a:moveTo>
                    <a:pt x="44418" y="852786"/>
                  </a:moveTo>
                  <a:lnTo>
                    <a:pt x="43731" y="864742"/>
                  </a:lnTo>
                  <a:lnTo>
                    <a:pt x="43688" y="865504"/>
                  </a:lnTo>
                  <a:lnTo>
                    <a:pt x="69805" y="865504"/>
                  </a:lnTo>
                  <a:lnTo>
                    <a:pt x="76073" y="854582"/>
                  </a:lnTo>
                  <a:lnTo>
                    <a:pt x="44418" y="852786"/>
                  </a:lnTo>
                  <a:close/>
                </a:path>
                <a:path w="93345" h="929004">
                  <a:moveTo>
                    <a:pt x="80645" y="0"/>
                  </a:moveTo>
                  <a:lnTo>
                    <a:pt x="31819" y="850264"/>
                  </a:lnTo>
                  <a:lnTo>
                    <a:pt x="31716" y="852065"/>
                  </a:lnTo>
                  <a:lnTo>
                    <a:pt x="44418" y="852786"/>
                  </a:lnTo>
                  <a:lnTo>
                    <a:pt x="93345" y="762"/>
                  </a:lnTo>
                  <a:lnTo>
                    <a:pt x="806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909828" y="3270503"/>
            <a:ext cx="1628139" cy="2268220"/>
          </a:xfrm>
          <a:custGeom>
            <a:avLst/>
            <a:gdLst/>
            <a:ahLst/>
            <a:cxnLst/>
            <a:rect l="l" t="t" r="r" b="b"/>
            <a:pathLst>
              <a:path w="1628139" h="2268220">
                <a:moveTo>
                  <a:pt x="1627632" y="2229612"/>
                </a:moveTo>
                <a:lnTo>
                  <a:pt x="1614932" y="2223262"/>
                </a:lnTo>
                <a:lnTo>
                  <a:pt x="1551432" y="2191512"/>
                </a:lnTo>
                <a:lnTo>
                  <a:pt x="1551432" y="2223262"/>
                </a:lnTo>
                <a:lnTo>
                  <a:pt x="44450" y="2223262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229612"/>
                </a:lnTo>
                <a:lnTo>
                  <a:pt x="38100" y="2229612"/>
                </a:lnTo>
                <a:lnTo>
                  <a:pt x="38100" y="2235962"/>
                </a:lnTo>
                <a:lnTo>
                  <a:pt x="1551432" y="2235962"/>
                </a:lnTo>
                <a:lnTo>
                  <a:pt x="1551432" y="2267712"/>
                </a:lnTo>
                <a:lnTo>
                  <a:pt x="1614932" y="2235962"/>
                </a:lnTo>
                <a:lnTo>
                  <a:pt x="1627632" y="2229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29527" y="3897164"/>
            <a:ext cx="281305" cy="11029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10">
                <a:latin typeface="Arial MT"/>
                <a:cs typeface="Arial MT"/>
              </a:rPr>
              <a:t>Frequency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33448" y="4593082"/>
            <a:ext cx="564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09900"/>
                </a:solidFill>
                <a:latin typeface="Comic Sans MS"/>
                <a:cs typeface="Comic Sans MS"/>
              </a:rPr>
              <a:t>mean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48283" y="5528564"/>
            <a:ext cx="1614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Response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Time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493329" y="3693985"/>
            <a:ext cx="560705" cy="1811020"/>
            <a:chOff x="1493329" y="3693985"/>
            <a:chExt cx="560705" cy="1811020"/>
          </a:xfrm>
        </p:grpSpPr>
        <p:sp>
          <p:nvSpPr>
            <p:cNvPr id="19" name="object 19" descr=""/>
            <p:cNvSpPr/>
            <p:nvPr/>
          </p:nvSpPr>
          <p:spPr>
            <a:xfrm>
              <a:off x="1498091" y="3698747"/>
              <a:ext cx="121920" cy="1801495"/>
            </a:xfrm>
            <a:custGeom>
              <a:avLst/>
              <a:gdLst/>
              <a:ahLst/>
              <a:cxnLst/>
              <a:rect l="l" t="t" r="r" b="b"/>
              <a:pathLst>
                <a:path w="121919" h="1801495">
                  <a:moveTo>
                    <a:pt x="121919" y="0"/>
                  </a:moveTo>
                  <a:lnTo>
                    <a:pt x="0" y="0"/>
                  </a:lnTo>
                  <a:lnTo>
                    <a:pt x="0" y="1801367"/>
                  </a:lnTo>
                  <a:lnTo>
                    <a:pt x="121919" y="1801367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98091" y="3698747"/>
              <a:ext cx="121920" cy="1801495"/>
            </a:xfrm>
            <a:custGeom>
              <a:avLst/>
              <a:gdLst/>
              <a:ahLst/>
              <a:cxnLst/>
              <a:rect l="l" t="t" r="r" b="b"/>
              <a:pathLst>
                <a:path w="121919" h="1801495">
                  <a:moveTo>
                    <a:pt x="0" y="1801367"/>
                  </a:moveTo>
                  <a:lnTo>
                    <a:pt x="121919" y="1801367"/>
                  </a:lnTo>
                  <a:lnTo>
                    <a:pt x="121919" y="0"/>
                  </a:lnTo>
                  <a:lnTo>
                    <a:pt x="0" y="0"/>
                  </a:lnTo>
                  <a:lnTo>
                    <a:pt x="0" y="180136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20011" y="4556759"/>
              <a:ext cx="121920" cy="943610"/>
            </a:xfrm>
            <a:custGeom>
              <a:avLst/>
              <a:gdLst/>
              <a:ahLst/>
              <a:cxnLst/>
              <a:rect l="l" t="t" r="r" b="b"/>
              <a:pathLst>
                <a:path w="121919" h="943610">
                  <a:moveTo>
                    <a:pt x="121919" y="0"/>
                  </a:moveTo>
                  <a:lnTo>
                    <a:pt x="0" y="0"/>
                  </a:lnTo>
                  <a:lnTo>
                    <a:pt x="0" y="943355"/>
                  </a:lnTo>
                  <a:lnTo>
                    <a:pt x="121919" y="943355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20011" y="4556759"/>
              <a:ext cx="121920" cy="943610"/>
            </a:xfrm>
            <a:custGeom>
              <a:avLst/>
              <a:gdLst/>
              <a:ahLst/>
              <a:cxnLst/>
              <a:rect l="l" t="t" r="r" b="b"/>
              <a:pathLst>
                <a:path w="121919" h="943610">
                  <a:moveTo>
                    <a:pt x="0" y="943355"/>
                  </a:moveTo>
                  <a:lnTo>
                    <a:pt x="121919" y="943355"/>
                  </a:lnTo>
                  <a:lnTo>
                    <a:pt x="121919" y="0"/>
                  </a:lnTo>
                  <a:lnTo>
                    <a:pt x="0" y="0"/>
                  </a:lnTo>
                  <a:lnTo>
                    <a:pt x="0" y="94335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20011" y="4895976"/>
              <a:ext cx="433705" cy="604520"/>
            </a:xfrm>
            <a:custGeom>
              <a:avLst/>
              <a:gdLst/>
              <a:ahLst/>
              <a:cxnLst/>
              <a:rect l="l" t="t" r="r" b="b"/>
              <a:pathLst>
                <a:path w="433705" h="604520">
                  <a:moveTo>
                    <a:pt x="13207" y="519938"/>
                  </a:moveTo>
                  <a:lnTo>
                    <a:pt x="0" y="604139"/>
                  </a:lnTo>
                  <a:lnTo>
                    <a:pt x="75311" y="564261"/>
                  </a:lnTo>
                  <a:lnTo>
                    <a:pt x="63922" y="556133"/>
                  </a:lnTo>
                  <a:lnTo>
                    <a:pt x="42037" y="556133"/>
                  </a:lnTo>
                  <a:lnTo>
                    <a:pt x="31750" y="548767"/>
                  </a:lnTo>
                  <a:lnTo>
                    <a:pt x="39119" y="538431"/>
                  </a:lnTo>
                  <a:lnTo>
                    <a:pt x="13207" y="519938"/>
                  </a:lnTo>
                  <a:close/>
                </a:path>
                <a:path w="433705" h="604520">
                  <a:moveTo>
                    <a:pt x="39119" y="538431"/>
                  </a:moveTo>
                  <a:lnTo>
                    <a:pt x="31750" y="548767"/>
                  </a:lnTo>
                  <a:lnTo>
                    <a:pt x="42037" y="556133"/>
                  </a:lnTo>
                  <a:lnTo>
                    <a:pt x="49419" y="545782"/>
                  </a:lnTo>
                  <a:lnTo>
                    <a:pt x="39119" y="538431"/>
                  </a:lnTo>
                  <a:close/>
                </a:path>
                <a:path w="433705" h="604520">
                  <a:moveTo>
                    <a:pt x="49419" y="545782"/>
                  </a:moveTo>
                  <a:lnTo>
                    <a:pt x="42037" y="556133"/>
                  </a:lnTo>
                  <a:lnTo>
                    <a:pt x="63922" y="556133"/>
                  </a:lnTo>
                  <a:lnTo>
                    <a:pt x="49419" y="545782"/>
                  </a:lnTo>
                  <a:close/>
                </a:path>
                <a:path w="433705" h="604520">
                  <a:moveTo>
                    <a:pt x="423037" y="0"/>
                  </a:moveTo>
                  <a:lnTo>
                    <a:pt x="39119" y="538431"/>
                  </a:lnTo>
                  <a:lnTo>
                    <a:pt x="49419" y="545782"/>
                  </a:lnTo>
                  <a:lnTo>
                    <a:pt x="433450" y="7366"/>
                  </a:lnTo>
                  <a:lnTo>
                    <a:pt x="4230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8997" y="3991200"/>
            <a:ext cx="3570161" cy="1814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6063" y="413130"/>
            <a:ext cx="294132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7675">
              <a:lnSpc>
                <a:spcPct val="100000"/>
              </a:lnSpc>
              <a:spcBef>
                <a:spcPts val="100"/>
              </a:spcBef>
            </a:pP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Variance</a:t>
            </a:r>
            <a:r>
              <a:rPr dirty="0" sz="27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5" b="0">
                <a:solidFill>
                  <a:srgbClr val="000000"/>
                </a:solidFill>
                <a:latin typeface="Arial MT"/>
                <a:cs typeface="Arial MT"/>
              </a:rPr>
              <a:t>and </a:t>
            </a: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Standard</a:t>
            </a:r>
            <a:r>
              <a:rPr dirty="0" sz="270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" b="0">
                <a:solidFill>
                  <a:srgbClr val="000000"/>
                </a:solidFill>
                <a:latin typeface="Arial MT"/>
                <a:cs typeface="Arial MT"/>
              </a:rPr>
              <a:t>Deviation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65048" y="1869694"/>
            <a:ext cx="5721350" cy="402844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320675" marR="55880" indent="-257810">
              <a:lnSpc>
                <a:spcPts val="2270"/>
              </a:lnSpc>
              <a:spcBef>
                <a:spcPts val="380"/>
              </a:spcBef>
              <a:buFont typeface="Wingdings"/>
              <a:buChar char=""/>
              <a:tabLst>
                <a:tab pos="320675" algn="l"/>
                <a:tab pos="394335" algn="l"/>
                <a:tab pos="2166620" algn="l"/>
              </a:tabLst>
            </a:pPr>
            <a:r>
              <a:rPr dirty="0" sz="210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2100" i="1">
                <a:solidFill>
                  <a:srgbClr val="FF0000"/>
                </a:solidFill>
                <a:latin typeface="Arial"/>
                <a:cs typeface="Arial"/>
              </a:rPr>
              <a:t>Variance</a:t>
            </a:r>
            <a:r>
              <a:rPr dirty="0" sz="2100" spc="-4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=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square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distance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between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x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mean</a:t>
            </a:r>
            <a:r>
              <a:rPr dirty="0" sz="2100">
                <a:latin typeface="Arial MT"/>
                <a:cs typeface="Arial MT"/>
              </a:rPr>
              <a:t>	</a:t>
            </a:r>
            <a:r>
              <a:rPr dirty="0" sz="2000">
                <a:latin typeface="Symbol"/>
                <a:cs typeface="Symbol"/>
              </a:rPr>
              <a:t></a:t>
            </a:r>
            <a:r>
              <a:rPr dirty="0" baseline="25641" sz="1950">
                <a:latin typeface="Arial MT"/>
                <a:cs typeface="Arial MT"/>
              </a:rPr>
              <a:t>2</a:t>
            </a:r>
            <a:r>
              <a:rPr dirty="0" baseline="25641" sz="1950" spc="262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=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(x -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60">
                <a:latin typeface="Nirmala UI"/>
                <a:cs typeface="Nirmala UI"/>
              </a:rPr>
              <a:t>xത</a:t>
            </a:r>
            <a:r>
              <a:rPr dirty="0" sz="2000" spc="-560">
                <a:latin typeface="Arial MT"/>
                <a:cs typeface="Arial MT"/>
              </a:rPr>
              <a:t>)</a:t>
            </a:r>
            <a:r>
              <a:rPr dirty="0" baseline="25641" sz="1950" spc="-839">
                <a:latin typeface="Arial MT"/>
                <a:cs typeface="Arial MT"/>
              </a:rPr>
              <a:t>2</a:t>
            </a:r>
            <a:endParaRPr baseline="25641" sz="1950">
              <a:latin typeface="Arial MT"/>
              <a:cs typeface="Arial MT"/>
            </a:endParaRPr>
          </a:p>
          <a:p>
            <a:pPr lvl="1" marL="621030" indent="-214629">
              <a:lnSpc>
                <a:spcPct val="100000"/>
              </a:lnSpc>
              <a:spcBef>
                <a:spcPts val="200"/>
              </a:spcBef>
              <a:buChar char="–"/>
              <a:tabLst>
                <a:tab pos="621030" algn="l"/>
              </a:tabLst>
            </a:pPr>
            <a:r>
              <a:rPr dirty="0" sz="1800">
                <a:latin typeface="Arial MT"/>
                <a:cs typeface="Arial MT"/>
              </a:rPr>
              <a:t>variance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often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denoted </a:t>
            </a:r>
            <a:r>
              <a:rPr dirty="0" sz="1600" spc="-25">
                <a:latin typeface="Symbol"/>
                <a:cs typeface="Symbol"/>
              </a:rPr>
              <a:t></a:t>
            </a:r>
            <a:r>
              <a:rPr dirty="0" baseline="26455" sz="1575" spc="-37">
                <a:latin typeface="Arial MT"/>
                <a:cs typeface="Arial MT"/>
              </a:rPr>
              <a:t>2</a:t>
            </a:r>
            <a:endParaRPr baseline="26455" sz="1575">
              <a:latin typeface="Arial MT"/>
              <a:cs typeface="Arial MT"/>
            </a:endParaRPr>
          </a:p>
          <a:p>
            <a:pPr lvl="1" marL="621030" indent="-214629">
              <a:lnSpc>
                <a:spcPct val="100000"/>
              </a:lnSpc>
              <a:spcBef>
                <a:spcPts val="215"/>
              </a:spcBef>
              <a:buChar char="–"/>
              <a:tabLst>
                <a:tab pos="621030" algn="l"/>
              </a:tabLst>
            </a:pPr>
            <a:r>
              <a:rPr dirty="0" sz="1800">
                <a:latin typeface="Arial MT"/>
                <a:cs typeface="Arial MT"/>
              </a:rPr>
              <a:t>Also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degrees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of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freedom</a:t>
            </a:r>
            <a:endParaRPr sz="1800">
              <a:latin typeface="Arial"/>
              <a:cs typeface="Arial"/>
            </a:endParaRPr>
          </a:p>
          <a:p>
            <a:pPr marL="395605" indent="-332105">
              <a:lnSpc>
                <a:spcPct val="100000"/>
              </a:lnSpc>
              <a:spcBef>
                <a:spcPts val="1185"/>
              </a:spcBef>
              <a:buChar char="•"/>
              <a:tabLst>
                <a:tab pos="395605" algn="l"/>
              </a:tabLst>
            </a:pPr>
            <a:r>
              <a:rPr dirty="0" sz="2100">
                <a:latin typeface="Arial MT"/>
                <a:cs typeface="Arial MT"/>
              </a:rPr>
              <a:t>Main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problem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6F2F9F"/>
                </a:solidFill>
                <a:latin typeface="Arial MT"/>
                <a:cs typeface="Arial MT"/>
              </a:rPr>
              <a:t>units</a:t>
            </a:r>
            <a:r>
              <a:rPr dirty="0" sz="2100" spc="-1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squared</a:t>
            </a:r>
            <a:endParaRPr sz="2100">
              <a:latin typeface="Arial MT"/>
              <a:cs typeface="Arial MT"/>
            </a:endParaRPr>
          </a:p>
          <a:p>
            <a:pPr marL="40640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1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changing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6F2F9F"/>
                </a:solidFill>
                <a:latin typeface="Arial MT"/>
                <a:cs typeface="Arial MT"/>
              </a:rPr>
              <a:t>units</a:t>
            </a:r>
            <a:r>
              <a:rPr dirty="0" sz="1800" spc="-3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changes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answer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squared</a:t>
            </a:r>
            <a:endParaRPr sz="1800">
              <a:latin typeface="Arial MT"/>
              <a:cs typeface="Arial MT"/>
            </a:endParaRPr>
          </a:p>
          <a:p>
            <a:pPr marL="394970" indent="-331470">
              <a:lnSpc>
                <a:spcPct val="100000"/>
              </a:lnSpc>
              <a:spcBef>
                <a:spcPts val="1190"/>
              </a:spcBef>
              <a:buFont typeface="Wingdings"/>
              <a:buChar char=""/>
              <a:tabLst>
                <a:tab pos="394970" algn="l"/>
                <a:tab pos="3785235" algn="l"/>
              </a:tabLst>
            </a:pPr>
            <a:r>
              <a:rPr dirty="0" sz="2100">
                <a:latin typeface="Arial MT"/>
                <a:cs typeface="Arial MT"/>
              </a:rPr>
              <a:t>So,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i="1">
                <a:solidFill>
                  <a:srgbClr val="FF0000"/>
                </a:solidFill>
                <a:latin typeface="Arial"/>
                <a:cs typeface="Arial"/>
              </a:rPr>
              <a:t>Standard</a:t>
            </a:r>
            <a:r>
              <a:rPr dirty="0" sz="2100" spc="-3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i="1">
                <a:solidFill>
                  <a:srgbClr val="FF0000"/>
                </a:solidFill>
                <a:latin typeface="Arial"/>
                <a:cs typeface="Arial"/>
              </a:rPr>
              <a:t>Deviation</a:t>
            </a:r>
            <a:r>
              <a:rPr dirty="0" sz="2100" i="1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2000">
                <a:latin typeface="Symbol"/>
                <a:cs typeface="Symbol"/>
              </a:rPr>
              <a:t>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100">
                <a:latin typeface="Arial MT"/>
                <a:cs typeface="Arial MT"/>
              </a:rPr>
              <a:t>= </a:t>
            </a:r>
            <a:r>
              <a:rPr dirty="0" sz="1800" spc="-10">
                <a:latin typeface="Arial MT"/>
                <a:cs typeface="Arial MT"/>
              </a:rPr>
              <a:t>sqrt</a:t>
            </a:r>
            <a:r>
              <a:rPr dirty="0" sz="2100" spc="-10">
                <a:latin typeface="Arial MT"/>
                <a:cs typeface="Arial MT"/>
              </a:rPr>
              <a:t>(</a:t>
            </a:r>
            <a:r>
              <a:rPr dirty="0" sz="2000" spc="-10">
                <a:latin typeface="Symbol"/>
                <a:cs typeface="Symbol"/>
              </a:rPr>
              <a:t></a:t>
            </a:r>
            <a:r>
              <a:rPr dirty="0" baseline="25641" sz="1950" spc="-15">
                <a:latin typeface="Arial MT"/>
                <a:cs typeface="Arial MT"/>
              </a:rPr>
              <a:t>2</a:t>
            </a:r>
            <a:r>
              <a:rPr dirty="0" sz="2100" spc="-10">
                <a:latin typeface="Arial MT"/>
                <a:cs typeface="Arial MT"/>
              </a:rPr>
              <a:t>)</a:t>
            </a:r>
            <a:endParaRPr sz="2100">
              <a:latin typeface="Arial MT"/>
              <a:cs typeface="Arial MT"/>
            </a:endParaRPr>
          </a:p>
          <a:p>
            <a:pPr marL="406400">
              <a:lnSpc>
                <a:spcPct val="100000"/>
              </a:lnSpc>
              <a:spcBef>
                <a:spcPts val="10"/>
              </a:spcBef>
            </a:pP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1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Same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6F2F9F"/>
                </a:solidFill>
                <a:latin typeface="Arial MT"/>
                <a:cs typeface="Arial MT"/>
              </a:rPr>
              <a:t>unit</a:t>
            </a:r>
            <a:r>
              <a:rPr dirty="0" sz="1800" spc="-5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mean</a:t>
            </a:r>
            <a:r>
              <a:rPr dirty="0" sz="1800">
                <a:latin typeface="Arial MT"/>
                <a:cs typeface="Arial MT"/>
              </a:rPr>
              <a:t>, so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compare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0" i="1">
                <a:latin typeface="Arial"/>
                <a:cs typeface="Arial"/>
              </a:rPr>
              <a:t>mean</a:t>
            </a:r>
            <a:endParaRPr sz="1800">
              <a:latin typeface="Arial"/>
              <a:cs typeface="Arial"/>
            </a:endParaRPr>
          </a:p>
          <a:p>
            <a:pPr marL="320675" indent="-257175">
              <a:lnSpc>
                <a:spcPct val="100000"/>
              </a:lnSpc>
              <a:spcBef>
                <a:spcPts val="1190"/>
              </a:spcBef>
              <a:buChar char="•"/>
              <a:tabLst>
                <a:tab pos="320675" algn="l"/>
              </a:tabLst>
            </a:pPr>
            <a:r>
              <a:rPr dirty="0" sz="2100">
                <a:latin typeface="Arial MT"/>
                <a:cs typeface="Arial MT"/>
              </a:rPr>
              <a:t>Ratio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i="1">
                <a:latin typeface="Arial"/>
                <a:cs typeface="Arial"/>
              </a:rPr>
              <a:t>standard</a:t>
            </a:r>
            <a:r>
              <a:rPr dirty="0" sz="2100" spc="-45" i="1">
                <a:latin typeface="Arial"/>
                <a:cs typeface="Arial"/>
              </a:rPr>
              <a:t> </a:t>
            </a:r>
            <a:r>
              <a:rPr dirty="0" sz="2100" i="1">
                <a:latin typeface="Arial"/>
                <a:cs typeface="Arial"/>
              </a:rPr>
              <a:t>deviation</a:t>
            </a:r>
            <a:r>
              <a:rPr dirty="0" sz="2100" spc="-50" i="1"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spc="-10" i="1">
                <a:latin typeface="Arial"/>
                <a:cs typeface="Arial"/>
              </a:rPr>
              <a:t>mean</a:t>
            </a:r>
            <a:r>
              <a:rPr dirty="0" sz="2100" spc="-10">
                <a:latin typeface="Arial MT"/>
                <a:cs typeface="Arial MT"/>
              </a:rPr>
              <a:t>?</a:t>
            </a:r>
            <a:endParaRPr sz="2100">
              <a:latin typeface="Arial MT"/>
              <a:cs typeface="Arial MT"/>
            </a:endParaRPr>
          </a:p>
          <a:p>
            <a:pPr lvl="1" marL="621030" indent="-214629">
              <a:lnSpc>
                <a:spcPct val="100000"/>
              </a:lnSpc>
              <a:spcBef>
                <a:spcPts val="15"/>
              </a:spcBef>
              <a:buChar char="–"/>
              <a:tabLst>
                <a:tab pos="621030" algn="l"/>
              </a:tabLst>
            </a:pPr>
            <a:r>
              <a:rPr dirty="0" sz="1800">
                <a:latin typeface="Arial MT"/>
                <a:cs typeface="Arial MT"/>
              </a:rPr>
              <a:t>Called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Coefficient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of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Variation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0">
                <a:latin typeface="Arial MT"/>
                <a:cs typeface="Arial MT"/>
              </a:rPr>
              <a:t>(C.O.V.)</a:t>
            </a:r>
            <a:endParaRPr sz="1800">
              <a:latin typeface="Arial MT"/>
              <a:cs typeface="Arial MT"/>
            </a:endParaRPr>
          </a:p>
          <a:p>
            <a:pPr lvl="1" marL="621030" indent="-214629">
              <a:lnSpc>
                <a:spcPct val="100000"/>
              </a:lnSpc>
              <a:buChar char="–"/>
              <a:tabLst>
                <a:tab pos="621030" algn="l"/>
              </a:tabLst>
            </a:pPr>
            <a:r>
              <a:rPr dirty="0" sz="1800">
                <a:latin typeface="Arial MT"/>
                <a:cs typeface="Arial MT"/>
              </a:rPr>
              <a:t>C.O.V.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=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Symbol"/>
                <a:cs typeface="Symbol"/>
              </a:rPr>
              <a:t>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>
                <a:latin typeface="Arial MT"/>
                <a:cs typeface="Arial MT"/>
              </a:rPr>
              <a:t>/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µ</a:t>
            </a:r>
            <a:endParaRPr sz="1800">
              <a:latin typeface="Arial MT"/>
              <a:cs typeface="Arial MT"/>
            </a:endParaRPr>
          </a:p>
          <a:p>
            <a:pPr lvl="1" marL="621030" indent="-214629">
              <a:lnSpc>
                <a:spcPct val="100000"/>
              </a:lnSpc>
              <a:buChar char="–"/>
              <a:tabLst>
                <a:tab pos="621030" algn="l"/>
              </a:tabLst>
            </a:pPr>
            <a:r>
              <a:rPr dirty="0" sz="1800">
                <a:latin typeface="Arial MT"/>
                <a:cs typeface="Arial MT"/>
              </a:rPr>
              <a:t>Takes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6F2F9F"/>
                </a:solidFill>
                <a:latin typeface="Arial MT"/>
                <a:cs typeface="Arial MT"/>
              </a:rPr>
              <a:t>units</a:t>
            </a:r>
            <a:r>
              <a:rPr dirty="0" sz="1800" spc="-2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out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shows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magnitude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8776" y="2313432"/>
            <a:ext cx="2202179" cy="86258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8776" y="3956303"/>
            <a:ext cx="2202179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694" y="427735"/>
            <a:ext cx="294386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8309">
              <a:lnSpc>
                <a:spcPct val="100000"/>
              </a:lnSpc>
              <a:spcBef>
                <a:spcPts val="100"/>
              </a:spcBef>
            </a:pP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Variance</a:t>
            </a:r>
            <a:r>
              <a:rPr dirty="0" sz="270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5" b="0">
                <a:solidFill>
                  <a:srgbClr val="000000"/>
                </a:solidFill>
                <a:latin typeface="Arial MT"/>
                <a:cs typeface="Arial MT"/>
              </a:rPr>
              <a:t>and </a:t>
            </a: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Standard</a:t>
            </a:r>
            <a:r>
              <a:rPr dirty="0" sz="27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" b="0">
                <a:solidFill>
                  <a:srgbClr val="000000"/>
                </a:solidFill>
                <a:latin typeface="Arial MT"/>
                <a:cs typeface="Arial MT"/>
              </a:rPr>
              <a:t>Deviation</a:t>
            </a:r>
            <a:endParaRPr sz="27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1648967"/>
            <a:ext cx="7403592" cy="47716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Histogram</a:t>
            </a:r>
            <a:r>
              <a:rPr dirty="0" sz="27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b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dirty="0" sz="27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" b="0">
                <a:solidFill>
                  <a:srgbClr val="000000"/>
                </a:solidFill>
                <a:latin typeface="Arial MT"/>
                <a:cs typeface="Arial MT"/>
              </a:rPr>
              <a:t>Box-</a:t>
            </a:r>
            <a:r>
              <a:rPr dirty="0" sz="2700" spc="-20" b="0">
                <a:solidFill>
                  <a:srgbClr val="000000"/>
                </a:solidFill>
                <a:latin typeface="Arial MT"/>
                <a:cs typeface="Arial MT"/>
              </a:rPr>
              <a:t>Plots</a:t>
            </a:r>
            <a:endParaRPr sz="27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91" y="2833116"/>
            <a:ext cx="3774948" cy="32645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19836" y="1419605"/>
            <a:ext cx="8514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Useful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statistical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plots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summarise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variability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7115" y="2407920"/>
            <a:ext cx="4323588" cy="35143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073" rIns="0" bIns="0" rtlCol="0" vert="horz">
            <a:spAutoFit/>
          </a:bodyPr>
          <a:lstStyle/>
          <a:p>
            <a:pPr marL="220345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solidFill>
                  <a:srgbClr val="000000"/>
                </a:solidFill>
                <a:latin typeface="Arial MT"/>
                <a:cs typeface="Arial MT"/>
              </a:rPr>
              <a:t>Population</a:t>
            </a:r>
            <a:r>
              <a:rPr dirty="0" sz="2800" spc="-9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 MT"/>
                <a:cs typeface="Arial MT"/>
              </a:rPr>
              <a:t>versus</a:t>
            </a:r>
            <a:r>
              <a:rPr dirty="0" sz="2800" spc="-10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Arial MT"/>
                <a:cs typeface="Arial MT"/>
              </a:rPr>
              <a:t>Sample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57022" y="1279016"/>
            <a:ext cx="8408670" cy="2922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5"/>
              </a:spcBef>
              <a:buChar char="•"/>
              <a:tabLst>
                <a:tab pos="269875" algn="l"/>
              </a:tabLst>
            </a:pP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Population</a:t>
            </a:r>
            <a:r>
              <a:rPr dirty="0" sz="20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refers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entire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group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individuals,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objects,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or </a:t>
            </a:r>
            <a:r>
              <a:rPr dirty="0" sz="2000">
                <a:latin typeface="Arial MT"/>
                <a:cs typeface="Arial MT"/>
              </a:rPr>
              <a:t>events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being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studied,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while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sample</a:t>
            </a:r>
            <a:r>
              <a:rPr dirty="0" sz="20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subset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population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is </a:t>
            </a:r>
            <a:r>
              <a:rPr dirty="0" sz="2000">
                <a:latin typeface="Arial MT"/>
                <a:cs typeface="Arial MT"/>
              </a:rPr>
              <a:t>used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analysis.</a:t>
            </a:r>
            <a:endParaRPr sz="2000">
              <a:latin typeface="Arial MT"/>
              <a:cs typeface="Arial MT"/>
            </a:endParaRPr>
          </a:p>
          <a:p>
            <a:pPr marL="269875" marR="28003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word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“sample”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comes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root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word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“example”;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one </a:t>
            </a: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sample</a:t>
            </a:r>
            <a:r>
              <a:rPr dirty="0" sz="20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does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prove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theory,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rather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Arial MT"/>
                <a:cs typeface="Arial MT"/>
              </a:rPr>
              <a:t>example.</a:t>
            </a:r>
            <a:endParaRPr sz="2000">
              <a:latin typeface="Arial MT"/>
              <a:cs typeface="Arial MT"/>
            </a:endParaRPr>
          </a:p>
          <a:p>
            <a:pPr marL="269875" marR="205104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Basically,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definite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statement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cannot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made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about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characteristics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 </a:t>
            </a:r>
            <a:r>
              <a:rPr dirty="0" sz="2000">
                <a:latin typeface="Arial MT"/>
                <a:cs typeface="Arial MT"/>
              </a:rPr>
              <a:t>all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systems.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Instead,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make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probabilistic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statement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about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range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 </a:t>
            </a:r>
            <a:r>
              <a:rPr dirty="0" sz="2000">
                <a:latin typeface="Arial MT"/>
                <a:cs typeface="Arial MT"/>
              </a:rPr>
              <a:t>most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i.e.,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i="1">
                <a:latin typeface="Arial"/>
                <a:cs typeface="Arial"/>
              </a:rPr>
              <a:t>Confidence</a:t>
            </a:r>
            <a:r>
              <a:rPr dirty="0" sz="2000" spc="-40" i="1">
                <a:latin typeface="Arial"/>
                <a:cs typeface="Arial"/>
              </a:rPr>
              <a:t> </a:t>
            </a:r>
            <a:r>
              <a:rPr dirty="0" sz="2000" spc="-10" i="1">
                <a:latin typeface="Arial"/>
                <a:cs typeface="Arial"/>
              </a:rPr>
              <a:t>intervals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59" y="4524966"/>
            <a:ext cx="3739749" cy="197794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0858" y="4324051"/>
            <a:ext cx="3369387" cy="20734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784" rIns="0" bIns="0" rtlCol="0" vert="horz">
            <a:spAutoFit/>
          </a:bodyPr>
          <a:lstStyle/>
          <a:p>
            <a:pPr marL="2973705">
              <a:lnSpc>
                <a:spcPct val="100000"/>
              </a:lnSpc>
              <a:spcBef>
                <a:spcPts val="100"/>
              </a:spcBef>
            </a:pPr>
            <a:r>
              <a:rPr dirty="0" sz="2700" spc="-10" b="0">
                <a:solidFill>
                  <a:srgbClr val="000000"/>
                </a:solidFill>
                <a:latin typeface="Arial MT"/>
                <a:cs typeface="Arial MT"/>
              </a:rPr>
              <a:t>Summary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6115" y="1649476"/>
            <a:ext cx="7717155" cy="302577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67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Statistics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tools</a:t>
            </a:r>
            <a:endParaRPr sz="2400">
              <a:latin typeface="Arial MT"/>
              <a:cs typeface="Arial MT"/>
            </a:endParaRPr>
          </a:p>
          <a:p>
            <a:pPr lvl="1" marL="568960" indent="-213995">
              <a:lnSpc>
                <a:spcPct val="100000"/>
              </a:lnSpc>
              <a:spcBef>
                <a:spcPts val="580"/>
              </a:spcBef>
              <a:buChar char="–"/>
              <a:tabLst>
                <a:tab pos="568960" algn="l"/>
              </a:tabLst>
            </a:pPr>
            <a:r>
              <a:rPr dirty="0" sz="2400">
                <a:latin typeface="Arial MT"/>
                <a:cs typeface="Arial MT"/>
              </a:rPr>
              <a:t>Help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draw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conclusions</a:t>
            </a:r>
            <a:endParaRPr sz="2400">
              <a:latin typeface="Arial MT"/>
              <a:cs typeface="Arial MT"/>
            </a:endParaRPr>
          </a:p>
          <a:p>
            <a:pPr lvl="1" marL="568960" indent="-213995">
              <a:lnSpc>
                <a:spcPct val="100000"/>
              </a:lnSpc>
              <a:spcBef>
                <a:spcPts val="575"/>
              </a:spcBef>
              <a:buChar char="–"/>
              <a:tabLst>
                <a:tab pos="568960" algn="l"/>
              </a:tabLst>
            </a:pPr>
            <a:r>
              <a:rPr dirty="0" sz="2400">
                <a:latin typeface="Arial MT"/>
                <a:cs typeface="Arial MT"/>
              </a:rPr>
              <a:t>Summarize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meaningful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presence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noise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70"/>
              </a:spcBef>
              <a:buFont typeface="Arial MT"/>
              <a:buChar char="–"/>
            </a:pP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Indices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central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tendency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Indices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central</a:t>
            </a:r>
            <a:endParaRPr sz="2400">
              <a:latin typeface="Arial MT"/>
              <a:cs typeface="Arial MT"/>
            </a:endParaRPr>
          </a:p>
          <a:p>
            <a:pPr marL="269875">
              <a:lnSpc>
                <a:spcPct val="100000"/>
              </a:lnSpc>
            </a:pPr>
            <a:r>
              <a:rPr dirty="0" sz="2400" spc="-10">
                <a:latin typeface="Arial MT"/>
                <a:cs typeface="Arial MT"/>
              </a:rPr>
              <a:t>dispersion</a:t>
            </a:r>
            <a:endParaRPr sz="2400">
              <a:latin typeface="Arial MT"/>
              <a:cs typeface="Arial MT"/>
            </a:endParaRPr>
          </a:p>
          <a:p>
            <a:pPr lvl="1" marL="568960" indent="-213995">
              <a:lnSpc>
                <a:spcPct val="100000"/>
              </a:lnSpc>
              <a:spcBef>
                <a:spcPts val="575"/>
              </a:spcBef>
              <a:buChar char="–"/>
              <a:tabLst>
                <a:tab pos="568960" algn="l"/>
              </a:tabLst>
            </a:pPr>
            <a:r>
              <a:rPr dirty="0" sz="2400">
                <a:latin typeface="Arial MT"/>
                <a:cs typeface="Arial MT"/>
              </a:rPr>
              <a:t>Summarize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few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numbers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259" rIns="0" bIns="0" rtlCol="0" vert="horz">
            <a:spAutoFit/>
          </a:bodyPr>
          <a:lstStyle/>
          <a:p>
            <a:pPr marL="2897505" marR="5080" indent="-315595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solidFill>
                  <a:srgbClr val="000000"/>
                </a:solidFill>
                <a:latin typeface="Arial MT"/>
                <a:cs typeface="Arial MT"/>
              </a:rPr>
              <a:t>Statistical</a:t>
            </a:r>
            <a:r>
              <a:rPr dirty="0" sz="2800" spc="-1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00" b="0">
                <a:solidFill>
                  <a:srgbClr val="000000"/>
                </a:solidFill>
                <a:latin typeface="Arial MT"/>
                <a:cs typeface="Arial MT"/>
              </a:rPr>
              <a:t>Modelling</a:t>
            </a:r>
            <a:r>
              <a:rPr dirty="0" sz="2800" spc="-1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00" spc="-50" b="0">
                <a:solidFill>
                  <a:srgbClr val="000000"/>
                </a:solidFill>
                <a:latin typeface="Arial MT"/>
                <a:cs typeface="Arial MT"/>
              </a:rPr>
              <a:t>/ </a:t>
            </a:r>
            <a:r>
              <a:rPr dirty="0" sz="2800" b="0">
                <a:solidFill>
                  <a:srgbClr val="000000"/>
                </a:solidFill>
                <a:latin typeface="Arial MT"/>
                <a:cs typeface="Arial MT"/>
              </a:rPr>
              <a:t>Machine</a:t>
            </a:r>
            <a:r>
              <a:rPr dirty="0" sz="2800" spc="-9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34315" marR="314960" indent="-2578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4950" algn="l"/>
              </a:tabLst>
            </a:pPr>
            <a:r>
              <a:rPr dirty="0" sz="2000" b="1">
                <a:solidFill>
                  <a:srgbClr val="EE1828"/>
                </a:solidFill>
                <a:latin typeface="Arial"/>
                <a:cs typeface="Arial"/>
              </a:rPr>
              <a:t>Statistical</a:t>
            </a:r>
            <a:r>
              <a:rPr dirty="0" sz="2000" spc="-8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EE1828"/>
                </a:solidFill>
                <a:latin typeface="Arial"/>
                <a:cs typeface="Arial"/>
              </a:rPr>
              <a:t>modelling</a:t>
            </a:r>
            <a:r>
              <a:rPr dirty="0" sz="2000" spc="-30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000"/>
              <a:t>is</a:t>
            </a:r>
            <a:r>
              <a:rPr dirty="0" sz="2000" spc="-40"/>
              <a:t> </a:t>
            </a:r>
            <a:r>
              <a:rPr dirty="0" sz="2000"/>
              <a:t>the</a:t>
            </a:r>
            <a:r>
              <a:rPr dirty="0" sz="2000" spc="-45"/>
              <a:t> </a:t>
            </a:r>
            <a:r>
              <a:rPr dirty="0" sz="2000"/>
              <a:t>formalization</a:t>
            </a:r>
            <a:r>
              <a:rPr dirty="0" sz="2000" spc="-55"/>
              <a:t> </a:t>
            </a:r>
            <a:r>
              <a:rPr dirty="0" sz="2000"/>
              <a:t>of</a:t>
            </a:r>
            <a:r>
              <a:rPr dirty="0" sz="2000" spc="-45"/>
              <a:t> </a:t>
            </a:r>
            <a:r>
              <a:rPr dirty="0" sz="2000"/>
              <a:t>relationships</a:t>
            </a:r>
            <a:r>
              <a:rPr dirty="0" sz="2000" spc="-50"/>
              <a:t> </a:t>
            </a:r>
            <a:r>
              <a:rPr dirty="0" sz="2000" spc="-10"/>
              <a:t>between </a:t>
            </a:r>
            <a:r>
              <a:rPr dirty="0" sz="2000"/>
              <a:t>variables</a:t>
            </a:r>
            <a:r>
              <a:rPr dirty="0" sz="2000" spc="-30"/>
              <a:t> </a:t>
            </a:r>
            <a:r>
              <a:rPr dirty="0" sz="2000"/>
              <a:t>in</a:t>
            </a:r>
            <a:r>
              <a:rPr dirty="0" sz="2000" spc="-15"/>
              <a:t> </a:t>
            </a:r>
            <a:r>
              <a:rPr dirty="0" sz="2000"/>
              <a:t>the</a:t>
            </a:r>
            <a:r>
              <a:rPr dirty="0" sz="2000" spc="-30"/>
              <a:t> </a:t>
            </a:r>
            <a:r>
              <a:rPr dirty="0" sz="2000"/>
              <a:t>form</a:t>
            </a:r>
            <a:r>
              <a:rPr dirty="0" sz="2000" spc="-40"/>
              <a:t> </a:t>
            </a:r>
            <a:r>
              <a:rPr dirty="0" sz="2000"/>
              <a:t>of</a:t>
            </a:r>
            <a:r>
              <a:rPr dirty="0" sz="2000" spc="-35"/>
              <a:t> </a:t>
            </a:r>
            <a:r>
              <a:rPr dirty="0" sz="2000"/>
              <a:t>mathematical</a:t>
            </a:r>
            <a:r>
              <a:rPr dirty="0" sz="2000" spc="-45"/>
              <a:t> </a:t>
            </a:r>
            <a:r>
              <a:rPr dirty="0" sz="2000" spc="-10"/>
              <a:t>equations.</a:t>
            </a:r>
            <a:endParaRPr sz="2000">
              <a:latin typeface="Arial"/>
              <a:cs typeface="Arial"/>
            </a:endParaRPr>
          </a:p>
          <a:p>
            <a:pPr marL="234315" indent="-25717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34950" algn="l"/>
              </a:tabLst>
            </a:pPr>
            <a:r>
              <a:rPr dirty="0" sz="2000" b="1">
                <a:solidFill>
                  <a:srgbClr val="EE1828"/>
                </a:solidFill>
                <a:latin typeface="Arial"/>
                <a:cs typeface="Arial"/>
              </a:rPr>
              <a:t>Machine</a:t>
            </a:r>
            <a:r>
              <a:rPr dirty="0" sz="2000" spc="-5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EE1828"/>
                </a:solidFill>
                <a:latin typeface="Arial"/>
                <a:cs typeface="Arial"/>
              </a:rPr>
              <a:t>learning</a:t>
            </a:r>
            <a:r>
              <a:rPr dirty="0" sz="2000" spc="-3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000"/>
              <a:t>is</a:t>
            </a:r>
            <a:r>
              <a:rPr dirty="0" sz="2000" spc="-20"/>
              <a:t> </a:t>
            </a:r>
            <a:r>
              <a:rPr dirty="0" sz="2000"/>
              <a:t>an</a:t>
            </a:r>
            <a:r>
              <a:rPr dirty="0" sz="2000" spc="-35"/>
              <a:t> </a:t>
            </a:r>
            <a:r>
              <a:rPr dirty="0" sz="2000"/>
              <a:t>algorithm</a:t>
            </a:r>
            <a:r>
              <a:rPr dirty="0" sz="2000" spc="-50"/>
              <a:t> </a:t>
            </a:r>
            <a:r>
              <a:rPr dirty="0" sz="2000"/>
              <a:t>to</a:t>
            </a:r>
            <a:r>
              <a:rPr dirty="0" sz="2000" spc="-30"/>
              <a:t> </a:t>
            </a:r>
            <a:r>
              <a:rPr dirty="0" sz="2000"/>
              <a:t>optimize</a:t>
            </a:r>
            <a:r>
              <a:rPr dirty="0" sz="2000" spc="-50"/>
              <a:t> </a:t>
            </a:r>
            <a:r>
              <a:rPr dirty="0" sz="2000"/>
              <a:t>a</a:t>
            </a:r>
            <a:r>
              <a:rPr dirty="0" sz="2000" spc="-15"/>
              <a:t> </a:t>
            </a:r>
            <a:r>
              <a:rPr dirty="0" sz="2000"/>
              <a:t>performance</a:t>
            </a:r>
            <a:r>
              <a:rPr dirty="0" sz="2000" spc="-65"/>
              <a:t> </a:t>
            </a:r>
            <a:r>
              <a:rPr dirty="0" sz="2000" spc="-10"/>
              <a:t>criterion</a:t>
            </a:r>
            <a:endParaRPr sz="20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</a:pPr>
            <a:r>
              <a:rPr dirty="0" sz="2000"/>
              <a:t>using</a:t>
            </a:r>
            <a:r>
              <a:rPr dirty="0" sz="2000" spc="-30"/>
              <a:t> </a:t>
            </a:r>
            <a:r>
              <a:rPr dirty="0" sz="2000"/>
              <a:t>data</a:t>
            </a:r>
            <a:r>
              <a:rPr dirty="0" sz="2000" spc="-25"/>
              <a:t> </a:t>
            </a:r>
            <a:r>
              <a:rPr dirty="0" sz="2000"/>
              <a:t>of</a:t>
            </a:r>
            <a:r>
              <a:rPr dirty="0" sz="2000" spc="-30"/>
              <a:t> </a:t>
            </a:r>
            <a:r>
              <a:rPr dirty="0" sz="2000"/>
              <a:t>particular</a:t>
            </a:r>
            <a:r>
              <a:rPr dirty="0" sz="2000" spc="-45"/>
              <a:t> </a:t>
            </a:r>
            <a:r>
              <a:rPr dirty="0" sz="2000" spc="-10"/>
              <a:t>examples.</a:t>
            </a:r>
            <a:endParaRPr sz="2000"/>
          </a:p>
          <a:p>
            <a:pPr marL="234315" indent="-25717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34950" algn="l"/>
              </a:tabLst>
            </a:pPr>
            <a:r>
              <a:rPr dirty="0" sz="2000" b="1">
                <a:solidFill>
                  <a:srgbClr val="00AF50"/>
                </a:solidFill>
                <a:latin typeface="Arial"/>
                <a:cs typeface="Arial"/>
              </a:rPr>
              <a:t>Machine</a:t>
            </a:r>
            <a:r>
              <a:rPr dirty="0" sz="2000" spc="-60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AF50"/>
                </a:solidFill>
                <a:latin typeface="Arial"/>
                <a:cs typeface="Arial"/>
              </a:rPr>
              <a:t>learning</a:t>
            </a:r>
            <a:r>
              <a:rPr dirty="0" sz="2000" spc="-35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000"/>
              <a:t>relies</a:t>
            </a:r>
            <a:r>
              <a:rPr dirty="0" sz="2000" spc="-35"/>
              <a:t> </a:t>
            </a:r>
            <a:r>
              <a:rPr dirty="0" sz="2000"/>
              <a:t>on</a:t>
            </a:r>
            <a:r>
              <a:rPr dirty="0" sz="2000" spc="-30"/>
              <a:t> </a:t>
            </a:r>
            <a:r>
              <a:rPr dirty="0" sz="2000" b="1">
                <a:solidFill>
                  <a:srgbClr val="00AF50"/>
                </a:solidFill>
                <a:latin typeface="Arial"/>
                <a:cs typeface="Arial"/>
              </a:rPr>
              <a:t>Statistical</a:t>
            </a:r>
            <a:r>
              <a:rPr dirty="0" sz="2000" spc="-65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AF50"/>
                </a:solidFill>
                <a:latin typeface="Arial"/>
                <a:cs typeface="Arial"/>
              </a:rPr>
              <a:t>modelling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69" y="4338290"/>
            <a:ext cx="7893286" cy="13292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5270" rIns="0" bIns="0" rtlCol="0" vert="horz">
            <a:spAutoFit/>
          </a:bodyPr>
          <a:lstStyle/>
          <a:p>
            <a:pPr marL="23495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52573"/>
                </a:solidFill>
                <a:latin typeface="Arial"/>
                <a:cs typeface="Arial"/>
              </a:rPr>
              <a:t>ML/Statistical</a:t>
            </a:r>
            <a:r>
              <a:rPr dirty="0" sz="2700" spc="-2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52573"/>
                </a:solidFill>
                <a:latin typeface="Arial"/>
                <a:cs typeface="Arial"/>
              </a:rPr>
              <a:t>Modelling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6115" y="1521078"/>
            <a:ext cx="7553959" cy="4453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64770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fewer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assumptions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predictive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higher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will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predictive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power.</a:t>
            </a:r>
            <a:endParaRPr sz="2400">
              <a:latin typeface="Arial MT"/>
              <a:cs typeface="Arial MT"/>
            </a:endParaRPr>
          </a:p>
          <a:p>
            <a:pPr marL="269875" marR="857250" indent="-25781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Machine</a:t>
            </a:r>
            <a:r>
              <a:rPr dirty="0" sz="2400" spc="-5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Learning</a:t>
            </a:r>
            <a:r>
              <a:rPr dirty="0" sz="2400" spc="-5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name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suggest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needs </a:t>
            </a:r>
            <a:r>
              <a:rPr dirty="0" sz="2400">
                <a:latin typeface="Arial MT"/>
                <a:cs typeface="Arial MT"/>
              </a:rPr>
              <a:t>minimal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human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effort.</a:t>
            </a:r>
            <a:endParaRPr sz="2400">
              <a:latin typeface="Arial MT"/>
              <a:cs typeface="Arial MT"/>
            </a:endParaRPr>
          </a:p>
          <a:p>
            <a:pPr lvl="1" marL="569595" indent="-214629">
              <a:lnSpc>
                <a:spcPct val="100000"/>
              </a:lnSpc>
              <a:spcBef>
                <a:spcPts val="445"/>
              </a:spcBef>
              <a:buChar char="–"/>
              <a:tabLst>
                <a:tab pos="569595" algn="l"/>
              </a:tabLst>
            </a:pPr>
            <a:r>
              <a:rPr dirty="0" sz="1800">
                <a:latin typeface="Arial MT"/>
                <a:cs typeface="Arial MT"/>
              </a:rPr>
              <a:t>Machine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learning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works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iterations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where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computer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tries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out</a:t>
            </a:r>
            <a:endParaRPr sz="1800">
              <a:latin typeface="Arial MT"/>
              <a:cs typeface="Arial MT"/>
            </a:endParaRPr>
          </a:p>
          <a:p>
            <a:pPr marL="57023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Arial MT"/>
                <a:cs typeface="Arial MT"/>
              </a:rPr>
              <a:t>patterns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hidden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  <a:p>
            <a:pPr lvl="1" marL="570230" marR="410845" indent="-215265">
              <a:lnSpc>
                <a:spcPct val="100000"/>
              </a:lnSpc>
              <a:spcBef>
                <a:spcPts val="430"/>
              </a:spcBef>
              <a:buChar char="–"/>
              <a:tabLst>
                <a:tab pos="570230" algn="l"/>
              </a:tabLst>
            </a:pPr>
            <a:r>
              <a:rPr dirty="0" sz="1800">
                <a:latin typeface="Arial MT"/>
                <a:cs typeface="Arial MT"/>
              </a:rPr>
              <a:t>Because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machine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does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work 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comprehensive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is </a:t>
            </a:r>
            <a:r>
              <a:rPr dirty="0" sz="1800">
                <a:latin typeface="Arial MT"/>
                <a:cs typeface="Arial MT"/>
              </a:rPr>
              <a:t>independent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assumptions,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predictive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power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very </a:t>
            </a:r>
            <a:r>
              <a:rPr dirty="0" sz="1800">
                <a:latin typeface="Arial MT"/>
                <a:cs typeface="Arial MT"/>
              </a:rPr>
              <a:t>strong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these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models.</a:t>
            </a:r>
            <a:endParaRPr sz="1800">
              <a:latin typeface="Arial MT"/>
              <a:cs typeface="Arial MT"/>
            </a:endParaRPr>
          </a:p>
          <a:p>
            <a:pPr marL="269875" marR="95250" indent="-25781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Statistical</a:t>
            </a:r>
            <a:r>
              <a:rPr dirty="0" sz="2400" spc="-100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modelling</a:t>
            </a:r>
            <a:r>
              <a:rPr dirty="0" sz="2400" spc="-110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intensive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based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coefficient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estimation.</a:t>
            </a:r>
            <a:endParaRPr sz="2400">
              <a:latin typeface="Arial MT"/>
              <a:cs typeface="Arial MT"/>
            </a:endParaRPr>
          </a:p>
          <a:p>
            <a:pPr lvl="1" marL="570230" marR="133985" indent="-215265">
              <a:lnSpc>
                <a:spcPct val="100000"/>
              </a:lnSpc>
              <a:spcBef>
                <a:spcPts val="445"/>
              </a:spcBef>
              <a:buChar char="–"/>
              <a:tabLst>
                <a:tab pos="570230" algn="l"/>
              </a:tabLst>
            </a:pP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requires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modeler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understand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relation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between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variables </a:t>
            </a:r>
            <a:r>
              <a:rPr dirty="0" sz="1800">
                <a:latin typeface="Arial MT"/>
                <a:cs typeface="Arial MT"/>
              </a:rPr>
              <a:t>before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putting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them</a:t>
            </a:r>
            <a:r>
              <a:rPr dirty="0" sz="1800" spc="-25">
                <a:latin typeface="Arial MT"/>
                <a:cs typeface="Arial MT"/>
              </a:rPr>
              <a:t> in.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784" rIns="0" bIns="0" rtlCol="0" vert="horz">
            <a:spAutoFit/>
          </a:bodyPr>
          <a:lstStyle/>
          <a:p>
            <a:pPr marL="208788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52573"/>
                </a:solidFill>
                <a:latin typeface="Arial"/>
                <a:cs typeface="Arial"/>
              </a:rPr>
              <a:t>Predictive</a:t>
            </a:r>
            <a:r>
              <a:rPr dirty="0" sz="2700" spc="-10">
                <a:solidFill>
                  <a:srgbClr val="252573"/>
                </a:solidFill>
                <a:latin typeface="Arial"/>
                <a:cs typeface="Arial"/>
              </a:rPr>
              <a:t> Modeling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75766" y="1579880"/>
            <a:ext cx="6974205" cy="4599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marR="286385" indent="-257810">
              <a:lnSpc>
                <a:spcPct val="100000"/>
              </a:lnSpc>
              <a:spcBef>
                <a:spcPts val="105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There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common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principle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underlies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all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supervised </a:t>
            </a:r>
            <a:r>
              <a:rPr dirty="0" sz="2000">
                <a:latin typeface="Arial MT"/>
                <a:cs typeface="Arial MT"/>
              </a:rPr>
              <a:t>machine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learning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algorithms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predictive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modeling.</a:t>
            </a:r>
            <a:endParaRPr sz="2000">
              <a:latin typeface="Arial MT"/>
              <a:cs typeface="Arial MT"/>
            </a:endParaRPr>
          </a:p>
          <a:p>
            <a:pPr marL="269875" marR="29908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Machine</a:t>
            </a:r>
            <a:r>
              <a:rPr dirty="0" sz="2000" spc="-3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learning</a:t>
            </a:r>
            <a:r>
              <a:rPr dirty="0" sz="2000" spc="-2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algorithms</a:t>
            </a:r>
            <a:r>
              <a:rPr dirty="0" sz="20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are</a:t>
            </a:r>
            <a:r>
              <a:rPr dirty="0" sz="2000" spc="-2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described</a:t>
            </a:r>
            <a:r>
              <a:rPr dirty="0" sz="2000" spc="-5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as</a:t>
            </a:r>
            <a:r>
              <a:rPr dirty="0" sz="2000" spc="-2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learning</a:t>
            </a:r>
            <a:r>
              <a:rPr dirty="0" sz="2000" spc="-1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006FC0"/>
                </a:solidFill>
                <a:latin typeface="Arial MT"/>
                <a:cs typeface="Arial MT"/>
              </a:rPr>
              <a:t>a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target</a:t>
            </a:r>
            <a:r>
              <a:rPr dirty="0" sz="2000" spc="-3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function</a:t>
            </a:r>
            <a:r>
              <a:rPr dirty="0" sz="2000" spc="-3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(f)</a:t>
            </a:r>
            <a:r>
              <a:rPr dirty="0" sz="2000" spc="-2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that</a:t>
            </a:r>
            <a:r>
              <a:rPr dirty="0" sz="2000" spc="-3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best</a:t>
            </a:r>
            <a:r>
              <a:rPr dirty="0" sz="2000" spc="-3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maps</a:t>
            </a:r>
            <a:r>
              <a:rPr dirty="0" sz="2000" spc="-1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input</a:t>
            </a:r>
            <a:r>
              <a:rPr dirty="0" sz="2000" spc="-2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variables</a:t>
            </a:r>
            <a:r>
              <a:rPr dirty="0" sz="2000" spc="-2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(X)</a:t>
            </a:r>
            <a:r>
              <a:rPr dirty="0" sz="2000" spc="-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006FC0"/>
                </a:solidFill>
                <a:latin typeface="Arial MT"/>
                <a:cs typeface="Arial MT"/>
              </a:rPr>
              <a:t>an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output</a:t>
            </a:r>
            <a:r>
              <a:rPr dirty="0" sz="2000" spc="-7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variable</a:t>
            </a:r>
            <a:r>
              <a:rPr dirty="0" sz="2000" spc="-2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C00000"/>
                </a:solidFill>
                <a:latin typeface="Arial MT"/>
                <a:cs typeface="Arial MT"/>
              </a:rPr>
              <a:t>(Y)</a:t>
            </a:r>
            <a:endParaRPr sz="2000">
              <a:latin typeface="Arial MT"/>
              <a:cs typeface="Arial MT"/>
            </a:endParaRPr>
          </a:p>
          <a:p>
            <a:pPr algn="ctr" marR="585470">
              <a:lnSpc>
                <a:spcPct val="100000"/>
              </a:lnSpc>
              <a:spcBef>
                <a:spcPts val="1805"/>
              </a:spcBef>
            </a:pP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Y</a:t>
            </a:r>
            <a:r>
              <a:rPr dirty="0" sz="2000" spc="-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=</a:t>
            </a:r>
            <a:r>
              <a:rPr dirty="0" sz="2000" spc="-20">
                <a:solidFill>
                  <a:srgbClr val="C00000"/>
                </a:solidFill>
                <a:latin typeface="Arial MT"/>
                <a:cs typeface="Arial MT"/>
              </a:rPr>
              <a:t> f(X)</a:t>
            </a:r>
            <a:endParaRPr sz="20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general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learning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task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where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would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like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make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predictions</a:t>
            </a:r>
            <a:r>
              <a:rPr dirty="0" sz="2000" spc="-5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in</a:t>
            </a:r>
            <a:r>
              <a:rPr dirty="0" sz="2000" spc="-1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future</a:t>
            </a:r>
            <a:r>
              <a:rPr dirty="0" sz="2000" spc="-3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(Y</a:t>
            </a:r>
            <a:r>
              <a:rPr dirty="0" sz="2000">
                <a:latin typeface="Arial MT"/>
                <a:cs typeface="Arial MT"/>
              </a:rPr>
              <a:t>)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given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examples</a:t>
            </a:r>
            <a:r>
              <a:rPr dirty="0" sz="2000" spc="-4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dirty="0" sz="2000" spc="-4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Arial MT"/>
                <a:cs typeface="Arial MT"/>
              </a:rPr>
              <a:t>input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variables</a:t>
            </a:r>
            <a:r>
              <a:rPr dirty="0" sz="2000" spc="-1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C00000"/>
                </a:solidFill>
                <a:latin typeface="Arial MT"/>
                <a:cs typeface="Arial MT"/>
              </a:rPr>
              <a:t>(X)</a:t>
            </a:r>
            <a:endParaRPr sz="2000">
              <a:latin typeface="Arial MT"/>
              <a:cs typeface="Arial MT"/>
            </a:endParaRPr>
          </a:p>
          <a:p>
            <a:pPr marL="269875" marR="15113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don't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know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what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function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(f)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looks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like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form.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If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did,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would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directly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would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need</a:t>
            </a:r>
            <a:r>
              <a:rPr dirty="0" sz="2000" spc="-25">
                <a:latin typeface="Arial MT"/>
                <a:cs typeface="Arial MT"/>
              </a:rPr>
              <a:t> to </a:t>
            </a:r>
            <a:r>
              <a:rPr dirty="0" sz="2000">
                <a:latin typeface="Arial MT"/>
                <a:cs typeface="Arial MT"/>
              </a:rPr>
              <a:t>learn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machine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learning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algorithms.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457" rIns="0" bIns="0" rtlCol="0" vert="horz">
            <a:spAutoFit/>
          </a:bodyPr>
          <a:lstStyle/>
          <a:p>
            <a:pPr marL="923925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z="320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Perils</a:t>
            </a:r>
            <a:r>
              <a:rPr dirty="0" sz="32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z="32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Forecasting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94612" y="1420113"/>
            <a:ext cx="7040880" cy="4892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 MT"/>
                <a:cs typeface="Arial MT"/>
              </a:rPr>
              <a:t>Nobel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Laureate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Physicist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Niels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Bohr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said:</a:t>
            </a:r>
            <a:endParaRPr sz="2200">
              <a:latin typeface="Arial MT"/>
              <a:cs typeface="Arial MT"/>
            </a:endParaRPr>
          </a:p>
          <a:p>
            <a:pPr marL="323215">
              <a:lnSpc>
                <a:spcPct val="100000"/>
              </a:lnSpc>
              <a:spcBef>
                <a:spcPts val="1720"/>
              </a:spcBef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“Prediction</a:t>
            </a:r>
            <a:r>
              <a:rPr dirty="0" sz="18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8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very</a:t>
            </a:r>
            <a:r>
              <a:rPr dirty="0" sz="18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difficult,</a:t>
            </a:r>
            <a:r>
              <a:rPr dirty="0" sz="1800" spc="-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especially</a:t>
            </a:r>
            <a:r>
              <a:rPr dirty="0" sz="18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dirty="0" sz="18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it’s</a:t>
            </a:r>
            <a:r>
              <a:rPr dirty="0" sz="1800" spc="-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about</a:t>
            </a:r>
            <a:r>
              <a:rPr dirty="0" sz="18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8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future.”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dirty="0" sz="1900">
                <a:latin typeface="Arial MT"/>
                <a:cs typeface="Arial MT"/>
              </a:rPr>
              <a:t>Henri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Poincare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was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more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positive:</a:t>
            </a:r>
            <a:endParaRPr sz="1900">
              <a:latin typeface="Arial MT"/>
              <a:cs typeface="Arial MT"/>
            </a:endParaRPr>
          </a:p>
          <a:p>
            <a:pPr marL="373380" marR="1840864" indent="-94615">
              <a:lnSpc>
                <a:spcPct val="112400"/>
              </a:lnSpc>
              <a:spcBef>
                <a:spcPts val="1235"/>
              </a:spcBef>
            </a:pP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“It</a:t>
            </a:r>
            <a:r>
              <a:rPr dirty="0" sz="1700" spc="-1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is</a:t>
            </a:r>
            <a:r>
              <a:rPr dirty="0" sz="1700" spc="-1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far</a:t>
            </a:r>
            <a:r>
              <a:rPr dirty="0" sz="1700" spc="-1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better</a:t>
            </a:r>
            <a:r>
              <a:rPr dirty="0" sz="1700" spc="-2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to</a:t>
            </a:r>
            <a:r>
              <a:rPr dirty="0" sz="1700" spc="-2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foresee</a:t>
            </a:r>
            <a:r>
              <a:rPr dirty="0" sz="1700" spc="-1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even</a:t>
            </a:r>
            <a:r>
              <a:rPr dirty="0" sz="1700" spc="-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without</a:t>
            </a:r>
            <a:r>
              <a:rPr dirty="0" sz="1700" spc="-5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008000"/>
                </a:solidFill>
                <a:latin typeface="Arial"/>
                <a:cs typeface="Arial"/>
              </a:rPr>
              <a:t>certainty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than</a:t>
            </a:r>
            <a:r>
              <a:rPr dirty="0" sz="1700" spc="-1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not</a:t>
            </a:r>
            <a:r>
              <a:rPr dirty="0" sz="1700" spc="-2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to</a:t>
            </a:r>
            <a:r>
              <a:rPr dirty="0" sz="1700" spc="-1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foresee</a:t>
            </a:r>
            <a:r>
              <a:rPr dirty="0" sz="1700" spc="-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8000"/>
                </a:solidFill>
                <a:latin typeface="Arial"/>
                <a:cs typeface="Arial"/>
              </a:rPr>
              <a:t>at</a:t>
            </a:r>
            <a:r>
              <a:rPr dirty="0" sz="1700" spc="-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008000"/>
                </a:solidFill>
                <a:latin typeface="Arial"/>
                <a:cs typeface="Arial"/>
              </a:rPr>
              <a:t>all.”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Arial MT"/>
                <a:cs typeface="Arial MT"/>
              </a:rPr>
              <a:t>Anonymous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quotes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about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perils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forecasting:</a:t>
            </a:r>
            <a:endParaRPr sz="2200">
              <a:latin typeface="Arial MT"/>
              <a:cs typeface="Arial MT"/>
            </a:endParaRPr>
          </a:p>
          <a:p>
            <a:pPr marL="393065" marR="1262380" indent="-70485">
              <a:lnSpc>
                <a:spcPct val="114399"/>
              </a:lnSpc>
              <a:spcBef>
                <a:spcPts val="1405"/>
              </a:spcBef>
            </a:pP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“Forecasting</a:t>
            </a:r>
            <a:r>
              <a:rPr dirty="0" sz="1800" spc="-20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is</a:t>
            </a:r>
            <a:r>
              <a:rPr dirty="0" sz="1800" spc="-20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the</a:t>
            </a:r>
            <a:r>
              <a:rPr dirty="0" sz="1800" spc="-25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art</a:t>
            </a:r>
            <a:r>
              <a:rPr dirty="0" sz="1800" spc="-10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of</a:t>
            </a:r>
            <a:r>
              <a:rPr dirty="0" sz="1800" spc="-20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saying</a:t>
            </a:r>
            <a:r>
              <a:rPr dirty="0" sz="1800" spc="-15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what</a:t>
            </a:r>
            <a:r>
              <a:rPr dirty="0" sz="1800" spc="-50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will</a:t>
            </a:r>
            <a:r>
              <a:rPr dirty="0" sz="1800" spc="-55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993300"/>
                </a:solidFill>
                <a:latin typeface="Arial"/>
                <a:cs typeface="Arial"/>
              </a:rPr>
              <a:t>happen,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and</a:t>
            </a:r>
            <a:r>
              <a:rPr dirty="0" sz="1800" spc="-20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then</a:t>
            </a:r>
            <a:r>
              <a:rPr dirty="0" sz="1800" spc="-15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explaining</a:t>
            </a:r>
            <a:r>
              <a:rPr dirty="0" sz="1800" spc="-30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why</a:t>
            </a:r>
            <a:r>
              <a:rPr dirty="0" sz="1800" spc="-55" b="1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3300"/>
                </a:solidFill>
                <a:latin typeface="Arial"/>
                <a:cs typeface="Arial"/>
              </a:rPr>
              <a:t>it</a:t>
            </a:r>
            <a:r>
              <a:rPr dirty="0" sz="1800" spc="-10" b="1">
                <a:solidFill>
                  <a:srgbClr val="993300"/>
                </a:solidFill>
                <a:latin typeface="Arial"/>
                <a:cs typeface="Arial"/>
              </a:rPr>
              <a:t> didn’t.”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800">
              <a:latin typeface="Arial"/>
              <a:cs typeface="Arial"/>
            </a:endParaRPr>
          </a:p>
          <a:p>
            <a:pPr marL="393065">
              <a:lnSpc>
                <a:spcPct val="100000"/>
              </a:lnSpc>
            </a:pPr>
            <a:r>
              <a:rPr dirty="0" sz="1800" b="1">
                <a:solidFill>
                  <a:srgbClr val="9900CC"/>
                </a:solidFill>
                <a:latin typeface="Arial"/>
                <a:cs typeface="Arial"/>
              </a:rPr>
              <a:t>“There</a:t>
            </a:r>
            <a:r>
              <a:rPr dirty="0" sz="1800" spc="-20" b="1">
                <a:solidFill>
                  <a:srgbClr val="9900C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00CC"/>
                </a:solidFill>
                <a:latin typeface="Arial"/>
                <a:cs typeface="Arial"/>
              </a:rPr>
              <a:t>are</a:t>
            </a:r>
            <a:r>
              <a:rPr dirty="0" sz="1800" spc="-15" b="1">
                <a:solidFill>
                  <a:srgbClr val="9900C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00CC"/>
                </a:solidFill>
                <a:latin typeface="Arial"/>
                <a:cs typeface="Arial"/>
              </a:rPr>
              <a:t>two</a:t>
            </a:r>
            <a:r>
              <a:rPr dirty="0" sz="1800" spc="-50" b="1">
                <a:solidFill>
                  <a:srgbClr val="9900C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00CC"/>
                </a:solidFill>
                <a:latin typeface="Arial"/>
                <a:cs typeface="Arial"/>
              </a:rPr>
              <a:t>kinds</a:t>
            </a:r>
            <a:r>
              <a:rPr dirty="0" sz="1800" spc="-35" b="1">
                <a:solidFill>
                  <a:srgbClr val="9900C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00CC"/>
                </a:solidFill>
                <a:latin typeface="Arial"/>
                <a:cs typeface="Arial"/>
              </a:rPr>
              <a:t>of</a:t>
            </a:r>
            <a:r>
              <a:rPr dirty="0" sz="1800" spc="-20" b="1">
                <a:solidFill>
                  <a:srgbClr val="9900C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00CC"/>
                </a:solidFill>
                <a:latin typeface="Arial"/>
                <a:cs typeface="Arial"/>
              </a:rPr>
              <a:t>forecasts:</a:t>
            </a:r>
            <a:r>
              <a:rPr dirty="0" sz="1800" spc="5" b="1">
                <a:solidFill>
                  <a:srgbClr val="9900C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00CC"/>
                </a:solidFill>
                <a:latin typeface="Arial"/>
                <a:cs typeface="Arial"/>
              </a:rPr>
              <a:t>lucky</a:t>
            </a:r>
            <a:r>
              <a:rPr dirty="0" sz="1800" spc="-25" b="1">
                <a:solidFill>
                  <a:srgbClr val="9900C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9900CC"/>
                </a:solidFill>
                <a:latin typeface="Arial"/>
                <a:cs typeface="Arial"/>
              </a:rPr>
              <a:t>and</a:t>
            </a:r>
            <a:r>
              <a:rPr dirty="0" sz="1800" spc="-20" b="1">
                <a:solidFill>
                  <a:srgbClr val="9900CC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9900CC"/>
                </a:solidFill>
                <a:latin typeface="Arial"/>
                <a:cs typeface="Arial"/>
              </a:rPr>
              <a:t>wrong.”</a:t>
            </a:r>
            <a:endParaRPr sz="1800">
              <a:latin typeface="Arial"/>
              <a:cs typeface="Arial"/>
            </a:endParaRPr>
          </a:p>
          <a:p>
            <a:pPr marL="457200" marR="798830" indent="-64135">
              <a:lnSpc>
                <a:spcPct val="110000"/>
              </a:lnSpc>
              <a:spcBef>
                <a:spcPts val="1055"/>
              </a:spcBef>
            </a:pP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“A</a:t>
            </a:r>
            <a:r>
              <a:rPr dirty="0" sz="1800" spc="-5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good</a:t>
            </a:r>
            <a:r>
              <a:rPr dirty="0" sz="1800" spc="-5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forecaster</a:t>
            </a:r>
            <a:r>
              <a:rPr dirty="0" sz="1800" spc="-2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dirty="0" sz="1800" spc="-4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not</a:t>
            </a:r>
            <a:r>
              <a:rPr dirty="0" sz="1800" spc="-4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smarter</a:t>
            </a:r>
            <a:r>
              <a:rPr dirty="0" sz="1800" spc="-4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than</a:t>
            </a:r>
            <a:r>
              <a:rPr dirty="0" sz="1800" spc="-3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everyone</a:t>
            </a:r>
            <a:r>
              <a:rPr dirty="0" sz="1800" spc="1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00FF"/>
                </a:solidFill>
                <a:latin typeface="Arial"/>
                <a:cs typeface="Arial"/>
              </a:rPr>
              <a:t>else;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he</a:t>
            </a:r>
            <a:r>
              <a:rPr dirty="0" sz="1800" spc="-3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merely</a:t>
            </a:r>
            <a:r>
              <a:rPr dirty="0" sz="1800" spc="-1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has</a:t>
            </a:r>
            <a:r>
              <a:rPr dirty="0" sz="1800" spc="-3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his</a:t>
            </a:r>
            <a:r>
              <a:rPr dirty="0" sz="1800" spc="-2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ignorance</a:t>
            </a:r>
            <a:r>
              <a:rPr dirty="0" sz="1800" spc="-4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better</a:t>
            </a:r>
            <a:r>
              <a:rPr dirty="0" sz="1800" spc="-3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00FF"/>
                </a:solidFill>
                <a:latin typeface="Arial"/>
                <a:cs typeface="Arial"/>
              </a:rPr>
              <a:t>organized.”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927" y="422909"/>
            <a:ext cx="4065904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Share</a:t>
            </a:r>
            <a:r>
              <a:rPr dirty="0" sz="320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Price</a:t>
            </a:r>
            <a:r>
              <a:rPr dirty="0" sz="32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Prediction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976" y="1533144"/>
            <a:ext cx="8154924" cy="494690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69976" y="1080516"/>
            <a:ext cx="7109459" cy="401320"/>
          </a:xfrm>
          <a:prstGeom prst="rect">
            <a:avLst/>
          </a:prstGeom>
          <a:solidFill>
            <a:srgbClr val="FFCC99"/>
          </a:solidFill>
        </p:spPr>
        <p:txBody>
          <a:bodyPr wrap="square" lIns="0" tIns="39370" rIns="0" bIns="0" rtlCol="0" vert="horz">
            <a:spAutoFit/>
          </a:bodyPr>
          <a:lstStyle/>
          <a:p>
            <a:pPr marL="410209">
              <a:lnSpc>
                <a:spcPct val="100000"/>
              </a:lnSpc>
              <a:spcBef>
                <a:spcPts val="310"/>
              </a:spcBef>
            </a:pP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Models</a:t>
            </a:r>
            <a:r>
              <a:rPr dirty="0" sz="20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try</a:t>
            </a:r>
            <a:r>
              <a:rPr dirty="0" sz="20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20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predict</a:t>
            </a:r>
            <a:r>
              <a:rPr dirty="0" sz="20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behavior</a:t>
            </a:r>
            <a:r>
              <a:rPr dirty="0" sz="20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or</a:t>
            </a:r>
            <a:r>
              <a:rPr dirty="0" sz="20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range</a:t>
            </a:r>
            <a:r>
              <a:rPr dirty="0" sz="20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 behaviors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457" rIns="0" bIns="0" rtlCol="0" vert="horz">
            <a:spAutoFit/>
          </a:bodyPr>
          <a:lstStyle/>
          <a:p>
            <a:pPr marL="405765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Google’s</a:t>
            </a:r>
            <a:r>
              <a:rPr dirty="0" sz="320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“Pagerank”</a:t>
            </a:r>
            <a:r>
              <a:rPr dirty="0" sz="320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9100" y="1470660"/>
            <a:ext cx="8153400" cy="399415"/>
          </a:xfrm>
          <a:prstGeom prst="rect">
            <a:avLst/>
          </a:prstGeom>
          <a:solidFill>
            <a:srgbClr val="FFCC9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Algorithm</a:t>
            </a:r>
            <a:r>
              <a:rPr dirty="0" sz="20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2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rank</a:t>
            </a:r>
            <a:r>
              <a:rPr dirty="0" sz="2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hits</a:t>
            </a:r>
            <a:r>
              <a:rPr dirty="0" sz="2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so</a:t>
            </a:r>
            <a:r>
              <a:rPr dirty="0" sz="20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“most</a:t>
            </a:r>
            <a:r>
              <a:rPr dirty="0" sz="20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useful”</a:t>
            </a:r>
            <a:r>
              <a:rPr dirty="0" sz="20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ones</a:t>
            </a: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come</a:t>
            </a:r>
            <a:r>
              <a:rPr dirty="0" sz="2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first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97" y="2058923"/>
            <a:ext cx="7083178" cy="430834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100061" y="4567554"/>
            <a:ext cx="1549400" cy="185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 MT"/>
                <a:cs typeface="Arial MT"/>
              </a:rPr>
              <a:t>Google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takes </a:t>
            </a:r>
            <a:r>
              <a:rPr dirty="0" sz="2000">
                <a:latin typeface="Arial MT"/>
                <a:cs typeface="Arial MT"/>
              </a:rPr>
              <a:t>your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profile, </a:t>
            </a:r>
            <a:r>
              <a:rPr dirty="0" sz="2000">
                <a:latin typeface="Arial MT"/>
                <a:cs typeface="Arial MT"/>
              </a:rPr>
              <a:t>interests,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and </a:t>
            </a:r>
            <a:r>
              <a:rPr dirty="0" sz="2000" spc="-10">
                <a:latin typeface="Arial MT"/>
                <a:cs typeface="Arial MT"/>
              </a:rPr>
              <a:t>previous searches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into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account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29767" y="1302855"/>
            <a:ext cx="6235700" cy="442785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670"/>
              </a:spcBef>
              <a:buFont typeface="Arial MT"/>
              <a:buAutoNum type="arabicPeriod"/>
              <a:tabLst>
                <a:tab pos="347980" algn="l"/>
              </a:tabLst>
            </a:pP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domain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understanding</a:t>
            </a:r>
            <a:endParaRPr sz="2400">
              <a:latin typeface="Arial MT"/>
              <a:cs typeface="Arial MT"/>
            </a:endParaRPr>
          </a:p>
          <a:p>
            <a:pPr lvl="1" marL="645160" indent="-169545">
              <a:lnSpc>
                <a:spcPct val="100000"/>
              </a:lnSpc>
              <a:spcBef>
                <a:spcPts val="484"/>
              </a:spcBef>
              <a:buChar char="•"/>
              <a:tabLst>
                <a:tab pos="645160" algn="l"/>
              </a:tabLst>
            </a:pPr>
            <a:r>
              <a:rPr dirty="0" sz="2000">
                <a:latin typeface="Arial MT"/>
                <a:cs typeface="Arial MT"/>
              </a:rPr>
              <a:t>Generation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task</a:t>
            </a:r>
            <a:endParaRPr sz="2000">
              <a:latin typeface="Arial MT"/>
              <a:cs typeface="Arial MT"/>
            </a:endParaRPr>
          </a:p>
          <a:p>
            <a:pPr lvl="1" marL="645160" indent="-169545">
              <a:lnSpc>
                <a:spcPct val="100000"/>
              </a:lnSpc>
              <a:spcBef>
                <a:spcPts val="480"/>
              </a:spcBef>
              <a:buChar char="•"/>
              <a:tabLst>
                <a:tab pos="645160" algn="l"/>
              </a:tabLst>
            </a:pPr>
            <a:r>
              <a:rPr dirty="0" sz="2000">
                <a:latin typeface="Arial MT"/>
                <a:cs typeface="Arial MT"/>
              </a:rPr>
              <a:t>Cleaning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representation/transformation</a:t>
            </a:r>
            <a:endParaRPr sz="20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spcBef>
                <a:spcPts val="1195"/>
              </a:spcBef>
              <a:buAutoNum type="arabicPeriod"/>
              <a:tabLst>
                <a:tab pos="347980" algn="l"/>
              </a:tabLst>
            </a:pPr>
            <a:r>
              <a:rPr dirty="0" sz="2400">
                <a:latin typeface="Arial MT"/>
                <a:cs typeface="Arial MT"/>
              </a:rPr>
              <a:t>Statistical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insights</a:t>
            </a:r>
            <a:endParaRPr sz="2400">
              <a:latin typeface="Arial MT"/>
              <a:cs typeface="Arial MT"/>
            </a:endParaRPr>
          </a:p>
          <a:p>
            <a:pPr lvl="1" marL="645160" indent="-169545">
              <a:lnSpc>
                <a:spcPct val="100000"/>
              </a:lnSpc>
              <a:spcBef>
                <a:spcPts val="484"/>
              </a:spcBef>
              <a:buChar char="•"/>
              <a:tabLst>
                <a:tab pos="645160" algn="l"/>
              </a:tabLst>
            </a:pPr>
            <a:r>
              <a:rPr dirty="0" sz="2000">
                <a:latin typeface="Arial MT"/>
                <a:cs typeface="Arial MT"/>
              </a:rPr>
              <a:t>Statistical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properties</a:t>
            </a:r>
            <a:endParaRPr sz="2000">
              <a:latin typeface="Arial MT"/>
              <a:cs typeface="Arial MT"/>
            </a:endParaRPr>
          </a:p>
          <a:p>
            <a:pPr lvl="1" marL="645160" indent="-169545">
              <a:lnSpc>
                <a:spcPct val="100000"/>
              </a:lnSpc>
              <a:spcBef>
                <a:spcPts val="480"/>
              </a:spcBef>
              <a:buChar char="•"/>
              <a:tabLst>
                <a:tab pos="645160" algn="l"/>
              </a:tabLst>
            </a:pPr>
            <a:r>
              <a:rPr dirty="0" sz="2000">
                <a:latin typeface="Arial MT"/>
                <a:cs typeface="Arial MT"/>
              </a:rPr>
              <a:t>Test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validity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assumptions</a:t>
            </a:r>
            <a:endParaRPr sz="2000">
              <a:latin typeface="Arial MT"/>
              <a:cs typeface="Arial MT"/>
            </a:endParaRPr>
          </a:p>
          <a:p>
            <a:pPr lvl="1" marL="645160" indent="-169545">
              <a:lnSpc>
                <a:spcPct val="100000"/>
              </a:lnSpc>
              <a:spcBef>
                <a:spcPts val="484"/>
              </a:spcBef>
              <a:buChar char="•"/>
              <a:tabLst>
                <a:tab pos="645160" algn="l"/>
              </a:tabLst>
            </a:pPr>
            <a:r>
              <a:rPr dirty="0" sz="2000">
                <a:latin typeface="Arial MT"/>
                <a:cs typeface="Arial MT"/>
              </a:rPr>
              <a:t>Performance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measure</a:t>
            </a:r>
            <a:endParaRPr sz="20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spcBef>
                <a:spcPts val="1195"/>
              </a:spcBef>
              <a:buAutoNum type="arabicPeriod"/>
              <a:tabLst>
                <a:tab pos="347980" algn="l"/>
              </a:tabLst>
            </a:pPr>
            <a:r>
              <a:rPr dirty="0" sz="2400">
                <a:latin typeface="Arial MT"/>
                <a:cs typeface="Arial MT"/>
              </a:rPr>
              <a:t>Modeling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learning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lvl="1" marL="645160" indent="-169545">
              <a:lnSpc>
                <a:spcPct val="100000"/>
              </a:lnSpc>
              <a:spcBef>
                <a:spcPts val="484"/>
              </a:spcBef>
              <a:buChar char="•"/>
              <a:tabLst>
                <a:tab pos="645160" algn="l"/>
              </a:tabLst>
            </a:pPr>
            <a:r>
              <a:rPr dirty="0" sz="2000">
                <a:latin typeface="Arial MT"/>
                <a:cs typeface="Arial MT"/>
              </a:rPr>
              <a:t>Choice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development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most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suitable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algorithm</a:t>
            </a:r>
            <a:endParaRPr sz="2000">
              <a:latin typeface="Arial MT"/>
              <a:cs typeface="Arial MT"/>
            </a:endParaRPr>
          </a:p>
          <a:p>
            <a:pPr lvl="1" marL="645160" indent="-169545">
              <a:lnSpc>
                <a:spcPct val="100000"/>
              </a:lnSpc>
              <a:spcBef>
                <a:spcPts val="480"/>
              </a:spcBef>
              <a:buChar char="•"/>
              <a:tabLst>
                <a:tab pos="645160" algn="l"/>
              </a:tabLst>
            </a:pPr>
            <a:r>
              <a:rPr dirty="0" sz="2000">
                <a:latin typeface="Arial MT"/>
                <a:cs typeface="Arial MT"/>
              </a:rPr>
              <a:t>Experiments,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Scientific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Method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(Test,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Test,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Test)</a:t>
            </a:r>
            <a:endParaRPr sz="2000">
              <a:latin typeface="Arial MT"/>
              <a:cs typeface="Arial MT"/>
            </a:endParaRPr>
          </a:p>
          <a:p>
            <a:pPr lvl="1" marL="645160" indent="-169545">
              <a:lnSpc>
                <a:spcPct val="100000"/>
              </a:lnSpc>
              <a:spcBef>
                <a:spcPts val="480"/>
              </a:spcBef>
              <a:buChar char="•"/>
              <a:tabLst>
                <a:tab pos="645160" algn="l"/>
              </a:tabLst>
            </a:pP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Validation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Success</a:t>
            </a:r>
            <a:r>
              <a:rPr dirty="0" sz="320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Factors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271" rIns="0" bIns="0" rtlCol="0" vert="horz">
            <a:spAutoFit/>
          </a:bodyPr>
          <a:lstStyle/>
          <a:p>
            <a:pPr marL="205740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Scientific</a:t>
            </a:r>
            <a:r>
              <a:rPr dirty="0" sz="32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Methods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62431" y="1594230"/>
            <a:ext cx="7568565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67970" marR="784225" indent="-255904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science,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constant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interplay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between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inductive</a:t>
            </a:r>
            <a:r>
              <a:rPr dirty="0" sz="2400" spc="-5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inference</a:t>
            </a:r>
            <a:r>
              <a:rPr dirty="0" sz="2400" spc="-6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(based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observations)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deductive</a:t>
            </a:r>
            <a:r>
              <a:rPr dirty="0" sz="2400" spc="-9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inference</a:t>
            </a:r>
            <a:r>
              <a:rPr dirty="0" sz="2400" spc="-7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(based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theory),</a:t>
            </a:r>
            <a:endParaRPr sz="2400">
              <a:latin typeface="Arial MT"/>
              <a:cs typeface="Arial MT"/>
            </a:endParaRPr>
          </a:p>
          <a:p>
            <a:pPr algn="just" marL="267970" marR="224790" indent="-255904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science,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goal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closer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closer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'truth,</a:t>
            </a:r>
            <a:r>
              <a:rPr dirty="0" sz="2400">
                <a:latin typeface="Arial MT"/>
                <a:cs typeface="Arial MT"/>
              </a:rPr>
              <a:t>'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which</a:t>
            </a:r>
            <a:r>
              <a:rPr dirty="0" sz="2400" spc="-4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we</a:t>
            </a:r>
            <a:r>
              <a:rPr dirty="0" sz="2400" spc="-5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can</a:t>
            </a:r>
            <a:r>
              <a:rPr dirty="0" sz="2400" spc="-6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only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approach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but</a:t>
            </a:r>
            <a:r>
              <a:rPr dirty="0" sz="2400" spc="-5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not</a:t>
            </a:r>
            <a:r>
              <a:rPr dirty="0" sz="2400" spc="-5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Arial MT"/>
                <a:cs typeface="Arial MT"/>
              </a:rPr>
              <a:t>ascertain </a:t>
            </a:r>
            <a:r>
              <a:rPr dirty="0" sz="2400" spc="-10">
                <a:solidFill>
                  <a:srgbClr val="006FC0"/>
                </a:solidFill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with</a:t>
            </a:r>
            <a:r>
              <a:rPr dirty="0" sz="2400" spc="-9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complete</a:t>
            </a:r>
            <a:r>
              <a:rPr dirty="0" sz="2400" spc="-8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Arial MT"/>
                <a:cs typeface="Arial MT"/>
              </a:rPr>
              <a:t>certainty</a:t>
            </a:r>
            <a:r>
              <a:rPr dirty="0" sz="2400" spc="-1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80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science,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like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everyday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life,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most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people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accept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usefulness</a:t>
            </a:r>
            <a:r>
              <a:rPr dirty="0" sz="2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24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theory</a:t>
            </a:r>
            <a:r>
              <a:rPr dirty="0" sz="24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partial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knowledge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probabilities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more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important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absolute validity.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3372" y="1486662"/>
            <a:ext cx="7651115" cy="341566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words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American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philosopher</a:t>
            </a:r>
            <a:r>
              <a:rPr dirty="0" sz="2400" spc="-10">
                <a:latin typeface="Arial MT"/>
                <a:cs typeface="Arial MT"/>
              </a:rPr>
              <a:t> C.S.Peirce:</a:t>
            </a:r>
            <a:endParaRPr sz="2400">
              <a:latin typeface="Arial MT"/>
              <a:cs typeface="Arial MT"/>
            </a:endParaRPr>
          </a:p>
          <a:p>
            <a:pPr marL="269875" marR="1376680" indent="-257810">
              <a:lnSpc>
                <a:spcPct val="120000"/>
              </a:lnSpc>
              <a:spcBef>
                <a:spcPts val="620"/>
              </a:spcBef>
              <a:buChar char="•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“</a:t>
            </a:r>
            <a:r>
              <a:rPr dirty="0" sz="2400" b="1">
                <a:solidFill>
                  <a:srgbClr val="00AF50"/>
                </a:solidFill>
                <a:latin typeface="Arial"/>
                <a:cs typeface="Arial"/>
              </a:rPr>
              <a:t>Deduction</a:t>
            </a:r>
            <a:r>
              <a:rPr dirty="0" sz="2400" spc="-85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proves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something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00AF50"/>
                </a:solidFill>
                <a:latin typeface="Arial"/>
                <a:cs typeface="Arial"/>
              </a:rPr>
              <a:t>must</a:t>
            </a:r>
            <a:r>
              <a:rPr dirty="0" sz="2400" spc="-75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be;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 spc="-20">
                <a:solidFill>
                  <a:srgbClr val="00AFEF"/>
                </a:solidFill>
                <a:latin typeface="Arial MT"/>
                <a:cs typeface="Arial MT"/>
              </a:rPr>
              <a:t>–</a:t>
            </a:r>
            <a:r>
              <a:rPr dirty="0" sz="2400" spc="-31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If</a:t>
            </a:r>
            <a:r>
              <a:rPr dirty="0" sz="2400" spc="-5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A</a:t>
            </a:r>
            <a:r>
              <a:rPr dirty="0" sz="2400" spc="-3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and</a:t>
            </a:r>
            <a:r>
              <a:rPr dirty="0" sz="2400" spc="-1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B</a:t>
            </a:r>
            <a:r>
              <a:rPr dirty="0" sz="2400" spc="-3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then</a:t>
            </a:r>
            <a:r>
              <a:rPr dirty="0" sz="2400" spc="-2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always</a:t>
            </a:r>
            <a:r>
              <a:rPr dirty="0" sz="2400" spc="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00AFEF"/>
                </a:solidFill>
                <a:latin typeface="Arial MT"/>
                <a:cs typeface="Arial MT"/>
              </a:rPr>
              <a:t>C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Induction</a:t>
            </a:r>
            <a:r>
              <a:rPr dirty="0" sz="2400" spc="-10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shows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something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actually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operative</a:t>
            </a:r>
            <a:r>
              <a:rPr dirty="0" sz="2400" spc="-10" b="1">
                <a:latin typeface="Arial"/>
                <a:cs typeface="Arial"/>
              </a:rPr>
              <a:t>;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–</a:t>
            </a:r>
            <a:r>
              <a:rPr dirty="0" sz="2400" spc="204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If</a:t>
            </a:r>
            <a:r>
              <a:rPr dirty="0" sz="2400" spc="-4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A</a:t>
            </a:r>
            <a:r>
              <a:rPr dirty="0" sz="2400" spc="-4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and</a:t>
            </a:r>
            <a:r>
              <a:rPr dirty="0" sz="2400" spc="-2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B</a:t>
            </a:r>
            <a:r>
              <a:rPr dirty="0" sz="2400" spc="-4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then</a:t>
            </a:r>
            <a:r>
              <a:rPr dirty="0" sz="2400" spc="-2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most</a:t>
            </a:r>
            <a:r>
              <a:rPr dirty="0" sz="2400" spc="-2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probably</a:t>
            </a:r>
            <a:r>
              <a:rPr dirty="0" sz="2400" spc="-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00AFEF"/>
                </a:solidFill>
                <a:latin typeface="Arial MT"/>
                <a:cs typeface="Arial MT"/>
              </a:rPr>
              <a:t>C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Abduction</a:t>
            </a:r>
            <a:r>
              <a:rPr dirty="0" sz="24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merely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suggests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something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may</a:t>
            </a:r>
            <a:r>
              <a:rPr dirty="0" sz="24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20">
                <a:latin typeface="Arial MT"/>
                <a:cs typeface="Arial MT"/>
              </a:rPr>
              <a:t>be.”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80"/>
              </a:spcBef>
            </a:pPr>
            <a:r>
              <a:rPr dirty="0" sz="2400" spc="-20">
                <a:solidFill>
                  <a:srgbClr val="00AFEF"/>
                </a:solidFill>
                <a:latin typeface="Arial MT"/>
                <a:cs typeface="Arial MT"/>
              </a:rPr>
              <a:t>–</a:t>
            </a:r>
            <a:r>
              <a:rPr dirty="0" sz="2400" spc="-31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If</a:t>
            </a:r>
            <a:r>
              <a:rPr dirty="0" sz="2400" spc="-4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A</a:t>
            </a:r>
            <a:r>
              <a:rPr dirty="0" sz="2400" spc="-3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and</a:t>
            </a:r>
            <a:r>
              <a:rPr dirty="0" sz="2400" spc="-1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B</a:t>
            </a:r>
            <a:r>
              <a:rPr dirty="0" sz="2400" spc="-3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then</a:t>
            </a:r>
            <a:r>
              <a:rPr dirty="0" sz="2400" spc="-2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C</a:t>
            </a:r>
            <a:r>
              <a:rPr dirty="0" sz="2400" spc="-1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C00000"/>
                </a:solidFill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271" rIns="0" bIns="0" rtlCol="0" vert="horz">
            <a:spAutoFit/>
          </a:bodyPr>
          <a:lstStyle/>
          <a:p>
            <a:pPr marL="2859405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Inference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9804" y="5471261"/>
            <a:ext cx="851027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Charles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Sanders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Peirce,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“Pragmatism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11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Abduction,”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(lecture,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Harvard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University,Cambridge, </a:t>
            </a:r>
            <a:r>
              <a:rPr dirty="0" sz="1600">
                <a:latin typeface="Arial MT"/>
                <a:cs typeface="Arial MT"/>
              </a:rPr>
              <a:t>MA,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May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14,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1903),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Collected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Papers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Charles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Sanders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Peirce,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vol.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5,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Pragmatism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Pragmaticism,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180-</a:t>
            </a:r>
            <a:r>
              <a:rPr dirty="0" sz="1600">
                <a:latin typeface="Arial MT"/>
                <a:cs typeface="Arial MT"/>
              </a:rPr>
              <a:t>212,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CP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5.186,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C.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Hartshorne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5">
                <a:latin typeface="Arial MT"/>
                <a:cs typeface="Arial MT"/>
              </a:rPr>
              <a:t>P.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Weiss,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eds.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(Cambridge,</a:t>
            </a:r>
            <a:r>
              <a:rPr dirty="0" sz="1600" spc="-25">
                <a:latin typeface="Arial MT"/>
                <a:cs typeface="Arial MT"/>
              </a:rPr>
              <a:t> MA: </a:t>
            </a:r>
            <a:r>
              <a:rPr dirty="0" sz="1600">
                <a:latin typeface="Arial MT"/>
                <a:cs typeface="Arial MT"/>
              </a:rPr>
              <a:t>Harvard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University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Press,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1934)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07340" y="1473453"/>
            <a:ext cx="8013065" cy="438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lr>
                <a:srgbClr val="00AF50"/>
              </a:buClr>
              <a:buFont typeface="Arial MT"/>
              <a:buChar char="•"/>
              <a:tabLst>
                <a:tab pos="269875" algn="l"/>
              </a:tabLst>
            </a:pP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Deduction</a:t>
            </a:r>
            <a:r>
              <a:rPr dirty="0" sz="2400" spc="-5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is</a:t>
            </a:r>
            <a:r>
              <a:rPr dirty="0" sz="2400" spc="-7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process</a:t>
            </a:r>
            <a:r>
              <a:rPr dirty="0" sz="2400" spc="-6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of</a:t>
            </a:r>
            <a:r>
              <a:rPr dirty="0" sz="2400" spc="-7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deriving</a:t>
            </a:r>
            <a:r>
              <a:rPr dirty="0" sz="2400" spc="-5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AF50"/>
                </a:solidFill>
                <a:latin typeface="Arial MT"/>
                <a:cs typeface="Arial MT"/>
              </a:rPr>
              <a:t>consequences</a:t>
            </a:r>
            <a:r>
              <a:rPr dirty="0" sz="2400" spc="-4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00AF50"/>
                </a:solidFill>
                <a:latin typeface="Arial MT"/>
                <a:cs typeface="Arial MT"/>
              </a:rPr>
              <a:t>of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what</a:t>
            </a:r>
            <a:r>
              <a:rPr dirty="0" sz="2400" spc="-5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assumed.</a:t>
            </a:r>
            <a:r>
              <a:rPr dirty="0" sz="2400" spc="-5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If</a:t>
            </a:r>
            <a:r>
              <a:rPr dirty="0" sz="2400" spc="-6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assumptions</a:t>
            </a:r>
            <a:r>
              <a:rPr dirty="0" sz="2400" spc="-4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are</a:t>
            </a:r>
            <a:r>
              <a:rPr dirty="0" sz="2400" spc="-5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true,</a:t>
            </a:r>
            <a:r>
              <a:rPr dirty="0" sz="2400" spc="-6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a</a:t>
            </a:r>
            <a:r>
              <a:rPr dirty="0" sz="2400" spc="-4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AF50"/>
                </a:solidFill>
                <a:latin typeface="Arial MT"/>
                <a:cs typeface="Arial MT"/>
              </a:rPr>
              <a:t>valid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deduction</a:t>
            </a:r>
            <a:r>
              <a:rPr dirty="0" sz="2400" spc="-6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guarantees</a:t>
            </a:r>
            <a:r>
              <a:rPr dirty="0" sz="2400" spc="-6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truth</a:t>
            </a:r>
            <a:r>
              <a:rPr dirty="0" sz="2400" spc="-8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of</a:t>
            </a:r>
            <a:r>
              <a:rPr dirty="0" sz="2400" spc="-7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50"/>
                </a:solidFill>
                <a:latin typeface="Arial MT"/>
                <a:cs typeface="Arial MT"/>
              </a:rPr>
              <a:t>the</a:t>
            </a:r>
            <a:r>
              <a:rPr dirty="0" sz="2400" spc="-85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AF50"/>
                </a:solidFill>
                <a:latin typeface="Arial MT"/>
                <a:cs typeface="Arial MT"/>
              </a:rPr>
              <a:t>conclusion.</a:t>
            </a:r>
            <a:endParaRPr sz="2400">
              <a:latin typeface="Arial MT"/>
              <a:cs typeface="Arial MT"/>
            </a:endParaRPr>
          </a:p>
          <a:p>
            <a:pPr marL="269875" marR="9144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words,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deductive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approach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begins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hypothesis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predict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observations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should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hypothesis</a:t>
            </a:r>
            <a:r>
              <a:rPr dirty="0" sz="2400" spc="-3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correct.</a:t>
            </a:r>
            <a:endParaRPr sz="2400">
              <a:latin typeface="Arial MT"/>
              <a:cs typeface="Arial MT"/>
            </a:endParaRPr>
          </a:p>
          <a:p>
            <a:pPr marL="269875" marR="328930" indent="-257810">
              <a:lnSpc>
                <a:spcPct val="100000"/>
              </a:lnSpc>
              <a:spcBef>
                <a:spcPts val="120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These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predictions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tested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experiments,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outcomes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experiments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support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refute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our </a:t>
            </a:r>
            <a:r>
              <a:rPr dirty="0" sz="2400">
                <a:latin typeface="Arial MT"/>
                <a:cs typeface="Arial MT"/>
              </a:rPr>
              <a:t>predictions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(</a:t>
            </a:r>
            <a:r>
              <a:rPr dirty="0" sz="2400" spc="-10">
                <a:solidFill>
                  <a:srgbClr val="C00000"/>
                </a:solidFill>
                <a:latin typeface="Arial MT"/>
                <a:cs typeface="Arial MT"/>
              </a:rPr>
              <a:t>hypotheses</a:t>
            </a:r>
            <a:r>
              <a:rPr dirty="0" sz="2400" spc="-1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570230" marR="302895" indent="-215265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deductive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constructs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(association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rules)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form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 b="1" i="1">
                <a:latin typeface="Arial"/>
                <a:cs typeface="Arial"/>
              </a:rPr>
              <a:t>if</a:t>
            </a:r>
            <a:r>
              <a:rPr dirty="0" sz="2000" spc="-25" b="1" i="1">
                <a:latin typeface="Arial"/>
                <a:cs typeface="Arial"/>
              </a:rPr>
              <a:t> </a:t>
            </a:r>
            <a:r>
              <a:rPr dirty="0" sz="2000" spc="-50" b="1" i="1">
                <a:latin typeface="Arial"/>
                <a:cs typeface="Arial"/>
              </a:rPr>
              <a:t>A </a:t>
            </a:r>
            <a:r>
              <a:rPr dirty="0" sz="2000" b="1" i="1">
                <a:latin typeface="Arial"/>
                <a:cs typeface="Arial"/>
              </a:rPr>
              <a:t>and</a:t>
            </a:r>
            <a:r>
              <a:rPr dirty="0" sz="2000" spc="-20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B</a:t>
            </a:r>
            <a:r>
              <a:rPr dirty="0" sz="2000" spc="-25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then</a:t>
            </a:r>
            <a:r>
              <a:rPr dirty="0" sz="2000" spc="-25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C</a:t>
            </a:r>
            <a:r>
              <a:rPr dirty="0" sz="2000" spc="-35" b="1" i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help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explain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observations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all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time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784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52573"/>
                </a:solidFill>
                <a:latin typeface="Arial"/>
                <a:cs typeface="Arial"/>
              </a:rPr>
              <a:t>Deductive</a:t>
            </a:r>
            <a:r>
              <a:rPr dirty="0" sz="2700" spc="-3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52573"/>
                </a:solidFill>
                <a:latin typeface="Arial"/>
                <a:cs typeface="Arial"/>
              </a:rPr>
              <a:t>Reasoning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9875" marR="532765" indent="-25781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/>
              <a:t>Where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deductive</a:t>
            </a:r>
            <a:r>
              <a:rPr dirty="0" spc="-65"/>
              <a:t> </a:t>
            </a:r>
            <a:r>
              <a:rPr dirty="0"/>
              <a:t>approach</a:t>
            </a:r>
            <a:r>
              <a:rPr dirty="0" spc="-70"/>
              <a:t> </a:t>
            </a:r>
            <a:r>
              <a:rPr dirty="0"/>
              <a:t>goes</a:t>
            </a:r>
            <a:r>
              <a:rPr dirty="0" spc="-70"/>
              <a:t> </a:t>
            </a:r>
            <a:r>
              <a:rPr dirty="0"/>
              <a:t>from</a:t>
            </a:r>
            <a:r>
              <a:rPr dirty="0" spc="-95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10"/>
              <a:t>general </a:t>
            </a:r>
            <a:r>
              <a:rPr dirty="0"/>
              <a:t>(theory)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specific</a:t>
            </a:r>
            <a:r>
              <a:rPr dirty="0" spc="-35"/>
              <a:t> </a:t>
            </a:r>
            <a:r>
              <a:rPr dirty="0" spc="-10"/>
              <a:t>(observations),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10"/>
              <a:t>inductive </a:t>
            </a:r>
            <a:r>
              <a:rPr dirty="0"/>
              <a:t>approach</a:t>
            </a:r>
            <a:r>
              <a:rPr dirty="0" spc="-45"/>
              <a:t> </a:t>
            </a:r>
            <a:r>
              <a:rPr dirty="0"/>
              <a:t>goes</a:t>
            </a:r>
            <a:r>
              <a:rPr dirty="0" spc="-55"/>
              <a:t> </a:t>
            </a:r>
            <a:r>
              <a:rPr dirty="0"/>
              <a:t>from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specific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general.</a:t>
            </a:r>
          </a:p>
          <a:p>
            <a:pPr marL="269875" marR="508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>
                <a:solidFill>
                  <a:srgbClr val="006FC0"/>
                </a:solidFill>
              </a:rPr>
              <a:t>We</a:t>
            </a:r>
            <a:r>
              <a:rPr dirty="0" spc="-55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make</a:t>
            </a:r>
            <a:r>
              <a:rPr dirty="0" spc="-55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many</a:t>
            </a:r>
            <a:r>
              <a:rPr dirty="0" spc="-5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observations,</a:t>
            </a:r>
            <a:r>
              <a:rPr dirty="0" spc="-4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discern</a:t>
            </a:r>
            <a:r>
              <a:rPr dirty="0" spc="-45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a</a:t>
            </a:r>
            <a:r>
              <a:rPr dirty="0" spc="-6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pattern,</a:t>
            </a:r>
            <a:r>
              <a:rPr dirty="0" spc="-55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and</a:t>
            </a:r>
            <a:r>
              <a:rPr dirty="0" spc="-50">
                <a:solidFill>
                  <a:srgbClr val="006FC0"/>
                </a:solidFill>
              </a:rPr>
              <a:t> </a:t>
            </a:r>
            <a:r>
              <a:rPr dirty="0" spc="-10">
                <a:solidFill>
                  <a:srgbClr val="006FC0"/>
                </a:solidFill>
              </a:rPr>
              <a:t>infer </a:t>
            </a:r>
            <a:r>
              <a:rPr dirty="0">
                <a:solidFill>
                  <a:srgbClr val="006FC0"/>
                </a:solidFill>
              </a:rPr>
              <a:t>a</a:t>
            </a:r>
            <a:r>
              <a:rPr dirty="0" spc="-65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general</a:t>
            </a:r>
            <a:r>
              <a:rPr dirty="0" spc="-50">
                <a:solidFill>
                  <a:srgbClr val="006FC0"/>
                </a:solidFill>
              </a:rPr>
              <a:t> </a:t>
            </a:r>
            <a:r>
              <a:rPr dirty="0" spc="-10">
                <a:solidFill>
                  <a:srgbClr val="006FC0"/>
                </a:solidFill>
              </a:rPr>
              <a:t>explanation</a:t>
            </a:r>
          </a:p>
          <a:p>
            <a:pPr marL="269875" marR="49530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/>
              <a:t>This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commonly</a:t>
            </a:r>
            <a:r>
              <a:rPr dirty="0" spc="-45"/>
              <a:t> </a:t>
            </a:r>
            <a:r>
              <a:rPr dirty="0"/>
              <a:t>referred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as</a:t>
            </a:r>
            <a:r>
              <a:rPr dirty="0" spc="-60"/>
              <a:t> </a:t>
            </a:r>
            <a:r>
              <a:rPr dirty="0"/>
              <a:t>empirical</a:t>
            </a:r>
            <a:r>
              <a:rPr dirty="0" spc="-40"/>
              <a:t> </a:t>
            </a:r>
            <a:r>
              <a:rPr dirty="0"/>
              <a:t>logic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55"/>
              <a:t> </a:t>
            </a:r>
            <a:r>
              <a:rPr dirty="0" spc="-10"/>
              <a:t>logic </a:t>
            </a:r>
            <a:r>
              <a:rPr dirty="0"/>
              <a:t>derived</a:t>
            </a:r>
            <a:r>
              <a:rPr dirty="0" spc="-80"/>
              <a:t> </a:t>
            </a:r>
            <a:r>
              <a:rPr dirty="0"/>
              <a:t>from</a:t>
            </a:r>
            <a:r>
              <a:rPr dirty="0" spc="-80"/>
              <a:t> </a:t>
            </a:r>
            <a:r>
              <a:rPr dirty="0"/>
              <a:t>observations</a:t>
            </a:r>
            <a:r>
              <a:rPr dirty="0" spc="-65"/>
              <a:t> </a:t>
            </a:r>
            <a:r>
              <a:rPr dirty="0"/>
              <a:t>about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10"/>
              <a:t>world.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784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52573"/>
                </a:solidFill>
                <a:latin typeface="Arial"/>
                <a:cs typeface="Arial"/>
              </a:rPr>
              <a:t>Inductive</a:t>
            </a:r>
            <a:r>
              <a:rPr dirty="0" sz="2700" spc="-8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52573"/>
                </a:solidFill>
                <a:latin typeface="Arial"/>
                <a:cs typeface="Arial"/>
              </a:rPr>
              <a:t>Reasoning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6115" y="1722882"/>
            <a:ext cx="7605395" cy="2738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142875" indent="-25781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much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about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world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general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laws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observations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experiences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recurring patterns.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observation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complete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separate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instance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before,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premises</a:t>
            </a:r>
            <a:r>
              <a:rPr dirty="0" sz="2400" spc="-4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Arial MT"/>
                <a:cs typeface="Arial MT"/>
              </a:rPr>
              <a:t>inductive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reasoning</a:t>
            </a:r>
            <a:r>
              <a:rPr dirty="0" sz="2400" spc="-6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support</a:t>
            </a:r>
            <a:r>
              <a:rPr dirty="0" sz="2400" spc="-7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dirty="0" sz="2400" spc="-8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conclusion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but</a:t>
            </a:r>
            <a:r>
              <a:rPr dirty="0" sz="2400" spc="-9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do</a:t>
            </a:r>
            <a:r>
              <a:rPr dirty="0" sz="2400" spc="-8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not</a:t>
            </a:r>
            <a:r>
              <a:rPr dirty="0" sz="2400" spc="-7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ensure</a:t>
            </a:r>
            <a:r>
              <a:rPr dirty="0" sz="2400" spc="-8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006FC0"/>
                </a:solidFill>
                <a:latin typeface="Arial MT"/>
                <a:cs typeface="Arial MT"/>
              </a:rPr>
              <a:t>it.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484869" y="6649923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Slide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&lt;#&gt;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0"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784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52573"/>
                </a:solidFill>
                <a:latin typeface="Arial"/>
                <a:cs typeface="Arial"/>
              </a:rPr>
              <a:t>Inductive</a:t>
            </a:r>
            <a:r>
              <a:rPr dirty="0" sz="2700" spc="-8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52573"/>
                </a:solidFill>
                <a:latin typeface="Arial"/>
                <a:cs typeface="Arial"/>
              </a:rPr>
              <a:t>Reasoning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784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52573"/>
                </a:solidFill>
                <a:latin typeface="Arial"/>
                <a:cs typeface="Arial"/>
              </a:rPr>
              <a:t>Abductive</a:t>
            </a:r>
            <a:r>
              <a:rPr dirty="0" sz="2700" spc="-10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52573"/>
                </a:solidFill>
                <a:latin typeface="Arial"/>
                <a:cs typeface="Arial"/>
              </a:rPr>
              <a:t>reasoning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94487" y="1663953"/>
            <a:ext cx="8057515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202565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Abductive</a:t>
            </a:r>
            <a:r>
              <a:rPr dirty="0" sz="24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reasoning</a:t>
            </a:r>
            <a:r>
              <a:rPr dirty="0" sz="2400" spc="-6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means</a:t>
            </a:r>
            <a:r>
              <a:rPr dirty="0" sz="24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forming</a:t>
            </a:r>
            <a:r>
              <a:rPr dirty="0" sz="24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a</a:t>
            </a:r>
            <a:r>
              <a:rPr dirty="0" sz="24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premise:</a:t>
            </a:r>
            <a:r>
              <a:rPr dirty="0" sz="24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what</a:t>
            </a:r>
            <a:r>
              <a:rPr dirty="0" sz="24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C00000"/>
                </a:solidFill>
                <a:latin typeface="Arial MT"/>
                <a:cs typeface="Arial MT"/>
              </a:rPr>
              <a:t>we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believe</a:t>
            </a:r>
            <a:r>
              <a:rPr dirty="0" sz="2400" spc="-4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to</a:t>
            </a:r>
            <a:r>
              <a:rPr dirty="0" sz="24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have</a:t>
            </a:r>
            <a:r>
              <a:rPr dirty="0" sz="2400" spc="-6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happened</a:t>
            </a:r>
            <a:r>
              <a:rPr dirty="0" sz="2400" spc="-4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based</a:t>
            </a:r>
            <a:r>
              <a:rPr dirty="0" sz="2400" spc="-6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on</a:t>
            </a:r>
            <a:r>
              <a:rPr dirty="0" sz="2400" spc="-7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00000"/>
                </a:solidFill>
                <a:latin typeface="Arial MT"/>
                <a:cs typeface="Arial MT"/>
              </a:rPr>
              <a:t>our</a:t>
            </a:r>
            <a:r>
              <a:rPr dirty="0" sz="2400" spc="-7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Arial MT"/>
                <a:cs typeface="Arial MT"/>
              </a:rPr>
              <a:t>observations.</a:t>
            </a:r>
            <a:endParaRPr sz="2400">
              <a:latin typeface="Arial MT"/>
              <a:cs typeface="Arial MT"/>
            </a:endParaRPr>
          </a:p>
          <a:p>
            <a:pPr marL="269875" marR="35750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selection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criterion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hypothesis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provides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satisfactory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explanation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observed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facts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are </a:t>
            </a:r>
            <a:r>
              <a:rPr dirty="0" sz="2400">
                <a:latin typeface="Arial MT"/>
                <a:cs typeface="Arial MT"/>
              </a:rPr>
              <a:t>interested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explaining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Abductive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inference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much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process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inventing </a:t>
            </a:r>
            <a:r>
              <a:rPr dirty="0" sz="2400">
                <a:latin typeface="Arial MT"/>
                <a:cs typeface="Arial MT"/>
              </a:rPr>
              <a:t>hypotheses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rather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adopting</a:t>
            </a:r>
            <a:r>
              <a:rPr dirty="0" sz="2400" spc="-5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dirty="0" sz="24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hypothesis</a:t>
            </a:r>
            <a:r>
              <a:rPr dirty="0" sz="2400" spc="-10">
                <a:latin typeface="Arial MT"/>
                <a:cs typeface="Arial MT"/>
              </a:rPr>
              <a:t>,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considered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verified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confirmed,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but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seems</a:t>
            </a:r>
            <a:r>
              <a:rPr dirty="0" sz="2400" spc="-2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dirty="0" sz="24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dirty="0" sz="2400" spc="-4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dirty="0" sz="2400" spc="-4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worthy</a:t>
            </a:r>
            <a:r>
              <a:rPr dirty="0" sz="2400" spc="-5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candidate</a:t>
            </a:r>
            <a:r>
              <a:rPr dirty="0" sz="24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dirty="0" sz="24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further investigation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784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52573"/>
                </a:solidFill>
                <a:latin typeface="Arial"/>
                <a:cs typeface="Arial"/>
              </a:rPr>
              <a:t>Abductive</a:t>
            </a:r>
            <a:r>
              <a:rPr dirty="0" sz="2700" spc="-10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52573"/>
                </a:solidFill>
                <a:latin typeface="Arial"/>
                <a:cs typeface="Arial"/>
              </a:rPr>
              <a:t>reasoning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41628" y="1495806"/>
            <a:ext cx="7096759" cy="368363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>
                <a:latin typeface="Arial MT"/>
                <a:cs typeface="Arial MT"/>
              </a:rPr>
              <a:t>Things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consider:</a:t>
            </a:r>
            <a:endParaRPr sz="2400">
              <a:latin typeface="Arial MT"/>
              <a:cs typeface="Arial MT"/>
            </a:endParaRPr>
          </a:p>
          <a:p>
            <a:pPr marL="469265" marR="196215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collected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before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hypothesis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can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formed</a:t>
            </a:r>
            <a:endParaRPr sz="2400">
              <a:latin typeface="Arial MT"/>
              <a:cs typeface="Arial MT"/>
            </a:endParaRPr>
          </a:p>
          <a:p>
            <a:pPr marL="469265" marR="77470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Arial MT"/>
                <a:cs typeface="Arial MT"/>
              </a:rPr>
              <a:t>Abductive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judgements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change,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emphasizing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de-</a:t>
            </a:r>
            <a:r>
              <a:rPr dirty="0" sz="2400">
                <a:latin typeface="Arial MT"/>
                <a:cs typeface="Arial MT"/>
              </a:rPr>
              <a:t>emphasizing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certain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leads.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sense,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abduction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closely </a:t>
            </a:r>
            <a:r>
              <a:rPr dirty="0" sz="2400">
                <a:latin typeface="Arial MT"/>
                <a:cs typeface="Arial MT"/>
              </a:rPr>
              <a:t>tied: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abduction</a:t>
            </a:r>
            <a:r>
              <a:rPr dirty="0" sz="2400" spc="-4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dirty="0" sz="2400" spc="-5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400" spc="-4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006FC0"/>
                </a:solidFill>
                <a:latin typeface="Arial"/>
                <a:cs typeface="Arial"/>
              </a:rPr>
              <a:t>end</a:t>
            </a:r>
            <a:r>
              <a:rPr dirty="0" sz="2400" spc="-60" i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006FC0"/>
                </a:solidFill>
                <a:latin typeface="Arial"/>
                <a:cs typeface="Arial"/>
              </a:rPr>
              <a:t>result</a:t>
            </a:r>
            <a:r>
              <a:rPr dirty="0" sz="2400" spc="-45" i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2400" spc="-5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400" spc="-6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10" i="1">
                <a:solidFill>
                  <a:srgbClr val="006FC0"/>
                </a:solidFill>
                <a:latin typeface="Arial"/>
                <a:cs typeface="Arial"/>
              </a:rPr>
              <a:t>induction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process,</a:t>
            </a:r>
            <a:r>
              <a:rPr dirty="0" sz="2400" spc="-7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2400" spc="-6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400" spc="-7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00AF50"/>
                </a:solidFill>
                <a:latin typeface="Arial"/>
                <a:cs typeface="Arial"/>
              </a:rPr>
              <a:t>beginning</a:t>
            </a:r>
            <a:r>
              <a:rPr dirty="0" sz="2400" spc="-25" i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2400" spc="-7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400" spc="-7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00AF50"/>
                </a:solidFill>
                <a:latin typeface="Arial"/>
                <a:cs typeface="Arial"/>
              </a:rPr>
              <a:t>deduction</a:t>
            </a:r>
            <a:r>
              <a:rPr dirty="0" sz="2400" spc="-70" i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400" spc="-10" i="1">
                <a:solidFill>
                  <a:srgbClr val="C00000"/>
                </a:solidFill>
                <a:latin typeface="Arial"/>
                <a:cs typeface="Arial"/>
              </a:rPr>
              <a:t>process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5731" y="0"/>
            <a:ext cx="1448268" cy="15148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583678"/>
            <a:ext cx="9143999" cy="2666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378" rIns="0" bIns="0" rtlCol="0" vert="horz">
            <a:spAutoFit/>
          </a:bodyPr>
          <a:lstStyle/>
          <a:p>
            <a:pPr marL="208089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600" spc="-3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69036" y="1446275"/>
            <a:ext cx="8071484" cy="4918075"/>
            <a:chOff x="669036" y="1446275"/>
            <a:chExt cx="8071484" cy="4918075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036" y="1446275"/>
              <a:ext cx="8065008" cy="491794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301483" y="2360675"/>
              <a:ext cx="1432560" cy="1213485"/>
            </a:xfrm>
            <a:custGeom>
              <a:avLst/>
              <a:gdLst/>
              <a:ahLst/>
              <a:cxnLst/>
              <a:rect l="l" t="t" r="r" b="b"/>
              <a:pathLst>
                <a:path w="1432559" h="1213485">
                  <a:moveTo>
                    <a:pt x="596900" y="710184"/>
                  </a:moveTo>
                  <a:lnTo>
                    <a:pt x="238760" y="710184"/>
                  </a:lnTo>
                  <a:lnTo>
                    <a:pt x="652018" y="1213485"/>
                  </a:lnTo>
                  <a:lnTo>
                    <a:pt x="596900" y="710184"/>
                  </a:lnTo>
                  <a:close/>
                </a:path>
                <a:path w="1432559" h="1213485">
                  <a:moveTo>
                    <a:pt x="1314196" y="0"/>
                  </a:moveTo>
                  <a:lnTo>
                    <a:pt x="118364" y="0"/>
                  </a:lnTo>
                  <a:lnTo>
                    <a:pt x="72276" y="9296"/>
                  </a:lnTo>
                  <a:lnTo>
                    <a:pt x="34655" y="34655"/>
                  </a:lnTo>
                  <a:lnTo>
                    <a:pt x="9296" y="72276"/>
                  </a:lnTo>
                  <a:lnTo>
                    <a:pt x="0" y="118363"/>
                  </a:lnTo>
                  <a:lnTo>
                    <a:pt x="0" y="591820"/>
                  </a:lnTo>
                  <a:lnTo>
                    <a:pt x="9296" y="637907"/>
                  </a:lnTo>
                  <a:lnTo>
                    <a:pt x="34655" y="675528"/>
                  </a:lnTo>
                  <a:lnTo>
                    <a:pt x="72276" y="700887"/>
                  </a:lnTo>
                  <a:lnTo>
                    <a:pt x="118364" y="710184"/>
                  </a:lnTo>
                  <a:lnTo>
                    <a:pt x="1314196" y="710184"/>
                  </a:lnTo>
                  <a:lnTo>
                    <a:pt x="1360283" y="700887"/>
                  </a:lnTo>
                  <a:lnTo>
                    <a:pt x="1397904" y="675528"/>
                  </a:lnTo>
                  <a:lnTo>
                    <a:pt x="1423263" y="637907"/>
                  </a:lnTo>
                  <a:lnTo>
                    <a:pt x="1432560" y="591820"/>
                  </a:lnTo>
                  <a:lnTo>
                    <a:pt x="1432560" y="118363"/>
                  </a:lnTo>
                  <a:lnTo>
                    <a:pt x="1423263" y="72276"/>
                  </a:lnTo>
                  <a:lnTo>
                    <a:pt x="1397904" y="34655"/>
                  </a:lnTo>
                  <a:lnTo>
                    <a:pt x="1360283" y="9296"/>
                  </a:lnTo>
                  <a:lnTo>
                    <a:pt x="13141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301483" y="2360675"/>
              <a:ext cx="1432560" cy="1213485"/>
            </a:xfrm>
            <a:custGeom>
              <a:avLst/>
              <a:gdLst/>
              <a:ahLst/>
              <a:cxnLst/>
              <a:rect l="l" t="t" r="r" b="b"/>
              <a:pathLst>
                <a:path w="1432559" h="1213485">
                  <a:moveTo>
                    <a:pt x="0" y="118363"/>
                  </a:moveTo>
                  <a:lnTo>
                    <a:pt x="9296" y="72276"/>
                  </a:lnTo>
                  <a:lnTo>
                    <a:pt x="34655" y="34655"/>
                  </a:lnTo>
                  <a:lnTo>
                    <a:pt x="72276" y="9296"/>
                  </a:lnTo>
                  <a:lnTo>
                    <a:pt x="118364" y="0"/>
                  </a:lnTo>
                  <a:lnTo>
                    <a:pt x="238760" y="0"/>
                  </a:lnTo>
                  <a:lnTo>
                    <a:pt x="596900" y="0"/>
                  </a:lnTo>
                  <a:lnTo>
                    <a:pt x="1314196" y="0"/>
                  </a:lnTo>
                  <a:lnTo>
                    <a:pt x="1360283" y="9296"/>
                  </a:lnTo>
                  <a:lnTo>
                    <a:pt x="1397904" y="34655"/>
                  </a:lnTo>
                  <a:lnTo>
                    <a:pt x="1423263" y="72276"/>
                  </a:lnTo>
                  <a:lnTo>
                    <a:pt x="1432560" y="118363"/>
                  </a:lnTo>
                  <a:lnTo>
                    <a:pt x="1432560" y="414274"/>
                  </a:lnTo>
                  <a:lnTo>
                    <a:pt x="1432560" y="591820"/>
                  </a:lnTo>
                  <a:lnTo>
                    <a:pt x="1423263" y="637907"/>
                  </a:lnTo>
                  <a:lnTo>
                    <a:pt x="1397904" y="675528"/>
                  </a:lnTo>
                  <a:lnTo>
                    <a:pt x="1360283" y="700887"/>
                  </a:lnTo>
                  <a:lnTo>
                    <a:pt x="1314196" y="710184"/>
                  </a:lnTo>
                  <a:lnTo>
                    <a:pt x="596900" y="710184"/>
                  </a:lnTo>
                  <a:lnTo>
                    <a:pt x="652018" y="1213485"/>
                  </a:lnTo>
                  <a:lnTo>
                    <a:pt x="238760" y="710184"/>
                  </a:lnTo>
                  <a:lnTo>
                    <a:pt x="118364" y="710184"/>
                  </a:lnTo>
                  <a:lnTo>
                    <a:pt x="72276" y="700887"/>
                  </a:lnTo>
                  <a:lnTo>
                    <a:pt x="34655" y="675528"/>
                  </a:lnTo>
                  <a:lnTo>
                    <a:pt x="9296" y="637907"/>
                  </a:lnTo>
                  <a:lnTo>
                    <a:pt x="0" y="591820"/>
                  </a:lnTo>
                  <a:lnTo>
                    <a:pt x="0" y="414274"/>
                  </a:lnTo>
                  <a:lnTo>
                    <a:pt x="0" y="1183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67092" y="2423286"/>
            <a:ext cx="11049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Statistical Profile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5731" y="0"/>
            <a:ext cx="1448268" cy="15148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583678"/>
            <a:ext cx="9143999" cy="26669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06596" y="1170432"/>
            <a:ext cx="3552825" cy="984885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algn="r" marR="253365">
              <a:lnSpc>
                <a:spcPct val="100000"/>
              </a:lnSpc>
              <a:spcBef>
                <a:spcPts val="295"/>
              </a:spcBef>
            </a:pPr>
            <a:r>
              <a:rPr dirty="0" sz="2400" b="1">
                <a:latin typeface="Arial"/>
                <a:cs typeface="Arial"/>
              </a:rPr>
              <a:t>Abductive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Reasoning</a:t>
            </a:r>
            <a:r>
              <a:rPr dirty="0" sz="2400" spc="-1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algn="r" marR="254635">
              <a:lnSpc>
                <a:spcPct val="100000"/>
              </a:lnSpc>
              <a:spcBef>
                <a:spcPts val="985"/>
              </a:spcBef>
            </a:pPr>
            <a:r>
              <a:rPr dirty="0" sz="2400" b="1">
                <a:solidFill>
                  <a:srgbClr val="00AFEF"/>
                </a:solidFill>
                <a:latin typeface="Arial"/>
                <a:cs typeface="Arial"/>
              </a:rPr>
              <a:t>Problem</a:t>
            </a:r>
            <a:r>
              <a:rPr dirty="0" sz="2400" spc="-40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Definition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35735" y="577722"/>
            <a:ext cx="514413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74285" y="2204720"/>
            <a:ext cx="3721735" cy="3989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4386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b="1">
                <a:latin typeface="Arial"/>
                <a:cs typeface="Arial"/>
              </a:rPr>
              <a:t>Goal: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Decide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what </a:t>
            </a:r>
            <a:r>
              <a:rPr dirty="0" sz="2400">
                <a:latin typeface="Arial MT"/>
                <a:cs typeface="Arial MT"/>
              </a:rPr>
              <a:t>information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needed</a:t>
            </a:r>
            <a:endParaRPr sz="2400">
              <a:latin typeface="Arial MT"/>
              <a:cs typeface="Arial MT"/>
            </a:endParaRPr>
          </a:p>
          <a:p>
            <a:pPr marL="355600" marR="546735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b="1">
                <a:latin typeface="Arial"/>
                <a:cs typeface="Arial"/>
              </a:rPr>
              <a:t>Methods: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Typically, </a:t>
            </a:r>
            <a:r>
              <a:rPr dirty="0" sz="2400">
                <a:latin typeface="Arial MT"/>
                <a:cs typeface="Arial MT"/>
              </a:rPr>
              <a:t>committee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meetings, </a:t>
            </a:r>
            <a:r>
              <a:rPr dirty="0" sz="2400">
                <a:latin typeface="Arial MT"/>
                <a:cs typeface="Arial MT"/>
              </a:rPr>
              <a:t>brainstorming,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analysis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business objectives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b="1">
                <a:latin typeface="Arial"/>
                <a:cs typeface="Arial"/>
              </a:rPr>
              <a:t>Outcome: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project specification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Data </a:t>
            </a:r>
            <a:r>
              <a:rPr dirty="0" sz="2400" spc="-10">
                <a:latin typeface="Arial MT"/>
                <a:cs typeface="Arial MT"/>
              </a:rPr>
              <a:t>Scientists.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74904" y="1516380"/>
            <a:ext cx="3552825" cy="4671060"/>
            <a:chOff x="374904" y="1516380"/>
            <a:chExt cx="3552825" cy="467106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04" y="1554480"/>
              <a:ext cx="3552444" cy="463296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25196" y="1554480"/>
              <a:ext cx="3031490" cy="600710"/>
            </a:xfrm>
            <a:custGeom>
              <a:avLst/>
              <a:gdLst/>
              <a:ahLst/>
              <a:cxnLst/>
              <a:rect l="l" t="t" r="r" b="b"/>
              <a:pathLst>
                <a:path w="3031490" h="600710">
                  <a:moveTo>
                    <a:pt x="0" y="300228"/>
                  </a:moveTo>
                  <a:lnTo>
                    <a:pt x="16433" y="255851"/>
                  </a:lnTo>
                  <a:lnTo>
                    <a:pt x="44923" y="227363"/>
                  </a:lnTo>
                  <a:lnTo>
                    <a:pt x="86632" y="199912"/>
                  </a:lnTo>
                  <a:lnTo>
                    <a:pt x="140864" y="173637"/>
                  </a:lnTo>
                  <a:lnTo>
                    <a:pt x="206925" y="148674"/>
                  </a:lnTo>
                  <a:lnTo>
                    <a:pt x="244174" y="136728"/>
                  </a:lnTo>
                  <a:lnTo>
                    <a:pt x="284120" y="125161"/>
                  </a:lnTo>
                  <a:lnTo>
                    <a:pt x="326675" y="113991"/>
                  </a:lnTo>
                  <a:lnTo>
                    <a:pt x="371754" y="103235"/>
                  </a:lnTo>
                  <a:lnTo>
                    <a:pt x="419268" y="92911"/>
                  </a:lnTo>
                  <a:lnTo>
                    <a:pt x="469132" y="83034"/>
                  </a:lnTo>
                  <a:lnTo>
                    <a:pt x="521259" y="73623"/>
                  </a:lnTo>
                  <a:lnTo>
                    <a:pt x="575561" y="64695"/>
                  </a:lnTo>
                  <a:lnTo>
                    <a:pt x="631953" y="56267"/>
                  </a:lnTo>
                  <a:lnTo>
                    <a:pt x="690346" y="48355"/>
                  </a:lnTo>
                  <a:lnTo>
                    <a:pt x="750654" y="40978"/>
                  </a:lnTo>
                  <a:lnTo>
                    <a:pt x="812791" y="34152"/>
                  </a:lnTo>
                  <a:lnTo>
                    <a:pt x="876669" y="27895"/>
                  </a:lnTo>
                  <a:lnTo>
                    <a:pt x="942202" y="22224"/>
                  </a:lnTo>
                  <a:lnTo>
                    <a:pt x="1009303" y="17155"/>
                  </a:lnTo>
                  <a:lnTo>
                    <a:pt x="1077885" y="12707"/>
                  </a:lnTo>
                  <a:lnTo>
                    <a:pt x="1147862" y="8896"/>
                  </a:lnTo>
                  <a:lnTo>
                    <a:pt x="1219145" y="5739"/>
                  </a:lnTo>
                  <a:lnTo>
                    <a:pt x="1291650" y="3254"/>
                  </a:lnTo>
                  <a:lnTo>
                    <a:pt x="1365288" y="1457"/>
                  </a:lnTo>
                  <a:lnTo>
                    <a:pt x="1439973" y="367"/>
                  </a:lnTo>
                  <a:lnTo>
                    <a:pt x="1515618" y="0"/>
                  </a:lnTo>
                  <a:lnTo>
                    <a:pt x="1591262" y="367"/>
                  </a:lnTo>
                  <a:lnTo>
                    <a:pt x="1665947" y="1457"/>
                  </a:lnTo>
                  <a:lnTo>
                    <a:pt x="1739585" y="3254"/>
                  </a:lnTo>
                  <a:lnTo>
                    <a:pt x="1812090" y="5739"/>
                  </a:lnTo>
                  <a:lnTo>
                    <a:pt x="1883373" y="8896"/>
                  </a:lnTo>
                  <a:lnTo>
                    <a:pt x="1953350" y="12707"/>
                  </a:lnTo>
                  <a:lnTo>
                    <a:pt x="2021932" y="17155"/>
                  </a:lnTo>
                  <a:lnTo>
                    <a:pt x="2089033" y="22224"/>
                  </a:lnTo>
                  <a:lnTo>
                    <a:pt x="2154566" y="27895"/>
                  </a:lnTo>
                  <a:lnTo>
                    <a:pt x="2218444" y="34152"/>
                  </a:lnTo>
                  <a:lnTo>
                    <a:pt x="2280581" y="40978"/>
                  </a:lnTo>
                  <a:lnTo>
                    <a:pt x="2340889" y="48355"/>
                  </a:lnTo>
                  <a:lnTo>
                    <a:pt x="2399282" y="56267"/>
                  </a:lnTo>
                  <a:lnTo>
                    <a:pt x="2455674" y="64695"/>
                  </a:lnTo>
                  <a:lnTo>
                    <a:pt x="2509976" y="73623"/>
                  </a:lnTo>
                  <a:lnTo>
                    <a:pt x="2562103" y="83034"/>
                  </a:lnTo>
                  <a:lnTo>
                    <a:pt x="2611967" y="92911"/>
                  </a:lnTo>
                  <a:lnTo>
                    <a:pt x="2659481" y="103235"/>
                  </a:lnTo>
                  <a:lnTo>
                    <a:pt x="2704560" y="113991"/>
                  </a:lnTo>
                  <a:lnTo>
                    <a:pt x="2747115" y="125161"/>
                  </a:lnTo>
                  <a:lnTo>
                    <a:pt x="2787061" y="136728"/>
                  </a:lnTo>
                  <a:lnTo>
                    <a:pt x="2824310" y="148674"/>
                  </a:lnTo>
                  <a:lnTo>
                    <a:pt x="2890371" y="173637"/>
                  </a:lnTo>
                  <a:lnTo>
                    <a:pt x="2944603" y="199912"/>
                  </a:lnTo>
                  <a:lnTo>
                    <a:pt x="2986312" y="227363"/>
                  </a:lnTo>
                  <a:lnTo>
                    <a:pt x="3014802" y="255851"/>
                  </a:lnTo>
                  <a:lnTo>
                    <a:pt x="3031236" y="300228"/>
                  </a:lnTo>
                  <a:lnTo>
                    <a:pt x="3029381" y="315216"/>
                  </a:lnTo>
                  <a:lnTo>
                    <a:pt x="3002253" y="358970"/>
                  </a:lnTo>
                  <a:lnTo>
                    <a:pt x="2967066" y="386956"/>
                  </a:lnTo>
                  <a:lnTo>
                    <a:pt x="2919009" y="413836"/>
                  </a:lnTo>
                  <a:lnTo>
                    <a:pt x="2858776" y="439472"/>
                  </a:lnTo>
                  <a:lnTo>
                    <a:pt x="2787061" y="463727"/>
                  </a:lnTo>
                  <a:lnTo>
                    <a:pt x="2747115" y="475294"/>
                  </a:lnTo>
                  <a:lnTo>
                    <a:pt x="2704560" y="486464"/>
                  </a:lnTo>
                  <a:lnTo>
                    <a:pt x="2659481" y="497220"/>
                  </a:lnTo>
                  <a:lnTo>
                    <a:pt x="2611967" y="507544"/>
                  </a:lnTo>
                  <a:lnTo>
                    <a:pt x="2562103" y="517421"/>
                  </a:lnTo>
                  <a:lnTo>
                    <a:pt x="2509976" y="526832"/>
                  </a:lnTo>
                  <a:lnTo>
                    <a:pt x="2455674" y="535760"/>
                  </a:lnTo>
                  <a:lnTo>
                    <a:pt x="2399282" y="544188"/>
                  </a:lnTo>
                  <a:lnTo>
                    <a:pt x="2340889" y="552100"/>
                  </a:lnTo>
                  <a:lnTo>
                    <a:pt x="2280581" y="559477"/>
                  </a:lnTo>
                  <a:lnTo>
                    <a:pt x="2218444" y="566303"/>
                  </a:lnTo>
                  <a:lnTo>
                    <a:pt x="2154566" y="572560"/>
                  </a:lnTo>
                  <a:lnTo>
                    <a:pt x="2089033" y="578231"/>
                  </a:lnTo>
                  <a:lnTo>
                    <a:pt x="2021932" y="583300"/>
                  </a:lnTo>
                  <a:lnTo>
                    <a:pt x="1953350" y="587748"/>
                  </a:lnTo>
                  <a:lnTo>
                    <a:pt x="1883373" y="591559"/>
                  </a:lnTo>
                  <a:lnTo>
                    <a:pt x="1812090" y="594716"/>
                  </a:lnTo>
                  <a:lnTo>
                    <a:pt x="1739585" y="597201"/>
                  </a:lnTo>
                  <a:lnTo>
                    <a:pt x="1665947" y="598998"/>
                  </a:lnTo>
                  <a:lnTo>
                    <a:pt x="1591262" y="600088"/>
                  </a:lnTo>
                  <a:lnTo>
                    <a:pt x="1515618" y="600456"/>
                  </a:lnTo>
                  <a:lnTo>
                    <a:pt x="1439973" y="600088"/>
                  </a:lnTo>
                  <a:lnTo>
                    <a:pt x="1365288" y="598998"/>
                  </a:lnTo>
                  <a:lnTo>
                    <a:pt x="1291650" y="597201"/>
                  </a:lnTo>
                  <a:lnTo>
                    <a:pt x="1219145" y="594716"/>
                  </a:lnTo>
                  <a:lnTo>
                    <a:pt x="1147862" y="591559"/>
                  </a:lnTo>
                  <a:lnTo>
                    <a:pt x="1077885" y="587748"/>
                  </a:lnTo>
                  <a:lnTo>
                    <a:pt x="1009303" y="583300"/>
                  </a:lnTo>
                  <a:lnTo>
                    <a:pt x="942202" y="578231"/>
                  </a:lnTo>
                  <a:lnTo>
                    <a:pt x="876669" y="572560"/>
                  </a:lnTo>
                  <a:lnTo>
                    <a:pt x="812791" y="566303"/>
                  </a:lnTo>
                  <a:lnTo>
                    <a:pt x="750654" y="559477"/>
                  </a:lnTo>
                  <a:lnTo>
                    <a:pt x="690346" y="552100"/>
                  </a:lnTo>
                  <a:lnTo>
                    <a:pt x="631953" y="544188"/>
                  </a:lnTo>
                  <a:lnTo>
                    <a:pt x="575561" y="535760"/>
                  </a:lnTo>
                  <a:lnTo>
                    <a:pt x="521259" y="526832"/>
                  </a:lnTo>
                  <a:lnTo>
                    <a:pt x="469132" y="517421"/>
                  </a:lnTo>
                  <a:lnTo>
                    <a:pt x="419268" y="507544"/>
                  </a:lnTo>
                  <a:lnTo>
                    <a:pt x="371754" y="497220"/>
                  </a:lnTo>
                  <a:lnTo>
                    <a:pt x="326675" y="486464"/>
                  </a:lnTo>
                  <a:lnTo>
                    <a:pt x="284120" y="475294"/>
                  </a:lnTo>
                  <a:lnTo>
                    <a:pt x="244174" y="463727"/>
                  </a:lnTo>
                  <a:lnTo>
                    <a:pt x="206925" y="451781"/>
                  </a:lnTo>
                  <a:lnTo>
                    <a:pt x="140864" y="426818"/>
                  </a:lnTo>
                  <a:lnTo>
                    <a:pt x="86632" y="400543"/>
                  </a:lnTo>
                  <a:lnTo>
                    <a:pt x="44923" y="373092"/>
                  </a:lnTo>
                  <a:lnTo>
                    <a:pt x="16433" y="344604"/>
                  </a:lnTo>
                  <a:lnTo>
                    <a:pt x="0" y="300228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0064" y="1414144"/>
            <a:ext cx="7943850" cy="4046854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Why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AI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can’t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solve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unknown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problems</a:t>
            </a:r>
            <a:endParaRPr sz="2400">
              <a:latin typeface="Arial"/>
              <a:cs typeface="Arial"/>
            </a:endParaRPr>
          </a:p>
          <a:p>
            <a:pPr marL="12700" marR="486409">
              <a:lnSpc>
                <a:spcPct val="100000"/>
              </a:lnSpc>
              <a:spcBef>
                <a:spcPts val="445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https://bdtechtalks.com/2021/03/29/ai-algorithms-representations-herbert-</a:t>
            </a:r>
            <a:r>
              <a:rPr dirty="0" sz="1800" spc="-1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roitblat/</a:t>
            </a:r>
            <a:endParaRPr sz="18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Unsupervised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learning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can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detect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unknown</a:t>
            </a:r>
            <a:endParaRPr sz="2400"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adversarial</a:t>
            </a:r>
            <a:r>
              <a:rPr dirty="0" sz="2400" spc="-13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attacks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45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https://bdtechtalks.com/2021/08/30/unsupervised-learning-adversarial-attacks-</a:t>
            </a:r>
            <a:r>
              <a:rPr dirty="0" sz="1800" spc="-1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detection/</a:t>
            </a:r>
            <a:endParaRPr sz="18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What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Google’s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AI-designed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chip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tells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us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about</a:t>
            </a:r>
            <a:r>
              <a:rPr dirty="0" sz="2400" spc="-15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nature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intelligence</a:t>
            </a:r>
            <a:endParaRPr sz="2400">
              <a:latin typeface="Arial"/>
              <a:cs typeface="Arial"/>
            </a:endParaRPr>
          </a:p>
          <a:p>
            <a:pPr marL="12700" marR="449580">
              <a:lnSpc>
                <a:spcPct val="100000"/>
              </a:lnSpc>
              <a:spcBef>
                <a:spcPts val="445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4"/>
              </a:rPr>
              <a:t>https://bdtechtalks.com/2021/06/14/google-reinforcement-learning-ai-chip-</a:t>
            </a:r>
            <a:r>
              <a:rPr dirty="0" sz="1800" spc="-1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4"/>
              </a:rPr>
              <a:t>design/amp/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5646" rIns="0" bIns="0" rtlCol="0" vert="horz">
            <a:spAutoFit/>
          </a:bodyPr>
          <a:lstStyle/>
          <a:p>
            <a:pPr marL="168719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Further</a:t>
            </a:r>
            <a:r>
              <a:rPr dirty="0" sz="3600" spc="-3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Reading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905"/>
            <a:ext cx="9143999" cy="35509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46338" y="6619747"/>
            <a:ext cx="36131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35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942" y="68676"/>
            <a:ext cx="777058" cy="92026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1080"/>
            <a:ext cx="3755390" cy="139700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255904" algn="l"/>
              </a:tabLst>
            </a:pP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What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35">
                <a:solidFill>
                  <a:srgbClr val="082E50"/>
                </a:solidFill>
                <a:latin typeface="Tahoma"/>
                <a:cs typeface="Tahoma"/>
              </a:rPr>
              <a:t>are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concepts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statistics</a:t>
            </a:r>
            <a:endParaRPr sz="1850">
              <a:latin typeface="Tahoma"/>
              <a:cs typeface="Tahoma"/>
            </a:endParaRPr>
          </a:p>
          <a:p>
            <a:pPr marL="254635" indent="-24193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4635" algn="l"/>
              </a:tabLst>
            </a:pP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What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is</a:t>
            </a: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statistical</a:t>
            </a:r>
            <a:r>
              <a:rPr dirty="0" sz="1850" spc="-4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modelling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255904" algn="l"/>
              </a:tabLst>
            </a:pP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What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is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predictive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modelling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5904" algn="l"/>
              </a:tabLst>
            </a:pP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What</a:t>
            </a:r>
            <a:r>
              <a:rPr dirty="0" sz="1850" spc="-3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35">
                <a:solidFill>
                  <a:srgbClr val="082E50"/>
                </a:solidFill>
                <a:latin typeface="Tahoma"/>
                <a:cs typeface="Tahoma"/>
              </a:rPr>
              <a:t>are</a:t>
            </a:r>
            <a:r>
              <a:rPr dirty="0" sz="1850" spc="-5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scientific</a:t>
            </a:r>
            <a:r>
              <a:rPr dirty="0" sz="1850" spc="-3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methods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40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Review</a:t>
            </a:r>
            <a:r>
              <a:rPr dirty="0" spc="-95"/>
              <a:t> </a:t>
            </a:r>
            <a:r>
              <a:rPr dirty="0" spc="-65"/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dc:title>PowerPoint Presentation</dc:title>
  <dcterms:created xsi:type="dcterms:W3CDTF">2025-12-26T00:22:49Z</dcterms:created>
  <dcterms:modified xsi:type="dcterms:W3CDTF">2025-12-26T00:22:49Z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2025-12-26T00:00:00Z</vt:filetime>
  </property>
  <property fmtid="{D5CDD505-2E9C-101B-9397-08002B2CF9AE}" pid="5" name="Producer">
    <vt:lpwstr>Microsoft® PowerPoint® for Microsoft 365</vt:lpwstr>
  </property>
</Properties>
</file>