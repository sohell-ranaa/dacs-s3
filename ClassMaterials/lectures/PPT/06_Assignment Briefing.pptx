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02398"/>
            <a:ext cx="9143999" cy="3555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6726" y="2969463"/>
            <a:ext cx="433959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2505" y="0"/>
            <a:ext cx="1241494" cy="12985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" y="6583362"/>
            <a:ext cx="9143999" cy="2666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9908" y="596265"/>
            <a:ext cx="4504182" cy="576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069" y="1577594"/>
            <a:ext cx="8521700" cy="393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75293" y="6619747"/>
            <a:ext cx="3028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5">
                <a:solidFill>
                  <a:srgbClr val="C0F8FB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8000" y="6619747"/>
            <a:ext cx="110172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Code</a:t>
            </a:r>
            <a:r>
              <a:rPr dirty="0" sz="600" spc="4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45">
                <a:solidFill>
                  <a:srgbClr val="C0F8FB"/>
                </a:solidFill>
                <a:latin typeface="Verdana"/>
                <a:cs typeface="Verdana"/>
              </a:rPr>
              <a:t>&amp;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>
                <a:solidFill>
                  <a:srgbClr val="C0F8FB"/>
                </a:solidFill>
                <a:latin typeface="Verdana"/>
                <a:cs typeface="Verdana"/>
              </a:rPr>
              <a:t>Module</a:t>
            </a:r>
            <a:r>
              <a:rPr dirty="0" sz="600" spc="20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2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38269" y="6603898"/>
            <a:ext cx="3930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Slide</a:t>
            </a:r>
            <a:r>
              <a:rPr dirty="0" sz="600" spc="-25">
                <a:solidFill>
                  <a:srgbClr val="C0F8FB"/>
                </a:solidFill>
                <a:latin typeface="Verdana"/>
                <a:cs typeface="Verdana"/>
              </a:rPr>
              <a:t> </a:t>
            </a:r>
            <a:r>
              <a:rPr dirty="0" sz="600" spc="-10">
                <a:solidFill>
                  <a:srgbClr val="C0F8FB"/>
                </a:solidFill>
                <a:latin typeface="Verdana"/>
                <a:cs typeface="Verdana"/>
              </a:rPr>
              <a:t>Title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6027" y="68656"/>
            <a:ext cx="773383" cy="9198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013866" y="4327397"/>
            <a:ext cx="3122930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50" spc="-70" b="1">
                <a:solidFill>
                  <a:srgbClr val="006FC0"/>
                </a:solidFill>
                <a:latin typeface="Verdana"/>
                <a:cs typeface="Verdana"/>
              </a:rPr>
              <a:t>Assignment</a:t>
            </a:r>
            <a:r>
              <a:rPr dirty="0" sz="2250" spc="-130" b="1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dirty="0" sz="2250" spc="-55" b="1">
                <a:solidFill>
                  <a:srgbClr val="006FC0"/>
                </a:solidFill>
                <a:latin typeface="Verdana"/>
                <a:cs typeface="Verdana"/>
              </a:rPr>
              <a:t>Briefing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500" spc="-50">
                <a:solidFill>
                  <a:srgbClr val="082E50"/>
                </a:solidFill>
                <a:latin typeface="Tahoma"/>
                <a:cs typeface="Tahoma"/>
              </a:rPr>
              <a:t>Data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082E50"/>
                </a:solidFill>
                <a:latin typeface="Tahoma"/>
                <a:cs typeface="Tahoma"/>
              </a:rPr>
              <a:t>Analytics</a:t>
            </a:r>
            <a:r>
              <a:rPr dirty="0" sz="2500" spc="-13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in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Cyber</a:t>
            </a:r>
            <a:r>
              <a:rPr dirty="0" sz="2500" spc="-100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082E50"/>
                </a:solidFill>
                <a:latin typeface="Tahoma"/>
                <a:cs typeface="Tahoma"/>
              </a:rPr>
              <a:t>Security </a:t>
            </a:r>
            <a:r>
              <a:rPr dirty="0" sz="2500" spc="-45">
                <a:solidFill>
                  <a:srgbClr val="082E50"/>
                </a:solidFill>
                <a:latin typeface="Tahoma"/>
                <a:cs typeface="Tahoma"/>
              </a:rPr>
              <a:t>CT115-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3-</a:t>
            </a:r>
            <a:r>
              <a:rPr dirty="0" sz="2500">
                <a:solidFill>
                  <a:srgbClr val="082E50"/>
                </a:solidFill>
                <a:latin typeface="Tahoma"/>
                <a:cs typeface="Tahoma"/>
              </a:rPr>
              <a:t>M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65">
                <a:solidFill>
                  <a:srgbClr val="082E50"/>
                </a:solidFill>
                <a:latin typeface="Tahoma"/>
                <a:cs typeface="Tahoma"/>
              </a:rPr>
              <a:t>(Version</a:t>
            </a:r>
            <a:r>
              <a:rPr dirty="0" sz="2500" spc="-45">
                <a:solidFill>
                  <a:srgbClr val="082E50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82E50"/>
                </a:solidFill>
                <a:latin typeface="Tahoma"/>
                <a:cs typeface="Tahoma"/>
              </a:rPr>
              <a:t>E)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36" y="6586266"/>
            <a:ext cx="612405" cy="13115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313301" y="6561835"/>
            <a:ext cx="45383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1510" algn="l"/>
              </a:tabLst>
            </a:pP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Copyright</a:t>
            </a:r>
            <a:r>
              <a:rPr dirty="0" sz="900" spc="-25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(c)</a:t>
            </a:r>
            <a:r>
              <a:rPr dirty="0" sz="900" spc="-2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2018</a:t>
            </a:r>
            <a:r>
              <a:rPr dirty="0" sz="900" spc="-3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CompTIA</a:t>
            </a:r>
            <a:r>
              <a:rPr dirty="0" sz="900" spc="-1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Properties,</a:t>
            </a:r>
            <a:r>
              <a:rPr dirty="0" sz="900" spc="-45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LLC.</a:t>
            </a:r>
            <a:r>
              <a:rPr dirty="0" sz="900" spc="-1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All</a:t>
            </a:r>
            <a:r>
              <a:rPr dirty="0" sz="900" spc="-2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Rights</a:t>
            </a:r>
            <a:r>
              <a:rPr dirty="0" sz="900" spc="-3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Reserved.</a:t>
            </a:r>
            <a:r>
              <a:rPr dirty="0" sz="900" spc="22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|</a:t>
            </a:r>
            <a:r>
              <a:rPr dirty="0" sz="900" spc="225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9717A"/>
                </a:solidFill>
                <a:latin typeface="Arial MT"/>
                <a:cs typeface="Arial MT"/>
              </a:rPr>
              <a:t>CompTIA.org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	</a:t>
            </a:r>
            <a:r>
              <a:rPr dirty="0" sz="900" spc="-50">
                <a:solidFill>
                  <a:srgbClr val="69717A"/>
                </a:solidFill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398" rIns="0" bIns="0" rtlCol="0" vert="horz">
            <a:spAutoFit/>
          </a:bodyPr>
          <a:lstStyle/>
          <a:p>
            <a:pPr marL="78613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Intrusion</a:t>
            </a:r>
            <a:r>
              <a:rPr dirty="0" sz="2800" spc="-114"/>
              <a:t> </a:t>
            </a:r>
            <a:r>
              <a:rPr dirty="0" sz="2800" spc="-10"/>
              <a:t>Lifecycle</a:t>
            </a:r>
            <a:endParaRPr sz="2800"/>
          </a:p>
        </p:txBody>
      </p:sp>
      <p:grpSp>
        <p:nvGrpSpPr>
          <p:cNvPr id="5" name="object 5" descr=""/>
          <p:cNvGrpSpPr/>
          <p:nvPr/>
        </p:nvGrpSpPr>
        <p:grpSpPr>
          <a:xfrm>
            <a:off x="228600" y="2286000"/>
            <a:ext cx="868680" cy="3474720"/>
            <a:chOff x="228600" y="2286000"/>
            <a:chExt cx="868680" cy="3474720"/>
          </a:xfrm>
        </p:grpSpPr>
        <p:sp>
          <p:nvSpPr>
            <p:cNvPr id="6" name="object 6" descr=""/>
            <p:cNvSpPr/>
            <p:nvPr/>
          </p:nvSpPr>
          <p:spPr>
            <a:xfrm>
              <a:off x="228600" y="2285999"/>
              <a:ext cx="868680" cy="3474720"/>
            </a:xfrm>
            <a:custGeom>
              <a:avLst/>
              <a:gdLst/>
              <a:ahLst/>
              <a:cxnLst/>
              <a:rect l="l" t="t" r="r" b="b"/>
              <a:pathLst>
                <a:path w="868680" h="3474720">
                  <a:moveTo>
                    <a:pt x="868680" y="0"/>
                  </a:moveTo>
                  <a:lnTo>
                    <a:pt x="0" y="0"/>
                  </a:lnTo>
                  <a:lnTo>
                    <a:pt x="0" y="694944"/>
                  </a:lnTo>
                  <a:lnTo>
                    <a:pt x="0" y="1389888"/>
                  </a:lnTo>
                  <a:lnTo>
                    <a:pt x="0" y="2084832"/>
                  </a:lnTo>
                  <a:lnTo>
                    <a:pt x="0" y="2779776"/>
                  </a:lnTo>
                  <a:lnTo>
                    <a:pt x="0" y="3474720"/>
                  </a:lnTo>
                  <a:lnTo>
                    <a:pt x="868680" y="3474720"/>
                  </a:lnTo>
                  <a:lnTo>
                    <a:pt x="868680" y="2779776"/>
                  </a:lnTo>
                  <a:lnTo>
                    <a:pt x="868680" y="2084832"/>
                  </a:lnTo>
                  <a:lnTo>
                    <a:pt x="868680" y="1389888"/>
                  </a:lnTo>
                  <a:lnTo>
                    <a:pt x="868680" y="694944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6" y="2378951"/>
              <a:ext cx="379475" cy="50598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21563" y="2400554"/>
              <a:ext cx="307975" cy="435609"/>
            </a:xfrm>
            <a:custGeom>
              <a:avLst/>
              <a:gdLst/>
              <a:ahLst/>
              <a:cxnLst/>
              <a:rect l="l" t="t" r="r" b="b"/>
              <a:pathLst>
                <a:path w="307975" h="435610">
                  <a:moveTo>
                    <a:pt x="256654" y="0"/>
                  </a:moveTo>
                  <a:lnTo>
                    <a:pt x="51333" y="0"/>
                  </a:lnTo>
                  <a:lnTo>
                    <a:pt x="31353" y="4034"/>
                  </a:lnTo>
                  <a:lnTo>
                    <a:pt x="15036" y="15033"/>
                  </a:lnTo>
                  <a:lnTo>
                    <a:pt x="4034" y="31343"/>
                  </a:lnTo>
                  <a:lnTo>
                    <a:pt x="0" y="51308"/>
                  </a:lnTo>
                  <a:lnTo>
                    <a:pt x="0" y="384048"/>
                  </a:lnTo>
                  <a:lnTo>
                    <a:pt x="4034" y="404086"/>
                  </a:lnTo>
                  <a:lnTo>
                    <a:pt x="15036" y="420433"/>
                  </a:lnTo>
                  <a:lnTo>
                    <a:pt x="31353" y="431446"/>
                  </a:lnTo>
                  <a:lnTo>
                    <a:pt x="51333" y="435483"/>
                  </a:lnTo>
                  <a:lnTo>
                    <a:pt x="256654" y="435483"/>
                  </a:lnTo>
                  <a:lnTo>
                    <a:pt x="276631" y="431446"/>
                  </a:lnTo>
                  <a:lnTo>
                    <a:pt x="292944" y="420433"/>
                  </a:lnTo>
                  <a:lnTo>
                    <a:pt x="303942" y="404086"/>
                  </a:lnTo>
                  <a:lnTo>
                    <a:pt x="307974" y="384048"/>
                  </a:lnTo>
                  <a:lnTo>
                    <a:pt x="307974" y="51308"/>
                  </a:lnTo>
                  <a:lnTo>
                    <a:pt x="303942" y="31343"/>
                  </a:lnTo>
                  <a:lnTo>
                    <a:pt x="292944" y="15033"/>
                  </a:lnTo>
                  <a:lnTo>
                    <a:pt x="276631" y="4034"/>
                  </a:lnTo>
                  <a:lnTo>
                    <a:pt x="2566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456" y="3061703"/>
              <a:ext cx="379475" cy="50598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21563" y="3083305"/>
              <a:ext cx="307975" cy="435609"/>
            </a:xfrm>
            <a:custGeom>
              <a:avLst/>
              <a:gdLst/>
              <a:ahLst/>
              <a:cxnLst/>
              <a:rect l="l" t="t" r="r" b="b"/>
              <a:pathLst>
                <a:path w="307975" h="435610">
                  <a:moveTo>
                    <a:pt x="256654" y="0"/>
                  </a:moveTo>
                  <a:lnTo>
                    <a:pt x="51333" y="0"/>
                  </a:lnTo>
                  <a:lnTo>
                    <a:pt x="31353" y="4034"/>
                  </a:lnTo>
                  <a:lnTo>
                    <a:pt x="15036" y="15033"/>
                  </a:lnTo>
                  <a:lnTo>
                    <a:pt x="4034" y="31343"/>
                  </a:lnTo>
                  <a:lnTo>
                    <a:pt x="0" y="51308"/>
                  </a:lnTo>
                  <a:lnTo>
                    <a:pt x="0" y="384175"/>
                  </a:lnTo>
                  <a:lnTo>
                    <a:pt x="4034" y="404139"/>
                  </a:lnTo>
                  <a:lnTo>
                    <a:pt x="15036" y="420449"/>
                  </a:lnTo>
                  <a:lnTo>
                    <a:pt x="31353" y="431448"/>
                  </a:lnTo>
                  <a:lnTo>
                    <a:pt x="51333" y="435483"/>
                  </a:lnTo>
                  <a:lnTo>
                    <a:pt x="256654" y="435483"/>
                  </a:lnTo>
                  <a:lnTo>
                    <a:pt x="276631" y="431448"/>
                  </a:lnTo>
                  <a:lnTo>
                    <a:pt x="292944" y="420449"/>
                  </a:lnTo>
                  <a:lnTo>
                    <a:pt x="303942" y="404139"/>
                  </a:lnTo>
                  <a:lnTo>
                    <a:pt x="307974" y="384175"/>
                  </a:lnTo>
                  <a:lnTo>
                    <a:pt x="307974" y="51308"/>
                  </a:lnTo>
                  <a:lnTo>
                    <a:pt x="303942" y="31343"/>
                  </a:lnTo>
                  <a:lnTo>
                    <a:pt x="292944" y="15033"/>
                  </a:lnTo>
                  <a:lnTo>
                    <a:pt x="276631" y="4034"/>
                  </a:lnTo>
                  <a:lnTo>
                    <a:pt x="2566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931" y="3793223"/>
              <a:ext cx="379475" cy="50598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20522" y="3815207"/>
              <a:ext cx="307975" cy="435609"/>
            </a:xfrm>
            <a:custGeom>
              <a:avLst/>
              <a:gdLst/>
              <a:ahLst/>
              <a:cxnLst/>
              <a:rect l="l" t="t" r="r" b="b"/>
              <a:pathLst>
                <a:path w="307975" h="435610">
                  <a:moveTo>
                    <a:pt x="256654" y="0"/>
                  </a:moveTo>
                  <a:lnTo>
                    <a:pt x="51333" y="0"/>
                  </a:lnTo>
                  <a:lnTo>
                    <a:pt x="31353" y="4034"/>
                  </a:lnTo>
                  <a:lnTo>
                    <a:pt x="15036" y="15033"/>
                  </a:lnTo>
                  <a:lnTo>
                    <a:pt x="4034" y="31343"/>
                  </a:lnTo>
                  <a:lnTo>
                    <a:pt x="0" y="51308"/>
                  </a:lnTo>
                  <a:lnTo>
                    <a:pt x="0" y="384175"/>
                  </a:lnTo>
                  <a:lnTo>
                    <a:pt x="4034" y="404139"/>
                  </a:lnTo>
                  <a:lnTo>
                    <a:pt x="15036" y="420449"/>
                  </a:lnTo>
                  <a:lnTo>
                    <a:pt x="31353" y="431448"/>
                  </a:lnTo>
                  <a:lnTo>
                    <a:pt x="51333" y="435483"/>
                  </a:lnTo>
                  <a:lnTo>
                    <a:pt x="256654" y="435483"/>
                  </a:lnTo>
                  <a:lnTo>
                    <a:pt x="276631" y="431448"/>
                  </a:lnTo>
                  <a:lnTo>
                    <a:pt x="292944" y="420449"/>
                  </a:lnTo>
                  <a:lnTo>
                    <a:pt x="303942" y="404139"/>
                  </a:lnTo>
                  <a:lnTo>
                    <a:pt x="307975" y="384175"/>
                  </a:lnTo>
                  <a:lnTo>
                    <a:pt x="307975" y="51308"/>
                  </a:lnTo>
                  <a:lnTo>
                    <a:pt x="303942" y="31343"/>
                  </a:lnTo>
                  <a:lnTo>
                    <a:pt x="292944" y="15033"/>
                  </a:lnTo>
                  <a:lnTo>
                    <a:pt x="276631" y="4034"/>
                  </a:lnTo>
                  <a:lnTo>
                    <a:pt x="2566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8931" y="4433303"/>
              <a:ext cx="379475" cy="50598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20522" y="4454398"/>
              <a:ext cx="307975" cy="435609"/>
            </a:xfrm>
            <a:custGeom>
              <a:avLst/>
              <a:gdLst/>
              <a:ahLst/>
              <a:cxnLst/>
              <a:rect l="l" t="t" r="r" b="b"/>
              <a:pathLst>
                <a:path w="307975" h="435610">
                  <a:moveTo>
                    <a:pt x="256654" y="0"/>
                  </a:moveTo>
                  <a:lnTo>
                    <a:pt x="51333" y="0"/>
                  </a:lnTo>
                  <a:lnTo>
                    <a:pt x="31353" y="4036"/>
                  </a:lnTo>
                  <a:lnTo>
                    <a:pt x="15036" y="15049"/>
                  </a:lnTo>
                  <a:lnTo>
                    <a:pt x="4034" y="31396"/>
                  </a:lnTo>
                  <a:lnTo>
                    <a:pt x="0" y="51434"/>
                  </a:lnTo>
                  <a:lnTo>
                    <a:pt x="0" y="384175"/>
                  </a:lnTo>
                  <a:lnTo>
                    <a:pt x="4034" y="404139"/>
                  </a:lnTo>
                  <a:lnTo>
                    <a:pt x="15036" y="420449"/>
                  </a:lnTo>
                  <a:lnTo>
                    <a:pt x="31353" y="431448"/>
                  </a:lnTo>
                  <a:lnTo>
                    <a:pt x="51333" y="435482"/>
                  </a:lnTo>
                  <a:lnTo>
                    <a:pt x="256654" y="435482"/>
                  </a:lnTo>
                  <a:lnTo>
                    <a:pt x="276631" y="431448"/>
                  </a:lnTo>
                  <a:lnTo>
                    <a:pt x="292944" y="420449"/>
                  </a:lnTo>
                  <a:lnTo>
                    <a:pt x="303942" y="404139"/>
                  </a:lnTo>
                  <a:lnTo>
                    <a:pt x="307975" y="384175"/>
                  </a:lnTo>
                  <a:lnTo>
                    <a:pt x="307975" y="51434"/>
                  </a:lnTo>
                  <a:lnTo>
                    <a:pt x="303942" y="31396"/>
                  </a:lnTo>
                  <a:lnTo>
                    <a:pt x="292944" y="15049"/>
                  </a:lnTo>
                  <a:lnTo>
                    <a:pt x="276631" y="4036"/>
                  </a:lnTo>
                  <a:lnTo>
                    <a:pt x="2566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456" y="5216651"/>
              <a:ext cx="379475" cy="50598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21563" y="5237860"/>
              <a:ext cx="307975" cy="435609"/>
            </a:xfrm>
            <a:custGeom>
              <a:avLst/>
              <a:gdLst/>
              <a:ahLst/>
              <a:cxnLst/>
              <a:rect l="l" t="t" r="r" b="b"/>
              <a:pathLst>
                <a:path w="307975" h="435610">
                  <a:moveTo>
                    <a:pt x="256654" y="0"/>
                  </a:moveTo>
                  <a:lnTo>
                    <a:pt x="51333" y="0"/>
                  </a:lnTo>
                  <a:lnTo>
                    <a:pt x="31353" y="4034"/>
                  </a:lnTo>
                  <a:lnTo>
                    <a:pt x="15036" y="15033"/>
                  </a:lnTo>
                  <a:lnTo>
                    <a:pt x="4034" y="31343"/>
                  </a:lnTo>
                  <a:lnTo>
                    <a:pt x="0" y="51307"/>
                  </a:lnTo>
                  <a:lnTo>
                    <a:pt x="0" y="384098"/>
                  </a:lnTo>
                  <a:lnTo>
                    <a:pt x="4034" y="404078"/>
                  </a:lnTo>
                  <a:lnTo>
                    <a:pt x="15036" y="420395"/>
                  </a:lnTo>
                  <a:lnTo>
                    <a:pt x="31353" y="431397"/>
                  </a:lnTo>
                  <a:lnTo>
                    <a:pt x="51333" y="435432"/>
                  </a:lnTo>
                  <a:lnTo>
                    <a:pt x="256654" y="435432"/>
                  </a:lnTo>
                  <a:lnTo>
                    <a:pt x="276631" y="431397"/>
                  </a:lnTo>
                  <a:lnTo>
                    <a:pt x="292944" y="420395"/>
                  </a:lnTo>
                  <a:lnTo>
                    <a:pt x="303942" y="404078"/>
                  </a:lnTo>
                  <a:lnTo>
                    <a:pt x="307974" y="384098"/>
                  </a:lnTo>
                  <a:lnTo>
                    <a:pt x="307974" y="51307"/>
                  </a:lnTo>
                  <a:lnTo>
                    <a:pt x="303942" y="31343"/>
                  </a:lnTo>
                  <a:lnTo>
                    <a:pt x="292944" y="15033"/>
                  </a:lnTo>
                  <a:lnTo>
                    <a:pt x="276631" y="4034"/>
                  </a:lnTo>
                  <a:lnTo>
                    <a:pt x="25665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7" name="object 17" descr=""/>
          <p:cNvGraphicFramePr>
            <a:graphicFrameLocks noGrp="1"/>
          </p:cNvGraphicFramePr>
          <p:nvPr/>
        </p:nvGraphicFramePr>
        <p:xfrm>
          <a:off x="214312" y="1814512"/>
          <a:ext cx="8791575" cy="393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2244725"/>
                <a:gridCol w="5572760"/>
              </a:tblGrid>
              <a:tr h="457200">
                <a:tc>
                  <a:txBody>
                    <a:bodyPr/>
                    <a:lstStyle/>
                    <a:p>
                      <a:pPr algn="r" marR="2692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Technique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272415">
                        <a:lnSpc>
                          <a:spcPct val="100000"/>
                        </a:lnSpc>
                      </a:pPr>
                      <a:r>
                        <a:rPr dirty="0" sz="13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Reconnaissance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245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Gather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much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info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about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targets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possible.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430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Required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craft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attack.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272415">
                        <a:lnSpc>
                          <a:spcPct val="100000"/>
                        </a:lnSpc>
                      </a:pPr>
                      <a:r>
                        <a:rPr dirty="0" sz="13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2032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Initial</a:t>
                      </a:r>
                      <a:r>
                        <a:rPr dirty="0" sz="18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exploitation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1540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Gain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access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network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hosts,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obtain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credentials,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etc.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9558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273685">
                        <a:lnSpc>
                          <a:spcPct val="100000"/>
                        </a:lnSpc>
                      </a:pPr>
                      <a:r>
                        <a:rPr dirty="0" sz="13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Privilege</a:t>
                      </a:r>
                      <a:r>
                        <a:rPr dirty="0" sz="1800" spc="-8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escalation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245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Gain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greater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over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systems.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434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Can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do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damage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higher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privileges.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273685">
                        <a:lnSpc>
                          <a:spcPct val="100000"/>
                        </a:lnSpc>
                      </a:pPr>
                      <a:r>
                        <a:rPr dirty="0" sz="13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Pivoting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245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Compromise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central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host.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434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Spread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other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hosts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network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segments.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r" marR="2724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3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B="0" marT="901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Persistence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245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Maintaining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access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important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goal.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64795" indent="-173355">
                        <a:lnSpc>
                          <a:spcPct val="100000"/>
                        </a:lnSpc>
                        <a:spcBef>
                          <a:spcPts val="434"/>
                        </a:spcBef>
                        <a:buClr>
                          <a:srgbClr val="EC1C23"/>
                        </a:buClr>
                        <a:buFont typeface="Arial MT"/>
                        <a:buChar char="•"/>
                        <a:tabLst>
                          <a:tab pos="264795" algn="l"/>
                        </a:tabLst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Avoiding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discovery,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erasing</a:t>
                      </a:r>
                      <a:r>
                        <a:rPr dirty="0" sz="18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traces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activity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36" y="6586266"/>
            <a:ext cx="612405" cy="13115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313301" y="6561835"/>
            <a:ext cx="4241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Copyright</a:t>
            </a:r>
            <a:r>
              <a:rPr dirty="0" sz="900" spc="-25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(c)</a:t>
            </a:r>
            <a:r>
              <a:rPr dirty="0" sz="900" spc="-2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2018</a:t>
            </a:r>
            <a:r>
              <a:rPr dirty="0" sz="900" spc="-3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CompTIA</a:t>
            </a:r>
            <a:r>
              <a:rPr dirty="0" sz="900" spc="-1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Properties,</a:t>
            </a:r>
            <a:r>
              <a:rPr dirty="0" sz="900" spc="-45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LLC.</a:t>
            </a:r>
            <a:r>
              <a:rPr dirty="0" sz="900" spc="-1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All</a:t>
            </a:r>
            <a:r>
              <a:rPr dirty="0" sz="900" spc="-2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Rights</a:t>
            </a:r>
            <a:r>
              <a:rPr dirty="0" sz="900" spc="-3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Reserved.</a:t>
            </a:r>
            <a:r>
              <a:rPr dirty="0" sz="900" spc="220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717A"/>
                </a:solidFill>
                <a:latin typeface="Arial MT"/>
                <a:cs typeface="Arial MT"/>
              </a:rPr>
              <a:t>|</a:t>
            </a:r>
            <a:r>
              <a:rPr dirty="0" sz="900" spc="225">
                <a:solidFill>
                  <a:srgbClr val="69717A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9717A"/>
                </a:solidFill>
                <a:latin typeface="Arial MT"/>
                <a:cs typeface="Arial MT"/>
              </a:rPr>
              <a:t>CompTIA.org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Intrusion</a:t>
            </a:r>
            <a:r>
              <a:rPr dirty="0" sz="2800" spc="-110"/>
              <a:t> </a:t>
            </a:r>
            <a:r>
              <a:rPr dirty="0" sz="2800"/>
              <a:t>Detection</a:t>
            </a:r>
            <a:r>
              <a:rPr dirty="0" sz="2800" spc="-95"/>
              <a:t> </a:t>
            </a:r>
            <a:r>
              <a:rPr dirty="0" sz="2800" spc="-10"/>
              <a:t>Datasets</a:t>
            </a:r>
            <a:endParaRPr sz="2800"/>
          </a:p>
        </p:txBody>
      </p:sp>
      <p:sp>
        <p:nvSpPr>
          <p:cNvPr id="5" name="object 5" descr=""/>
          <p:cNvSpPr txBox="1"/>
          <p:nvPr/>
        </p:nvSpPr>
        <p:spPr>
          <a:xfrm>
            <a:off x="777036" y="1476247"/>
            <a:ext cx="7465695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 marR="5080" indent="-257810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intrusion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detector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learning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task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build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predictive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(i.e.,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classifier)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capable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 spc="-10">
                <a:latin typeface="Arial MT"/>
                <a:cs typeface="Arial MT"/>
              </a:rPr>
              <a:t>distinguishing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between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“bad''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connections,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called </a:t>
            </a:r>
            <a:r>
              <a:rPr dirty="0" sz="2400">
                <a:latin typeface="Arial MT"/>
                <a:cs typeface="Arial MT"/>
              </a:rPr>
              <a:t>intrusions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attacks,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“good''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normal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connections.</a:t>
            </a:r>
            <a:endParaRPr sz="2400">
              <a:latin typeface="Arial MT"/>
              <a:cs typeface="Arial MT"/>
            </a:endParaRPr>
          </a:p>
          <a:p>
            <a:pPr marL="269875" marR="5397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Intrusion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Detection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Datasets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tag</a:t>
            </a:r>
            <a:r>
              <a:rPr dirty="0" sz="24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patterns</a:t>
            </a:r>
            <a:r>
              <a:rPr dirty="0" sz="24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activity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6F2F9F"/>
                </a:solidFill>
                <a:latin typeface="Arial"/>
                <a:cs typeface="Arial"/>
              </a:rPr>
              <a:t>not</a:t>
            </a:r>
            <a:r>
              <a:rPr dirty="0" sz="2400" spc="-75" b="1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6F2F9F"/>
                </a:solidFill>
                <a:latin typeface="Arial"/>
                <a:cs typeface="Arial"/>
              </a:rPr>
              <a:t>individual</a:t>
            </a:r>
            <a:r>
              <a:rPr dirty="0" sz="2400" spc="-100" b="1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6F2F9F"/>
                </a:solidFill>
                <a:latin typeface="Arial"/>
                <a:cs typeface="Arial"/>
              </a:rPr>
              <a:t>instances</a:t>
            </a:r>
            <a:r>
              <a:rPr dirty="0" sz="2400" spc="-65" b="1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(like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malware</a:t>
            </a:r>
            <a:endParaRPr sz="24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Arial MT"/>
                <a:cs typeface="Arial MT"/>
              </a:rPr>
              <a:t>/spam/phishing/uploads).</a:t>
            </a:r>
            <a:endParaRPr sz="2400">
              <a:latin typeface="Arial MT"/>
              <a:cs typeface="Arial MT"/>
            </a:endParaRPr>
          </a:p>
          <a:p>
            <a:pPr marL="269875" marR="106045" indent="-257810">
              <a:lnSpc>
                <a:spcPct val="100000"/>
              </a:lnSpc>
              <a:spcBef>
                <a:spcPts val="1800"/>
              </a:spcBef>
              <a:buChar char="•"/>
              <a:tabLst>
                <a:tab pos="269875" algn="l"/>
              </a:tabLst>
            </a:pPr>
            <a:r>
              <a:rPr dirty="0" sz="2400">
                <a:latin typeface="Arial MT"/>
                <a:cs typeface="Arial MT"/>
              </a:rPr>
              <a:t>Intrusion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Detection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Systems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designed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monitor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patterns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using</a:t>
            </a:r>
            <a:r>
              <a:rPr dirty="0" sz="2400" spc="-4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2400" spc="-2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limited</a:t>
            </a:r>
            <a:r>
              <a:rPr dirty="0" sz="2400" spc="-6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information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available</a:t>
            </a:r>
            <a:r>
              <a:rPr dirty="0" sz="2400" spc="-3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in</a:t>
            </a:r>
            <a:r>
              <a:rPr dirty="0" sz="2400" spc="-4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dirty="0" sz="2400" spc="-15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6FC0"/>
                </a:solidFill>
                <a:latin typeface="Arial"/>
                <a:cs typeface="Arial"/>
              </a:rPr>
              <a:t>network</a:t>
            </a:r>
            <a:r>
              <a:rPr dirty="0" sz="2400" spc="-70" b="1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Arial"/>
                <a:cs typeface="Arial"/>
              </a:rPr>
              <a:t>packet.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dirty="0"/>
              <a:t>KDD99</a:t>
            </a:r>
            <a:r>
              <a:rPr dirty="0" spc="-75"/>
              <a:t> </a:t>
            </a:r>
            <a:r>
              <a:rPr dirty="0" spc="-10"/>
              <a:t>Dataset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4591" y="1443355"/>
            <a:ext cx="8153400" cy="4843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9875" marR="455930" indent="-257810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connection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sequence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TCP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packets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ending</a:t>
            </a:r>
            <a:r>
              <a:rPr dirty="0" sz="2000" spc="-25">
                <a:latin typeface="Arial MT"/>
                <a:cs typeface="Arial MT"/>
              </a:rPr>
              <a:t> at </a:t>
            </a:r>
            <a:r>
              <a:rPr dirty="0" sz="2000">
                <a:latin typeface="Arial MT"/>
                <a:cs typeface="Arial MT"/>
              </a:rPr>
              <a:t>some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well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defined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times,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between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which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flows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50">
                <a:latin typeface="Arial MT"/>
                <a:cs typeface="Arial MT"/>
              </a:rPr>
              <a:t> a </a:t>
            </a:r>
            <a:r>
              <a:rPr dirty="0" sz="2000">
                <a:latin typeface="Arial MT"/>
                <a:cs typeface="Arial MT"/>
              </a:rPr>
              <a:t>source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IP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address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target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IP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address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under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some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well-defined </a:t>
            </a:r>
            <a:r>
              <a:rPr dirty="0" sz="2000">
                <a:latin typeface="Arial MT"/>
                <a:cs typeface="Arial MT"/>
              </a:rPr>
              <a:t>protocol.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connection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record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consists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about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100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bytes.</a:t>
            </a:r>
            <a:endParaRPr sz="20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spcBef>
                <a:spcPts val="1200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connection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labeled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either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normal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specific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attack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type</a:t>
            </a:r>
            <a:r>
              <a:rPr dirty="0" sz="2000" spc="-10">
                <a:latin typeface="Arial MT"/>
                <a:cs typeface="Arial MT"/>
              </a:rPr>
              <a:t>.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datasets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contain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total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22</a:t>
            </a:r>
            <a:r>
              <a:rPr dirty="0" sz="20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training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attack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types,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 </a:t>
            </a:r>
            <a:r>
              <a:rPr dirty="0" sz="2000">
                <a:latin typeface="Arial MT"/>
                <a:cs typeface="Arial MT"/>
              </a:rPr>
              <a:t>additional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FF0000"/>
                </a:solidFill>
                <a:latin typeface="Arial MT"/>
                <a:cs typeface="Arial MT"/>
              </a:rPr>
              <a:t>17</a:t>
            </a:r>
            <a:r>
              <a:rPr dirty="0" sz="20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types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test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only.</a:t>
            </a:r>
            <a:endParaRPr sz="20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1205"/>
              </a:spcBef>
              <a:buChar char="•"/>
              <a:tabLst>
                <a:tab pos="269875" algn="l"/>
              </a:tabLst>
            </a:pPr>
            <a:r>
              <a:rPr dirty="0" sz="2000">
                <a:latin typeface="Arial MT"/>
                <a:cs typeface="Arial MT"/>
              </a:rPr>
              <a:t>Attack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types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(exploits)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fall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four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 b="1">
                <a:latin typeface="Arial"/>
                <a:cs typeface="Arial"/>
              </a:rPr>
              <a:t>categories</a:t>
            </a:r>
            <a:r>
              <a:rPr dirty="0" sz="2000" spc="-1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1" marL="568960" indent="-213360">
              <a:lnSpc>
                <a:spcPct val="100000"/>
              </a:lnSpc>
              <a:spcBef>
                <a:spcPts val="475"/>
              </a:spcBef>
              <a:buFont typeface="Arial MT"/>
              <a:buChar char="–"/>
              <a:tabLst>
                <a:tab pos="568960" algn="l"/>
              </a:tabLst>
            </a:pP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DOS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denial-of-</a:t>
            </a:r>
            <a:r>
              <a:rPr dirty="0" sz="2000">
                <a:latin typeface="Arial MT"/>
                <a:cs typeface="Arial MT"/>
              </a:rPr>
              <a:t>service,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e.g.,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syn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flood;</a:t>
            </a:r>
            <a:endParaRPr sz="2000">
              <a:latin typeface="Arial MT"/>
              <a:cs typeface="Arial MT"/>
            </a:endParaRPr>
          </a:p>
          <a:p>
            <a:pPr lvl="1" marL="568960" indent="-21336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568960" algn="l"/>
              </a:tabLst>
            </a:pP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Probe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surveillance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other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probing,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e.g.,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port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scanning;</a:t>
            </a:r>
            <a:endParaRPr sz="2000">
              <a:latin typeface="Arial MT"/>
              <a:cs typeface="Arial MT"/>
            </a:endParaRPr>
          </a:p>
          <a:p>
            <a:pPr lvl="1" marL="569595" indent="-213995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569595" algn="l"/>
              </a:tabLst>
            </a:pPr>
            <a:r>
              <a:rPr dirty="0" sz="2000" b="1">
                <a:solidFill>
                  <a:srgbClr val="006FC0"/>
                </a:solidFill>
                <a:latin typeface="Arial"/>
                <a:cs typeface="Arial"/>
              </a:rPr>
              <a:t>R2L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remote-to-</a:t>
            </a:r>
            <a:r>
              <a:rPr dirty="0" sz="2000">
                <a:latin typeface="Arial MT"/>
                <a:cs typeface="Arial MT"/>
              </a:rPr>
              <a:t>local,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unauthorized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access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remote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machine,</a:t>
            </a:r>
            <a:endParaRPr sz="2000">
              <a:latin typeface="Arial MT"/>
              <a:cs typeface="Arial MT"/>
            </a:endParaRPr>
          </a:p>
          <a:p>
            <a:pPr marL="57023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 MT"/>
                <a:cs typeface="Arial MT"/>
              </a:rPr>
              <a:t>e.g.,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guessing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password;</a:t>
            </a:r>
            <a:endParaRPr sz="2000">
              <a:latin typeface="Arial MT"/>
              <a:cs typeface="Arial MT"/>
            </a:endParaRPr>
          </a:p>
          <a:p>
            <a:pPr marL="570230" marR="327660" indent="-215265">
              <a:lnSpc>
                <a:spcPct val="100000"/>
              </a:lnSpc>
              <a:spcBef>
                <a:spcPts val="480"/>
              </a:spcBef>
              <a:tabLst>
                <a:tab pos="1290320" algn="l"/>
              </a:tabLst>
            </a:pPr>
            <a:r>
              <a:rPr dirty="0" sz="2000">
                <a:solidFill>
                  <a:srgbClr val="006FC0"/>
                </a:solidFill>
                <a:latin typeface="Arial MT"/>
                <a:cs typeface="Arial MT"/>
              </a:rPr>
              <a:t>–</a:t>
            </a:r>
            <a:r>
              <a:rPr dirty="0" sz="2000" spc="2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dirty="0" sz="2000" spc="-20" b="1">
                <a:solidFill>
                  <a:srgbClr val="006FC0"/>
                </a:solidFill>
                <a:latin typeface="Arial"/>
                <a:cs typeface="Arial"/>
              </a:rPr>
              <a:t>U2R</a:t>
            </a:r>
            <a:r>
              <a:rPr dirty="0" sz="2000" spc="-20">
                <a:latin typeface="Arial MT"/>
                <a:cs typeface="Arial MT"/>
              </a:rPr>
              <a:t>:</a:t>
            </a:r>
            <a:r>
              <a:rPr dirty="0" sz="2000">
                <a:latin typeface="Arial MT"/>
                <a:cs typeface="Arial MT"/>
              </a:rPr>
              <a:t>	user-</a:t>
            </a:r>
            <a:r>
              <a:rPr dirty="0" sz="2000" spc="-10">
                <a:latin typeface="Arial MT"/>
                <a:cs typeface="Arial MT"/>
              </a:rPr>
              <a:t>to-</a:t>
            </a:r>
            <a:r>
              <a:rPr dirty="0" sz="2000">
                <a:latin typeface="Arial MT"/>
                <a:cs typeface="Arial MT"/>
              </a:rPr>
              <a:t>root,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unauthorized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access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local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superuser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(root) </a:t>
            </a:r>
            <a:r>
              <a:rPr dirty="0" sz="2000">
                <a:latin typeface="Arial MT"/>
                <a:cs typeface="Arial MT"/>
              </a:rPr>
              <a:t>privileges,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e.g.,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various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“buffer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overflow''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attacks.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dirty="0"/>
              <a:t>KDD99</a:t>
            </a:r>
            <a:r>
              <a:rPr dirty="0" spc="-75"/>
              <a:t> </a:t>
            </a:r>
            <a:r>
              <a:rPr dirty="0" spc="-10"/>
              <a:t>Dataset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73659" y="1648841"/>
          <a:ext cx="8520430" cy="2927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9255"/>
                <a:gridCol w="5396230"/>
                <a:gridCol w="1375409"/>
              </a:tblGrid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16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duration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length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(number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seconds)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connection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protocol_type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type 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protocol,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e.g.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tcp,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udp,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etc.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network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destination,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e.g.,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http,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telnet,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etc.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src_bytes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bytes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destination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dst_bytes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bytes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destination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source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flag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normal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error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status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connection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land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from/to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host/port;</a:t>
                      </a:r>
                      <a:r>
                        <a:rPr dirty="0" sz="16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otherwise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wrong_fragment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``wrong''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fragments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urgent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urgent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packets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Basic</a:t>
                      </a:r>
                      <a:r>
                        <a:rPr dirty="0" sz="16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features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individual</a:t>
                      </a:r>
                      <a:r>
                        <a:rPr dirty="0" sz="16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TCP</a:t>
                      </a:r>
                      <a:r>
                        <a:rPr dirty="0" sz="16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connections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dirty="0"/>
              <a:t>KDD99</a:t>
            </a:r>
            <a:r>
              <a:rPr dirty="0" spc="-75"/>
              <a:t> </a:t>
            </a:r>
            <a:r>
              <a:rPr dirty="0" spc="-10"/>
              <a:t>Dataset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74433" y="1411350"/>
          <a:ext cx="7744459" cy="4387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9125"/>
                <a:gridCol w="4441825"/>
                <a:gridCol w="1323975"/>
              </a:tblGrid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16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250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194945">
                        <a:lnSpc>
                          <a:spcPts val="1910"/>
                        </a:lnSpc>
                        <a:spcBef>
                          <a:spcPts val="7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6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u="sng" sz="1600" spc="-3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6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u="sng" sz="1600" spc="-25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6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host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the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current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past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two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seconds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8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50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7445" marR="293370" indent="-792480">
                        <a:lnSpc>
                          <a:spcPts val="1910"/>
                        </a:lnSpc>
                        <a:spcBef>
                          <a:spcPts val="70"/>
                        </a:spcBef>
                      </a:pPr>
                      <a:r>
                        <a:rPr dirty="0" sz="1600" i="1">
                          <a:latin typeface="Arial"/>
                          <a:cs typeface="Arial"/>
                        </a:rPr>
                        <a:t>Note:</a:t>
                      </a:r>
                      <a:r>
                        <a:rPr dirty="0" sz="16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4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following</a:t>
                      </a:r>
                      <a:r>
                        <a:rPr dirty="0" sz="1600" spc="-4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features</a:t>
                      </a:r>
                      <a:r>
                        <a:rPr dirty="0" sz="16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refer</a:t>
                      </a:r>
                      <a:r>
                        <a:rPr dirty="0" sz="16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i="1">
                          <a:latin typeface="Arial"/>
                          <a:cs typeface="Arial"/>
                        </a:rPr>
                        <a:t>these </a:t>
                      </a:r>
                      <a:r>
                        <a:rPr dirty="0" sz="1600" spc="-20" i="1">
                          <a:latin typeface="Arial"/>
                          <a:cs typeface="Arial"/>
                        </a:rPr>
                        <a:t>same-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host</a:t>
                      </a:r>
                      <a:r>
                        <a:rPr dirty="0" sz="1600" spc="3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i="1">
                          <a:latin typeface="Arial"/>
                          <a:cs typeface="Arial"/>
                        </a:rPr>
                        <a:t>connections.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serror_rate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``SYN''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errors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rerror_rate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``REJ''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errors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same_srv_rate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service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diff_srv_rate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services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srv_count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250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233045">
                        <a:lnSpc>
                          <a:spcPts val="1910"/>
                        </a:lnSpc>
                        <a:spcBef>
                          <a:spcPts val="7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6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u="sng" sz="1600" spc="-35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6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same</a:t>
                      </a:r>
                      <a:r>
                        <a:rPr dirty="0" u="sng" sz="1600" spc="-35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sng" sz="16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as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current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past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two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seconds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8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1250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7905" marR="293370" indent="-662940">
                        <a:lnSpc>
                          <a:spcPts val="1910"/>
                        </a:lnSpc>
                        <a:spcBef>
                          <a:spcPts val="70"/>
                        </a:spcBef>
                      </a:pPr>
                      <a:r>
                        <a:rPr dirty="0" sz="1600" i="1">
                          <a:latin typeface="Arial"/>
                          <a:cs typeface="Arial"/>
                        </a:rPr>
                        <a:t>Note:</a:t>
                      </a:r>
                      <a:r>
                        <a:rPr dirty="0" sz="16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4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following</a:t>
                      </a:r>
                      <a:r>
                        <a:rPr dirty="0" sz="1600" spc="-4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features</a:t>
                      </a:r>
                      <a:r>
                        <a:rPr dirty="0" sz="1600" spc="-1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refer</a:t>
                      </a:r>
                      <a:r>
                        <a:rPr dirty="0" sz="1600" spc="-1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2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i="1">
                          <a:latin typeface="Arial"/>
                          <a:cs typeface="Arial"/>
                        </a:rPr>
                        <a:t>these </a:t>
                      </a:r>
                      <a:r>
                        <a:rPr dirty="0" sz="1600" spc="-20" i="1">
                          <a:latin typeface="Arial"/>
                          <a:cs typeface="Arial"/>
                        </a:rPr>
                        <a:t>same-</a:t>
                      </a:r>
                      <a:r>
                        <a:rPr dirty="0" sz="1600" i="1">
                          <a:latin typeface="Arial"/>
                          <a:cs typeface="Arial"/>
                        </a:rPr>
                        <a:t>service </a:t>
                      </a:r>
                      <a:r>
                        <a:rPr dirty="0" sz="1600" spc="-10" i="1">
                          <a:latin typeface="Arial"/>
                          <a:cs typeface="Arial"/>
                        </a:rPr>
                        <a:t>connections.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srv_serror_rate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``SYN''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errors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srv_rerror_rate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``REJ''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errors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srv_diff_host_rate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%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connections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hosts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 gridSpan="3">
                  <a:txBody>
                    <a:bodyPr/>
                    <a:lstStyle/>
                    <a:p>
                      <a:pPr algn="ctr" marL="1123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features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computed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using</a:t>
                      </a:r>
                      <a:r>
                        <a:rPr dirty="0" sz="16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6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two-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second</a:t>
                      </a:r>
                      <a:r>
                        <a:rPr dirty="0" sz="16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window.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5300">
              <a:lnSpc>
                <a:spcPct val="100000"/>
              </a:lnSpc>
              <a:spcBef>
                <a:spcPts val="100"/>
              </a:spcBef>
            </a:pPr>
            <a:r>
              <a:rPr dirty="0"/>
              <a:t>KDD99</a:t>
            </a:r>
            <a:r>
              <a:rPr dirty="0" spc="-75"/>
              <a:t> </a:t>
            </a:r>
            <a:r>
              <a:rPr dirty="0" spc="-10"/>
              <a:t>Dataset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328028" y="6673101"/>
            <a:ext cx="143573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 MT"/>
                <a:cs typeface="Arial MT"/>
              </a:rPr>
              <a:t>Slide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&lt;#&gt;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13169" y="1577594"/>
          <a:ext cx="8521700" cy="3936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1075"/>
                <a:gridCol w="4895215"/>
                <a:gridCol w="1285240"/>
              </a:tblGrid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r>
                        <a:rPr dirty="0" sz="16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hot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``hot''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indicators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num_failed_logins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failed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login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attempts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logged_in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successfully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logged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in;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6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otherwise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num_compromised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``compromised''</a:t>
                      </a:r>
                      <a:r>
                        <a:rPr dirty="0" sz="16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conditions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root_shell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root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shell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obtained;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otherwise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su_attempted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``su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root''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command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attempted; 0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otherwise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num_root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``root''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accesses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num_file_creations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file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creation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operations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num_shells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shell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prompts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num_access_files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operations</a:t>
                      </a:r>
                      <a:r>
                        <a:rPr dirty="0" sz="16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6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access</a:t>
                      </a:r>
                      <a:r>
                        <a:rPr dirty="0" sz="16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files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num_outbound_cmds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number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outbound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commands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6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ftp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session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continuous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is_hot_login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login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belongs</a:t>
                      </a:r>
                      <a:r>
                        <a:rPr dirty="0" sz="16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``hot'' list;</a:t>
                      </a:r>
                      <a:r>
                        <a:rPr dirty="0" sz="16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otherwise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is_guest_login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login</a:t>
                      </a:r>
                      <a:r>
                        <a:rPr dirty="0" sz="16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6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``guest''login;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16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10">
                          <a:latin typeface="Arial MT"/>
                          <a:cs typeface="Arial MT"/>
                        </a:rPr>
                        <a:t>otherwise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spc="-10">
                          <a:latin typeface="Arial MT"/>
                          <a:cs typeface="Arial MT"/>
                        </a:rPr>
                        <a:t>discrete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</a:tr>
              <a:tr h="262890">
                <a:tc gridSpan="3">
                  <a:txBody>
                    <a:bodyPr/>
                    <a:lstStyle/>
                    <a:p>
                      <a:pPr marL="7747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Content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features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within</a:t>
                      </a:r>
                      <a:r>
                        <a:rPr dirty="0" sz="16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connection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suggested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6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domain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knowledge.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dc:title>PowerPoint Presentation</dc:title>
  <dcterms:created xsi:type="dcterms:W3CDTF">2025-12-26T00:25:22Z</dcterms:created>
  <dcterms:modified xsi:type="dcterms:W3CDTF">2025-12-26T00:25:22Z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2025-12-26T00:00:00Z</vt:filetime>
  </property>
  <property fmtid="{D5CDD505-2E9C-101B-9397-08002B2CF9AE}" pid="5" name="Producer">
    <vt:lpwstr>Microsoft® PowerPoint® for Microsoft 365</vt:lpwstr>
  </property>
</Properties>
</file>