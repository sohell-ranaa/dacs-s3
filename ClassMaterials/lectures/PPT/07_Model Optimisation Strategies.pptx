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rgbClr val="0070B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rgbClr val="0070B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rgbClr val="0070B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rgbClr val="0070B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rgbClr val="0070B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rgbClr val="0070B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263383"/>
            <a:ext cx="10058400" cy="39471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30411" y="114300"/>
            <a:ext cx="1427987" cy="142951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7351776"/>
            <a:ext cx="10058400" cy="3032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3266" y="522302"/>
            <a:ext cx="7284797" cy="919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rgbClr val="0070B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5828" y="1937525"/>
            <a:ext cx="8851900" cy="47694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rgbClr val="0070B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6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rasbt.github/" TargetMode="External"/><Relationship Id="rId3" Type="http://schemas.openxmlformats.org/officeDocument/2006/relationships/image" Target="../media/image16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hyperlink" Target="http://www.kaggle.com/code/rafjaa/resampling-strategies-for-imbalanced-datasets" TargetMode="Externa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434547" y="7393949"/>
            <a:ext cx="33020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 spc="-10">
                <a:solidFill>
                  <a:srgbClr val="BFF9FB"/>
                </a:solidFill>
                <a:latin typeface="Verdana"/>
                <a:cs typeface="Verdana"/>
              </a:rPr>
              <a:t>SLIDE</a:t>
            </a:r>
            <a:r>
              <a:rPr dirty="0" sz="650" spc="-35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 spc="-110">
                <a:solidFill>
                  <a:srgbClr val="BFF9FB"/>
                </a:solidFill>
                <a:latin typeface="Verdana"/>
                <a:cs typeface="Verdana"/>
              </a:rPr>
              <a:t>1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412" y="7393949"/>
            <a:ext cx="1212215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BFF9FB"/>
                </a:solidFill>
                <a:latin typeface="Verdana"/>
                <a:cs typeface="Verdana"/>
              </a:rPr>
              <a:t>Module</a:t>
            </a:r>
            <a:r>
              <a:rPr dirty="0" sz="650" spc="60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BFF9FB"/>
                </a:solidFill>
                <a:latin typeface="Verdana"/>
                <a:cs typeface="Verdana"/>
              </a:rPr>
              <a:t>Code</a:t>
            </a:r>
            <a:r>
              <a:rPr dirty="0" sz="650" spc="65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BFF9FB"/>
                </a:solidFill>
                <a:latin typeface="Verdana"/>
                <a:cs typeface="Verdana"/>
              </a:rPr>
              <a:t>&amp;</a:t>
            </a:r>
            <a:r>
              <a:rPr dirty="0" sz="650" spc="55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BFF9FB"/>
                </a:solidFill>
                <a:latin typeface="Verdana"/>
                <a:cs typeface="Verdana"/>
              </a:rPr>
              <a:t>Module</a:t>
            </a:r>
            <a:r>
              <a:rPr dirty="0" sz="650" spc="40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BFF9FB"/>
                </a:solidFill>
                <a:latin typeface="Verdana"/>
                <a:cs typeface="Verdana"/>
              </a:rPr>
              <a:t>Title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82388" y="7377185"/>
            <a:ext cx="433705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BFF9FB"/>
                </a:solidFill>
                <a:latin typeface="Verdana"/>
                <a:cs typeface="Verdana"/>
              </a:rPr>
              <a:t>Slide</a:t>
            </a:r>
            <a:r>
              <a:rPr dirty="0" sz="650" spc="-30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BFF9FB"/>
                </a:solidFill>
                <a:latin typeface="Verdana"/>
                <a:cs typeface="Verdana"/>
              </a:rPr>
              <a:t>Title</a:t>
            </a:r>
            <a:endParaRPr sz="650">
              <a:latin typeface="Verdana"/>
              <a:cs typeface="Verdan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60764" y="114300"/>
            <a:ext cx="897635" cy="1193291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118126" y="3498548"/>
            <a:ext cx="5055235" cy="16217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6830" marR="265430">
              <a:lnSpc>
                <a:spcPct val="100000"/>
              </a:lnSpc>
              <a:spcBef>
                <a:spcPts val="95"/>
              </a:spcBef>
            </a:pPr>
            <a:r>
              <a:rPr dirty="0" sz="2750" spc="-60">
                <a:solidFill>
                  <a:srgbClr val="082F50"/>
                </a:solidFill>
                <a:latin typeface="Tahoma"/>
                <a:cs typeface="Tahoma"/>
              </a:rPr>
              <a:t>Data</a:t>
            </a:r>
            <a:r>
              <a:rPr dirty="0" sz="2750" spc="-12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750" spc="-10">
                <a:solidFill>
                  <a:srgbClr val="082F50"/>
                </a:solidFill>
                <a:latin typeface="Tahoma"/>
                <a:cs typeface="Tahoma"/>
              </a:rPr>
              <a:t>Analytics</a:t>
            </a:r>
            <a:r>
              <a:rPr dirty="0" sz="2750" spc="-13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750">
                <a:solidFill>
                  <a:srgbClr val="082F50"/>
                </a:solidFill>
                <a:latin typeface="Tahoma"/>
                <a:cs typeface="Tahoma"/>
              </a:rPr>
              <a:t>in</a:t>
            </a:r>
            <a:r>
              <a:rPr dirty="0" sz="2750" spc="-13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750" spc="-70">
                <a:solidFill>
                  <a:srgbClr val="082F50"/>
                </a:solidFill>
                <a:latin typeface="Tahoma"/>
                <a:cs typeface="Tahoma"/>
              </a:rPr>
              <a:t>Cyber</a:t>
            </a:r>
            <a:r>
              <a:rPr dirty="0" sz="2750" spc="-13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750" spc="-25">
                <a:solidFill>
                  <a:srgbClr val="082F50"/>
                </a:solidFill>
                <a:latin typeface="Tahoma"/>
                <a:cs typeface="Tahoma"/>
              </a:rPr>
              <a:t>Security </a:t>
            </a:r>
            <a:r>
              <a:rPr dirty="0" sz="2750" spc="-50">
                <a:solidFill>
                  <a:srgbClr val="082F50"/>
                </a:solidFill>
                <a:latin typeface="Tahoma"/>
                <a:cs typeface="Tahoma"/>
              </a:rPr>
              <a:t>CT115-</a:t>
            </a:r>
            <a:r>
              <a:rPr dirty="0" sz="2750" spc="-20">
                <a:solidFill>
                  <a:srgbClr val="082F50"/>
                </a:solidFill>
                <a:latin typeface="Tahoma"/>
                <a:cs typeface="Tahoma"/>
              </a:rPr>
              <a:t>3-</a:t>
            </a:r>
            <a:r>
              <a:rPr dirty="0" sz="2750">
                <a:solidFill>
                  <a:srgbClr val="082F50"/>
                </a:solidFill>
                <a:latin typeface="Tahoma"/>
                <a:cs typeface="Tahoma"/>
              </a:rPr>
              <a:t>M</a:t>
            </a:r>
            <a:r>
              <a:rPr dirty="0" sz="2750" spc="-114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750" spc="-60">
                <a:solidFill>
                  <a:srgbClr val="082F50"/>
                </a:solidFill>
                <a:latin typeface="Tahoma"/>
                <a:cs typeface="Tahoma"/>
              </a:rPr>
              <a:t>(Version</a:t>
            </a:r>
            <a:r>
              <a:rPr dirty="0" sz="2750" spc="-7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750" spc="-25">
                <a:solidFill>
                  <a:srgbClr val="082F50"/>
                </a:solidFill>
                <a:latin typeface="Tahoma"/>
                <a:cs typeface="Tahoma"/>
              </a:rPr>
              <a:t>E)</a:t>
            </a:r>
            <a:endParaRPr sz="2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25"/>
              </a:spcBef>
            </a:pPr>
            <a:r>
              <a:rPr dirty="0" sz="2450" spc="-55" b="1">
                <a:solidFill>
                  <a:srgbClr val="0070BF"/>
                </a:solidFill>
                <a:latin typeface="Verdana"/>
                <a:cs typeface="Verdana"/>
              </a:rPr>
              <a:t>Model</a:t>
            </a:r>
            <a:r>
              <a:rPr dirty="0" sz="2450" spc="-150" b="1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dirty="0" sz="2450" spc="-70" b="1">
                <a:solidFill>
                  <a:srgbClr val="0070BF"/>
                </a:solidFill>
                <a:latin typeface="Verdana"/>
                <a:cs typeface="Verdana"/>
              </a:rPr>
              <a:t>Optimisation</a:t>
            </a:r>
            <a:r>
              <a:rPr dirty="0" sz="2450" spc="-90" b="1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dirty="0" sz="2450" spc="-65" b="1">
                <a:solidFill>
                  <a:srgbClr val="0070BF"/>
                </a:solidFill>
                <a:latin typeface="Verdana"/>
                <a:cs typeface="Verdana"/>
              </a:rPr>
              <a:t>Strategies</a:t>
            </a:r>
            <a:endParaRPr sz="24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263383"/>
            <a:ext cx="10058400" cy="39471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426951" y="7393949"/>
            <a:ext cx="347345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 spc="-10">
                <a:solidFill>
                  <a:srgbClr val="BFF9FB"/>
                </a:solidFill>
                <a:latin typeface="Verdana"/>
                <a:cs typeface="Verdana"/>
              </a:rPr>
              <a:t>SLIDE</a:t>
            </a:r>
            <a:r>
              <a:rPr dirty="0" sz="650" spc="-35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BFF9FB"/>
                </a:solidFill>
                <a:latin typeface="Verdana"/>
                <a:cs typeface="Verdana"/>
              </a:rPr>
              <a:t>2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1412" y="7393949"/>
            <a:ext cx="1212215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BFF9FB"/>
                </a:solidFill>
                <a:latin typeface="Verdana"/>
                <a:cs typeface="Verdana"/>
              </a:rPr>
              <a:t>Module</a:t>
            </a:r>
            <a:r>
              <a:rPr dirty="0" sz="650" spc="60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BFF9FB"/>
                </a:solidFill>
                <a:latin typeface="Verdana"/>
                <a:cs typeface="Verdana"/>
              </a:rPr>
              <a:t>Code</a:t>
            </a:r>
            <a:r>
              <a:rPr dirty="0" sz="650" spc="65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BFF9FB"/>
                </a:solidFill>
                <a:latin typeface="Verdana"/>
                <a:cs typeface="Verdana"/>
              </a:rPr>
              <a:t>&amp;</a:t>
            </a:r>
            <a:r>
              <a:rPr dirty="0" sz="650" spc="55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BFF9FB"/>
                </a:solidFill>
                <a:latin typeface="Verdana"/>
                <a:cs typeface="Verdana"/>
              </a:rPr>
              <a:t>Module</a:t>
            </a:r>
            <a:r>
              <a:rPr dirty="0" sz="650" spc="40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BFF9FB"/>
                </a:solidFill>
                <a:latin typeface="Verdana"/>
                <a:cs typeface="Verdana"/>
              </a:rPr>
              <a:t>Title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82388" y="7377185"/>
            <a:ext cx="433705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BFF9FB"/>
                </a:solidFill>
                <a:latin typeface="Verdana"/>
                <a:cs typeface="Verdana"/>
              </a:rPr>
              <a:t>Slide</a:t>
            </a:r>
            <a:r>
              <a:rPr dirty="0" sz="650" spc="-30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BFF9FB"/>
                </a:solidFill>
                <a:latin typeface="Verdana"/>
                <a:cs typeface="Verdana"/>
              </a:rPr>
              <a:t>Title</a:t>
            </a:r>
            <a:endParaRPr sz="65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60764" y="114300"/>
            <a:ext cx="897635" cy="1193291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98183" y="1940153"/>
            <a:ext cx="6229350" cy="1536065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At</a:t>
            </a:r>
            <a:r>
              <a:rPr dirty="0" sz="2050" spc="-12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the</a:t>
            </a:r>
            <a:r>
              <a:rPr dirty="0" sz="2050" spc="-12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10">
                <a:solidFill>
                  <a:srgbClr val="082F50"/>
                </a:solidFill>
                <a:latin typeface="Tahoma"/>
                <a:cs typeface="Tahoma"/>
              </a:rPr>
              <a:t>end</a:t>
            </a:r>
            <a:r>
              <a:rPr dirty="0" sz="2050" spc="-10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of</a:t>
            </a:r>
            <a:r>
              <a:rPr dirty="0" sz="2050" spc="-10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this</a:t>
            </a:r>
            <a:r>
              <a:rPr dirty="0" sz="2050" spc="-11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25">
                <a:solidFill>
                  <a:srgbClr val="082F50"/>
                </a:solidFill>
                <a:latin typeface="Tahoma"/>
                <a:cs typeface="Tahoma"/>
              </a:rPr>
              <a:t>topic,</a:t>
            </a:r>
            <a:r>
              <a:rPr dirty="0" sz="2050" spc="-11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35">
                <a:solidFill>
                  <a:srgbClr val="082F50"/>
                </a:solidFill>
                <a:latin typeface="Tahoma"/>
                <a:cs typeface="Tahoma"/>
              </a:rPr>
              <a:t>you</a:t>
            </a:r>
            <a:r>
              <a:rPr dirty="0" sz="2050" spc="-10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should</a:t>
            </a:r>
            <a:r>
              <a:rPr dirty="0" sz="2050" spc="-10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10">
                <a:solidFill>
                  <a:srgbClr val="082F50"/>
                </a:solidFill>
                <a:latin typeface="Tahoma"/>
                <a:cs typeface="Tahoma"/>
              </a:rPr>
              <a:t>be</a:t>
            </a:r>
            <a:r>
              <a:rPr dirty="0" sz="2050" spc="-12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able</a:t>
            </a:r>
            <a:r>
              <a:rPr dirty="0" sz="2050" spc="-10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25">
                <a:solidFill>
                  <a:srgbClr val="082F50"/>
                </a:solidFill>
                <a:latin typeface="Tahoma"/>
                <a:cs typeface="Tahoma"/>
              </a:rPr>
              <a:t>to:</a:t>
            </a:r>
            <a:endParaRPr sz="2050">
              <a:latin typeface="Tahoma"/>
              <a:cs typeface="Tahoma"/>
            </a:endParaRPr>
          </a:p>
          <a:p>
            <a:pPr marL="402590" indent="-389890">
              <a:lnSpc>
                <a:spcPct val="100000"/>
              </a:lnSpc>
              <a:spcBef>
                <a:spcPts val="520"/>
              </a:spcBef>
              <a:buAutoNum type="arabicPeriod"/>
              <a:tabLst>
                <a:tab pos="402590" algn="l"/>
              </a:tabLst>
            </a:pPr>
            <a:r>
              <a:rPr dirty="0" sz="2050" spc="-30">
                <a:solidFill>
                  <a:srgbClr val="082F50"/>
                </a:solidFill>
                <a:latin typeface="Tahoma"/>
                <a:cs typeface="Tahoma"/>
              </a:rPr>
              <a:t>Understand</a:t>
            </a:r>
            <a:r>
              <a:rPr dirty="0" sz="2050" spc="-7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the</a:t>
            </a:r>
            <a:r>
              <a:rPr dirty="0" sz="2050" spc="-10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25">
                <a:solidFill>
                  <a:srgbClr val="082F50"/>
                </a:solidFill>
                <a:latin typeface="Tahoma"/>
                <a:cs typeface="Tahoma"/>
              </a:rPr>
              <a:t>concepts</a:t>
            </a:r>
            <a:r>
              <a:rPr dirty="0" sz="2050" spc="-114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of</a:t>
            </a:r>
            <a:r>
              <a:rPr dirty="0" sz="2050" spc="-114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40">
                <a:solidFill>
                  <a:srgbClr val="082F50"/>
                </a:solidFill>
                <a:latin typeface="Tahoma"/>
                <a:cs typeface="Tahoma"/>
              </a:rPr>
              <a:t>Hyperparameter</a:t>
            </a:r>
            <a:r>
              <a:rPr dirty="0" sz="2050" spc="-9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10">
                <a:solidFill>
                  <a:srgbClr val="082F50"/>
                </a:solidFill>
                <a:latin typeface="Tahoma"/>
                <a:cs typeface="Tahoma"/>
              </a:rPr>
              <a:t>Tuning</a:t>
            </a:r>
            <a:endParaRPr sz="2050">
              <a:latin typeface="Tahoma"/>
              <a:cs typeface="Tahoma"/>
            </a:endParaRPr>
          </a:p>
          <a:p>
            <a:pPr marL="402590" indent="-389890">
              <a:lnSpc>
                <a:spcPct val="100000"/>
              </a:lnSpc>
              <a:spcBef>
                <a:spcPts val="500"/>
              </a:spcBef>
              <a:buAutoNum type="arabicPeriod"/>
              <a:tabLst>
                <a:tab pos="402590" algn="l"/>
              </a:tabLst>
            </a:pPr>
            <a:r>
              <a:rPr dirty="0" sz="2050" spc="-30">
                <a:solidFill>
                  <a:srgbClr val="082F50"/>
                </a:solidFill>
                <a:latin typeface="Tahoma"/>
                <a:cs typeface="Tahoma"/>
              </a:rPr>
              <a:t>Understand</a:t>
            </a:r>
            <a:r>
              <a:rPr dirty="0" sz="2050" spc="-7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the</a:t>
            </a:r>
            <a:r>
              <a:rPr dirty="0" sz="2050" spc="-11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25">
                <a:solidFill>
                  <a:srgbClr val="082F50"/>
                </a:solidFill>
                <a:latin typeface="Tahoma"/>
                <a:cs typeface="Tahoma"/>
              </a:rPr>
              <a:t>concepts</a:t>
            </a:r>
            <a:r>
              <a:rPr dirty="0" sz="2050" spc="-12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of</a:t>
            </a:r>
            <a:r>
              <a:rPr dirty="0" sz="2050" spc="-11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30">
                <a:solidFill>
                  <a:srgbClr val="082F50"/>
                </a:solidFill>
                <a:latin typeface="Tahoma"/>
                <a:cs typeface="Tahoma"/>
              </a:rPr>
              <a:t>Feature</a:t>
            </a:r>
            <a:r>
              <a:rPr dirty="0" sz="2050" spc="-9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10">
                <a:solidFill>
                  <a:srgbClr val="082F50"/>
                </a:solidFill>
                <a:latin typeface="Tahoma"/>
                <a:cs typeface="Tahoma"/>
              </a:rPr>
              <a:t>Selection</a:t>
            </a:r>
            <a:endParaRPr sz="2050">
              <a:latin typeface="Tahoma"/>
              <a:cs typeface="Tahoma"/>
            </a:endParaRPr>
          </a:p>
          <a:p>
            <a:pPr marL="402590" indent="-389890">
              <a:lnSpc>
                <a:spcPct val="100000"/>
              </a:lnSpc>
              <a:spcBef>
                <a:spcPts val="520"/>
              </a:spcBef>
              <a:buAutoNum type="arabicPeriod"/>
              <a:tabLst>
                <a:tab pos="402590" algn="l"/>
              </a:tabLst>
            </a:pPr>
            <a:r>
              <a:rPr dirty="0" sz="2050" spc="-30">
                <a:solidFill>
                  <a:srgbClr val="082F50"/>
                </a:solidFill>
                <a:latin typeface="Tahoma"/>
                <a:cs typeface="Tahoma"/>
              </a:rPr>
              <a:t>Understand</a:t>
            </a:r>
            <a:r>
              <a:rPr dirty="0" sz="2050" spc="-6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the</a:t>
            </a:r>
            <a:r>
              <a:rPr dirty="0" sz="2050" spc="-10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25">
                <a:solidFill>
                  <a:srgbClr val="082F50"/>
                </a:solidFill>
                <a:latin typeface="Tahoma"/>
                <a:cs typeface="Tahoma"/>
              </a:rPr>
              <a:t>concepts</a:t>
            </a:r>
            <a:r>
              <a:rPr dirty="0" sz="2050" spc="-11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of</a:t>
            </a:r>
            <a:r>
              <a:rPr dirty="0" sz="2050" spc="-10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45">
                <a:solidFill>
                  <a:srgbClr val="082F50"/>
                </a:solidFill>
                <a:latin typeface="Tahoma"/>
                <a:cs typeface="Tahoma"/>
              </a:rPr>
              <a:t>Re-</a:t>
            </a:r>
            <a:r>
              <a:rPr dirty="0" sz="2050" spc="-10">
                <a:solidFill>
                  <a:srgbClr val="082F50"/>
                </a:solidFill>
                <a:latin typeface="Tahoma"/>
                <a:cs typeface="Tahoma"/>
              </a:rPr>
              <a:t>Sampling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3266" y="829925"/>
            <a:ext cx="4862830" cy="40259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45"/>
              <a:t>TOPIC</a:t>
            </a:r>
            <a:r>
              <a:rPr dirty="0" spc="-85"/>
              <a:t> </a:t>
            </a:r>
            <a:r>
              <a:rPr dirty="0" spc="-135"/>
              <a:t>LEARNING</a:t>
            </a:r>
            <a:r>
              <a:rPr dirty="0" spc="-85"/>
              <a:t> </a:t>
            </a:r>
            <a:r>
              <a:rPr dirty="0" spc="-20"/>
              <a:t>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679" rIns="0" bIns="0" rtlCol="0" vert="horz">
            <a:spAutoFit/>
          </a:bodyPr>
          <a:lstStyle/>
          <a:p>
            <a:pPr marL="1261745">
              <a:lnSpc>
                <a:spcPct val="100000"/>
              </a:lnSpc>
              <a:spcBef>
                <a:spcPts val="114"/>
              </a:spcBef>
            </a:pPr>
            <a:r>
              <a:rPr dirty="0" sz="3500">
                <a:solidFill>
                  <a:srgbClr val="262672"/>
                </a:solidFill>
                <a:latin typeface="Arial"/>
                <a:cs typeface="Arial"/>
              </a:rPr>
              <a:t>Machine</a:t>
            </a:r>
            <a:r>
              <a:rPr dirty="0" sz="3500" spc="-50">
                <a:solidFill>
                  <a:srgbClr val="262672"/>
                </a:solidFill>
                <a:latin typeface="Arial"/>
                <a:cs typeface="Arial"/>
              </a:rPr>
              <a:t> </a:t>
            </a:r>
            <a:r>
              <a:rPr dirty="0" sz="3500">
                <a:solidFill>
                  <a:srgbClr val="262672"/>
                </a:solidFill>
                <a:latin typeface="Arial"/>
                <a:cs typeface="Arial"/>
              </a:rPr>
              <a:t>Learning</a:t>
            </a:r>
            <a:r>
              <a:rPr dirty="0" sz="3500" spc="-25">
                <a:solidFill>
                  <a:srgbClr val="262672"/>
                </a:solidFill>
                <a:latin typeface="Arial"/>
                <a:cs typeface="Arial"/>
              </a:rPr>
              <a:t> </a:t>
            </a:r>
            <a:r>
              <a:rPr dirty="0" sz="3500" spc="-10">
                <a:solidFill>
                  <a:srgbClr val="262672"/>
                </a:solidFill>
                <a:latin typeface="Arial"/>
                <a:cs typeface="Arial"/>
              </a:rPr>
              <a:t>Pipeline</a:t>
            </a:r>
            <a:endParaRPr sz="35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928101" y="1970005"/>
            <a:ext cx="4410075" cy="42170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3175"/>
              </a:lnSpc>
              <a:spcBef>
                <a:spcPts val="90"/>
              </a:spcBef>
            </a:pPr>
            <a:r>
              <a:rPr dirty="0" sz="2650" spc="-10" b="1">
                <a:solidFill>
                  <a:srgbClr val="FF0000"/>
                </a:solidFill>
                <a:latin typeface="Arial"/>
                <a:cs typeface="Arial"/>
              </a:rPr>
              <a:t>Iteration:</a:t>
            </a:r>
            <a:endParaRPr sz="2650">
              <a:latin typeface="Arial"/>
              <a:cs typeface="Arial"/>
            </a:endParaRPr>
          </a:p>
          <a:p>
            <a:pPr marL="12700">
              <a:lnSpc>
                <a:spcPts val="3175"/>
              </a:lnSpc>
            </a:pPr>
            <a:r>
              <a:rPr dirty="0" sz="2650" b="1">
                <a:solidFill>
                  <a:srgbClr val="00AFEF"/>
                </a:solidFill>
                <a:latin typeface="Arial"/>
                <a:cs typeface="Arial"/>
              </a:rPr>
              <a:t>Model</a:t>
            </a:r>
            <a:r>
              <a:rPr dirty="0" sz="2650" spc="-80" b="1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dirty="0" sz="2650" spc="-10" b="1">
                <a:solidFill>
                  <a:srgbClr val="00AFEF"/>
                </a:solidFill>
                <a:latin typeface="Arial"/>
                <a:cs typeface="Arial"/>
              </a:rPr>
              <a:t>Validation</a:t>
            </a:r>
            <a:endParaRPr sz="2650">
              <a:latin typeface="Arial"/>
              <a:cs typeface="Arial"/>
            </a:endParaRPr>
          </a:p>
          <a:p>
            <a:pPr marL="295910" marR="5080" indent="-283845">
              <a:lnSpc>
                <a:spcPts val="3170"/>
              </a:lnSpc>
              <a:spcBef>
                <a:spcPts val="1400"/>
              </a:spcBef>
              <a:buChar char="•"/>
              <a:tabLst>
                <a:tab pos="295910" algn="l"/>
                <a:tab pos="297180" algn="l"/>
              </a:tabLst>
            </a:pPr>
            <a:r>
              <a:rPr dirty="0" sz="2650">
                <a:latin typeface="Microsoft Sans Serif"/>
                <a:cs typeface="Microsoft Sans Serif"/>
              </a:rPr>
              <a:t>	The</a:t>
            </a:r>
            <a:r>
              <a:rPr dirty="0" sz="2650" spc="-8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model</a:t>
            </a:r>
            <a:r>
              <a:rPr dirty="0" sz="2650" spc="-6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validation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phase </a:t>
            </a:r>
            <a:r>
              <a:rPr dirty="0" sz="2650">
                <a:latin typeface="Microsoft Sans Serif"/>
                <a:cs typeface="Microsoft Sans Serif"/>
              </a:rPr>
              <a:t>should</a:t>
            </a:r>
            <a:r>
              <a:rPr dirty="0" sz="2650" spc="-2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lead</a:t>
            </a:r>
            <a:r>
              <a:rPr dirty="0" sz="2650" spc="-1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to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</a:t>
            </a:r>
            <a:r>
              <a:rPr dirty="0" sz="2650" spc="-1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new</a:t>
            </a:r>
            <a:r>
              <a:rPr dirty="0" sz="2650" spc="-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round </a:t>
            </a:r>
            <a:r>
              <a:rPr dirty="0" sz="2650">
                <a:latin typeface="Microsoft Sans Serif"/>
                <a:cs typeface="Microsoft Sans Serif"/>
              </a:rPr>
              <a:t>of</a:t>
            </a:r>
            <a:r>
              <a:rPr dirty="0" sz="2650" spc="-9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performance</a:t>
            </a:r>
            <a:r>
              <a:rPr dirty="0" sz="2650" spc="-6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evaluation, </a:t>
            </a:r>
            <a:r>
              <a:rPr dirty="0" sz="2650">
                <a:latin typeface="Microsoft Sans Serif"/>
                <a:cs typeface="Microsoft Sans Serif"/>
              </a:rPr>
              <a:t>and</a:t>
            </a:r>
            <a:r>
              <a:rPr dirty="0" sz="2650" spc="1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set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of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candidate </a:t>
            </a:r>
            <a:r>
              <a:rPr dirty="0" sz="2650">
                <a:latin typeface="Microsoft Sans Serif"/>
                <a:cs typeface="Microsoft Sans Serif"/>
              </a:rPr>
              <a:t>algorithms</a:t>
            </a:r>
            <a:r>
              <a:rPr dirty="0" sz="2650" spc="-8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will</a:t>
            </a:r>
            <a:r>
              <a:rPr dirty="0" sz="2650" spc="-10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gradually</a:t>
            </a:r>
            <a:r>
              <a:rPr dirty="0" sz="2650" spc="-100">
                <a:latin typeface="Microsoft Sans Serif"/>
                <a:cs typeface="Microsoft Sans Serif"/>
              </a:rPr>
              <a:t> </a:t>
            </a:r>
            <a:r>
              <a:rPr dirty="0" sz="2650" spc="-25">
                <a:latin typeface="Microsoft Sans Serif"/>
                <a:cs typeface="Microsoft Sans Serif"/>
              </a:rPr>
              <a:t>be </a:t>
            </a:r>
            <a:r>
              <a:rPr dirty="0" sz="2650">
                <a:latin typeface="Microsoft Sans Serif"/>
                <a:cs typeface="Microsoft Sans Serif"/>
              </a:rPr>
              <a:t>reduced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until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one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algorithm </a:t>
            </a:r>
            <a:r>
              <a:rPr dirty="0" sz="2650">
                <a:latin typeface="Microsoft Sans Serif"/>
                <a:cs typeface="Microsoft Sans Serif"/>
              </a:rPr>
              <a:t>(or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one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ensemble</a:t>
            </a:r>
            <a:r>
              <a:rPr dirty="0" sz="2650" spc="-20">
                <a:latin typeface="Microsoft Sans Serif"/>
                <a:cs typeface="Microsoft Sans Serif"/>
              </a:rPr>
              <a:t> </a:t>
            </a:r>
            <a:r>
              <a:rPr dirty="0" sz="2650" spc="-25">
                <a:latin typeface="Microsoft Sans Serif"/>
                <a:cs typeface="Microsoft Sans Serif"/>
              </a:rPr>
              <a:t>of </a:t>
            </a:r>
            <a:r>
              <a:rPr dirty="0" sz="2650">
                <a:latin typeface="Microsoft Sans Serif"/>
                <a:cs typeface="Microsoft Sans Serif"/>
              </a:rPr>
              <a:t>algorithms)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is</a:t>
            </a:r>
            <a:r>
              <a:rPr dirty="0" sz="2650" spc="-90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selected.</a:t>
            </a:r>
            <a:endParaRPr sz="2650">
              <a:latin typeface="Microsoft Sans Serif"/>
              <a:cs typeface="Microsoft Sans Serif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004" y="1824228"/>
            <a:ext cx="3907535" cy="50962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263383"/>
            <a:ext cx="10058400" cy="39471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422393" y="7393949"/>
            <a:ext cx="354965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 spc="-10">
                <a:solidFill>
                  <a:srgbClr val="BFF9FB"/>
                </a:solidFill>
                <a:latin typeface="Verdana"/>
                <a:cs typeface="Verdana"/>
              </a:rPr>
              <a:t>SLIDE</a:t>
            </a:r>
            <a:r>
              <a:rPr dirty="0" sz="650" spc="-35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BFF9FB"/>
                </a:solidFill>
                <a:latin typeface="Verdana"/>
                <a:cs typeface="Verdana"/>
              </a:rPr>
              <a:t>4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1412" y="7393949"/>
            <a:ext cx="1212215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BFF9FB"/>
                </a:solidFill>
                <a:latin typeface="Verdana"/>
                <a:cs typeface="Verdana"/>
              </a:rPr>
              <a:t>Module</a:t>
            </a:r>
            <a:r>
              <a:rPr dirty="0" sz="650" spc="60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BFF9FB"/>
                </a:solidFill>
                <a:latin typeface="Verdana"/>
                <a:cs typeface="Verdana"/>
              </a:rPr>
              <a:t>Code</a:t>
            </a:r>
            <a:r>
              <a:rPr dirty="0" sz="650" spc="65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BFF9FB"/>
                </a:solidFill>
                <a:latin typeface="Verdana"/>
                <a:cs typeface="Verdana"/>
              </a:rPr>
              <a:t>&amp;</a:t>
            </a:r>
            <a:r>
              <a:rPr dirty="0" sz="650" spc="55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BFF9FB"/>
                </a:solidFill>
                <a:latin typeface="Verdana"/>
                <a:cs typeface="Verdana"/>
              </a:rPr>
              <a:t>Module</a:t>
            </a:r>
            <a:r>
              <a:rPr dirty="0" sz="650" spc="40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BFF9FB"/>
                </a:solidFill>
                <a:latin typeface="Verdana"/>
                <a:cs typeface="Verdana"/>
              </a:rPr>
              <a:t>Title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82388" y="7377185"/>
            <a:ext cx="433705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BFF9FB"/>
                </a:solidFill>
                <a:latin typeface="Verdana"/>
                <a:cs typeface="Verdana"/>
              </a:rPr>
              <a:t>Slide</a:t>
            </a:r>
            <a:r>
              <a:rPr dirty="0" sz="650" spc="-30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BFF9FB"/>
                </a:solidFill>
                <a:latin typeface="Verdana"/>
                <a:cs typeface="Verdana"/>
              </a:rPr>
              <a:t>Title</a:t>
            </a:r>
            <a:endParaRPr sz="65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60764" y="114300"/>
            <a:ext cx="897635" cy="1193291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98183" y="1940153"/>
            <a:ext cx="2913380" cy="115824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295275" indent="-282575">
              <a:lnSpc>
                <a:spcPct val="100000"/>
              </a:lnSpc>
              <a:spcBef>
                <a:spcPts val="610"/>
              </a:spcBef>
              <a:buChar char="•"/>
              <a:tabLst>
                <a:tab pos="295275" algn="l"/>
              </a:tabLst>
            </a:pPr>
            <a:r>
              <a:rPr dirty="0" sz="2050" spc="-40">
                <a:solidFill>
                  <a:srgbClr val="082F50"/>
                </a:solidFill>
                <a:latin typeface="Tahoma"/>
                <a:cs typeface="Tahoma"/>
              </a:rPr>
              <a:t>Hyperparameter</a:t>
            </a:r>
            <a:r>
              <a:rPr dirty="0" sz="2050" spc="-8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10">
                <a:solidFill>
                  <a:srgbClr val="082F50"/>
                </a:solidFill>
                <a:latin typeface="Tahoma"/>
                <a:cs typeface="Tahoma"/>
              </a:rPr>
              <a:t>tuning</a:t>
            </a:r>
            <a:endParaRPr sz="2050">
              <a:latin typeface="Tahoma"/>
              <a:cs typeface="Tahoma"/>
            </a:endParaRPr>
          </a:p>
          <a:p>
            <a:pPr marL="295275" indent="-282575">
              <a:lnSpc>
                <a:spcPct val="100000"/>
              </a:lnSpc>
              <a:spcBef>
                <a:spcPts val="520"/>
              </a:spcBef>
              <a:buChar char="•"/>
              <a:tabLst>
                <a:tab pos="295275" algn="l"/>
              </a:tabLst>
            </a:pPr>
            <a:r>
              <a:rPr dirty="0" sz="2050" spc="-30">
                <a:solidFill>
                  <a:srgbClr val="082F50"/>
                </a:solidFill>
                <a:latin typeface="Tahoma"/>
                <a:cs typeface="Tahoma"/>
              </a:rPr>
              <a:t>Feature</a:t>
            </a:r>
            <a:r>
              <a:rPr dirty="0" sz="2050" spc="-10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10">
                <a:solidFill>
                  <a:srgbClr val="082F50"/>
                </a:solidFill>
                <a:latin typeface="Tahoma"/>
                <a:cs typeface="Tahoma"/>
              </a:rPr>
              <a:t>selection</a:t>
            </a:r>
            <a:endParaRPr sz="2050">
              <a:latin typeface="Tahoma"/>
              <a:cs typeface="Tahoma"/>
            </a:endParaRPr>
          </a:p>
          <a:p>
            <a:pPr marL="295275" indent="-282575">
              <a:lnSpc>
                <a:spcPct val="100000"/>
              </a:lnSpc>
              <a:spcBef>
                <a:spcPts val="500"/>
              </a:spcBef>
              <a:buChar char="•"/>
              <a:tabLst>
                <a:tab pos="295275" algn="l"/>
              </a:tabLst>
            </a:pPr>
            <a:r>
              <a:rPr dirty="0" sz="2050" spc="-10">
                <a:solidFill>
                  <a:srgbClr val="082F50"/>
                </a:solidFill>
                <a:latin typeface="Tahoma"/>
                <a:cs typeface="Tahoma"/>
              </a:rPr>
              <a:t>Resampling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286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60"/>
              <a:t>Contents</a:t>
            </a:r>
            <a:r>
              <a:rPr dirty="0" spc="-135"/>
              <a:t> </a:t>
            </a:r>
            <a:r>
              <a:rPr dirty="0" spc="-320"/>
              <a:t>&amp;</a:t>
            </a:r>
            <a:r>
              <a:rPr dirty="0" spc="-145"/>
              <a:t> </a:t>
            </a:r>
            <a:r>
              <a:rPr dirty="0" spc="-60"/>
              <a:t>Structure</a:t>
            </a: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06567" y="3366515"/>
            <a:ext cx="4373880" cy="2209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8635" rIns="0" bIns="0" rtlCol="0" vert="horz">
            <a:spAutoFit/>
          </a:bodyPr>
          <a:lstStyle/>
          <a:p>
            <a:pPr marL="2627630">
              <a:lnSpc>
                <a:spcPct val="100000"/>
              </a:lnSpc>
              <a:spcBef>
                <a:spcPts val="125"/>
              </a:spcBef>
            </a:pPr>
            <a:r>
              <a:rPr dirty="0" sz="2950" b="0">
                <a:solidFill>
                  <a:srgbClr val="000000"/>
                </a:solidFill>
                <a:latin typeface="Microsoft Sans Serif"/>
                <a:cs typeface="Microsoft Sans Serif"/>
              </a:rPr>
              <a:t>Feature</a:t>
            </a:r>
            <a:r>
              <a:rPr dirty="0" sz="2950" spc="5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10" b="0">
                <a:solidFill>
                  <a:srgbClr val="000000"/>
                </a:solidFill>
                <a:latin typeface="Microsoft Sans Serif"/>
                <a:cs typeface="Microsoft Sans Serif"/>
              </a:rPr>
              <a:t>selection</a:t>
            </a:r>
            <a:endParaRPr sz="2950">
              <a:latin typeface="Microsoft Sans Serif"/>
              <a:cs typeface="Microsoft Sans Serif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25937" y="1701846"/>
            <a:ext cx="8303259" cy="505587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295910" marR="5080" indent="-283845">
              <a:lnSpc>
                <a:spcPts val="3170"/>
              </a:lnSpc>
              <a:spcBef>
                <a:spcPts val="204"/>
              </a:spcBef>
              <a:buChar char="•"/>
              <a:tabLst>
                <a:tab pos="295910" algn="l"/>
                <a:tab pos="297180" algn="l"/>
              </a:tabLst>
            </a:pPr>
            <a:r>
              <a:rPr dirty="0" sz="2650">
                <a:latin typeface="Microsoft Sans Serif"/>
                <a:cs typeface="Microsoft Sans Serif"/>
              </a:rPr>
              <a:t>	The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dataset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may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have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large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number</a:t>
            </a:r>
            <a:r>
              <a:rPr dirty="0" sz="2650" spc="-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of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features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 spc="-20">
                <a:latin typeface="Microsoft Sans Serif"/>
                <a:cs typeface="Microsoft Sans Serif"/>
              </a:rPr>
              <a:t>that </a:t>
            </a:r>
            <a:r>
              <a:rPr dirty="0" sz="2650">
                <a:latin typeface="Microsoft Sans Serif"/>
                <a:cs typeface="Microsoft Sans Serif"/>
              </a:rPr>
              <a:t>may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not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all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be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relevant and</a:t>
            </a:r>
            <a:r>
              <a:rPr dirty="0" sz="2650" spc="-20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significant.</a:t>
            </a:r>
            <a:endParaRPr sz="2650">
              <a:latin typeface="Microsoft Sans Serif"/>
              <a:cs typeface="Microsoft Sans Serif"/>
            </a:endParaRPr>
          </a:p>
          <a:p>
            <a:pPr lvl="1" marL="623570" marR="243840" indent="-233679">
              <a:lnSpc>
                <a:spcPct val="100000"/>
              </a:lnSpc>
              <a:spcBef>
                <a:spcPts val="1875"/>
              </a:spcBef>
              <a:buChar char="–"/>
              <a:tabLst>
                <a:tab pos="624840" algn="l"/>
              </a:tabLst>
            </a:pPr>
            <a:r>
              <a:rPr dirty="0" sz="2200">
                <a:latin typeface="Microsoft Sans Serif"/>
                <a:cs typeface="Microsoft Sans Serif"/>
              </a:rPr>
              <a:t>For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certain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types</a:t>
            </a:r>
            <a:r>
              <a:rPr dirty="0" sz="2200" spc="-2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of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data,</a:t>
            </a:r>
            <a:r>
              <a:rPr dirty="0" sz="2200" spc="-6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like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genetics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or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text,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number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 spc="-25">
                <a:latin typeface="Microsoft Sans Serif"/>
                <a:cs typeface="Microsoft Sans Serif"/>
              </a:rPr>
              <a:t>of </a:t>
            </a:r>
            <a:r>
              <a:rPr dirty="0" sz="2200" spc="-25">
                <a:latin typeface="Microsoft Sans Serif"/>
                <a:cs typeface="Microsoft Sans Serif"/>
              </a:rPr>
              <a:t>	</a:t>
            </a:r>
            <a:r>
              <a:rPr dirty="0" sz="2200">
                <a:latin typeface="Microsoft Sans Serif"/>
                <a:cs typeface="Microsoft Sans Serif"/>
              </a:rPr>
              <a:t>features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can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be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very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large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compared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to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number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of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 spc="-20">
                <a:latin typeface="Microsoft Sans Serif"/>
                <a:cs typeface="Microsoft Sans Serif"/>
              </a:rPr>
              <a:t>data </a:t>
            </a:r>
            <a:r>
              <a:rPr dirty="0" sz="2200" spc="-20">
                <a:latin typeface="Microsoft Sans Serif"/>
                <a:cs typeface="Microsoft Sans Serif"/>
              </a:rPr>
              <a:t>	</a:t>
            </a:r>
            <a:r>
              <a:rPr dirty="0" sz="2200" spc="-10">
                <a:latin typeface="Microsoft Sans Serif"/>
                <a:cs typeface="Microsoft Sans Serif"/>
              </a:rPr>
              <a:t>points.</a:t>
            </a:r>
            <a:endParaRPr sz="2200">
              <a:latin typeface="Microsoft Sans Serif"/>
              <a:cs typeface="Microsoft Sans Serif"/>
            </a:endParaRPr>
          </a:p>
          <a:p>
            <a:pPr lvl="1" marL="624840" marR="24765" indent="-234950">
              <a:lnSpc>
                <a:spcPct val="100000"/>
              </a:lnSpc>
              <a:spcBef>
                <a:spcPts val="1320"/>
              </a:spcBef>
              <a:buFont typeface="Microsoft Sans Serif"/>
              <a:buChar char="–"/>
              <a:tabLst>
                <a:tab pos="624840" algn="l"/>
              </a:tabLst>
            </a:pPr>
            <a:r>
              <a:rPr dirty="0" sz="2200" b="1">
                <a:solidFill>
                  <a:srgbClr val="BF0000"/>
                </a:solidFill>
                <a:latin typeface="Arial"/>
                <a:cs typeface="Arial"/>
              </a:rPr>
              <a:t>Curse</a:t>
            </a:r>
            <a:r>
              <a:rPr dirty="0" sz="2200" spc="-45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BF0000"/>
                </a:solidFill>
                <a:latin typeface="Arial"/>
                <a:cs typeface="Arial"/>
              </a:rPr>
              <a:t>of</a:t>
            </a:r>
            <a:r>
              <a:rPr dirty="0" sz="2200" spc="-60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BF0000"/>
                </a:solidFill>
                <a:latin typeface="Arial"/>
                <a:cs typeface="Arial"/>
              </a:rPr>
              <a:t>dimensionality</a:t>
            </a:r>
            <a:r>
              <a:rPr dirty="0" sz="2200" spc="-10">
                <a:latin typeface="Microsoft Sans Serif"/>
                <a:cs typeface="Microsoft Sans Serif"/>
              </a:rPr>
              <a:t>: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error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increases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with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increase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 spc="-25">
                <a:latin typeface="Microsoft Sans Serif"/>
                <a:cs typeface="Microsoft Sans Serif"/>
              </a:rPr>
              <a:t>in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number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of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features.</a:t>
            </a:r>
            <a:endParaRPr sz="2200">
              <a:latin typeface="Microsoft Sans Serif"/>
              <a:cs typeface="Microsoft Sans Serif"/>
            </a:endParaRPr>
          </a:p>
          <a:p>
            <a:pPr marL="295910" marR="194310" indent="-283845">
              <a:lnSpc>
                <a:spcPts val="3170"/>
              </a:lnSpc>
              <a:spcBef>
                <a:spcPts val="1420"/>
              </a:spcBef>
              <a:buFont typeface="Microsoft Sans Serif"/>
              <a:buChar char="•"/>
              <a:tabLst>
                <a:tab pos="295910" algn="l"/>
              </a:tabLst>
            </a:pPr>
            <a:r>
              <a:rPr dirty="0" sz="2650" b="1">
                <a:solidFill>
                  <a:srgbClr val="702FA0"/>
                </a:solidFill>
                <a:latin typeface="Arial"/>
                <a:cs typeface="Arial"/>
              </a:rPr>
              <a:t>Feature</a:t>
            </a:r>
            <a:r>
              <a:rPr dirty="0" sz="2650" spc="-65" b="1">
                <a:solidFill>
                  <a:srgbClr val="702FA0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702FA0"/>
                </a:solidFill>
                <a:latin typeface="Arial"/>
                <a:cs typeface="Arial"/>
              </a:rPr>
              <a:t>selection</a:t>
            </a:r>
            <a:r>
              <a:rPr dirty="0" sz="2650" spc="-45" b="1">
                <a:solidFill>
                  <a:srgbClr val="702FA0"/>
                </a:solidFill>
                <a:latin typeface="Arial"/>
                <a:cs typeface="Arial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is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process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of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selecting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 spc="-20">
                <a:latin typeface="Microsoft Sans Serif"/>
                <a:cs typeface="Microsoft Sans Serif"/>
              </a:rPr>
              <a:t>most </a:t>
            </a:r>
            <a:r>
              <a:rPr dirty="0" sz="2650">
                <a:latin typeface="Microsoft Sans Serif"/>
                <a:cs typeface="Microsoft Sans Serif"/>
              </a:rPr>
              <a:t>relevant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variables.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goal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is</a:t>
            </a:r>
            <a:r>
              <a:rPr dirty="0" sz="2650" spc="-8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to</a:t>
            </a:r>
            <a:r>
              <a:rPr dirty="0" sz="2650" spc="-8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determine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which </a:t>
            </a:r>
            <a:r>
              <a:rPr dirty="0" sz="2650">
                <a:latin typeface="Microsoft Sans Serif"/>
                <a:cs typeface="Microsoft Sans Serif"/>
              </a:rPr>
              <a:t>columns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are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more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predictive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of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output.</a:t>
            </a:r>
            <a:endParaRPr sz="2650">
              <a:latin typeface="Microsoft Sans Serif"/>
              <a:cs typeface="Microsoft Sans Serif"/>
            </a:endParaRPr>
          </a:p>
          <a:p>
            <a:pPr lvl="1" marL="623570" marR="1106170" indent="-233679">
              <a:lnSpc>
                <a:spcPct val="100000"/>
              </a:lnSpc>
              <a:spcBef>
                <a:spcPts val="555"/>
              </a:spcBef>
              <a:buChar char="–"/>
              <a:tabLst>
                <a:tab pos="624840" algn="l"/>
              </a:tabLst>
            </a:pPr>
            <a:r>
              <a:rPr dirty="0" sz="2200">
                <a:latin typeface="Microsoft Sans Serif"/>
                <a:cs typeface="Microsoft Sans Serif"/>
              </a:rPr>
              <a:t>Also</a:t>
            </a:r>
            <a:r>
              <a:rPr dirty="0" sz="2200" spc="-2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called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“</a:t>
            </a:r>
            <a:r>
              <a:rPr dirty="0" sz="2200" spc="-10" b="1">
                <a:solidFill>
                  <a:srgbClr val="702FA0"/>
                </a:solidFill>
                <a:latin typeface="Arial"/>
                <a:cs typeface="Arial"/>
              </a:rPr>
              <a:t>dimensionality</a:t>
            </a:r>
            <a:r>
              <a:rPr dirty="0" sz="2200" spc="-85" b="1">
                <a:solidFill>
                  <a:srgbClr val="702FA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702FA0"/>
                </a:solidFill>
                <a:latin typeface="Arial"/>
                <a:cs typeface="Arial"/>
              </a:rPr>
              <a:t>reduction</a:t>
            </a:r>
            <a:r>
              <a:rPr dirty="0" sz="2200">
                <a:latin typeface="Microsoft Sans Serif"/>
                <a:cs typeface="Microsoft Sans Serif"/>
              </a:rPr>
              <a:t>”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and</a:t>
            </a:r>
            <a:r>
              <a:rPr dirty="0" sz="2200" spc="-15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“</a:t>
            </a:r>
            <a:r>
              <a:rPr dirty="0" sz="2200" spc="-10" b="1">
                <a:solidFill>
                  <a:srgbClr val="702FA0"/>
                </a:solidFill>
                <a:latin typeface="Arial"/>
                <a:cs typeface="Arial"/>
              </a:rPr>
              <a:t>feature 	engineering</a:t>
            </a:r>
            <a:r>
              <a:rPr dirty="0" sz="2200" spc="-10">
                <a:latin typeface="Microsoft Sans Serif"/>
                <a:cs typeface="Microsoft Sans Serif"/>
              </a:rPr>
              <a:t>“</a:t>
            </a:r>
            <a:endParaRPr sz="2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1671" rIns="0" bIns="0" rtlCol="0" vert="horz">
            <a:spAutoFit/>
          </a:bodyPr>
          <a:lstStyle/>
          <a:p>
            <a:pPr marL="2299970">
              <a:lnSpc>
                <a:spcPct val="100000"/>
              </a:lnSpc>
              <a:spcBef>
                <a:spcPts val="130"/>
              </a:spcBef>
            </a:pPr>
            <a:r>
              <a:rPr dirty="0" sz="3050" b="0">
                <a:solidFill>
                  <a:srgbClr val="000000"/>
                </a:solidFill>
                <a:latin typeface="Microsoft Sans Serif"/>
                <a:cs typeface="Microsoft Sans Serif"/>
              </a:rPr>
              <a:t>Feature</a:t>
            </a:r>
            <a:r>
              <a:rPr dirty="0" sz="3050" spc="7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3050" spc="-10" b="0">
                <a:solidFill>
                  <a:srgbClr val="000000"/>
                </a:solidFill>
                <a:latin typeface="Microsoft Sans Serif"/>
                <a:cs typeface="Microsoft Sans Serif"/>
              </a:rPr>
              <a:t>Engineering</a:t>
            </a:r>
            <a:endParaRPr sz="3050">
              <a:latin typeface="Microsoft Sans Serif"/>
              <a:cs typeface="Microsoft Sans Serif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8132" rIns="0" bIns="0" rtlCol="0" vert="horz">
            <a:spAutoFit/>
          </a:bodyPr>
          <a:lstStyle/>
          <a:p>
            <a:pPr marL="295910" marR="118745" indent="-283845">
              <a:lnSpc>
                <a:spcPts val="3170"/>
              </a:lnSpc>
              <a:spcBef>
                <a:spcPts val="204"/>
              </a:spcBef>
              <a:buChar char="•"/>
              <a:tabLst>
                <a:tab pos="295910" algn="l"/>
                <a:tab pos="297180" algn="l"/>
              </a:tabLst>
            </a:pP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	The</a:t>
            </a:r>
            <a:r>
              <a:rPr dirty="0" spc="-9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feature</a:t>
            </a:r>
            <a:r>
              <a:rPr dirty="0" spc="-8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engineering</a:t>
            </a:r>
            <a:r>
              <a:rPr dirty="0" spc="-7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process</a:t>
            </a:r>
            <a:r>
              <a:rPr dirty="0" spc="-9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involves</a:t>
            </a:r>
            <a:r>
              <a:rPr dirty="0" spc="-7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selecting</a:t>
            </a:r>
            <a:r>
              <a:rPr dirty="0" spc="-6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pc="-25" b="0">
                <a:solidFill>
                  <a:srgbClr val="000000"/>
                </a:solidFill>
                <a:latin typeface="Microsoft Sans Serif"/>
                <a:cs typeface="Microsoft Sans Serif"/>
              </a:rPr>
              <a:t>the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minimum</a:t>
            </a:r>
            <a:r>
              <a:rPr dirty="0" spc="-5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required</a:t>
            </a:r>
            <a:r>
              <a:rPr dirty="0" spc="-3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features</a:t>
            </a:r>
            <a:r>
              <a:rPr dirty="0" spc="-6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to</a:t>
            </a:r>
            <a:r>
              <a:rPr dirty="0" spc="-8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produce</a:t>
            </a:r>
            <a:r>
              <a:rPr dirty="0" spc="-3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a</a:t>
            </a:r>
            <a:r>
              <a:rPr dirty="0" spc="-8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valid</a:t>
            </a:r>
            <a:r>
              <a:rPr dirty="0" spc="-5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pc="-10" b="0">
                <a:solidFill>
                  <a:srgbClr val="000000"/>
                </a:solidFill>
                <a:latin typeface="Microsoft Sans Serif"/>
                <a:cs typeface="Microsoft Sans Serif"/>
              </a:rPr>
              <a:t>model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because</a:t>
            </a:r>
            <a:r>
              <a:rPr dirty="0" spc="-4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the</a:t>
            </a:r>
            <a:r>
              <a:rPr dirty="0" spc="-7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more</a:t>
            </a:r>
            <a:r>
              <a:rPr dirty="0" spc="-4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features</a:t>
            </a:r>
            <a:r>
              <a:rPr dirty="0" spc="-3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a</a:t>
            </a:r>
            <a:r>
              <a:rPr dirty="0" spc="-7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model</a:t>
            </a:r>
            <a:r>
              <a:rPr dirty="0" spc="-3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contains,</a:t>
            </a:r>
            <a:r>
              <a:rPr dirty="0" spc="-2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the</a:t>
            </a:r>
            <a:r>
              <a:rPr dirty="0" spc="-7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pc="-20" b="0">
                <a:solidFill>
                  <a:srgbClr val="000000"/>
                </a:solidFill>
                <a:latin typeface="Microsoft Sans Serif"/>
                <a:cs typeface="Microsoft Sans Serif"/>
              </a:rPr>
              <a:t>more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complex</a:t>
            </a:r>
            <a:r>
              <a:rPr dirty="0" spc="-3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it</a:t>
            </a:r>
            <a:r>
              <a:rPr dirty="0" spc="-5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is</a:t>
            </a:r>
            <a:r>
              <a:rPr dirty="0" spc="-3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(and</a:t>
            </a:r>
            <a:r>
              <a:rPr dirty="0" spc="-2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the</a:t>
            </a:r>
            <a:r>
              <a:rPr dirty="0" spc="-5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more</a:t>
            </a:r>
            <a:r>
              <a:rPr dirty="0" spc="-2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sparse</a:t>
            </a:r>
            <a:r>
              <a:rPr dirty="0" spc="-2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the</a:t>
            </a:r>
            <a:r>
              <a:rPr dirty="0" spc="-2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data),</a:t>
            </a:r>
            <a:r>
              <a:rPr dirty="0" spc="-3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pc="-10" b="0">
                <a:solidFill>
                  <a:srgbClr val="000000"/>
                </a:solidFill>
                <a:latin typeface="Microsoft Sans Serif"/>
                <a:cs typeface="Microsoft Sans Serif"/>
              </a:rPr>
              <a:t>therefore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the</a:t>
            </a:r>
            <a:r>
              <a:rPr dirty="0" spc="-2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more</a:t>
            </a:r>
            <a:r>
              <a:rPr dirty="0" spc="-5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sensitive the</a:t>
            </a:r>
            <a:r>
              <a:rPr dirty="0" spc="-5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model</a:t>
            </a:r>
            <a:r>
              <a:rPr dirty="0" spc="-1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is</a:t>
            </a:r>
            <a:r>
              <a:rPr dirty="0" spc="-3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to</a:t>
            </a:r>
            <a:r>
              <a:rPr dirty="0" spc="-5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errors</a:t>
            </a:r>
            <a:r>
              <a:rPr dirty="0" spc="-1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due</a:t>
            </a:r>
            <a:r>
              <a:rPr dirty="0" spc="-5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to</a:t>
            </a:r>
            <a:r>
              <a:rPr dirty="0" spc="-2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pc="-10" b="0">
                <a:solidFill>
                  <a:srgbClr val="000000"/>
                </a:solidFill>
                <a:latin typeface="Microsoft Sans Serif"/>
                <a:cs typeface="Microsoft Sans Serif"/>
              </a:rPr>
              <a:t>variance.</a:t>
            </a:r>
          </a:p>
          <a:p>
            <a:pPr marL="295910" marR="5080" indent="-283845">
              <a:lnSpc>
                <a:spcPts val="3170"/>
              </a:lnSpc>
              <a:spcBef>
                <a:spcPts val="1955"/>
              </a:spcBef>
              <a:buChar char="•"/>
              <a:tabLst>
                <a:tab pos="295910" algn="l"/>
                <a:tab pos="297180" algn="l"/>
              </a:tabLst>
            </a:pP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	A</a:t>
            </a:r>
            <a:r>
              <a:rPr dirty="0" spc="-6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common</a:t>
            </a:r>
            <a:r>
              <a:rPr dirty="0" spc="-3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approach</a:t>
            </a:r>
            <a:r>
              <a:rPr dirty="0" spc="-3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to</a:t>
            </a:r>
            <a:r>
              <a:rPr dirty="0" spc="-6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eliminating</a:t>
            </a:r>
            <a:r>
              <a:rPr dirty="0" spc="-1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features</a:t>
            </a:r>
            <a:r>
              <a:rPr dirty="0" spc="-4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is</a:t>
            </a:r>
            <a:r>
              <a:rPr dirty="0" spc="-7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to</a:t>
            </a:r>
            <a:r>
              <a:rPr dirty="0" spc="-6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find</a:t>
            </a:r>
            <a:r>
              <a:rPr dirty="0" spc="-6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pc="-10" b="0">
                <a:solidFill>
                  <a:srgbClr val="000000"/>
                </a:solidFill>
                <a:latin typeface="Microsoft Sans Serif"/>
                <a:cs typeface="Microsoft Sans Serif"/>
              </a:rPr>
              <a:t>their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relative</a:t>
            </a:r>
            <a:r>
              <a:rPr dirty="0" spc="-9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importance,</a:t>
            </a:r>
            <a:r>
              <a:rPr dirty="0" spc="-7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then</a:t>
            </a:r>
            <a:r>
              <a:rPr dirty="0" spc="-8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eliminate</a:t>
            </a:r>
            <a:r>
              <a:rPr dirty="0" spc="-8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weak</a:t>
            </a:r>
            <a:r>
              <a:rPr dirty="0" spc="-7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features</a:t>
            </a:r>
            <a:r>
              <a:rPr dirty="0" spc="-7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pc="-25" b="0">
                <a:solidFill>
                  <a:srgbClr val="000000"/>
                </a:solidFill>
                <a:latin typeface="Microsoft Sans Serif"/>
                <a:cs typeface="Microsoft Sans Serif"/>
              </a:rPr>
              <a:t>or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combinations</a:t>
            </a:r>
            <a:r>
              <a:rPr dirty="0" spc="-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of</a:t>
            </a:r>
            <a:r>
              <a:rPr dirty="0" spc="-4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features</a:t>
            </a:r>
            <a:r>
              <a:rPr dirty="0" spc="-2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and</a:t>
            </a:r>
            <a:r>
              <a:rPr dirty="0" spc="-3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pc="-25" b="0">
                <a:solidFill>
                  <a:srgbClr val="000000"/>
                </a:solidFill>
                <a:latin typeface="Microsoft Sans Serif"/>
                <a:cs typeface="Microsoft Sans Serif"/>
              </a:rPr>
              <a:t>re-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evalute</a:t>
            </a:r>
            <a:r>
              <a:rPr dirty="0" spc="-3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to</a:t>
            </a:r>
            <a:r>
              <a:rPr dirty="0" spc="-6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see</a:t>
            </a:r>
            <a:r>
              <a:rPr dirty="0" spc="-6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if</a:t>
            </a:r>
            <a:r>
              <a:rPr dirty="0" spc="-6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pc="-25" b="0">
                <a:solidFill>
                  <a:srgbClr val="000000"/>
                </a:solidFill>
                <a:latin typeface="Microsoft Sans Serif"/>
                <a:cs typeface="Microsoft Sans Serif"/>
              </a:rPr>
              <a:t>the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model</a:t>
            </a:r>
            <a:r>
              <a:rPr dirty="0" spc="-6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fares</a:t>
            </a:r>
            <a:r>
              <a:rPr dirty="0" spc="-5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better</a:t>
            </a:r>
            <a:r>
              <a:rPr dirty="0" spc="-4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during</a:t>
            </a:r>
            <a:r>
              <a:rPr dirty="0" spc="-20" b="0">
                <a:solidFill>
                  <a:srgbClr val="000000"/>
                </a:solidFill>
                <a:latin typeface="Microsoft Sans Serif"/>
                <a:cs typeface="Microsoft Sans Serif"/>
              </a:rPr>
              <a:t> cross-</a:t>
            </a:r>
            <a:r>
              <a:rPr dirty="0" spc="-10" b="0">
                <a:solidFill>
                  <a:srgbClr val="000000"/>
                </a:solidFill>
                <a:latin typeface="Microsoft Sans Serif"/>
                <a:cs typeface="Microsoft Sans Serif"/>
              </a:rPr>
              <a:t>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9211" rIns="0" bIns="0" rtlCol="0" vert="horz">
            <a:spAutoFit/>
          </a:bodyPr>
          <a:lstStyle/>
          <a:p>
            <a:pPr marL="2491740">
              <a:lnSpc>
                <a:spcPct val="100000"/>
              </a:lnSpc>
              <a:spcBef>
                <a:spcPts val="125"/>
              </a:spcBef>
            </a:pPr>
            <a:r>
              <a:rPr dirty="0" sz="2950">
                <a:solidFill>
                  <a:srgbClr val="262672"/>
                </a:solidFill>
                <a:latin typeface="Arial"/>
                <a:cs typeface="Arial"/>
              </a:rPr>
              <a:t>Feature</a:t>
            </a:r>
            <a:r>
              <a:rPr dirty="0" sz="2950" spc="5">
                <a:solidFill>
                  <a:srgbClr val="262672"/>
                </a:solidFill>
                <a:latin typeface="Arial"/>
                <a:cs typeface="Arial"/>
              </a:rPr>
              <a:t> </a:t>
            </a:r>
            <a:r>
              <a:rPr dirty="0" sz="2950" spc="-10">
                <a:solidFill>
                  <a:srgbClr val="262672"/>
                </a:solidFill>
                <a:latin typeface="Arial"/>
                <a:cs typeface="Arial"/>
              </a:rPr>
              <a:t>Covariance</a:t>
            </a:r>
            <a:endParaRPr sz="29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41117" y="1683541"/>
            <a:ext cx="8890635" cy="2339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5910" marR="5080" indent="-283845">
              <a:lnSpc>
                <a:spcPct val="101499"/>
              </a:lnSpc>
              <a:spcBef>
                <a:spcPts val="95"/>
              </a:spcBef>
              <a:buChar char="•"/>
              <a:tabLst>
                <a:tab pos="295910" algn="l"/>
              </a:tabLst>
            </a:pPr>
            <a:r>
              <a:rPr dirty="0" sz="1950">
                <a:latin typeface="Microsoft Sans Serif"/>
                <a:cs typeface="Microsoft Sans Serif"/>
              </a:rPr>
              <a:t>In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the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worst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case,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one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feature</a:t>
            </a:r>
            <a:r>
              <a:rPr dirty="0" sz="1950" spc="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can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explain</a:t>
            </a:r>
            <a:r>
              <a:rPr dirty="0" sz="1950" spc="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(or</a:t>
            </a:r>
            <a:r>
              <a:rPr dirty="0" sz="1950" spc="9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already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determine)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all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the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other </a:t>
            </a:r>
            <a:r>
              <a:rPr dirty="0" sz="1950">
                <a:latin typeface="Microsoft Sans Serif"/>
                <a:cs typeface="Microsoft Sans Serif"/>
              </a:rPr>
              <a:t>features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and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makes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them</a:t>
            </a:r>
            <a:r>
              <a:rPr dirty="0" sz="1950" spc="9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obsolete.</a:t>
            </a:r>
            <a:endParaRPr sz="1950">
              <a:latin typeface="Microsoft Sans Serif"/>
              <a:cs typeface="Microsoft Sans Serif"/>
            </a:endParaRPr>
          </a:p>
          <a:p>
            <a:pPr marL="295910" marR="1374140" indent="-283845">
              <a:lnSpc>
                <a:spcPct val="101499"/>
              </a:lnSpc>
              <a:spcBef>
                <a:spcPts val="1980"/>
              </a:spcBef>
              <a:buChar char="•"/>
              <a:tabLst>
                <a:tab pos="295910" algn="l"/>
              </a:tabLst>
            </a:pPr>
            <a:r>
              <a:rPr dirty="0" sz="1950">
                <a:latin typeface="Microsoft Sans Serif"/>
                <a:cs typeface="Microsoft Sans Serif"/>
              </a:rPr>
              <a:t>This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results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in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</a:t>
            </a:r>
            <a:r>
              <a:rPr dirty="0" sz="1950" spc="9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high</a:t>
            </a:r>
            <a:r>
              <a:rPr dirty="0" sz="1950" spc="4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redundancy</a:t>
            </a:r>
            <a:r>
              <a:rPr dirty="0" sz="1950" spc="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among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the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features,</a:t>
            </a:r>
            <a:r>
              <a:rPr dirty="0" sz="1950" spc="4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increasing </a:t>
            </a:r>
            <a:r>
              <a:rPr dirty="0" sz="1950">
                <a:latin typeface="Microsoft Sans Serif"/>
                <a:cs typeface="Microsoft Sans Serif"/>
              </a:rPr>
              <a:t>computational</a:t>
            </a:r>
            <a:r>
              <a:rPr dirty="0" sz="1950" spc="8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overhead</a:t>
            </a:r>
            <a:endParaRPr sz="1950">
              <a:latin typeface="Microsoft Sans Serif"/>
              <a:cs typeface="Microsoft Sans Serif"/>
            </a:endParaRPr>
          </a:p>
          <a:p>
            <a:pPr marL="295910" marR="160655" indent="-283845">
              <a:lnSpc>
                <a:spcPct val="101600"/>
              </a:lnSpc>
              <a:spcBef>
                <a:spcPts val="1980"/>
              </a:spcBef>
              <a:buChar char="•"/>
              <a:tabLst>
                <a:tab pos="295910" algn="l"/>
              </a:tabLst>
            </a:pPr>
            <a:r>
              <a:rPr dirty="0" sz="1950">
                <a:latin typeface="Microsoft Sans Serif"/>
                <a:cs typeface="Microsoft Sans Serif"/>
              </a:rPr>
              <a:t>The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covariance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matrix</a:t>
            </a:r>
            <a:r>
              <a:rPr dirty="0" sz="1950" spc="8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can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be</a:t>
            </a:r>
            <a:r>
              <a:rPr dirty="0" sz="1950" spc="8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used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to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find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redundant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features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(those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 spc="-20">
                <a:latin typeface="Microsoft Sans Serif"/>
                <a:cs typeface="Microsoft Sans Serif"/>
              </a:rPr>
              <a:t>that </a:t>
            </a:r>
            <a:r>
              <a:rPr dirty="0" sz="1950">
                <a:latin typeface="Microsoft Sans Serif"/>
                <a:cs typeface="Microsoft Sans Serif"/>
              </a:rPr>
              <a:t>measure</a:t>
            </a:r>
            <a:r>
              <a:rPr dirty="0" sz="1950" spc="4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the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same</a:t>
            </a:r>
            <a:r>
              <a:rPr dirty="0" sz="1950" spc="9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thing),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and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make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decisions</a:t>
            </a:r>
            <a:r>
              <a:rPr dirty="0" sz="1950" spc="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about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which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can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be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removed</a:t>
            </a:r>
            <a:endParaRPr sz="1950">
              <a:latin typeface="Microsoft Sans Serif"/>
              <a:cs typeface="Microsoft Sans Serif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564" y="4524679"/>
            <a:ext cx="3491478" cy="23324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8635" rIns="0" bIns="0" rtlCol="0" vert="horz">
            <a:spAutoFit/>
          </a:bodyPr>
          <a:lstStyle/>
          <a:p>
            <a:pPr marL="2270760">
              <a:lnSpc>
                <a:spcPct val="100000"/>
              </a:lnSpc>
              <a:spcBef>
                <a:spcPts val="125"/>
              </a:spcBef>
            </a:pPr>
            <a:r>
              <a:rPr dirty="0" sz="2950">
                <a:solidFill>
                  <a:srgbClr val="262672"/>
                </a:solidFill>
                <a:latin typeface="Arial"/>
                <a:cs typeface="Arial"/>
              </a:rPr>
              <a:t>Pearson</a:t>
            </a:r>
            <a:r>
              <a:rPr dirty="0" sz="2950" spc="10">
                <a:solidFill>
                  <a:srgbClr val="262672"/>
                </a:solidFill>
                <a:latin typeface="Arial"/>
                <a:cs typeface="Arial"/>
              </a:rPr>
              <a:t> </a:t>
            </a:r>
            <a:r>
              <a:rPr dirty="0" sz="2950" spc="-10">
                <a:solidFill>
                  <a:srgbClr val="262672"/>
                </a:solidFill>
                <a:latin typeface="Arial"/>
                <a:cs typeface="Arial"/>
              </a:rPr>
              <a:t>Correlation</a:t>
            </a:r>
            <a:endParaRPr sz="29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92365" y="1701820"/>
            <a:ext cx="8860155" cy="52571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294640" marR="147955" indent="-282575">
              <a:lnSpc>
                <a:spcPct val="100400"/>
              </a:lnSpc>
              <a:spcBef>
                <a:spcPts val="105"/>
              </a:spcBef>
              <a:buChar char="•"/>
              <a:tabLst>
                <a:tab pos="295910" algn="l"/>
              </a:tabLst>
            </a:pPr>
            <a:r>
              <a:rPr dirty="0" sz="2300">
                <a:latin typeface="Microsoft Sans Serif"/>
                <a:cs typeface="Microsoft Sans Serif"/>
              </a:rPr>
              <a:t>The</a:t>
            </a:r>
            <a:r>
              <a:rPr dirty="0" sz="2300" spc="4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Pearson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 i="1">
                <a:latin typeface="Arial"/>
                <a:cs typeface="Arial"/>
              </a:rPr>
              <a:t>r</a:t>
            </a:r>
            <a:r>
              <a:rPr dirty="0" sz="2300" spc="25" i="1">
                <a:latin typeface="Arial"/>
                <a:cs typeface="Arial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is</a:t>
            </a:r>
            <a:r>
              <a:rPr dirty="0" sz="2300" spc="5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a</a:t>
            </a:r>
            <a:r>
              <a:rPr dirty="0" sz="2300" spc="4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standardized</a:t>
            </a:r>
            <a:r>
              <a:rPr dirty="0" sz="2300" spc="2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covariance,</a:t>
            </a:r>
            <a:r>
              <a:rPr dirty="0" sz="2300" spc="1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and</a:t>
            </a:r>
            <a:r>
              <a:rPr dirty="0" sz="2300" spc="4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ranges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from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-</a:t>
            </a:r>
            <a:r>
              <a:rPr dirty="0" sz="2300" spc="-25">
                <a:latin typeface="Microsoft Sans Serif"/>
                <a:cs typeface="Microsoft Sans Serif"/>
              </a:rPr>
              <a:t>1, </a:t>
            </a:r>
            <a:r>
              <a:rPr dirty="0" sz="2300" spc="-25">
                <a:latin typeface="Microsoft Sans Serif"/>
                <a:cs typeface="Microsoft Sans Serif"/>
              </a:rPr>
              <a:t>	</a:t>
            </a:r>
            <a:r>
              <a:rPr dirty="0" sz="2300">
                <a:latin typeface="Microsoft Sans Serif"/>
                <a:cs typeface="Microsoft Sans Serif"/>
              </a:rPr>
              <a:t>indicating</a:t>
            </a:r>
            <a:r>
              <a:rPr dirty="0" sz="2300" spc="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a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perfect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negative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linear</a:t>
            </a:r>
            <a:r>
              <a:rPr dirty="0" sz="2300" spc="1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relationship,</a:t>
            </a:r>
            <a:r>
              <a:rPr dirty="0" sz="2300" spc="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and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+1,indicating </a:t>
            </a:r>
            <a:r>
              <a:rPr dirty="0" sz="2300" spc="-10">
                <a:latin typeface="Microsoft Sans Serif"/>
                <a:cs typeface="Microsoft Sans Serif"/>
              </a:rPr>
              <a:t>	</a:t>
            </a:r>
            <a:r>
              <a:rPr dirty="0" sz="2300">
                <a:latin typeface="Microsoft Sans Serif"/>
                <a:cs typeface="Microsoft Sans Serif"/>
              </a:rPr>
              <a:t>a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perfect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positive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relationship.</a:t>
            </a:r>
            <a:endParaRPr sz="2300">
              <a:latin typeface="Microsoft Sans Serif"/>
              <a:cs typeface="Microsoft Sans Serif"/>
            </a:endParaRPr>
          </a:p>
          <a:p>
            <a:pPr marL="294640" marR="511809" indent="-282575">
              <a:lnSpc>
                <a:spcPct val="100499"/>
              </a:lnSpc>
              <a:spcBef>
                <a:spcPts val="1975"/>
              </a:spcBef>
              <a:buChar char="•"/>
              <a:tabLst>
                <a:tab pos="295910" algn="l"/>
              </a:tabLst>
            </a:pPr>
            <a:r>
              <a:rPr dirty="0" sz="2300">
                <a:latin typeface="Microsoft Sans Serif"/>
                <a:cs typeface="Microsoft Sans Serif"/>
              </a:rPr>
              <a:t>The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covariance</a:t>
            </a:r>
            <a:r>
              <a:rPr dirty="0" sz="2300" spc="1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of</a:t>
            </a:r>
            <a:r>
              <a:rPr dirty="0" sz="2300" spc="5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two</a:t>
            </a:r>
            <a:r>
              <a:rPr dirty="0" sz="2300" spc="1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variables</a:t>
            </a:r>
            <a:r>
              <a:rPr dirty="0" sz="2300" spc="2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divided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by</a:t>
            </a:r>
            <a:r>
              <a:rPr dirty="0" sz="2300" spc="4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the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product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of</a:t>
            </a:r>
            <a:r>
              <a:rPr dirty="0" sz="2300" spc="50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their </a:t>
            </a:r>
            <a:r>
              <a:rPr dirty="0" sz="2300" spc="-10">
                <a:latin typeface="Microsoft Sans Serif"/>
                <a:cs typeface="Microsoft Sans Serif"/>
              </a:rPr>
              <a:t>	</a:t>
            </a:r>
            <a:r>
              <a:rPr dirty="0" sz="2300">
                <a:latin typeface="Microsoft Sans Serif"/>
                <a:cs typeface="Microsoft Sans Serif"/>
              </a:rPr>
              <a:t>standard</a:t>
            </a:r>
            <a:r>
              <a:rPr dirty="0" sz="2300" spc="1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deviations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gives</a:t>
            </a:r>
            <a:r>
              <a:rPr dirty="0" sz="2300" spc="5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Pearson's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correlation</a:t>
            </a:r>
            <a:r>
              <a:rPr dirty="0" sz="2300" spc="-10">
                <a:latin typeface="Microsoft Sans Serif"/>
                <a:cs typeface="Microsoft Sans Serif"/>
              </a:rPr>
              <a:t> coefficient.</a:t>
            </a:r>
            <a:endParaRPr sz="2300">
              <a:latin typeface="Microsoft Sans Serif"/>
              <a:cs typeface="Microsoft Sans Serif"/>
            </a:endParaRPr>
          </a:p>
          <a:p>
            <a:pPr marL="306705">
              <a:lnSpc>
                <a:spcPct val="100000"/>
              </a:lnSpc>
              <a:spcBef>
                <a:spcPts val="15"/>
              </a:spcBef>
            </a:pPr>
            <a:r>
              <a:rPr dirty="0" sz="2300">
                <a:latin typeface="Microsoft Sans Serif"/>
                <a:cs typeface="Microsoft Sans Serif"/>
              </a:rPr>
              <a:t>ρ</a:t>
            </a:r>
            <a:r>
              <a:rPr dirty="0" sz="2300" spc="4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(X,Y)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=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cov</a:t>
            </a:r>
            <a:r>
              <a:rPr dirty="0" sz="2300" spc="1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(X,Y)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/</a:t>
            </a:r>
            <a:r>
              <a:rPr dirty="0" sz="2300" spc="45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σX.σY.</a:t>
            </a:r>
            <a:endParaRPr sz="2300">
              <a:latin typeface="Microsoft Sans Serif"/>
              <a:cs typeface="Microsoft Sans Serif"/>
            </a:endParaRPr>
          </a:p>
          <a:p>
            <a:pPr marL="294640" marR="5080" indent="-282575">
              <a:lnSpc>
                <a:spcPct val="100400"/>
              </a:lnSpc>
              <a:spcBef>
                <a:spcPts val="1980"/>
              </a:spcBef>
              <a:buChar char="•"/>
              <a:tabLst>
                <a:tab pos="295910" algn="l"/>
              </a:tabLst>
            </a:pPr>
            <a:r>
              <a:rPr dirty="0" sz="2300">
                <a:latin typeface="Microsoft Sans Serif"/>
                <a:cs typeface="Microsoft Sans Serif"/>
              </a:rPr>
              <a:t>A</a:t>
            </a:r>
            <a:r>
              <a:rPr dirty="0" sz="2300" spc="5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value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of</a:t>
            </a:r>
            <a:r>
              <a:rPr dirty="0" sz="2300" spc="5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zero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suggests no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linear</a:t>
            </a:r>
            <a:r>
              <a:rPr dirty="0" sz="2300" spc="1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association,</a:t>
            </a:r>
            <a:r>
              <a:rPr dirty="0" sz="2300" spc="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but</a:t>
            </a:r>
            <a:r>
              <a:rPr dirty="0" sz="2300" spc="50">
                <a:latin typeface="Microsoft Sans Serif"/>
                <a:cs typeface="Microsoft Sans Serif"/>
              </a:rPr>
              <a:t> </a:t>
            </a:r>
            <a:r>
              <a:rPr dirty="0" u="sng" sz="230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does</a:t>
            </a:r>
            <a:r>
              <a:rPr dirty="0" u="sng" sz="2300" spc="2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230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not</a:t>
            </a:r>
            <a:r>
              <a:rPr dirty="0" u="sng" sz="2300" spc="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2300" spc="-2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mean</a:t>
            </a:r>
            <a:r>
              <a:rPr dirty="0" sz="2300" spc="-20">
                <a:latin typeface="Microsoft Sans Serif"/>
                <a:cs typeface="Microsoft Sans Serif"/>
              </a:rPr>
              <a:t> </a:t>
            </a:r>
            <a:r>
              <a:rPr dirty="0" sz="2300" spc="-20">
                <a:latin typeface="Microsoft Sans Serif"/>
                <a:cs typeface="Microsoft Sans Serif"/>
              </a:rPr>
              <a:t>	</a:t>
            </a:r>
            <a:r>
              <a:rPr dirty="0" u="sng" sz="230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two</a:t>
            </a:r>
            <a:r>
              <a:rPr dirty="0" u="sng" sz="2300" spc="3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230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variables</a:t>
            </a:r>
            <a:r>
              <a:rPr dirty="0" u="sng" sz="2300" spc="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230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are</a:t>
            </a:r>
            <a:r>
              <a:rPr dirty="0" u="sng" sz="2300" spc="4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230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independent</a:t>
            </a:r>
            <a:r>
              <a:rPr dirty="0" sz="2300">
                <a:latin typeface="Microsoft Sans Serif"/>
                <a:cs typeface="Microsoft Sans Serif"/>
              </a:rPr>
              <a:t>,</a:t>
            </a:r>
            <a:r>
              <a:rPr dirty="0" sz="2300" spc="1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an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extremely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important</a:t>
            </a:r>
            <a:r>
              <a:rPr dirty="0" sz="2300" spc="1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point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 spc="-25">
                <a:latin typeface="Microsoft Sans Serif"/>
                <a:cs typeface="Microsoft Sans Serif"/>
              </a:rPr>
              <a:t>to </a:t>
            </a:r>
            <a:r>
              <a:rPr dirty="0" sz="2300" spc="-25">
                <a:latin typeface="Microsoft Sans Serif"/>
                <a:cs typeface="Microsoft Sans Serif"/>
              </a:rPr>
              <a:t>	</a:t>
            </a:r>
            <a:r>
              <a:rPr dirty="0" sz="2300" spc="-10">
                <a:latin typeface="Microsoft Sans Serif"/>
                <a:cs typeface="Microsoft Sans Serif"/>
              </a:rPr>
              <a:t>remember.</a:t>
            </a:r>
            <a:endParaRPr sz="2300">
              <a:latin typeface="Microsoft Sans Serif"/>
              <a:cs typeface="Microsoft Sans Serif"/>
            </a:endParaRPr>
          </a:p>
          <a:p>
            <a:pPr marL="295910" marR="935990" indent="-283845">
              <a:lnSpc>
                <a:spcPct val="100400"/>
              </a:lnSpc>
              <a:spcBef>
                <a:spcPts val="1980"/>
              </a:spcBef>
              <a:buFont typeface="Microsoft Sans Serif"/>
              <a:buChar char="•"/>
              <a:tabLst>
                <a:tab pos="295910" algn="l"/>
              </a:tabLst>
            </a:pP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Pearson</a:t>
            </a:r>
            <a:r>
              <a:rPr dirty="0" sz="2300" spc="1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r</a:t>
            </a:r>
            <a:r>
              <a:rPr dirty="0" sz="2300" spc="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is</a:t>
            </a:r>
            <a:r>
              <a:rPr dirty="0" sz="2300" spc="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not</a:t>
            </a:r>
            <a:r>
              <a:rPr dirty="0" sz="2300" spc="3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viable</a:t>
            </a:r>
            <a:r>
              <a:rPr dirty="0" sz="2300" spc="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for</a:t>
            </a:r>
            <a:r>
              <a:rPr dirty="0" sz="2300" spc="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understanding</a:t>
            </a:r>
            <a:r>
              <a:rPr dirty="0" sz="2300" spc="1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a</a:t>
            </a:r>
            <a:r>
              <a:rPr dirty="0" sz="2300" spc="3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great</a:t>
            </a:r>
            <a:r>
              <a:rPr dirty="0" sz="2300" spc="4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spc="-20" b="1">
                <a:solidFill>
                  <a:srgbClr val="0070BF"/>
                </a:solidFill>
                <a:latin typeface="Arial"/>
                <a:cs typeface="Arial"/>
              </a:rPr>
              <a:t>many </a:t>
            </a:r>
            <a:r>
              <a:rPr dirty="0" sz="2300" spc="-10" b="1">
                <a:solidFill>
                  <a:srgbClr val="0070BF"/>
                </a:solidFill>
                <a:latin typeface="Arial"/>
                <a:cs typeface="Arial"/>
              </a:rPr>
              <a:t>dependencies</a:t>
            </a:r>
            <a:endParaRPr sz="230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spcBef>
                <a:spcPts val="1995"/>
              </a:spcBef>
              <a:buFont typeface="Microsoft Sans Serif"/>
              <a:buChar char="•"/>
              <a:tabLst>
                <a:tab pos="295910" algn="l"/>
              </a:tabLst>
            </a:pPr>
            <a:r>
              <a:rPr dirty="0" sz="2300" b="1">
                <a:solidFill>
                  <a:srgbClr val="BF0000"/>
                </a:solidFill>
                <a:latin typeface="Arial"/>
                <a:cs typeface="Arial"/>
              </a:rPr>
              <a:t>The</a:t>
            </a:r>
            <a:r>
              <a:rPr dirty="0" sz="2300" spc="35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BF0000"/>
                </a:solidFill>
                <a:latin typeface="Arial"/>
                <a:cs typeface="Arial"/>
              </a:rPr>
              <a:t>alternative</a:t>
            </a:r>
            <a:r>
              <a:rPr dirty="0" sz="2300" spc="35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BF0000"/>
                </a:solidFill>
                <a:latin typeface="Arial"/>
                <a:cs typeface="Arial"/>
              </a:rPr>
              <a:t>is</a:t>
            </a:r>
            <a:r>
              <a:rPr dirty="0" sz="2300" spc="35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BF0000"/>
                </a:solidFill>
                <a:latin typeface="Arial"/>
                <a:cs typeface="Arial"/>
              </a:rPr>
              <a:t>Mutual</a:t>
            </a:r>
            <a:r>
              <a:rPr dirty="0" sz="2300" spc="25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BF0000"/>
                </a:solidFill>
                <a:latin typeface="Arial"/>
                <a:cs typeface="Arial"/>
              </a:rPr>
              <a:t>Information</a:t>
            </a:r>
            <a:r>
              <a:rPr dirty="0" sz="2300" spc="20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BF0000"/>
                </a:solidFill>
                <a:latin typeface="Arial"/>
                <a:cs typeface="Arial"/>
              </a:rPr>
              <a:t>Correlation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20980" y="225552"/>
            <a:ext cx="9753600" cy="7024370"/>
            <a:chOff x="220980" y="225552"/>
            <a:chExt cx="9753600" cy="702437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12051" y="225552"/>
              <a:ext cx="3462527" cy="286054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0980" y="758952"/>
              <a:ext cx="6859523" cy="649071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793202" y="3483288"/>
            <a:ext cx="1593215" cy="6292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90"/>
              </a:spcBef>
            </a:pPr>
            <a:r>
              <a:rPr dirty="0" sz="1950" spc="-20">
                <a:solidFill>
                  <a:srgbClr val="BF0000"/>
                </a:solidFill>
                <a:latin typeface="Arial"/>
                <a:cs typeface="Arial"/>
              </a:rPr>
              <a:t>High </a:t>
            </a:r>
            <a:r>
              <a:rPr dirty="0" sz="1950" spc="-10">
                <a:solidFill>
                  <a:srgbClr val="BF0000"/>
                </a:solidFill>
                <a:latin typeface="Arial"/>
                <a:cs typeface="Arial"/>
              </a:rPr>
              <a:t>Correlations: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544860" y="4170625"/>
            <a:ext cx="1812925" cy="28403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60985" marR="90170">
              <a:lnSpc>
                <a:spcPct val="101600"/>
              </a:lnSpc>
              <a:spcBef>
                <a:spcPts val="90"/>
              </a:spcBef>
            </a:pPr>
            <a:r>
              <a:rPr dirty="0" sz="1950" b="1">
                <a:solidFill>
                  <a:srgbClr val="BF0000"/>
                </a:solidFill>
                <a:latin typeface="Arial"/>
                <a:cs typeface="Arial"/>
              </a:rPr>
              <a:t>Check</a:t>
            </a:r>
            <a:r>
              <a:rPr dirty="0" sz="1950" spc="55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1950" spc="-25" b="1">
                <a:solidFill>
                  <a:srgbClr val="BF0000"/>
                </a:solidFill>
                <a:latin typeface="Arial"/>
                <a:cs typeface="Arial"/>
              </a:rPr>
              <a:t>for </a:t>
            </a:r>
            <a:r>
              <a:rPr dirty="0" sz="1950" b="1">
                <a:solidFill>
                  <a:srgbClr val="BF0000"/>
                </a:solidFill>
                <a:latin typeface="Arial"/>
                <a:cs typeface="Arial"/>
              </a:rPr>
              <a:t>greater</a:t>
            </a:r>
            <a:r>
              <a:rPr dirty="0" sz="1950" spc="55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1950" spc="-20" b="1">
                <a:solidFill>
                  <a:srgbClr val="BF0000"/>
                </a:solidFill>
                <a:latin typeface="Arial"/>
                <a:cs typeface="Arial"/>
              </a:rPr>
              <a:t>than</a:t>
            </a:r>
            <a:endParaRPr sz="1950">
              <a:latin typeface="Arial"/>
              <a:cs typeface="Arial"/>
            </a:endParaRPr>
          </a:p>
          <a:p>
            <a:pPr marL="260985">
              <a:lnSpc>
                <a:spcPct val="100000"/>
              </a:lnSpc>
              <a:spcBef>
                <a:spcPts val="35"/>
              </a:spcBef>
            </a:pPr>
            <a:r>
              <a:rPr dirty="0" sz="1950" b="1">
                <a:solidFill>
                  <a:srgbClr val="BF0000"/>
                </a:solidFill>
                <a:latin typeface="Arial"/>
                <a:cs typeface="Arial"/>
              </a:rPr>
              <a:t>0.7</a:t>
            </a:r>
            <a:r>
              <a:rPr dirty="0" sz="1950" spc="35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BF0000"/>
                </a:solidFill>
                <a:latin typeface="Arial"/>
                <a:cs typeface="Arial"/>
              </a:rPr>
              <a:t>and</a:t>
            </a:r>
            <a:r>
              <a:rPr dirty="0" sz="1950" spc="25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1950" spc="-20" b="1">
                <a:solidFill>
                  <a:srgbClr val="BF0000"/>
                </a:solidFill>
                <a:latin typeface="Arial"/>
                <a:cs typeface="Arial"/>
              </a:rPr>
              <a:t>less</a:t>
            </a:r>
            <a:endParaRPr sz="1950">
              <a:latin typeface="Arial"/>
              <a:cs typeface="Arial"/>
            </a:endParaRPr>
          </a:p>
          <a:p>
            <a:pPr marL="260985">
              <a:lnSpc>
                <a:spcPct val="100000"/>
              </a:lnSpc>
              <a:spcBef>
                <a:spcPts val="40"/>
              </a:spcBef>
            </a:pPr>
            <a:r>
              <a:rPr dirty="0" sz="1950" b="1">
                <a:solidFill>
                  <a:srgbClr val="BF0000"/>
                </a:solidFill>
                <a:latin typeface="Arial"/>
                <a:cs typeface="Arial"/>
              </a:rPr>
              <a:t>than</a:t>
            </a:r>
            <a:r>
              <a:rPr dirty="0" sz="1950" spc="45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1950" spc="-10" b="1">
                <a:solidFill>
                  <a:srgbClr val="BF0000"/>
                </a:solidFill>
                <a:latin typeface="Arial"/>
                <a:cs typeface="Arial"/>
              </a:rPr>
              <a:t>-</a:t>
            </a:r>
            <a:r>
              <a:rPr dirty="0" sz="1950" spc="-25" b="1">
                <a:solidFill>
                  <a:srgbClr val="BF0000"/>
                </a:solidFill>
                <a:latin typeface="Arial"/>
                <a:cs typeface="Arial"/>
              </a:rPr>
              <a:t>0.7</a:t>
            </a:r>
            <a:endParaRPr sz="1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1950">
              <a:latin typeface="Arial"/>
              <a:cs typeface="Arial"/>
            </a:endParaRPr>
          </a:p>
          <a:p>
            <a:pPr algn="ctr" marL="12700" marR="5080">
              <a:lnSpc>
                <a:spcPts val="3170"/>
              </a:lnSpc>
            </a:pPr>
            <a:r>
              <a:rPr dirty="0" sz="2650" spc="-10" b="1">
                <a:latin typeface="Arial"/>
                <a:cs typeface="Arial"/>
              </a:rPr>
              <a:t>Correlation Matrix “heatmap”</a:t>
            </a:r>
            <a:endParaRPr sz="2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3122" rIns="0" bIns="0" rtlCol="0" vert="horz">
            <a:spAutoFit/>
          </a:bodyPr>
          <a:lstStyle/>
          <a:p>
            <a:pPr marL="1316990">
              <a:lnSpc>
                <a:spcPct val="100000"/>
              </a:lnSpc>
              <a:spcBef>
                <a:spcPts val="125"/>
              </a:spcBef>
            </a:pPr>
            <a:r>
              <a:rPr dirty="0" sz="2950">
                <a:solidFill>
                  <a:srgbClr val="262672"/>
                </a:solidFill>
                <a:latin typeface="Arial"/>
                <a:cs typeface="Arial"/>
              </a:rPr>
              <a:t>Mutual</a:t>
            </a:r>
            <a:r>
              <a:rPr dirty="0" sz="2950" spc="-15">
                <a:solidFill>
                  <a:srgbClr val="262672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262672"/>
                </a:solidFill>
                <a:latin typeface="Arial"/>
                <a:cs typeface="Arial"/>
              </a:rPr>
              <a:t>Information</a:t>
            </a:r>
            <a:r>
              <a:rPr dirty="0" sz="2950" spc="-20">
                <a:solidFill>
                  <a:srgbClr val="262672"/>
                </a:solidFill>
                <a:latin typeface="Arial"/>
                <a:cs typeface="Arial"/>
              </a:rPr>
              <a:t> </a:t>
            </a:r>
            <a:r>
              <a:rPr dirty="0" sz="2950" spc="-10">
                <a:solidFill>
                  <a:srgbClr val="262672"/>
                </a:solidFill>
                <a:latin typeface="Arial"/>
                <a:cs typeface="Arial"/>
              </a:rPr>
              <a:t>Correlation</a:t>
            </a:r>
            <a:endParaRPr sz="29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6360" rIns="0" bIns="0" rtlCol="0" vert="horz">
            <a:spAutoFit/>
          </a:bodyPr>
          <a:lstStyle/>
          <a:p>
            <a:pPr algn="just" marL="295275" indent="-282575">
              <a:lnSpc>
                <a:spcPct val="100000"/>
              </a:lnSpc>
              <a:spcBef>
                <a:spcPts val="680"/>
              </a:spcBef>
              <a:buChar char="•"/>
              <a:tabLst>
                <a:tab pos="295275" algn="l"/>
              </a:tabLst>
            </a:pP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Mutual</a:t>
            </a:r>
            <a:r>
              <a:rPr dirty="0" sz="2300" spc="1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Information</a:t>
            </a:r>
            <a:r>
              <a:rPr dirty="0" sz="2300" spc="1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Correlation</a:t>
            </a:r>
            <a:r>
              <a:rPr dirty="0" sz="2300" spc="1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is</a:t>
            </a:r>
            <a:r>
              <a:rPr dirty="0" sz="2300" spc="5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based</a:t>
            </a:r>
            <a:r>
              <a:rPr dirty="0" sz="2300" spc="3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on</a:t>
            </a:r>
            <a:r>
              <a:rPr dirty="0" sz="2300" spc="3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a</a:t>
            </a:r>
            <a:r>
              <a:rPr dirty="0" sz="2300" spc="3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measure</a:t>
            </a:r>
            <a:r>
              <a:rPr dirty="0" sz="2300" spc="1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of</a:t>
            </a:r>
            <a:r>
              <a:rPr dirty="0" sz="2300" spc="5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FF0000"/>
                </a:solidFill>
              </a:rPr>
              <a:t>Entropy</a:t>
            </a:r>
            <a:endParaRPr sz="2300">
              <a:latin typeface="Microsoft Sans Serif"/>
              <a:cs typeface="Microsoft Sans Serif"/>
            </a:endParaRPr>
          </a:p>
          <a:p>
            <a:pPr algn="just" lvl="1" marL="622300" marR="5080" indent="-232410">
              <a:lnSpc>
                <a:spcPct val="101600"/>
              </a:lnSpc>
              <a:spcBef>
                <a:spcPts val="484"/>
              </a:spcBef>
              <a:buChar char="–"/>
              <a:tabLst>
                <a:tab pos="624840" algn="l"/>
              </a:tabLst>
            </a:pPr>
            <a:r>
              <a:rPr dirty="0" sz="1950">
                <a:latin typeface="Microsoft Sans Serif"/>
                <a:cs typeface="Microsoft Sans Serif"/>
              </a:rPr>
              <a:t>The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Pearson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correlation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coefficient</a:t>
            </a:r>
            <a:r>
              <a:rPr dirty="0" sz="1950" spc="3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assumes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normality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and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linearity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of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two </a:t>
            </a:r>
            <a:r>
              <a:rPr dirty="0" sz="1950" spc="-25">
                <a:latin typeface="Microsoft Sans Serif"/>
                <a:cs typeface="Microsoft Sans Serif"/>
              </a:rPr>
              <a:t>	</a:t>
            </a:r>
            <a:r>
              <a:rPr dirty="0" sz="1950">
                <a:latin typeface="Microsoft Sans Serif"/>
                <a:cs typeface="Microsoft Sans Serif"/>
              </a:rPr>
              <a:t>random</a:t>
            </a:r>
            <a:r>
              <a:rPr dirty="0" sz="1950" spc="9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variables;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Mutual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Information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removes</a:t>
            </a:r>
            <a:r>
              <a:rPr dirty="0" sz="1950" spc="8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these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assumptions</a:t>
            </a:r>
            <a:endParaRPr sz="1950">
              <a:latin typeface="Microsoft Sans Serif"/>
              <a:cs typeface="Microsoft Sans Serif"/>
            </a:endParaRPr>
          </a:p>
          <a:p>
            <a:pPr algn="just" marL="294640" marR="28575" indent="-282575">
              <a:lnSpc>
                <a:spcPct val="100400"/>
              </a:lnSpc>
              <a:spcBef>
                <a:spcPts val="1315"/>
              </a:spcBef>
              <a:buChar char="•"/>
              <a:tabLst>
                <a:tab pos="295910" algn="l"/>
              </a:tabLst>
            </a:pP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In</a:t>
            </a:r>
            <a:r>
              <a:rPr dirty="0" sz="2300" spc="3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essence,</a:t>
            </a:r>
            <a:r>
              <a:rPr dirty="0" sz="2300" spc="3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mutual</a:t>
            </a:r>
            <a:r>
              <a:rPr dirty="0" sz="2300" spc="2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information</a:t>
            </a:r>
            <a:r>
              <a:rPr dirty="0" sz="2300" spc="-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tells</a:t>
            </a:r>
            <a:r>
              <a:rPr dirty="0" sz="2300" spc="2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us</a:t>
            </a:r>
            <a:r>
              <a:rPr dirty="0" sz="2300" spc="6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 i="1">
                <a:solidFill>
                  <a:srgbClr val="FF0000"/>
                </a:solidFill>
                <a:latin typeface="Arial"/>
                <a:cs typeface="Arial"/>
              </a:rPr>
              <a:t>how</a:t>
            </a:r>
            <a:r>
              <a:rPr dirty="0" sz="2300" spc="-5" b="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300" b="0" i="1">
                <a:solidFill>
                  <a:srgbClr val="FF0000"/>
                </a:solidFill>
                <a:latin typeface="Arial"/>
                <a:cs typeface="Arial"/>
              </a:rPr>
              <a:t>useful the</a:t>
            </a:r>
            <a:r>
              <a:rPr dirty="0" sz="2300" spc="-15" b="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300" b="0" i="1">
                <a:solidFill>
                  <a:srgbClr val="FF0000"/>
                </a:solidFill>
                <a:latin typeface="Arial"/>
                <a:cs typeface="Arial"/>
              </a:rPr>
              <a:t>feature</a:t>
            </a:r>
            <a:r>
              <a:rPr dirty="0" sz="2300" spc="-10" b="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300" b="0" i="1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dirty="0" sz="2300" spc="30" b="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300" spc="-25" b="0" i="1">
                <a:solidFill>
                  <a:srgbClr val="FF0000"/>
                </a:solidFill>
                <a:latin typeface="Arial"/>
                <a:cs typeface="Arial"/>
              </a:rPr>
              <a:t>is </a:t>
            </a:r>
            <a:r>
              <a:rPr dirty="0" sz="2300" spc="-25" b="0" i="1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dirty="0" sz="2300" b="0" i="1">
                <a:solidFill>
                  <a:srgbClr val="FF0000"/>
                </a:solidFill>
                <a:latin typeface="Arial"/>
                <a:cs typeface="Arial"/>
              </a:rPr>
              <a:t>at</a:t>
            </a:r>
            <a:r>
              <a:rPr dirty="0" sz="2300" spc="25" b="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300" b="0" i="1">
                <a:solidFill>
                  <a:srgbClr val="FF0000"/>
                </a:solidFill>
                <a:latin typeface="Arial"/>
                <a:cs typeface="Arial"/>
              </a:rPr>
              <a:t>predicting</a:t>
            </a:r>
            <a:r>
              <a:rPr dirty="0" sz="2300" spc="-35" b="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300" b="0" i="1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2300" spc="15" b="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300" b="0" i="1">
                <a:solidFill>
                  <a:srgbClr val="FF0000"/>
                </a:solidFill>
                <a:latin typeface="Arial"/>
                <a:cs typeface="Arial"/>
              </a:rPr>
              <a:t>random</a:t>
            </a:r>
            <a:r>
              <a:rPr dirty="0" sz="2300" spc="20" b="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300" b="0" i="1">
                <a:solidFill>
                  <a:srgbClr val="FF0000"/>
                </a:solidFill>
                <a:latin typeface="Arial"/>
                <a:cs typeface="Arial"/>
              </a:rPr>
              <a:t>variable</a:t>
            </a:r>
            <a:r>
              <a:rPr dirty="0" sz="2300" spc="-15" b="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300" b="0" i="1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dirty="0" sz="2300" spc="10" b="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300" b="0" i="1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dirty="0" sz="2300" spc="15" b="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300" b="0" i="1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2300" spc="15" b="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300" b="0" i="1">
                <a:solidFill>
                  <a:srgbClr val="FF0000"/>
                </a:solidFill>
                <a:latin typeface="Arial"/>
                <a:cs typeface="Arial"/>
              </a:rPr>
              <a:t>scale</a:t>
            </a:r>
            <a:r>
              <a:rPr dirty="0" sz="2300" spc="-10" b="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300" b="0" i="1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dirty="0" sz="2300" spc="30" b="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300" b="0" i="1">
                <a:solidFill>
                  <a:srgbClr val="FF0000"/>
                </a:solidFill>
                <a:latin typeface="Arial"/>
                <a:cs typeface="Arial"/>
              </a:rPr>
              <a:t>zero</a:t>
            </a:r>
            <a:r>
              <a:rPr dirty="0" sz="2300" spc="-15" b="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300" b="0" i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2300" spc="15" b="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300" b="0" i="1">
                <a:solidFill>
                  <a:srgbClr val="FF0000"/>
                </a:solidFill>
                <a:latin typeface="Arial"/>
                <a:cs typeface="Arial"/>
              </a:rPr>
              <a:t>one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,</a:t>
            </a:r>
            <a:r>
              <a:rPr dirty="0" sz="2300" spc="3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20" b="0">
                <a:solidFill>
                  <a:srgbClr val="000000"/>
                </a:solidFill>
                <a:latin typeface="Microsoft Sans Serif"/>
                <a:cs typeface="Microsoft Sans Serif"/>
              </a:rPr>
              <a:t>with </a:t>
            </a:r>
            <a:r>
              <a:rPr dirty="0" sz="2300" spc="-20" b="0">
                <a:solidFill>
                  <a:srgbClr val="000000"/>
                </a:solidFill>
                <a:latin typeface="Microsoft Sans Serif"/>
                <a:cs typeface="Microsoft Sans Serif"/>
              </a:rPr>
              <a:t>	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higher</a:t>
            </a:r>
            <a:r>
              <a:rPr dirty="0" sz="2300" spc="2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numbers</a:t>
            </a:r>
            <a:r>
              <a:rPr dirty="0" sz="2300" spc="3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indicating</a:t>
            </a:r>
            <a:r>
              <a:rPr dirty="0" sz="2300" spc="2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better</a:t>
            </a:r>
            <a:r>
              <a:rPr dirty="0" sz="2300" spc="2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 b="0">
                <a:solidFill>
                  <a:srgbClr val="000000"/>
                </a:solidFill>
                <a:latin typeface="Microsoft Sans Serif"/>
                <a:cs typeface="Microsoft Sans Serif"/>
              </a:rPr>
              <a:t>predictors.</a:t>
            </a:r>
            <a:endParaRPr sz="2300">
              <a:latin typeface="Microsoft Sans Serif"/>
              <a:cs typeface="Microsoft Sans Serif"/>
            </a:endParaRPr>
          </a:p>
          <a:p>
            <a:pPr algn="just" lvl="1" marL="622300" marR="1191260" indent="-232410">
              <a:lnSpc>
                <a:spcPct val="101499"/>
              </a:lnSpc>
              <a:spcBef>
                <a:spcPts val="665"/>
              </a:spcBef>
              <a:buChar char="–"/>
              <a:tabLst>
                <a:tab pos="624840" algn="l"/>
              </a:tabLst>
            </a:pPr>
            <a:r>
              <a:rPr dirty="0" sz="1950">
                <a:latin typeface="Microsoft Sans Serif"/>
                <a:cs typeface="Microsoft Sans Serif"/>
              </a:rPr>
              <a:t>Mutual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Information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Correlation</a:t>
            </a:r>
            <a:r>
              <a:rPr dirty="0" sz="1950" spc="4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captures</a:t>
            </a:r>
            <a:r>
              <a:rPr dirty="0" sz="1950" spc="8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many</a:t>
            </a:r>
            <a:r>
              <a:rPr dirty="0" sz="1950" spc="8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different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types</a:t>
            </a:r>
            <a:r>
              <a:rPr dirty="0" sz="1950" spc="85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of </a:t>
            </a:r>
            <a:r>
              <a:rPr dirty="0" sz="1950" spc="-25">
                <a:latin typeface="Microsoft Sans Serif"/>
                <a:cs typeface="Microsoft Sans Serif"/>
              </a:rPr>
              <a:t>	</a:t>
            </a:r>
            <a:r>
              <a:rPr dirty="0" sz="1950">
                <a:latin typeface="Microsoft Sans Serif"/>
                <a:cs typeface="Microsoft Sans Serif"/>
              </a:rPr>
              <a:t>relationships</a:t>
            </a:r>
            <a:r>
              <a:rPr dirty="0" sz="1950" spc="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(not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just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linear)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and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is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considered</a:t>
            </a:r>
            <a:r>
              <a:rPr dirty="0" sz="1950" spc="4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the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best</a:t>
            </a:r>
            <a:r>
              <a:rPr dirty="0" sz="1950" spc="4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metric</a:t>
            </a:r>
            <a:endParaRPr sz="1950">
              <a:latin typeface="Microsoft Sans Serif"/>
              <a:cs typeface="Microsoft Sans Serif"/>
            </a:endParaRPr>
          </a:p>
          <a:p>
            <a:pPr algn="just" marL="294640" marR="268605" indent="-282575">
              <a:lnSpc>
                <a:spcPct val="100400"/>
              </a:lnSpc>
              <a:spcBef>
                <a:spcPts val="1320"/>
              </a:spcBef>
              <a:buChar char="•"/>
              <a:tabLst>
                <a:tab pos="295910" algn="l"/>
              </a:tabLst>
            </a:pP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However,</a:t>
            </a:r>
            <a:r>
              <a:rPr dirty="0" sz="2300" spc="5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it</a:t>
            </a:r>
            <a:r>
              <a:rPr dirty="0" sz="2300" spc="2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doesn’t</a:t>
            </a:r>
            <a:r>
              <a:rPr dirty="0" sz="2300" spc="1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tell</a:t>
            </a:r>
            <a:r>
              <a:rPr dirty="0" sz="2300" spc="1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us</a:t>
            </a:r>
            <a:r>
              <a:rPr dirty="0" sz="2300" spc="4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if</a:t>
            </a:r>
            <a:r>
              <a:rPr dirty="0" sz="2300" spc="5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the</a:t>
            </a:r>
            <a:r>
              <a:rPr dirty="0" sz="2300" spc="3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feature</a:t>
            </a:r>
            <a:r>
              <a:rPr dirty="0" sz="2300" spc="1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is</a:t>
            </a:r>
            <a:r>
              <a:rPr dirty="0" sz="2300" spc="2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a</a:t>
            </a:r>
            <a:r>
              <a:rPr dirty="0" sz="2300" spc="3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predictor</a:t>
            </a:r>
            <a:r>
              <a:rPr dirty="0" sz="2300" spc="-1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of</a:t>
            </a:r>
            <a:r>
              <a:rPr dirty="0" sz="2300" spc="5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 b="0">
                <a:solidFill>
                  <a:srgbClr val="000000"/>
                </a:solidFill>
                <a:latin typeface="Microsoft Sans Serif"/>
                <a:cs typeface="Microsoft Sans Serif"/>
              </a:rPr>
              <a:t>success </a:t>
            </a:r>
            <a:r>
              <a:rPr dirty="0" sz="2300" spc="-10" b="0">
                <a:solidFill>
                  <a:srgbClr val="000000"/>
                </a:solidFill>
                <a:latin typeface="Microsoft Sans Serif"/>
                <a:cs typeface="Microsoft Sans Serif"/>
              </a:rPr>
              <a:t>	</a:t>
            </a:r>
            <a:r>
              <a:rPr dirty="0" sz="2300" b="0">
                <a:solidFill>
                  <a:srgbClr val="000000"/>
                </a:solidFill>
                <a:latin typeface="Microsoft Sans Serif"/>
                <a:cs typeface="Microsoft Sans Serif"/>
              </a:rPr>
              <a:t>or</a:t>
            </a:r>
            <a:r>
              <a:rPr dirty="0" sz="2300" spc="5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 b="0">
                <a:solidFill>
                  <a:srgbClr val="000000"/>
                </a:solidFill>
                <a:latin typeface="Microsoft Sans Serif"/>
                <a:cs typeface="Microsoft Sans Serif"/>
              </a:rPr>
              <a:t>failure.</a:t>
            </a:r>
            <a:endParaRPr sz="2300">
              <a:latin typeface="Microsoft Sans Serif"/>
              <a:cs typeface="Microsoft Sans Serif"/>
            </a:endParaRPr>
          </a:p>
          <a:p>
            <a:pPr marL="295910" marR="589280" indent="-283845">
              <a:lnSpc>
                <a:spcPct val="100400"/>
              </a:lnSpc>
              <a:spcBef>
                <a:spcPts val="1320"/>
              </a:spcBef>
              <a:buFont typeface="Microsoft Sans Serif"/>
              <a:buChar char="•"/>
              <a:tabLst>
                <a:tab pos="295910" algn="l"/>
              </a:tabLst>
            </a:pPr>
            <a:r>
              <a:rPr dirty="0" sz="2300">
                <a:solidFill>
                  <a:srgbClr val="BF0000"/>
                </a:solidFill>
              </a:rPr>
              <a:t>Mutual</a:t>
            </a:r>
            <a:r>
              <a:rPr dirty="0" sz="2300" spc="55">
                <a:solidFill>
                  <a:srgbClr val="BF0000"/>
                </a:solidFill>
              </a:rPr>
              <a:t> </a:t>
            </a:r>
            <a:r>
              <a:rPr dirty="0" sz="2300">
                <a:solidFill>
                  <a:srgbClr val="BF0000"/>
                </a:solidFill>
              </a:rPr>
              <a:t>Information</a:t>
            </a:r>
            <a:r>
              <a:rPr dirty="0" sz="2300" spc="25">
                <a:solidFill>
                  <a:srgbClr val="BF0000"/>
                </a:solidFill>
              </a:rPr>
              <a:t> </a:t>
            </a:r>
            <a:r>
              <a:rPr dirty="0" sz="2300">
                <a:solidFill>
                  <a:srgbClr val="BF0000"/>
                </a:solidFill>
              </a:rPr>
              <a:t>and</a:t>
            </a:r>
            <a:r>
              <a:rPr dirty="0" sz="2300" spc="25">
                <a:solidFill>
                  <a:srgbClr val="BF0000"/>
                </a:solidFill>
              </a:rPr>
              <a:t> </a:t>
            </a:r>
            <a:r>
              <a:rPr dirty="0" sz="2300">
                <a:solidFill>
                  <a:srgbClr val="BF0000"/>
                </a:solidFill>
              </a:rPr>
              <a:t>Pearson</a:t>
            </a:r>
            <a:r>
              <a:rPr dirty="0" sz="2300" spc="25">
                <a:solidFill>
                  <a:srgbClr val="BF0000"/>
                </a:solidFill>
              </a:rPr>
              <a:t> </a:t>
            </a:r>
            <a:r>
              <a:rPr dirty="0" sz="2300">
                <a:solidFill>
                  <a:srgbClr val="BF0000"/>
                </a:solidFill>
              </a:rPr>
              <a:t>measures</a:t>
            </a:r>
            <a:r>
              <a:rPr dirty="0" sz="2300" spc="-10">
                <a:solidFill>
                  <a:srgbClr val="BF0000"/>
                </a:solidFill>
              </a:rPr>
              <a:t> </a:t>
            </a:r>
            <a:r>
              <a:rPr dirty="0" sz="2300" spc="-25">
                <a:solidFill>
                  <a:srgbClr val="BF0000"/>
                </a:solidFill>
              </a:rPr>
              <a:t>are </a:t>
            </a:r>
            <a:r>
              <a:rPr dirty="0" sz="2300">
                <a:solidFill>
                  <a:srgbClr val="BF0000"/>
                </a:solidFill>
              </a:rPr>
              <a:t>complementary</a:t>
            </a:r>
            <a:r>
              <a:rPr dirty="0" sz="2300" spc="-15">
                <a:solidFill>
                  <a:srgbClr val="BF0000"/>
                </a:solidFill>
              </a:rPr>
              <a:t> </a:t>
            </a:r>
            <a:r>
              <a:rPr dirty="0" sz="2300">
                <a:solidFill>
                  <a:srgbClr val="BF0000"/>
                </a:solidFill>
              </a:rPr>
              <a:t>–</a:t>
            </a:r>
            <a:r>
              <a:rPr dirty="0" sz="2300" spc="30">
                <a:solidFill>
                  <a:srgbClr val="BF0000"/>
                </a:solidFill>
              </a:rPr>
              <a:t> </a:t>
            </a:r>
            <a:r>
              <a:rPr dirty="0" sz="2300">
                <a:solidFill>
                  <a:srgbClr val="BF0000"/>
                </a:solidFill>
              </a:rPr>
              <a:t>they</a:t>
            </a:r>
            <a:r>
              <a:rPr dirty="0" sz="2300" spc="25">
                <a:solidFill>
                  <a:srgbClr val="BF0000"/>
                </a:solidFill>
              </a:rPr>
              <a:t> </a:t>
            </a:r>
            <a:r>
              <a:rPr dirty="0" sz="2300">
                <a:solidFill>
                  <a:srgbClr val="BF0000"/>
                </a:solidFill>
              </a:rPr>
              <a:t>do</a:t>
            </a:r>
            <a:r>
              <a:rPr dirty="0" sz="2300" spc="35">
                <a:solidFill>
                  <a:srgbClr val="BF0000"/>
                </a:solidFill>
              </a:rPr>
              <a:t> </a:t>
            </a:r>
            <a:r>
              <a:rPr dirty="0" sz="2300">
                <a:solidFill>
                  <a:srgbClr val="BF0000"/>
                </a:solidFill>
              </a:rPr>
              <a:t>not</a:t>
            </a:r>
            <a:r>
              <a:rPr dirty="0" sz="2300" spc="30">
                <a:solidFill>
                  <a:srgbClr val="BF0000"/>
                </a:solidFill>
              </a:rPr>
              <a:t> </a:t>
            </a:r>
            <a:r>
              <a:rPr dirty="0" sz="2300">
                <a:solidFill>
                  <a:srgbClr val="BF0000"/>
                </a:solidFill>
              </a:rPr>
              <a:t>always</a:t>
            </a:r>
            <a:r>
              <a:rPr dirty="0" sz="2300" spc="25">
                <a:solidFill>
                  <a:srgbClr val="BF0000"/>
                </a:solidFill>
              </a:rPr>
              <a:t> </a:t>
            </a:r>
            <a:r>
              <a:rPr dirty="0" sz="2300">
                <a:solidFill>
                  <a:srgbClr val="BF0000"/>
                </a:solidFill>
              </a:rPr>
              <a:t>move the</a:t>
            </a:r>
            <a:r>
              <a:rPr dirty="0" sz="2300" spc="50">
                <a:solidFill>
                  <a:srgbClr val="BF0000"/>
                </a:solidFill>
              </a:rPr>
              <a:t> </a:t>
            </a:r>
            <a:r>
              <a:rPr dirty="0" sz="2300">
                <a:solidFill>
                  <a:srgbClr val="BF0000"/>
                </a:solidFill>
              </a:rPr>
              <a:t>same </a:t>
            </a:r>
            <a:r>
              <a:rPr dirty="0" sz="2300" spc="-25">
                <a:solidFill>
                  <a:srgbClr val="BF0000"/>
                </a:solidFill>
              </a:rPr>
              <a:t>way</a:t>
            </a:r>
            <a:endParaRPr sz="2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8635" rIns="0" bIns="0" rtlCol="0" vert="horz">
            <a:spAutoFit/>
          </a:bodyPr>
          <a:lstStyle/>
          <a:p>
            <a:pPr marL="2879090">
              <a:lnSpc>
                <a:spcPct val="100000"/>
              </a:lnSpc>
              <a:spcBef>
                <a:spcPts val="125"/>
              </a:spcBef>
            </a:pPr>
            <a:r>
              <a:rPr dirty="0" sz="2950">
                <a:solidFill>
                  <a:srgbClr val="262672"/>
                </a:solidFill>
                <a:latin typeface="Arial"/>
                <a:cs typeface="Arial"/>
              </a:rPr>
              <a:t>Feature</a:t>
            </a:r>
            <a:r>
              <a:rPr dirty="0" sz="2950" spc="5">
                <a:solidFill>
                  <a:srgbClr val="262672"/>
                </a:solidFill>
                <a:latin typeface="Arial"/>
                <a:cs typeface="Arial"/>
              </a:rPr>
              <a:t> </a:t>
            </a:r>
            <a:r>
              <a:rPr dirty="0" sz="2950" spc="-10">
                <a:solidFill>
                  <a:srgbClr val="262672"/>
                </a:solidFill>
                <a:latin typeface="Arial"/>
                <a:cs typeface="Arial"/>
              </a:rPr>
              <a:t>Filter</a:t>
            </a:r>
            <a:endParaRPr sz="29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25937" y="1805475"/>
            <a:ext cx="8361045" cy="480314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295910" marR="527050" indent="-283845">
              <a:lnSpc>
                <a:spcPts val="3170"/>
              </a:lnSpc>
              <a:spcBef>
                <a:spcPts val="204"/>
              </a:spcBef>
              <a:buChar char="•"/>
              <a:tabLst>
                <a:tab pos="295910" algn="l"/>
                <a:tab pos="297180" algn="l"/>
              </a:tabLst>
            </a:pPr>
            <a:r>
              <a:rPr dirty="0" sz="2650">
                <a:latin typeface="Microsoft Sans Serif"/>
                <a:cs typeface="Microsoft Sans Serif"/>
              </a:rPr>
              <a:t>	There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is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0000"/>
                </a:solidFill>
                <a:latin typeface="Microsoft Sans Serif"/>
                <a:cs typeface="Microsoft Sans Serif"/>
              </a:rPr>
              <a:t>feature</a:t>
            </a:r>
            <a:r>
              <a:rPr dirty="0" sz="2650" spc="-3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0000"/>
                </a:solidFill>
                <a:latin typeface="Microsoft Sans Serif"/>
                <a:cs typeface="Microsoft Sans Serif"/>
              </a:rPr>
              <a:t>filter</a:t>
            </a:r>
            <a:r>
              <a:rPr dirty="0" sz="2650" spc="-5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function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in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sample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 spc="-20">
                <a:latin typeface="Microsoft Sans Serif"/>
                <a:cs typeface="Microsoft Sans Serif"/>
              </a:rPr>
              <a:t>code </a:t>
            </a:r>
            <a:r>
              <a:rPr dirty="0" sz="2650">
                <a:latin typeface="Microsoft Sans Serif"/>
                <a:cs typeface="Microsoft Sans Serif"/>
              </a:rPr>
              <a:t>local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library</a:t>
            </a:r>
            <a:endParaRPr sz="2650">
              <a:latin typeface="Microsoft Sans Serif"/>
              <a:cs typeface="Microsoft Sans Serif"/>
            </a:endParaRPr>
          </a:p>
          <a:p>
            <a:pPr algn="just" marL="295910" marR="264160" indent="-283845">
              <a:lnSpc>
                <a:spcPts val="3170"/>
              </a:lnSpc>
              <a:spcBef>
                <a:spcPts val="1975"/>
              </a:spcBef>
              <a:buChar char="•"/>
              <a:tabLst>
                <a:tab pos="295910" algn="l"/>
              </a:tabLst>
            </a:pPr>
            <a:r>
              <a:rPr dirty="0" sz="2650">
                <a:latin typeface="Microsoft Sans Serif"/>
                <a:cs typeface="Microsoft Sans Serif"/>
              </a:rPr>
              <a:t>It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selects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all</a:t>
            </a:r>
            <a:r>
              <a:rPr dirty="0" sz="2650" spc="-1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of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features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with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0000"/>
                </a:solidFill>
                <a:latin typeface="Microsoft Sans Serif"/>
                <a:cs typeface="Microsoft Sans Serif"/>
              </a:rPr>
              <a:t>Pearson</a:t>
            </a:r>
            <a:r>
              <a:rPr dirty="0" sz="2650" spc="-5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or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 spc="-10">
                <a:solidFill>
                  <a:srgbClr val="FF0000"/>
                </a:solidFill>
                <a:latin typeface="Microsoft Sans Serif"/>
                <a:cs typeface="Microsoft Sans Serif"/>
              </a:rPr>
              <a:t>Mutual </a:t>
            </a:r>
            <a:r>
              <a:rPr dirty="0" sz="2650">
                <a:solidFill>
                  <a:srgbClr val="FF0000"/>
                </a:solidFill>
                <a:latin typeface="Microsoft Sans Serif"/>
                <a:cs typeface="Microsoft Sans Serif"/>
              </a:rPr>
              <a:t>Information</a:t>
            </a:r>
            <a:r>
              <a:rPr dirty="0" sz="2650" spc="-7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correlation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with</a:t>
            </a:r>
            <a:r>
              <a:rPr dirty="0" sz="2650" spc="-10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7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target</a:t>
            </a:r>
            <a:r>
              <a:rPr dirty="0" sz="2650" spc="-8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variable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that</a:t>
            </a:r>
            <a:r>
              <a:rPr dirty="0" sz="2650" spc="-75">
                <a:latin typeface="Microsoft Sans Serif"/>
                <a:cs typeface="Microsoft Sans Serif"/>
              </a:rPr>
              <a:t> </a:t>
            </a:r>
            <a:r>
              <a:rPr dirty="0" sz="2650" spc="-25">
                <a:latin typeface="Microsoft Sans Serif"/>
                <a:cs typeface="Microsoft Sans Serif"/>
              </a:rPr>
              <a:t>is </a:t>
            </a:r>
            <a:r>
              <a:rPr dirty="0" sz="2650">
                <a:latin typeface="Microsoft Sans Serif"/>
                <a:cs typeface="Microsoft Sans Serif"/>
              </a:rPr>
              <a:t>less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than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given</a:t>
            </a:r>
            <a:r>
              <a:rPr dirty="0" sz="2650" spc="-2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threshold</a:t>
            </a:r>
            <a:r>
              <a:rPr dirty="0" sz="2650" spc="-2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(or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“floor”)</a:t>
            </a:r>
            <a:endParaRPr sz="2650">
              <a:latin typeface="Microsoft Sans Serif"/>
              <a:cs typeface="Microsoft Sans Serif"/>
            </a:endParaRPr>
          </a:p>
          <a:p>
            <a:pPr marL="295910" marR="5080" indent="-283845">
              <a:lnSpc>
                <a:spcPts val="3170"/>
              </a:lnSpc>
              <a:spcBef>
                <a:spcPts val="1975"/>
              </a:spcBef>
              <a:buChar char="•"/>
              <a:tabLst>
                <a:tab pos="295910" algn="l"/>
                <a:tab pos="297180" algn="l"/>
              </a:tabLst>
            </a:pPr>
            <a:r>
              <a:rPr dirty="0" sz="2650">
                <a:latin typeface="Microsoft Sans Serif"/>
                <a:cs typeface="Microsoft Sans Serif"/>
              </a:rPr>
              <a:t>	Low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correlation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with</a:t>
            </a:r>
            <a:r>
              <a:rPr dirty="0" sz="2650" spc="-8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6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target</a:t>
            </a:r>
            <a:r>
              <a:rPr dirty="0" sz="2650" spc="-7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variable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means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these </a:t>
            </a:r>
            <a:r>
              <a:rPr dirty="0" sz="2650">
                <a:latin typeface="Microsoft Sans Serif"/>
                <a:cs typeface="Microsoft Sans Serif"/>
              </a:rPr>
              <a:t>features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0000"/>
                </a:solidFill>
                <a:latin typeface="Microsoft Sans Serif"/>
                <a:cs typeface="Microsoft Sans Serif"/>
              </a:rPr>
              <a:t>are</a:t>
            </a:r>
            <a:r>
              <a:rPr dirty="0" sz="2650" spc="-75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0000"/>
                </a:solidFill>
                <a:latin typeface="Microsoft Sans Serif"/>
                <a:cs typeface="Microsoft Sans Serif"/>
              </a:rPr>
              <a:t>not</a:t>
            </a:r>
            <a:r>
              <a:rPr dirty="0" sz="2650" spc="-55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0000"/>
                </a:solidFill>
                <a:latin typeface="Microsoft Sans Serif"/>
                <a:cs typeface="Microsoft Sans Serif"/>
              </a:rPr>
              <a:t>very</a:t>
            </a:r>
            <a:r>
              <a:rPr dirty="0" sz="2650" spc="-6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0000"/>
                </a:solidFill>
                <a:latin typeface="Microsoft Sans Serif"/>
                <a:cs typeface="Microsoft Sans Serif"/>
              </a:rPr>
              <a:t>valuable</a:t>
            </a:r>
            <a:r>
              <a:rPr dirty="0" sz="2650" spc="-35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as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predictors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 spc="-25" i="1">
                <a:latin typeface="Arial"/>
                <a:cs typeface="Arial"/>
              </a:rPr>
              <a:t>by </a:t>
            </a:r>
            <a:r>
              <a:rPr dirty="0" sz="2650" i="1">
                <a:latin typeface="Arial"/>
                <a:cs typeface="Arial"/>
              </a:rPr>
              <a:t>themselves</a:t>
            </a:r>
            <a:r>
              <a:rPr dirty="0" sz="2650" spc="-35" i="1">
                <a:latin typeface="Arial"/>
                <a:cs typeface="Arial"/>
              </a:rPr>
              <a:t> </a:t>
            </a:r>
            <a:r>
              <a:rPr dirty="0" sz="2650" i="1">
                <a:latin typeface="Arial"/>
                <a:cs typeface="Arial"/>
              </a:rPr>
              <a:t>(we</a:t>
            </a:r>
            <a:r>
              <a:rPr dirty="0" sz="2650" spc="-75" i="1">
                <a:latin typeface="Arial"/>
                <a:cs typeface="Arial"/>
              </a:rPr>
              <a:t> </a:t>
            </a:r>
            <a:r>
              <a:rPr dirty="0" sz="2650" i="1">
                <a:latin typeface="Arial"/>
                <a:cs typeface="Arial"/>
              </a:rPr>
              <a:t>can’t</a:t>
            </a:r>
            <a:r>
              <a:rPr dirty="0" sz="2650" spc="-50" i="1">
                <a:latin typeface="Arial"/>
                <a:cs typeface="Arial"/>
              </a:rPr>
              <a:t> </a:t>
            </a:r>
            <a:r>
              <a:rPr dirty="0" sz="2650" i="1">
                <a:latin typeface="Arial"/>
                <a:cs typeface="Arial"/>
              </a:rPr>
              <a:t>say</a:t>
            </a:r>
            <a:r>
              <a:rPr dirty="0" sz="2650" spc="-80" i="1">
                <a:latin typeface="Arial"/>
                <a:cs typeface="Arial"/>
              </a:rPr>
              <a:t> </a:t>
            </a:r>
            <a:r>
              <a:rPr dirty="0" sz="2650" i="1">
                <a:latin typeface="Arial"/>
                <a:cs typeface="Arial"/>
              </a:rPr>
              <a:t>if</a:t>
            </a:r>
            <a:r>
              <a:rPr dirty="0" sz="2650" spc="-100" i="1">
                <a:latin typeface="Arial"/>
                <a:cs typeface="Arial"/>
              </a:rPr>
              <a:t> </a:t>
            </a:r>
            <a:r>
              <a:rPr dirty="0" sz="2650" i="1">
                <a:latin typeface="Arial"/>
                <a:cs typeface="Arial"/>
              </a:rPr>
              <a:t>they</a:t>
            </a:r>
            <a:r>
              <a:rPr dirty="0" sz="2650" spc="-60" i="1">
                <a:latin typeface="Arial"/>
                <a:cs typeface="Arial"/>
              </a:rPr>
              <a:t> </a:t>
            </a:r>
            <a:r>
              <a:rPr dirty="0" sz="2650" i="1">
                <a:latin typeface="Arial"/>
                <a:cs typeface="Arial"/>
              </a:rPr>
              <a:t>are</a:t>
            </a:r>
            <a:r>
              <a:rPr dirty="0" sz="2650" spc="-75" i="1">
                <a:latin typeface="Arial"/>
                <a:cs typeface="Arial"/>
              </a:rPr>
              <a:t> </a:t>
            </a:r>
            <a:r>
              <a:rPr dirty="0" sz="2650" i="1">
                <a:latin typeface="Arial"/>
                <a:cs typeface="Arial"/>
              </a:rPr>
              <a:t>more</a:t>
            </a:r>
            <a:r>
              <a:rPr dirty="0" sz="2650" spc="-50" i="1">
                <a:latin typeface="Arial"/>
                <a:cs typeface="Arial"/>
              </a:rPr>
              <a:t> </a:t>
            </a:r>
            <a:r>
              <a:rPr dirty="0" sz="2650" i="1">
                <a:latin typeface="Arial"/>
                <a:cs typeface="Arial"/>
              </a:rPr>
              <a:t>useful</a:t>
            </a:r>
            <a:r>
              <a:rPr dirty="0" sz="2650" spc="-65" i="1">
                <a:latin typeface="Arial"/>
                <a:cs typeface="Arial"/>
              </a:rPr>
              <a:t> </a:t>
            </a:r>
            <a:r>
              <a:rPr dirty="0" sz="2650" spc="-20" i="1">
                <a:latin typeface="Arial"/>
                <a:cs typeface="Arial"/>
              </a:rPr>
              <a:t>when </a:t>
            </a:r>
            <a:r>
              <a:rPr dirty="0" sz="2650" i="1">
                <a:latin typeface="Arial"/>
                <a:cs typeface="Arial"/>
              </a:rPr>
              <a:t>combined</a:t>
            </a:r>
            <a:r>
              <a:rPr dirty="0" sz="2650" spc="-70" i="1">
                <a:latin typeface="Arial"/>
                <a:cs typeface="Arial"/>
              </a:rPr>
              <a:t> </a:t>
            </a:r>
            <a:r>
              <a:rPr dirty="0" sz="2650" i="1">
                <a:latin typeface="Arial"/>
                <a:cs typeface="Arial"/>
              </a:rPr>
              <a:t>with</a:t>
            </a:r>
            <a:r>
              <a:rPr dirty="0" sz="2650" spc="-90" i="1">
                <a:latin typeface="Arial"/>
                <a:cs typeface="Arial"/>
              </a:rPr>
              <a:t> </a:t>
            </a:r>
            <a:r>
              <a:rPr dirty="0" sz="2650" i="1">
                <a:latin typeface="Arial"/>
                <a:cs typeface="Arial"/>
              </a:rPr>
              <a:t>other</a:t>
            </a:r>
            <a:r>
              <a:rPr dirty="0" sz="2650" spc="-80" i="1">
                <a:latin typeface="Arial"/>
                <a:cs typeface="Arial"/>
              </a:rPr>
              <a:t> </a:t>
            </a:r>
            <a:r>
              <a:rPr dirty="0" sz="2650" spc="-10" i="1">
                <a:latin typeface="Arial"/>
                <a:cs typeface="Arial"/>
              </a:rPr>
              <a:t>variables)</a:t>
            </a:r>
            <a:endParaRPr sz="265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spcBef>
                <a:spcPts val="1855"/>
              </a:spcBef>
              <a:buFont typeface="Microsoft Sans Serif"/>
              <a:buChar char="•"/>
              <a:tabLst>
                <a:tab pos="295910" algn="l"/>
              </a:tabLst>
            </a:pPr>
            <a:r>
              <a:rPr dirty="0" sz="2650" i="1">
                <a:latin typeface="Arial"/>
                <a:cs typeface="Arial"/>
              </a:rPr>
              <a:t>Nonetheless,</a:t>
            </a:r>
            <a:r>
              <a:rPr dirty="0" sz="2650" spc="-60" i="1">
                <a:latin typeface="Arial"/>
                <a:cs typeface="Arial"/>
              </a:rPr>
              <a:t> </a:t>
            </a:r>
            <a:r>
              <a:rPr dirty="0" sz="2650" i="1">
                <a:latin typeface="Arial"/>
                <a:cs typeface="Arial"/>
              </a:rPr>
              <a:t>this</a:t>
            </a:r>
            <a:r>
              <a:rPr dirty="0" sz="2650" spc="-85" i="1">
                <a:latin typeface="Arial"/>
                <a:cs typeface="Arial"/>
              </a:rPr>
              <a:t> </a:t>
            </a:r>
            <a:r>
              <a:rPr dirty="0" sz="2650" i="1">
                <a:latin typeface="Arial"/>
                <a:cs typeface="Arial"/>
              </a:rPr>
              <a:t>is</a:t>
            </a:r>
            <a:r>
              <a:rPr dirty="0" sz="2650" spc="-105" i="1">
                <a:latin typeface="Arial"/>
                <a:cs typeface="Arial"/>
              </a:rPr>
              <a:t> </a:t>
            </a:r>
            <a:r>
              <a:rPr dirty="0" sz="2650" i="1">
                <a:latin typeface="Arial"/>
                <a:cs typeface="Arial"/>
              </a:rPr>
              <a:t>a</a:t>
            </a:r>
            <a:r>
              <a:rPr dirty="0" sz="2650" spc="-80" i="1">
                <a:latin typeface="Arial"/>
                <a:cs typeface="Arial"/>
              </a:rPr>
              <a:t> </a:t>
            </a:r>
            <a:r>
              <a:rPr dirty="0" sz="2650" i="1">
                <a:latin typeface="Arial"/>
                <a:cs typeface="Arial"/>
              </a:rPr>
              <a:t>commonly</a:t>
            </a:r>
            <a:r>
              <a:rPr dirty="0" sz="2650" spc="-35" i="1">
                <a:latin typeface="Arial"/>
                <a:cs typeface="Arial"/>
              </a:rPr>
              <a:t> </a:t>
            </a:r>
            <a:r>
              <a:rPr dirty="0" sz="2650" i="1">
                <a:latin typeface="Arial"/>
                <a:cs typeface="Arial"/>
              </a:rPr>
              <a:t>used</a:t>
            </a:r>
            <a:r>
              <a:rPr dirty="0" sz="2650" spc="-100" i="1">
                <a:latin typeface="Arial"/>
                <a:cs typeface="Arial"/>
              </a:rPr>
              <a:t> </a:t>
            </a:r>
            <a:r>
              <a:rPr dirty="0" sz="2650" spc="-10" i="1">
                <a:latin typeface="Arial"/>
                <a:cs typeface="Arial"/>
              </a:rPr>
              <a:t>technique</a:t>
            </a:r>
            <a:endParaRPr sz="2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46783" y="1736880"/>
            <a:ext cx="8187055" cy="589153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295910" marR="288290" indent="-283845">
              <a:lnSpc>
                <a:spcPts val="3170"/>
              </a:lnSpc>
              <a:spcBef>
                <a:spcPts val="204"/>
              </a:spcBef>
              <a:buChar char="•"/>
              <a:tabLst>
                <a:tab pos="295910" algn="l"/>
                <a:tab pos="297180" algn="l"/>
              </a:tabLst>
            </a:pPr>
            <a:r>
              <a:rPr dirty="0" sz="2650">
                <a:latin typeface="Microsoft Sans Serif"/>
                <a:cs typeface="Microsoft Sans Serif"/>
              </a:rPr>
              <a:t>	Creating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</a:t>
            </a:r>
            <a:r>
              <a:rPr dirty="0" sz="2650" spc="-9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machine</a:t>
            </a:r>
            <a:r>
              <a:rPr dirty="0" sz="2650" spc="-7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learning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model</a:t>
            </a:r>
            <a:r>
              <a:rPr dirty="0" sz="2650" spc="-6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requires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design </a:t>
            </a:r>
            <a:r>
              <a:rPr dirty="0" sz="2650">
                <a:latin typeface="Microsoft Sans Serif"/>
                <a:cs typeface="Microsoft Sans Serif"/>
              </a:rPr>
              <a:t>choices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as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to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how</a:t>
            </a:r>
            <a:r>
              <a:rPr dirty="0" sz="2650" spc="-1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to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define</a:t>
            </a:r>
            <a:r>
              <a:rPr dirty="0" sz="2650" spc="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model</a:t>
            </a:r>
            <a:r>
              <a:rPr dirty="0" sz="2650" spc="-1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architecture</a:t>
            </a:r>
            <a:endParaRPr sz="2650">
              <a:latin typeface="Microsoft Sans Serif"/>
              <a:cs typeface="Microsoft Sans Serif"/>
            </a:endParaRPr>
          </a:p>
          <a:p>
            <a:pPr marL="295910" marR="279400" indent="-283845">
              <a:lnSpc>
                <a:spcPts val="3170"/>
              </a:lnSpc>
              <a:spcBef>
                <a:spcPts val="1975"/>
              </a:spcBef>
              <a:buChar char="•"/>
              <a:tabLst>
                <a:tab pos="295910" algn="l"/>
                <a:tab pos="297180" algn="l"/>
              </a:tabLst>
            </a:pPr>
            <a:r>
              <a:rPr dirty="0" sz="2650">
                <a:latin typeface="Microsoft Sans Serif"/>
                <a:cs typeface="Microsoft Sans Serif"/>
              </a:rPr>
              <a:t>	Where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 b="1" i="1">
                <a:latin typeface="Arial"/>
                <a:cs typeface="Arial"/>
              </a:rPr>
              <a:t>model</a:t>
            </a:r>
            <a:r>
              <a:rPr dirty="0" sz="2650" spc="-90" b="1" i="1">
                <a:latin typeface="Arial"/>
                <a:cs typeface="Arial"/>
              </a:rPr>
              <a:t> </a:t>
            </a:r>
            <a:r>
              <a:rPr dirty="0" sz="2650" b="1" i="1">
                <a:latin typeface="Arial"/>
                <a:cs typeface="Arial"/>
              </a:rPr>
              <a:t>parameters</a:t>
            </a:r>
            <a:r>
              <a:rPr dirty="0" sz="2650" spc="-70" b="1" i="1">
                <a:latin typeface="Arial"/>
                <a:cs typeface="Arial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specify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how</a:t>
            </a:r>
            <a:r>
              <a:rPr dirty="0" sz="2650" spc="-70">
                <a:latin typeface="Microsoft Sans Serif"/>
                <a:cs typeface="Microsoft Sans Serif"/>
              </a:rPr>
              <a:t> </a:t>
            </a:r>
            <a:r>
              <a:rPr dirty="0" sz="2650" spc="-25">
                <a:latin typeface="Microsoft Sans Serif"/>
                <a:cs typeface="Microsoft Sans Serif"/>
              </a:rPr>
              <a:t>to </a:t>
            </a:r>
            <a:r>
              <a:rPr dirty="0" sz="2650">
                <a:latin typeface="Microsoft Sans Serif"/>
                <a:cs typeface="Microsoft Sans Serif"/>
              </a:rPr>
              <a:t>transform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input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data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into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desired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output,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 spc="-25">
                <a:latin typeface="Microsoft Sans Serif"/>
                <a:cs typeface="Microsoft Sans Serif"/>
              </a:rPr>
              <a:t>the </a:t>
            </a:r>
            <a:r>
              <a:rPr dirty="0" sz="2650" spc="-10" b="1" i="1">
                <a:latin typeface="Arial"/>
                <a:cs typeface="Arial"/>
              </a:rPr>
              <a:t>hyperparameters</a:t>
            </a:r>
            <a:r>
              <a:rPr dirty="0" sz="2650" spc="-45" b="1" i="1">
                <a:latin typeface="Arial"/>
                <a:cs typeface="Arial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define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how</a:t>
            </a:r>
            <a:r>
              <a:rPr dirty="0" sz="2650" spc="-2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our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model</a:t>
            </a:r>
            <a:r>
              <a:rPr dirty="0" sz="2650" spc="-2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is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actually structured.</a:t>
            </a:r>
            <a:endParaRPr sz="2650">
              <a:latin typeface="Microsoft Sans Serif"/>
              <a:cs typeface="Microsoft Sans Serif"/>
            </a:endParaRPr>
          </a:p>
          <a:p>
            <a:pPr lvl="1" marL="624205" indent="-233679">
              <a:lnSpc>
                <a:spcPct val="100000"/>
              </a:lnSpc>
              <a:spcBef>
                <a:spcPts val="555"/>
              </a:spcBef>
              <a:buChar char="–"/>
              <a:tabLst>
                <a:tab pos="624205" algn="l"/>
              </a:tabLst>
            </a:pPr>
            <a:r>
              <a:rPr dirty="0" sz="2200" spc="-10">
                <a:latin typeface="Microsoft Sans Serif"/>
                <a:cs typeface="Microsoft Sans Serif"/>
              </a:rPr>
              <a:t>hyperparameters</a:t>
            </a:r>
            <a:r>
              <a:rPr dirty="0" sz="2200" spc="-5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define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model</a:t>
            </a:r>
            <a:r>
              <a:rPr dirty="0" sz="2200" spc="-15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architecture</a:t>
            </a:r>
            <a:endParaRPr sz="2200">
              <a:latin typeface="Microsoft Sans Serif"/>
              <a:cs typeface="Microsoft Sans Serif"/>
            </a:endParaRPr>
          </a:p>
          <a:p>
            <a:pPr lvl="1" marL="623570" marR="1306195" indent="-233679">
              <a:lnSpc>
                <a:spcPct val="100000"/>
              </a:lnSpc>
              <a:spcBef>
                <a:spcPts val="660"/>
              </a:spcBef>
              <a:buChar char="–"/>
              <a:tabLst>
                <a:tab pos="624840" algn="l"/>
              </a:tabLst>
            </a:pPr>
            <a:r>
              <a:rPr dirty="0" sz="2200">
                <a:latin typeface="Microsoft Sans Serif"/>
                <a:cs typeface="Microsoft Sans Serif"/>
              </a:rPr>
              <a:t>In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 spc="-10" i="1">
                <a:latin typeface="Arial"/>
                <a:cs typeface="Arial"/>
              </a:rPr>
              <a:t>scikit-</a:t>
            </a:r>
            <a:r>
              <a:rPr dirty="0" sz="2200" i="1">
                <a:latin typeface="Arial"/>
                <a:cs typeface="Arial"/>
              </a:rPr>
              <a:t>learn</a:t>
            </a:r>
            <a:r>
              <a:rPr dirty="0" sz="2200" spc="-60" i="1">
                <a:latin typeface="Arial"/>
                <a:cs typeface="Arial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they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are</a:t>
            </a:r>
            <a:r>
              <a:rPr dirty="0" sz="2200" spc="-1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passed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as</a:t>
            </a:r>
            <a:r>
              <a:rPr dirty="0" sz="2200" spc="-1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arguments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to</a:t>
            </a:r>
            <a:r>
              <a:rPr dirty="0" sz="2200" spc="-25">
                <a:latin typeface="Microsoft Sans Serif"/>
                <a:cs typeface="Microsoft Sans Serif"/>
              </a:rPr>
              <a:t> the </a:t>
            </a:r>
            <a:r>
              <a:rPr dirty="0" sz="2200" spc="-25">
                <a:latin typeface="Microsoft Sans Serif"/>
                <a:cs typeface="Microsoft Sans Serif"/>
              </a:rPr>
              <a:t>	</a:t>
            </a:r>
            <a:r>
              <a:rPr dirty="0" sz="2200">
                <a:latin typeface="Microsoft Sans Serif"/>
                <a:cs typeface="Microsoft Sans Serif"/>
              </a:rPr>
              <a:t>constructor</a:t>
            </a:r>
            <a:r>
              <a:rPr dirty="0" sz="2200" spc="-8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of</a:t>
            </a:r>
            <a:r>
              <a:rPr dirty="0" sz="2200" spc="-5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5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estimator</a:t>
            </a:r>
            <a:r>
              <a:rPr dirty="0" sz="2200" spc="-65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classes.</a:t>
            </a:r>
            <a:endParaRPr sz="2200">
              <a:latin typeface="Microsoft Sans Serif"/>
              <a:cs typeface="Microsoft Sans Serif"/>
            </a:endParaRPr>
          </a:p>
          <a:p>
            <a:pPr marL="295910" marR="5080" indent="-283845">
              <a:lnSpc>
                <a:spcPts val="3170"/>
              </a:lnSpc>
              <a:spcBef>
                <a:spcPts val="2075"/>
              </a:spcBef>
              <a:buChar char="•"/>
              <a:tabLst>
                <a:tab pos="295910" algn="l"/>
                <a:tab pos="297180" algn="l"/>
              </a:tabLst>
            </a:pPr>
            <a:r>
              <a:rPr dirty="0" sz="2650">
                <a:latin typeface="Microsoft Sans Serif"/>
                <a:cs typeface="Microsoft Sans Serif"/>
              </a:rPr>
              <a:t>	The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process</a:t>
            </a:r>
            <a:r>
              <a:rPr dirty="0" sz="2650" spc="-2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of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searching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for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ideal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model </a:t>
            </a:r>
            <a:r>
              <a:rPr dirty="0" sz="2650">
                <a:latin typeface="Microsoft Sans Serif"/>
                <a:cs typeface="Microsoft Sans Serif"/>
              </a:rPr>
              <a:t>architecture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is</a:t>
            </a:r>
            <a:r>
              <a:rPr dirty="0" sz="2650" spc="-8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referred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to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as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 spc="-10" i="1">
                <a:latin typeface="Arial"/>
                <a:cs typeface="Arial"/>
              </a:rPr>
              <a:t>Hyperparameter</a:t>
            </a:r>
            <a:r>
              <a:rPr dirty="0" sz="2650" spc="-50" i="1">
                <a:latin typeface="Arial"/>
                <a:cs typeface="Arial"/>
              </a:rPr>
              <a:t> </a:t>
            </a:r>
            <a:r>
              <a:rPr dirty="0" sz="2650" spc="-10" i="1">
                <a:latin typeface="Arial"/>
                <a:cs typeface="Arial"/>
              </a:rPr>
              <a:t>Tuning</a:t>
            </a:r>
            <a:r>
              <a:rPr dirty="0" sz="2650" spc="-10">
                <a:latin typeface="Microsoft Sans Serif"/>
                <a:cs typeface="Microsoft Sans Serif"/>
              </a:rPr>
              <a:t>.</a:t>
            </a:r>
            <a:endParaRPr sz="26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190"/>
              </a:spcBef>
            </a:pPr>
            <a:endParaRPr sz="2650">
              <a:latin typeface="Microsoft Sans Serif"/>
              <a:cs typeface="Microsoft Sans Serif"/>
            </a:endParaRPr>
          </a:p>
          <a:p>
            <a:pPr algn="r" marR="499745">
              <a:lnSpc>
                <a:spcPct val="100000"/>
              </a:lnSpc>
            </a:pPr>
            <a:r>
              <a:rPr dirty="0" sz="1950">
                <a:latin typeface="Microsoft Sans Serif"/>
                <a:cs typeface="Microsoft Sans Serif"/>
              </a:rPr>
              <a:t>Slide</a:t>
            </a:r>
            <a:r>
              <a:rPr dirty="0" sz="1950" spc="3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&lt;#&gt;</a:t>
            </a:r>
            <a:r>
              <a:rPr dirty="0" sz="1950" spc="4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of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 spc="-50">
                <a:latin typeface="Microsoft Sans Serif"/>
                <a:cs typeface="Microsoft Sans Serif"/>
              </a:rPr>
              <a:t>9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9121" rIns="0" bIns="0" rtlCol="0" vert="horz">
            <a:spAutoFit/>
          </a:bodyPr>
          <a:lstStyle/>
          <a:p>
            <a:pPr marL="2699385">
              <a:lnSpc>
                <a:spcPct val="100000"/>
              </a:lnSpc>
              <a:spcBef>
                <a:spcPts val="105"/>
              </a:spcBef>
            </a:pPr>
            <a:r>
              <a:rPr dirty="0" sz="2850" spc="-10" b="0">
                <a:solidFill>
                  <a:srgbClr val="000000"/>
                </a:solidFill>
                <a:latin typeface="Microsoft Sans Serif"/>
                <a:cs typeface="Microsoft Sans Serif"/>
              </a:rPr>
              <a:t>Hyperparameters</a:t>
            </a:r>
            <a:endParaRPr sz="28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8635" rIns="0" bIns="0" rtlCol="0" vert="horz">
            <a:spAutoFit/>
          </a:bodyPr>
          <a:lstStyle/>
          <a:p>
            <a:pPr marL="1432560">
              <a:lnSpc>
                <a:spcPct val="100000"/>
              </a:lnSpc>
              <a:spcBef>
                <a:spcPts val="125"/>
              </a:spcBef>
            </a:pPr>
            <a:r>
              <a:rPr dirty="0" sz="2950" b="0">
                <a:solidFill>
                  <a:srgbClr val="000000"/>
                </a:solidFill>
                <a:latin typeface="Microsoft Sans Serif"/>
                <a:cs typeface="Microsoft Sans Serif"/>
              </a:rPr>
              <a:t>Many</a:t>
            </a:r>
            <a:r>
              <a:rPr dirty="0" sz="2950" spc="3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950" b="0">
                <a:solidFill>
                  <a:srgbClr val="000000"/>
                </a:solidFill>
                <a:latin typeface="Microsoft Sans Serif"/>
                <a:cs typeface="Microsoft Sans Serif"/>
              </a:rPr>
              <a:t>sets</a:t>
            </a:r>
            <a:r>
              <a:rPr dirty="0" sz="2950" spc="4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950" b="0">
                <a:solidFill>
                  <a:srgbClr val="000000"/>
                </a:solidFill>
                <a:latin typeface="Microsoft Sans Serif"/>
                <a:cs typeface="Microsoft Sans Serif"/>
              </a:rPr>
              <a:t>of</a:t>
            </a:r>
            <a:r>
              <a:rPr dirty="0" sz="2950" spc="5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950" b="0">
                <a:solidFill>
                  <a:srgbClr val="000000"/>
                </a:solidFill>
                <a:latin typeface="Microsoft Sans Serif"/>
                <a:cs typeface="Microsoft Sans Serif"/>
              </a:rPr>
              <a:t>Model</a:t>
            </a:r>
            <a:r>
              <a:rPr dirty="0" sz="2950" spc="4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10" b="0">
                <a:solidFill>
                  <a:srgbClr val="000000"/>
                </a:solidFill>
                <a:latin typeface="Microsoft Sans Serif"/>
                <a:cs typeface="Microsoft Sans Serif"/>
              </a:rPr>
              <a:t>parameters</a:t>
            </a:r>
            <a:endParaRPr sz="2950">
              <a:latin typeface="Microsoft Sans Serif"/>
              <a:cs typeface="Microsoft Sans Serif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48875" y="1523536"/>
            <a:ext cx="7599680" cy="20231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00">
                <a:latin typeface="Microsoft Sans Serif"/>
                <a:cs typeface="Microsoft Sans Serif"/>
              </a:rPr>
              <a:t>Goal:</a:t>
            </a:r>
            <a:r>
              <a:rPr dirty="0" sz="2400" spc="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to</a:t>
            </a:r>
            <a:r>
              <a:rPr dirty="0" sz="2400" spc="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find</a:t>
            </a:r>
            <a:r>
              <a:rPr dirty="0" sz="2400" spc="2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2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model/solution</a:t>
            </a:r>
            <a:r>
              <a:rPr dirty="0" sz="2400" spc="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with minimum</a:t>
            </a:r>
            <a:r>
              <a:rPr dirty="0" sz="2400" spc="30">
                <a:latin typeface="Microsoft Sans Serif"/>
                <a:cs typeface="Microsoft Sans Serif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loss/error</a:t>
            </a:r>
            <a:endParaRPr sz="2400">
              <a:latin typeface="Microsoft Sans Serif"/>
              <a:cs typeface="Microsoft Sans Serif"/>
            </a:endParaRPr>
          </a:p>
          <a:p>
            <a:pPr algn="ctr" marL="76200" marR="1862455">
              <a:lnSpc>
                <a:spcPct val="100000"/>
              </a:lnSpc>
              <a:spcBef>
                <a:spcPts val="2260"/>
              </a:spcBef>
            </a:pPr>
            <a:r>
              <a:rPr dirty="0" sz="2200" spc="-25" b="1">
                <a:solidFill>
                  <a:srgbClr val="0070BF"/>
                </a:solidFill>
                <a:latin typeface="Arial"/>
                <a:cs typeface="Arial"/>
              </a:rPr>
              <a:t>Mathematically,</a:t>
            </a:r>
            <a:r>
              <a:rPr dirty="0" sz="2200" spc="-6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a</a:t>
            </a:r>
            <a:r>
              <a:rPr dirty="0" sz="2200" spc="-4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“loss</a:t>
            </a:r>
            <a:r>
              <a:rPr dirty="0" sz="2200" spc="-5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function”</a:t>
            </a:r>
            <a:r>
              <a:rPr dirty="0" sz="2200" spc="-6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returns</a:t>
            </a:r>
            <a:r>
              <a:rPr dirty="0" sz="2200" spc="-4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spc="-50" b="1">
                <a:solidFill>
                  <a:srgbClr val="0070BF"/>
                </a:solidFill>
                <a:latin typeface="Arial"/>
                <a:cs typeface="Arial"/>
              </a:rPr>
              <a:t>a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measure</a:t>
            </a:r>
            <a:r>
              <a:rPr dirty="0" sz="2200" spc="-6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of</a:t>
            </a:r>
            <a:r>
              <a:rPr dirty="0" sz="2200" spc="-5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how</a:t>
            </a:r>
            <a:r>
              <a:rPr dirty="0" sz="2200" spc="-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good</a:t>
            </a:r>
            <a:r>
              <a:rPr dirty="0" sz="2200" spc="-5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a</a:t>
            </a:r>
            <a:r>
              <a:rPr dirty="0" sz="2200" spc="-4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prediction</a:t>
            </a:r>
            <a:r>
              <a:rPr dirty="0" sz="2200" spc="-7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0070BF"/>
                </a:solidFill>
                <a:latin typeface="Arial"/>
                <a:cs typeface="Arial"/>
              </a:rPr>
              <a:t>model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does</a:t>
            </a:r>
            <a:r>
              <a:rPr dirty="0" sz="2200" spc="-3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in</a:t>
            </a:r>
            <a:r>
              <a:rPr dirty="0" sz="2200" spc="-7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terms</a:t>
            </a:r>
            <a:r>
              <a:rPr dirty="0" sz="2200" spc="-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of</a:t>
            </a:r>
            <a:r>
              <a:rPr dirty="0" sz="2200" spc="-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being</a:t>
            </a:r>
            <a:r>
              <a:rPr dirty="0" sz="2200" spc="-4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able</a:t>
            </a:r>
            <a:r>
              <a:rPr dirty="0" sz="2200" spc="-5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to</a:t>
            </a:r>
            <a:r>
              <a:rPr dirty="0" sz="2200" spc="-4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predict</a:t>
            </a:r>
            <a:r>
              <a:rPr dirty="0" sz="2200" spc="-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spc="-25" b="1">
                <a:solidFill>
                  <a:srgbClr val="0070BF"/>
                </a:solidFill>
                <a:latin typeface="Arial"/>
                <a:cs typeface="Arial"/>
              </a:rPr>
              <a:t>the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expected</a:t>
            </a:r>
            <a:r>
              <a:rPr dirty="0" sz="2200" spc="-10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0070BF"/>
                </a:solidFill>
                <a:latin typeface="Arial"/>
                <a:cs typeface="Arial"/>
              </a:rPr>
              <a:t>outcome.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807440" y="4550146"/>
            <a:ext cx="3959860" cy="1836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25120" marR="228600" indent="-313055">
              <a:lnSpc>
                <a:spcPct val="101499"/>
              </a:lnSpc>
              <a:spcBef>
                <a:spcPts val="95"/>
              </a:spcBef>
              <a:buFont typeface="Wingdings"/>
              <a:buChar char=""/>
              <a:tabLst>
                <a:tab pos="326390" algn="l"/>
              </a:tabLst>
            </a:pPr>
            <a:r>
              <a:rPr dirty="0" sz="1950">
                <a:latin typeface="Microsoft Sans Serif"/>
                <a:cs typeface="Microsoft Sans Serif"/>
              </a:rPr>
              <a:t>The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curved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line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represents</a:t>
            </a:r>
            <a:r>
              <a:rPr dirty="0" sz="1950" spc="35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the </a:t>
            </a:r>
            <a:r>
              <a:rPr dirty="0" sz="1950" spc="-25">
                <a:latin typeface="Microsoft Sans Serif"/>
                <a:cs typeface="Microsoft Sans Serif"/>
              </a:rPr>
              <a:t>	</a:t>
            </a:r>
            <a:r>
              <a:rPr dirty="0" sz="1950">
                <a:latin typeface="Microsoft Sans Serif"/>
                <a:cs typeface="Microsoft Sans Serif"/>
              </a:rPr>
              <a:t>solution</a:t>
            </a:r>
            <a:r>
              <a:rPr dirty="0" sz="1950" spc="40">
                <a:latin typeface="Microsoft Sans Serif"/>
                <a:cs typeface="Microsoft Sans Serif"/>
              </a:rPr>
              <a:t> </a:t>
            </a:r>
            <a:r>
              <a:rPr dirty="0" sz="1950" spc="-20">
                <a:latin typeface="Microsoft Sans Serif"/>
                <a:cs typeface="Microsoft Sans Serif"/>
              </a:rPr>
              <a:t>space</a:t>
            </a:r>
            <a:endParaRPr sz="1950">
              <a:latin typeface="Microsoft Sans Serif"/>
              <a:cs typeface="Microsoft Sans Serif"/>
            </a:endParaRPr>
          </a:p>
          <a:p>
            <a:pPr marL="325120" marR="5080" indent="-313055">
              <a:lnSpc>
                <a:spcPts val="2380"/>
              </a:lnSpc>
              <a:spcBef>
                <a:spcPts val="80"/>
              </a:spcBef>
              <a:buFont typeface="Wingdings"/>
              <a:buChar char=""/>
              <a:tabLst>
                <a:tab pos="326390" algn="l"/>
              </a:tabLst>
            </a:pPr>
            <a:r>
              <a:rPr dirty="0" sz="1950">
                <a:latin typeface="Microsoft Sans Serif"/>
                <a:cs typeface="Microsoft Sans Serif"/>
              </a:rPr>
              <a:t>The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dots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represent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the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loss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for</a:t>
            </a:r>
            <a:r>
              <a:rPr dirty="0" sz="1950" spc="90">
                <a:latin typeface="Microsoft Sans Serif"/>
                <a:cs typeface="Microsoft Sans Serif"/>
              </a:rPr>
              <a:t> </a:t>
            </a:r>
            <a:r>
              <a:rPr dirty="0" sz="1950" spc="-50">
                <a:latin typeface="Microsoft Sans Serif"/>
                <a:cs typeface="Microsoft Sans Serif"/>
              </a:rPr>
              <a:t>a </a:t>
            </a:r>
            <a:r>
              <a:rPr dirty="0" sz="1950" spc="-50">
                <a:latin typeface="Microsoft Sans Serif"/>
                <a:cs typeface="Microsoft Sans Serif"/>
              </a:rPr>
              <a:t>	</a:t>
            </a:r>
            <a:r>
              <a:rPr dirty="0" sz="1950">
                <a:latin typeface="Microsoft Sans Serif"/>
                <a:cs typeface="Microsoft Sans Serif"/>
              </a:rPr>
              <a:t>given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set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of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model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parameters</a:t>
            </a:r>
            <a:endParaRPr sz="1950">
              <a:latin typeface="Microsoft Sans Serif"/>
              <a:cs typeface="Microsoft Sans Serif"/>
            </a:endParaRPr>
          </a:p>
          <a:p>
            <a:pPr marL="325755" indent="-313055">
              <a:lnSpc>
                <a:spcPts val="2285"/>
              </a:lnSpc>
              <a:buFont typeface="Wingdings"/>
              <a:buChar char=""/>
              <a:tabLst>
                <a:tab pos="325755" algn="l"/>
              </a:tabLst>
            </a:pPr>
            <a:r>
              <a:rPr dirty="0" sz="1950">
                <a:latin typeface="Microsoft Sans Serif"/>
                <a:cs typeface="Microsoft Sans Serif"/>
              </a:rPr>
              <a:t>Vertical</a:t>
            </a:r>
            <a:r>
              <a:rPr dirty="0" sz="1950" spc="2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lines</a:t>
            </a:r>
            <a:r>
              <a:rPr dirty="0" sz="1950" spc="2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represent</a:t>
            </a:r>
            <a:r>
              <a:rPr dirty="0" sz="1950" spc="1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the</a:t>
            </a:r>
            <a:r>
              <a:rPr dirty="0" sz="1950" spc="3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error</a:t>
            </a:r>
            <a:endParaRPr sz="1950">
              <a:latin typeface="Microsoft Sans Serif"/>
              <a:cs typeface="Microsoft Sans Serif"/>
            </a:endParaRPr>
          </a:p>
          <a:p>
            <a:pPr marL="326390">
              <a:lnSpc>
                <a:spcPct val="100000"/>
              </a:lnSpc>
              <a:spcBef>
                <a:spcPts val="35"/>
              </a:spcBef>
            </a:pPr>
            <a:r>
              <a:rPr dirty="0" sz="1950">
                <a:latin typeface="Microsoft Sans Serif"/>
                <a:cs typeface="Microsoft Sans Serif"/>
              </a:rPr>
              <a:t>between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actual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and</a:t>
            </a:r>
            <a:r>
              <a:rPr dirty="0" sz="1950" spc="8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predicted.</a:t>
            </a:r>
            <a:endParaRPr sz="1950">
              <a:latin typeface="Microsoft Sans Serif"/>
              <a:cs typeface="Microsoft Sans Serif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447" y="3774948"/>
            <a:ext cx="5009449" cy="30926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8635" rIns="0" bIns="0" rtlCol="0" vert="horz">
            <a:spAutoFit/>
          </a:bodyPr>
          <a:lstStyle/>
          <a:p>
            <a:pPr marL="1432560">
              <a:lnSpc>
                <a:spcPct val="100000"/>
              </a:lnSpc>
              <a:spcBef>
                <a:spcPts val="125"/>
              </a:spcBef>
            </a:pPr>
            <a:r>
              <a:rPr dirty="0" sz="2950" b="0">
                <a:solidFill>
                  <a:srgbClr val="000000"/>
                </a:solidFill>
                <a:latin typeface="Microsoft Sans Serif"/>
                <a:cs typeface="Microsoft Sans Serif"/>
              </a:rPr>
              <a:t>Many</a:t>
            </a:r>
            <a:r>
              <a:rPr dirty="0" sz="2950" spc="3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950" b="0">
                <a:solidFill>
                  <a:srgbClr val="000000"/>
                </a:solidFill>
                <a:latin typeface="Microsoft Sans Serif"/>
                <a:cs typeface="Microsoft Sans Serif"/>
              </a:rPr>
              <a:t>sets</a:t>
            </a:r>
            <a:r>
              <a:rPr dirty="0" sz="2950" spc="4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950" b="0">
                <a:solidFill>
                  <a:srgbClr val="000000"/>
                </a:solidFill>
                <a:latin typeface="Microsoft Sans Serif"/>
                <a:cs typeface="Microsoft Sans Serif"/>
              </a:rPr>
              <a:t>of</a:t>
            </a:r>
            <a:r>
              <a:rPr dirty="0" sz="2950" spc="5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950" b="0">
                <a:solidFill>
                  <a:srgbClr val="000000"/>
                </a:solidFill>
                <a:latin typeface="Microsoft Sans Serif"/>
                <a:cs typeface="Microsoft Sans Serif"/>
              </a:rPr>
              <a:t>Model</a:t>
            </a:r>
            <a:r>
              <a:rPr dirty="0" sz="2950" spc="4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10" b="0">
                <a:solidFill>
                  <a:srgbClr val="000000"/>
                </a:solidFill>
                <a:latin typeface="Microsoft Sans Serif"/>
                <a:cs typeface="Microsoft Sans Serif"/>
              </a:rPr>
              <a:t>parameters</a:t>
            </a:r>
            <a:endParaRPr sz="2950">
              <a:latin typeface="Microsoft Sans Serif"/>
              <a:cs typeface="Microsoft Sans Serif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44745" y="5930836"/>
            <a:ext cx="4982845" cy="12325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25755" indent="-313055">
              <a:lnSpc>
                <a:spcPct val="100000"/>
              </a:lnSpc>
              <a:spcBef>
                <a:spcPts val="130"/>
              </a:spcBef>
              <a:buFont typeface="Wingdings"/>
              <a:buChar char=""/>
              <a:tabLst>
                <a:tab pos="325755" algn="l"/>
              </a:tabLst>
            </a:pPr>
            <a:r>
              <a:rPr dirty="0" sz="1950">
                <a:latin typeface="Microsoft Sans Serif"/>
                <a:cs typeface="Microsoft Sans Serif"/>
              </a:rPr>
              <a:t>The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line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depicts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the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predicted</a:t>
            </a:r>
            <a:r>
              <a:rPr dirty="0" sz="1950" spc="2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relationship</a:t>
            </a:r>
            <a:endParaRPr sz="1950">
              <a:latin typeface="Microsoft Sans Serif"/>
              <a:cs typeface="Microsoft Sans Serif"/>
            </a:endParaRPr>
          </a:p>
          <a:p>
            <a:pPr marL="325755" indent="-313055">
              <a:lnSpc>
                <a:spcPct val="100000"/>
              </a:lnSpc>
              <a:spcBef>
                <a:spcPts val="35"/>
              </a:spcBef>
              <a:buFont typeface="Wingdings"/>
              <a:buChar char=""/>
              <a:tabLst>
                <a:tab pos="325755" algn="l"/>
              </a:tabLst>
            </a:pPr>
            <a:r>
              <a:rPr dirty="0" sz="1950">
                <a:latin typeface="Microsoft Sans Serif"/>
                <a:cs typeface="Microsoft Sans Serif"/>
              </a:rPr>
              <a:t>The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dots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represent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the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actual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values</a:t>
            </a:r>
            <a:endParaRPr sz="1950">
              <a:latin typeface="Microsoft Sans Serif"/>
              <a:cs typeface="Microsoft Sans Serif"/>
            </a:endParaRPr>
          </a:p>
          <a:p>
            <a:pPr marL="325120" marR="65405" indent="-313055">
              <a:lnSpc>
                <a:spcPts val="2380"/>
              </a:lnSpc>
              <a:spcBef>
                <a:spcPts val="80"/>
              </a:spcBef>
              <a:buFont typeface="Wingdings"/>
              <a:buChar char=""/>
              <a:tabLst>
                <a:tab pos="326390" algn="l"/>
              </a:tabLst>
            </a:pPr>
            <a:r>
              <a:rPr dirty="0" sz="1950">
                <a:latin typeface="Microsoft Sans Serif"/>
                <a:cs typeface="Microsoft Sans Serif"/>
              </a:rPr>
              <a:t>Vertical</a:t>
            </a:r>
            <a:r>
              <a:rPr dirty="0" sz="1950" spc="3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lines</a:t>
            </a:r>
            <a:r>
              <a:rPr dirty="0" sz="1950" spc="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represent</a:t>
            </a:r>
            <a:r>
              <a:rPr dirty="0" sz="1950" spc="2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the</a:t>
            </a:r>
            <a:r>
              <a:rPr dirty="0" sz="1950" spc="4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error</a:t>
            </a:r>
            <a:r>
              <a:rPr dirty="0" sz="1950" spc="3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between </a:t>
            </a:r>
            <a:r>
              <a:rPr dirty="0" sz="1950" spc="-10">
                <a:latin typeface="Microsoft Sans Serif"/>
                <a:cs typeface="Microsoft Sans Serif"/>
              </a:rPr>
              <a:t>	</a:t>
            </a:r>
            <a:r>
              <a:rPr dirty="0" sz="1950">
                <a:latin typeface="Microsoft Sans Serif"/>
                <a:cs typeface="Microsoft Sans Serif"/>
              </a:rPr>
              <a:t>actual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and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predicted.</a:t>
            </a:r>
            <a:endParaRPr sz="1950">
              <a:latin typeface="Microsoft Sans Serif"/>
              <a:cs typeface="Microsoft Sans Serif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2506" y="2952016"/>
            <a:ext cx="3447626" cy="268314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1597" y="1512755"/>
            <a:ext cx="8593455" cy="27546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1083310" indent="-635">
              <a:lnSpc>
                <a:spcPct val="100000"/>
              </a:lnSpc>
              <a:spcBef>
                <a:spcPts val="95"/>
              </a:spcBef>
              <a:tabLst>
                <a:tab pos="6633209" algn="l"/>
              </a:tabLst>
            </a:pP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The</a:t>
            </a:r>
            <a:r>
              <a:rPr dirty="0" sz="2200" spc="-4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optimum</a:t>
            </a:r>
            <a:r>
              <a:rPr dirty="0" sz="2200" spc="-6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model</a:t>
            </a:r>
            <a:r>
              <a:rPr dirty="0" sz="2200" spc="-6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(or</a:t>
            </a:r>
            <a:r>
              <a:rPr dirty="0" sz="2200" spc="-7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optimum</a:t>
            </a:r>
            <a:r>
              <a:rPr dirty="0" sz="2200" spc="-4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solution)</a:t>
            </a:r>
            <a:r>
              <a:rPr dirty="0" sz="2200" spc="-5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is</a:t>
            </a:r>
            <a:r>
              <a:rPr dirty="0" sz="2200" spc="-6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spc="-25" b="1">
                <a:solidFill>
                  <a:srgbClr val="0070BF"/>
                </a:solidFill>
                <a:latin typeface="Arial"/>
                <a:cs typeface="Arial"/>
              </a:rPr>
              <a:t>the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combination</a:t>
            </a:r>
            <a:r>
              <a:rPr dirty="0" sz="2200" spc="-7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of</a:t>
            </a:r>
            <a:r>
              <a:rPr dirty="0" sz="2200" spc="-7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model</a:t>
            </a:r>
            <a:r>
              <a:rPr dirty="0" sz="2200" spc="-8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parameters</a:t>
            </a:r>
            <a:r>
              <a:rPr dirty="0" sz="2200" spc="-7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that</a:t>
            </a:r>
            <a:r>
              <a:rPr dirty="0" sz="2200" spc="-7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gives</a:t>
            </a:r>
            <a:r>
              <a:rPr dirty="0" sz="2200" spc="-6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0070BF"/>
                </a:solidFill>
                <a:latin typeface="Arial"/>
                <a:cs typeface="Arial"/>
              </a:rPr>
              <a:t>minimum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error</a:t>
            </a:r>
            <a:r>
              <a:rPr dirty="0" sz="2200" spc="-7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between</a:t>
            </a:r>
            <a:r>
              <a:rPr dirty="0" sz="2200" spc="-7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the</a:t>
            </a:r>
            <a:r>
              <a:rPr dirty="0" sz="2200" spc="-6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actual</a:t>
            </a:r>
            <a:r>
              <a:rPr dirty="0" sz="2200" spc="-6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output</a:t>
            </a:r>
            <a:r>
              <a:rPr dirty="0" sz="2200" spc="-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and</a:t>
            </a:r>
            <a:r>
              <a:rPr dirty="0" sz="2200" spc="-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the</a:t>
            </a:r>
            <a:r>
              <a:rPr dirty="0" sz="2200" spc="-6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0070BF"/>
                </a:solidFill>
                <a:latin typeface="Arial"/>
                <a:cs typeface="Arial"/>
              </a:rPr>
              <a:t>modeled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	</a:t>
            </a:r>
            <a:r>
              <a:rPr dirty="0" sz="2200" spc="-20" b="1">
                <a:solidFill>
                  <a:srgbClr val="0070BF"/>
                </a:solidFill>
                <a:latin typeface="Arial"/>
                <a:cs typeface="Arial"/>
              </a:rPr>
              <a:t>output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2200">
              <a:latin typeface="Arial"/>
              <a:cs typeface="Arial"/>
            </a:endParaRPr>
          </a:p>
          <a:p>
            <a:pPr marL="5384165" marR="5080">
              <a:lnSpc>
                <a:spcPct val="100000"/>
              </a:lnSpc>
            </a:pPr>
            <a:r>
              <a:rPr dirty="0" sz="2200">
                <a:latin typeface="Microsoft Sans Serif"/>
                <a:cs typeface="Microsoft Sans Serif"/>
              </a:rPr>
              <a:t>The set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of</a:t>
            </a:r>
            <a:r>
              <a:rPr dirty="0" sz="2200" spc="-2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all</a:t>
            </a:r>
            <a:r>
              <a:rPr dirty="0" sz="2200" spc="15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possible </a:t>
            </a:r>
            <a:r>
              <a:rPr dirty="0" sz="2200">
                <a:latin typeface="Microsoft Sans Serif"/>
                <a:cs typeface="Microsoft Sans Serif"/>
              </a:rPr>
              <a:t>models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with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unique</a:t>
            </a:r>
            <a:r>
              <a:rPr dirty="0" sz="2200" spc="-60">
                <a:latin typeface="Microsoft Sans Serif"/>
                <a:cs typeface="Microsoft Sans Serif"/>
              </a:rPr>
              <a:t> </a:t>
            </a:r>
            <a:r>
              <a:rPr dirty="0" sz="2200" spc="-20">
                <a:latin typeface="Microsoft Sans Serif"/>
                <a:cs typeface="Microsoft Sans Serif"/>
              </a:rPr>
              <a:t>sets </a:t>
            </a:r>
            <a:r>
              <a:rPr dirty="0" sz="2200">
                <a:latin typeface="Microsoft Sans Serif"/>
                <a:cs typeface="Microsoft Sans Serif"/>
              </a:rPr>
              <a:t>of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parameters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is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referred </a:t>
            </a:r>
            <a:r>
              <a:rPr dirty="0" sz="2200">
                <a:latin typeface="Microsoft Sans Serif"/>
                <a:cs typeface="Microsoft Sans Serif"/>
              </a:rPr>
              <a:t>to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as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“solution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space”.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203644" y="4519679"/>
            <a:ext cx="3438525" cy="170116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028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1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tuning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of</a:t>
            </a:r>
            <a:r>
              <a:rPr dirty="0" sz="2200" spc="-55">
                <a:latin typeface="Microsoft Sans Serif"/>
                <a:cs typeface="Microsoft Sans Serif"/>
              </a:rPr>
              <a:t> </a:t>
            </a:r>
            <a:r>
              <a:rPr dirty="0" sz="2200" spc="-20">
                <a:latin typeface="Microsoft Sans Serif"/>
                <a:cs typeface="Microsoft Sans Serif"/>
              </a:rPr>
              <a:t>these </a:t>
            </a:r>
            <a:r>
              <a:rPr dirty="0" sz="2200">
                <a:latin typeface="Microsoft Sans Serif"/>
                <a:cs typeface="Microsoft Sans Serif"/>
              </a:rPr>
              <a:t>parameters</a:t>
            </a:r>
            <a:r>
              <a:rPr dirty="0" sz="2200" spc="-130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require</a:t>
            </a:r>
            <a:endParaRPr sz="220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</a:pP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 b="1" i="1">
                <a:latin typeface="Arial"/>
                <a:cs typeface="Arial"/>
              </a:rPr>
              <a:t>minimization</a:t>
            </a:r>
            <a:r>
              <a:rPr dirty="0" sz="2200" spc="-70" b="1" i="1">
                <a:latin typeface="Arial"/>
                <a:cs typeface="Arial"/>
              </a:rPr>
              <a:t> </a:t>
            </a:r>
            <a:r>
              <a:rPr dirty="0" sz="2200" b="1" i="1">
                <a:latin typeface="Arial"/>
                <a:cs typeface="Arial"/>
              </a:rPr>
              <a:t>of</a:t>
            </a:r>
            <a:r>
              <a:rPr dirty="0" sz="2200" spc="-50" b="1" i="1">
                <a:latin typeface="Arial"/>
                <a:cs typeface="Arial"/>
              </a:rPr>
              <a:t> </a:t>
            </a:r>
            <a:r>
              <a:rPr dirty="0" sz="2200" b="1" i="1">
                <a:latin typeface="Arial"/>
                <a:cs typeface="Arial"/>
              </a:rPr>
              <a:t>a</a:t>
            </a:r>
            <a:r>
              <a:rPr dirty="0" sz="2200" spc="-50" b="1" i="1">
                <a:latin typeface="Arial"/>
                <a:cs typeface="Arial"/>
              </a:rPr>
              <a:t> </a:t>
            </a:r>
            <a:r>
              <a:rPr dirty="0" sz="2200" spc="-20" b="1" i="1">
                <a:latin typeface="Arial"/>
                <a:cs typeface="Arial"/>
              </a:rPr>
              <a:t>cost </a:t>
            </a:r>
            <a:r>
              <a:rPr dirty="0" sz="2200" b="1" i="1">
                <a:latin typeface="Arial"/>
                <a:cs typeface="Arial"/>
              </a:rPr>
              <a:t>function</a:t>
            </a:r>
            <a:r>
              <a:rPr dirty="0" sz="2200" spc="-90" b="1" i="1">
                <a:latin typeface="Arial"/>
                <a:cs typeface="Arial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(or</a:t>
            </a:r>
            <a:r>
              <a:rPr dirty="0" sz="2200" spc="-60">
                <a:latin typeface="Microsoft Sans Serif"/>
                <a:cs typeface="Microsoft Sans Serif"/>
              </a:rPr>
              <a:t> </a:t>
            </a:r>
            <a:r>
              <a:rPr dirty="0" sz="2200">
                <a:solidFill>
                  <a:srgbClr val="FF0000"/>
                </a:solidFill>
                <a:latin typeface="Microsoft Sans Serif"/>
                <a:cs typeface="Microsoft Sans Serif"/>
              </a:rPr>
              <a:t>searching</a:t>
            </a:r>
            <a:r>
              <a:rPr dirty="0" sz="2200" spc="-5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2200" spc="-25">
                <a:latin typeface="Microsoft Sans Serif"/>
                <a:cs typeface="Microsoft Sans Serif"/>
              </a:rPr>
              <a:t>for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5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minimum</a:t>
            </a:r>
            <a:r>
              <a:rPr dirty="0" sz="2200" spc="-2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cost</a:t>
            </a:r>
            <a:r>
              <a:rPr dirty="0" sz="2200" spc="-75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function).</a:t>
            </a:r>
            <a:endParaRPr sz="2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8635" rIns="0" bIns="0" rtlCol="0" vert="horz">
            <a:spAutoFit/>
          </a:bodyPr>
          <a:lstStyle/>
          <a:p>
            <a:pPr marL="2049780">
              <a:lnSpc>
                <a:spcPct val="100000"/>
              </a:lnSpc>
              <a:spcBef>
                <a:spcPts val="125"/>
              </a:spcBef>
            </a:pPr>
            <a:r>
              <a:rPr dirty="0" sz="2950" b="0">
                <a:solidFill>
                  <a:srgbClr val="000000"/>
                </a:solidFill>
                <a:latin typeface="Microsoft Sans Serif"/>
                <a:cs typeface="Microsoft Sans Serif"/>
              </a:rPr>
              <a:t>Bias</a:t>
            </a:r>
            <a:r>
              <a:rPr dirty="0" sz="2950" spc="6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950" b="0">
                <a:solidFill>
                  <a:srgbClr val="000000"/>
                </a:solidFill>
                <a:latin typeface="Microsoft Sans Serif"/>
                <a:cs typeface="Microsoft Sans Serif"/>
              </a:rPr>
              <a:t>/</a:t>
            </a:r>
            <a:r>
              <a:rPr dirty="0" sz="2950" spc="3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950" b="0">
                <a:solidFill>
                  <a:srgbClr val="000000"/>
                </a:solidFill>
                <a:latin typeface="Microsoft Sans Serif"/>
                <a:cs typeface="Microsoft Sans Serif"/>
              </a:rPr>
              <a:t>Variance</a:t>
            </a:r>
            <a:r>
              <a:rPr dirty="0" sz="2950" spc="4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10" b="0">
                <a:solidFill>
                  <a:srgbClr val="000000"/>
                </a:solidFill>
                <a:latin typeface="Microsoft Sans Serif"/>
                <a:cs typeface="Microsoft Sans Serif"/>
              </a:rPr>
              <a:t>Tradeoff</a:t>
            </a:r>
            <a:endParaRPr sz="2950">
              <a:latin typeface="Microsoft Sans Serif"/>
              <a:cs typeface="Microsoft Sans Serif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25937" y="1701846"/>
            <a:ext cx="8641080" cy="458216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115695" marR="370205" indent="-554990">
              <a:lnSpc>
                <a:spcPts val="3170"/>
              </a:lnSpc>
              <a:spcBef>
                <a:spcPts val="204"/>
              </a:spcBef>
            </a:pPr>
            <a:r>
              <a:rPr dirty="0" sz="2650">
                <a:solidFill>
                  <a:srgbClr val="BF0000"/>
                </a:solidFill>
                <a:latin typeface="Microsoft Sans Serif"/>
                <a:cs typeface="Microsoft Sans Serif"/>
              </a:rPr>
              <a:t>Reducing</a:t>
            </a:r>
            <a:r>
              <a:rPr dirty="0" sz="2650" spc="-60">
                <a:solidFill>
                  <a:srgbClr val="BF0000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0070BF"/>
                </a:solidFill>
                <a:latin typeface="Microsoft Sans Serif"/>
                <a:cs typeface="Microsoft Sans Serif"/>
              </a:rPr>
              <a:t>bias</a:t>
            </a:r>
            <a:r>
              <a:rPr dirty="0" sz="2650" spc="-65">
                <a:solidFill>
                  <a:srgbClr val="0070BF"/>
                </a:solidFill>
                <a:latin typeface="Microsoft Sans Serif"/>
                <a:cs typeface="Microsoft Sans Serif"/>
              </a:rPr>
              <a:t> </a:t>
            </a:r>
            <a:r>
              <a:rPr dirty="0" sz="2650" b="1">
                <a:latin typeface="Arial"/>
                <a:cs typeface="Arial"/>
              </a:rPr>
              <a:t>generally</a:t>
            </a:r>
            <a:r>
              <a:rPr dirty="0" sz="2650" spc="-120" b="1">
                <a:latin typeface="Arial"/>
                <a:cs typeface="Arial"/>
              </a:rPr>
              <a:t> </a:t>
            </a:r>
            <a:r>
              <a:rPr dirty="0" sz="2650">
                <a:solidFill>
                  <a:srgbClr val="BF0000"/>
                </a:solidFill>
                <a:latin typeface="Microsoft Sans Serif"/>
                <a:cs typeface="Microsoft Sans Serif"/>
              </a:rPr>
              <a:t>increases</a:t>
            </a:r>
            <a:r>
              <a:rPr dirty="0" sz="2650" spc="-50">
                <a:solidFill>
                  <a:srgbClr val="BF0000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80"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0070BF"/>
                </a:solidFill>
                <a:latin typeface="Microsoft Sans Serif"/>
                <a:cs typeface="Microsoft Sans Serif"/>
              </a:rPr>
              <a:t>variance</a:t>
            </a:r>
            <a:r>
              <a:rPr dirty="0" sz="2650" spc="-75">
                <a:solidFill>
                  <a:srgbClr val="0070BF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25">
                <a:latin typeface="Microsoft Sans Serif"/>
                <a:cs typeface="Microsoft Sans Serif"/>
              </a:rPr>
              <a:t>but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relationship</a:t>
            </a:r>
            <a:r>
              <a:rPr dirty="0" sz="2650" spc="-1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is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NOT</a:t>
            </a:r>
            <a:r>
              <a:rPr dirty="0" sz="2650" spc="-10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fixed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and</a:t>
            </a:r>
            <a:r>
              <a:rPr dirty="0" sz="2650" spc="-6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predictable</a:t>
            </a:r>
            <a:endParaRPr sz="2650">
              <a:latin typeface="Microsoft Sans Serif"/>
              <a:cs typeface="Microsoft Sans Serif"/>
            </a:endParaRPr>
          </a:p>
          <a:p>
            <a:pPr algn="just" marL="295910" marR="5080" indent="-283845">
              <a:lnSpc>
                <a:spcPts val="3170"/>
              </a:lnSpc>
              <a:spcBef>
                <a:spcPts val="2955"/>
              </a:spcBef>
              <a:buChar char="•"/>
              <a:tabLst>
                <a:tab pos="295910" algn="l"/>
              </a:tabLst>
            </a:pPr>
            <a:r>
              <a:rPr dirty="0" sz="2650">
                <a:latin typeface="Microsoft Sans Serif"/>
                <a:cs typeface="Microsoft Sans Serif"/>
              </a:rPr>
              <a:t>In</a:t>
            </a:r>
            <a:r>
              <a:rPr dirty="0" sz="2650" spc="-10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practice,</a:t>
            </a:r>
            <a:r>
              <a:rPr dirty="0" sz="2650" spc="-7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optimisation</a:t>
            </a:r>
            <a:r>
              <a:rPr dirty="0" sz="2650" spc="-7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of</a:t>
            </a:r>
            <a:r>
              <a:rPr dirty="0" sz="2650" spc="-10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algorithm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parameters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is</a:t>
            </a:r>
            <a:r>
              <a:rPr dirty="0" sz="2650" spc="-80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often </a:t>
            </a:r>
            <a:r>
              <a:rPr dirty="0" sz="2650">
                <a:latin typeface="Microsoft Sans Serif"/>
                <a:cs typeface="Microsoft Sans Serif"/>
              </a:rPr>
              <a:t>a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battle</a:t>
            </a:r>
            <a:r>
              <a:rPr dirty="0" sz="2650" spc="-2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to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find</a:t>
            </a:r>
            <a:r>
              <a:rPr dirty="0" sz="2650" spc="-2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desired</a:t>
            </a:r>
            <a:r>
              <a:rPr dirty="0" sz="2650" spc="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balance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for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bias/variance tradeoff.</a:t>
            </a:r>
            <a:endParaRPr sz="2650">
              <a:latin typeface="Microsoft Sans Serif"/>
              <a:cs typeface="Microsoft Sans Serif"/>
            </a:endParaRPr>
          </a:p>
          <a:p>
            <a:pPr marL="295910" marR="41910" indent="-283845">
              <a:lnSpc>
                <a:spcPts val="3170"/>
              </a:lnSpc>
              <a:spcBef>
                <a:spcPts val="2195"/>
              </a:spcBef>
              <a:buChar char="•"/>
              <a:tabLst>
                <a:tab pos="295910" algn="l"/>
                <a:tab pos="297180" algn="l"/>
              </a:tabLst>
            </a:pPr>
            <a:r>
              <a:rPr dirty="0" sz="2650">
                <a:latin typeface="Microsoft Sans Serif"/>
                <a:cs typeface="Microsoft Sans Serif"/>
              </a:rPr>
              <a:t>	We</a:t>
            </a:r>
            <a:r>
              <a:rPr dirty="0" sz="2650" spc="-9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quantitatively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evaluate</a:t>
            </a:r>
            <a:r>
              <a:rPr dirty="0" sz="2650" spc="-6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overfitting</a:t>
            </a:r>
            <a:r>
              <a:rPr dirty="0" sz="2650" spc="-6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/</a:t>
            </a:r>
            <a:r>
              <a:rPr dirty="0" sz="2650" spc="-10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underfitting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using </a:t>
            </a:r>
            <a:r>
              <a:rPr dirty="0" sz="2650" spc="-20">
                <a:latin typeface="Microsoft Sans Serif"/>
                <a:cs typeface="Microsoft Sans Serif"/>
              </a:rPr>
              <a:t>cross-</a:t>
            </a:r>
            <a:r>
              <a:rPr dirty="0" sz="2650">
                <a:latin typeface="Microsoft Sans Serif"/>
                <a:cs typeface="Microsoft Sans Serif"/>
              </a:rPr>
              <a:t>validation</a:t>
            </a:r>
            <a:r>
              <a:rPr dirty="0" sz="2650" spc="-10">
                <a:latin typeface="Microsoft Sans Serif"/>
                <a:cs typeface="Microsoft Sans Serif"/>
              </a:rPr>
              <a:t> </a:t>
            </a:r>
            <a:r>
              <a:rPr dirty="0" sz="2650" spc="65">
                <a:latin typeface="Microsoft Sans Serif"/>
                <a:cs typeface="Microsoft Sans Serif"/>
              </a:rPr>
              <a:t>–usually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in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conjunction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 spc="-20">
                <a:latin typeface="Microsoft Sans Serif"/>
                <a:cs typeface="Microsoft Sans Serif"/>
              </a:rPr>
              <a:t>with </a:t>
            </a:r>
            <a:r>
              <a:rPr dirty="0" sz="2650" spc="-10" i="1">
                <a:solidFill>
                  <a:srgbClr val="BF0000"/>
                </a:solidFill>
                <a:latin typeface="Arial"/>
                <a:cs typeface="Arial"/>
              </a:rPr>
              <a:t>hyperparameter</a:t>
            </a:r>
            <a:r>
              <a:rPr dirty="0" sz="2650" spc="-50" i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650" spc="-10" i="1">
                <a:solidFill>
                  <a:srgbClr val="BF0000"/>
                </a:solidFill>
                <a:latin typeface="Arial"/>
                <a:cs typeface="Arial"/>
              </a:rPr>
              <a:t>tuning</a:t>
            </a:r>
            <a:endParaRPr sz="2650">
              <a:latin typeface="Arial"/>
              <a:cs typeface="Arial"/>
            </a:endParaRPr>
          </a:p>
          <a:p>
            <a:pPr marL="297180" indent="-284480">
              <a:lnSpc>
                <a:spcPct val="100000"/>
              </a:lnSpc>
              <a:spcBef>
                <a:spcPts val="2085"/>
              </a:spcBef>
              <a:buChar char="•"/>
              <a:tabLst>
                <a:tab pos="297180" algn="l"/>
              </a:tabLst>
            </a:pPr>
            <a:r>
              <a:rPr dirty="0" sz="2650">
                <a:latin typeface="Microsoft Sans Serif"/>
                <a:cs typeface="Microsoft Sans Serif"/>
              </a:rPr>
              <a:t>Iterative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 spc="685">
                <a:latin typeface="Microsoft Sans Serif"/>
                <a:cs typeface="Microsoft Sans Serif"/>
              </a:rPr>
              <a:t>–</a:t>
            </a:r>
            <a:r>
              <a:rPr dirty="0" sz="2650" spc="-7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next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steps,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feeds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back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to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previous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steps</a:t>
            </a:r>
            <a:endParaRPr sz="26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962578" y="7428937"/>
            <a:ext cx="157607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>
                <a:latin typeface="Microsoft Sans Serif"/>
                <a:cs typeface="Microsoft Sans Serif"/>
              </a:rPr>
              <a:t>Slide</a:t>
            </a:r>
            <a:r>
              <a:rPr dirty="0" sz="1950" spc="3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&lt;#&gt;</a:t>
            </a:r>
            <a:r>
              <a:rPr dirty="0" sz="1950" spc="4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of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 spc="-50">
                <a:latin typeface="Microsoft Sans Serif"/>
                <a:cs typeface="Microsoft Sans Serif"/>
              </a:rPr>
              <a:t>9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8832" rIns="0" bIns="0" rtlCol="0" vert="horz">
            <a:spAutoFit/>
          </a:bodyPr>
          <a:lstStyle/>
          <a:p>
            <a:pPr marL="2033270">
              <a:lnSpc>
                <a:spcPct val="100000"/>
              </a:lnSpc>
              <a:spcBef>
                <a:spcPts val="125"/>
              </a:spcBef>
            </a:pPr>
            <a:r>
              <a:rPr dirty="0" sz="2950" b="0">
                <a:solidFill>
                  <a:srgbClr val="000000"/>
                </a:solidFill>
                <a:latin typeface="Microsoft Sans Serif"/>
                <a:cs typeface="Microsoft Sans Serif"/>
              </a:rPr>
              <a:t>Hyperparameter</a:t>
            </a:r>
            <a:r>
              <a:rPr dirty="0" sz="2950" spc="6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10" b="0">
                <a:solidFill>
                  <a:srgbClr val="000000"/>
                </a:solidFill>
                <a:latin typeface="Microsoft Sans Serif"/>
                <a:cs typeface="Microsoft Sans Serif"/>
              </a:rPr>
              <a:t>Tuning</a:t>
            </a:r>
            <a:endParaRPr sz="2950">
              <a:latin typeface="Microsoft Sans Serif"/>
              <a:cs typeface="Microsoft Sans Serif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49647" y="1909104"/>
            <a:ext cx="8261984" cy="471932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295910" marR="537845" indent="-283845">
              <a:lnSpc>
                <a:spcPts val="3170"/>
              </a:lnSpc>
              <a:spcBef>
                <a:spcPts val="204"/>
              </a:spcBef>
              <a:buChar char="•"/>
              <a:tabLst>
                <a:tab pos="295910" algn="l"/>
                <a:tab pos="297180" algn="l"/>
              </a:tabLst>
            </a:pPr>
            <a:r>
              <a:rPr dirty="0" sz="2650">
                <a:latin typeface="Microsoft Sans Serif"/>
                <a:cs typeface="Microsoft Sans Serif"/>
              </a:rPr>
              <a:t>	</a:t>
            </a:r>
            <a:r>
              <a:rPr dirty="0" sz="2650" spc="-10">
                <a:latin typeface="Microsoft Sans Serif"/>
                <a:cs typeface="Microsoft Sans Serif"/>
              </a:rPr>
              <a:t>Hyperparameter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tuning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methods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allow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us</a:t>
            </a:r>
            <a:r>
              <a:rPr dirty="0" sz="2650" spc="-65">
                <a:latin typeface="Microsoft Sans Serif"/>
                <a:cs typeface="Microsoft Sans Serif"/>
              </a:rPr>
              <a:t> </a:t>
            </a:r>
            <a:r>
              <a:rPr dirty="0" sz="2650" spc="-25">
                <a:latin typeface="Microsoft Sans Serif"/>
                <a:cs typeface="Microsoft Sans Serif"/>
              </a:rPr>
              <a:t>to </a:t>
            </a:r>
            <a:r>
              <a:rPr dirty="0" sz="2650">
                <a:latin typeface="Microsoft Sans Serif"/>
                <a:cs typeface="Microsoft Sans Serif"/>
              </a:rPr>
              <a:t>automatically</a:t>
            </a:r>
            <a:r>
              <a:rPr dirty="0" sz="2650" spc="-8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test</a:t>
            </a:r>
            <a:r>
              <a:rPr dirty="0" sz="2650" spc="-1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possible</a:t>
            </a:r>
            <a:r>
              <a:rPr dirty="0" sz="2650" spc="-7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combinations</a:t>
            </a:r>
            <a:r>
              <a:rPr dirty="0" sz="2650" spc="-6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of</a:t>
            </a:r>
            <a:r>
              <a:rPr dirty="0" sz="2650" spc="-100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values</a:t>
            </a:r>
            <a:endParaRPr sz="2650">
              <a:latin typeface="Microsoft Sans Serif"/>
              <a:cs typeface="Microsoft Sans Serif"/>
            </a:endParaRPr>
          </a:p>
          <a:p>
            <a:pPr algn="just" marL="295910" marR="158750" indent="-283845">
              <a:lnSpc>
                <a:spcPts val="3170"/>
              </a:lnSpc>
              <a:spcBef>
                <a:spcPts val="1975"/>
              </a:spcBef>
              <a:buChar char="•"/>
              <a:tabLst>
                <a:tab pos="295910" algn="l"/>
              </a:tabLst>
            </a:pPr>
            <a:r>
              <a:rPr dirty="0" sz="2650">
                <a:latin typeface="Microsoft Sans Serif"/>
                <a:cs typeface="Microsoft Sans Serif"/>
              </a:rPr>
              <a:t>Tuning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75">
                <a:latin typeface="Microsoft Sans Serif"/>
                <a:cs typeface="Microsoft Sans Serif"/>
              </a:rPr>
              <a:t> </a:t>
            </a:r>
            <a:r>
              <a:rPr dirty="0" sz="2650" spc="-25">
                <a:latin typeface="Microsoft Sans Serif"/>
                <a:cs typeface="Microsoft Sans Serif"/>
              </a:rPr>
              <a:t>hyper-</a:t>
            </a:r>
            <a:r>
              <a:rPr dirty="0" sz="2650">
                <a:latin typeface="Microsoft Sans Serif"/>
                <a:cs typeface="Microsoft Sans Serif"/>
              </a:rPr>
              <a:t>parameters</a:t>
            </a:r>
            <a:r>
              <a:rPr dirty="0" sz="2650" spc="-1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of</a:t>
            </a:r>
            <a:r>
              <a:rPr dirty="0" sz="2650" spc="-8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an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estimator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is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often </a:t>
            </a:r>
            <a:r>
              <a:rPr dirty="0" sz="2650">
                <a:latin typeface="Microsoft Sans Serif"/>
                <a:cs typeface="Microsoft Sans Serif"/>
              </a:rPr>
              <a:t>referred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to</a:t>
            </a:r>
            <a:r>
              <a:rPr dirty="0" sz="2650" spc="-8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as</a:t>
            </a:r>
            <a:r>
              <a:rPr dirty="0" sz="2650" spc="-9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"searching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8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hyperparameter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space” </a:t>
            </a:r>
            <a:r>
              <a:rPr dirty="0" sz="2650">
                <a:latin typeface="Microsoft Sans Serif"/>
                <a:cs typeface="Microsoft Sans Serif"/>
              </a:rPr>
              <a:t>for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optimum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values.</a:t>
            </a:r>
            <a:endParaRPr sz="2650">
              <a:latin typeface="Microsoft Sans Serif"/>
              <a:cs typeface="Microsoft Sans Serif"/>
            </a:endParaRPr>
          </a:p>
          <a:p>
            <a:pPr algn="just" marL="295275" marR="5080" indent="-283210">
              <a:lnSpc>
                <a:spcPct val="120400"/>
              </a:lnSpc>
              <a:spcBef>
                <a:spcPts val="1210"/>
              </a:spcBef>
              <a:buChar char="•"/>
              <a:tabLst>
                <a:tab pos="390525" algn="l"/>
              </a:tabLst>
            </a:pPr>
            <a:r>
              <a:rPr dirty="0" sz="2650">
                <a:latin typeface="Microsoft Sans Serif"/>
                <a:cs typeface="Microsoft Sans Serif"/>
              </a:rPr>
              <a:t>Two</a:t>
            </a:r>
            <a:r>
              <a:rPr dirty="0" sz="2650" spc="-8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methods:</a:t>
            </a:r>
            <a:r>
              <a:rPr dirty="0" sz="2650" spc="-9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Grid</a:t>
            </a:r>
            <a:r>
              <a:rPr dirty="0" sz="2650" spc="-11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Search</a:t>
            </a:r>
            <a:r>
              <a:rPr dirty="0" sz="2650" spc="-8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and</a:t>
            </a:r>
            <a:r>
              <a:rPr dirty="0" sz="2650" spc="-8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Randomised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Search</a:t>
            </a:r>
            <a:r>
              <a:rPr dirty="0" sz="2650" spc="685">
                <a:latin typeface="Microsoft Sans Serif"/>
                <a:cs typeface="Microsoft Sans Serif"/>
              </a:rPr>
              <a:t> 	–</a:t>
            </a:r>
            <a:r>
              <a:rPr dirty="0" sz="2650" spc="-325">
                <a:latin typeface="Microsoft Sans Serif"/>
                <a:cs typeface="Microsoft Sans Serif"/>
              </a:rPr>
              <a:t> </a:t>
            </a:r>
            <a:r>
              <a:rPr dirty="0" sz="2650" b="1">
                <a:latin typeface="Arial"/>
                <a:cs typeface="Arial"/>
              </a:rPr>
              <a:t>GridSearchCV</a:t>
            </a:r>
            <a:r>
              <a:rPr dirty="0" sz="2650" spc="-175" b="1">
                <a:latin typeface="Arial"/>
                <a:cs typeface="Arial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evaluates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all</a:t>
            </a:r>
            <a:r>
              <a:rPr dirty="0" sz="2650" spc="-9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possible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combinations</a:t>
            </a:r>
            <a:endParaRPr sz="2650">
              <a:latin typeface="Microsoft Sans Serif"/>
              <a:cs typeface="Microsoft Sans Serif"/>
            </a:endParaRPr>
          </a:p>
          <a:p>
            <a:pPr algn="just" marL="624840">
              <a:lnSpc>
                <a:spcPts val="3170"/>
              </a:lnSpc>
            </a:pPr>
            <a:r>
              <a:rPr dirty="0" sz="2650">
                <a:latin typeface="Microsoft Sans Serif"/>
                <a:cs typeface="Microsoft Sans Serif"/>
              </a:rPr>
              <a:t>of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parameter</a:t>
            </a:r>
            <a:r>
              <a:rPr dirty="0" sz="2650" spc="-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values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from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</a:t>
            </a:r>
            <a:r>
              <a:rPr dirty="0" sz="2650" spc="-65">
                <a:latin typeface="Microsoft Sans Serif"/>
                <a:cs typeface="Microsoft Sans Serif"/>
              </a:rPr>
              <a:t> </a:t>
            </a:r>
            <a:r>
              <a:rPr dirty="0" sz="2650" spc="-20">
                <a:latin typeface="Microsoft Sans Serif"/>
                <a:cs typeface="Microsoft Sans Serif"/>
              </a:rPr>
              <a:t>list</a:t>
            </a:r>
            <a:endParaRPr sz="2650">
              <a:latin typeface="Microsoft Sans Serif"/>
              <a:cs typeface="Microsoft Sans Serif"/>
            </a:endParaRPr>
          </a:p>
          <a:p>
            <a:pPr algn="just" marL="624840" marR="43815" indent="-234950">
              <a:lnSpc>
                <a:spcPts val="3170"/>
              </a:lnSpc>
              <a:spcBef>
                <a:spcPts val="755"/>
              </a:spcBef>
            </a:pPr>
            <a:r>
              <a:rPr dirty="0" sz="2650" spc="530">
                <a:latin typeface="Microsoft Sans Serif"/>
                <a:cs typeface="Microsoft Sans Serif"/>
              </a:rPr>
              <a:t>–</a:t>
            </a:r>
            <a:r>
              <a:rPr dirty="0" sz="2650" spc="-175">
                <a:latin typeface="Microsoft Sans Serif"/>
                <a:cs typeface="Microsoft Sans Serif"/>
              </a:rPr>
              <a:t> </a:t>
            </a:r>
            <a:r>
              <a:rPr dirty="0" sz="2650" spc="-10" b="1">
                <a:latin typeface="Arial"/>
                <a:cs typeface="Arial"/>
              </a:rPr>
              <a:t>RandomizedSearchCV</a:t>
            </a:r>
            <a:r>
              <a:rPr dirty="0" sz="2650" spc="-175" b="1">
                <a:latin typeface="Arial"/>
                <a:cs typeface="Arial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samples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each</a:t>
            </a:r>
            <a:r>
              <a:rPr dirty="0" sz="2650" spc="-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setting</a:t>
            </a:r>
            <a:r>
              <a:rPr dirty="0" sz="2650" spc="-10">
                <a:latin typeface="Microsoft Sans Serif"/>
                <a:cs typeface="Microsoft Sans Serif"/>
              </a:rPr>
              <a:t> </a:t>
            </a:r>
            <a:r>
              <a:rPr dirty="0" sz="2650" spc="-20">
                <a:latin typeface="Microsoft Sans Serif"/>
                <a:cs typeface="Microsoft Sans Serif"/>
              </a:rPr>
              <a:t>from </a:t>
            </a:r>
            <a:r>
              <a:rPr dirty="0" sz="2650">
                <a:latin typeface="Microsoft Sans Serif"/>
                <a:cs typeface="Microsoft Sans Serif"/>
              </a:rPr>
              <a:t>a</a:t>
            </a:r>
            <a:r>
              <a:rPr dirty="0" sz="2650" spc="-9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distribution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of</a:t>
            </a:r>
            <a:r>
              <a:rPr dirty="0" sz="2650" spc="-9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possible</a:t>
            </a:r>
            <a:r>
              <a:rPr dirty="0" sz="2650" spc="-6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parameter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values.</a:t>
            </a:r>
            <a:endParaRPr sz="26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962578" y="7428937"/>
            <a:ext cx="157607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>
                <a:latin typeface="Microsoft Sans Serif"/>
                <a:cs typeface="Microsoft Sans Serif"/>
              </a:rPr>
              <a:t>Slide</a:t>
            </a:r>
            <a:r>
              <a:rPr dirty="0" sz="1950" spc="3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&lt;#&gt;</a:t>
            </a:r>
            <a:r>
              <a:rPr dirty="0" sz="1950" spc="4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of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 spc="-50">
                <a:latin typeface="Microsoft Sans Serif"/>
                <a:cs typeface="Microsoft Sans Serif"/>
              </a:rPr>
              <a:t>9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8832" rIns="0" bIns="0" rtlCol="0" vert="horz">
            <a:spAutoFit/>
          </a:bodyPr>
          <a:lstStyle/>
          <a:p>
            <a:pPr marL="2033270">
              <a:lnSpc>
                <a:spcPct val="100000"/>
              </a:lnSpc>
              <a:spcBef>
                <a:spcPts val="125"/>
              </a:spcBef>
            </a:pPr>
            <a:r>
              <a:rPr dirty="0" sz="2950" b="0">
                <a:solidFill>
                  <a:srgbClr val="000000"/>
                </a:solidFill>
                <a:latin typeface="Microsoft Sans Serif"/>
                <a:cs typeface="Microsoft Sans Serif"/>
              </a:rPr>
              <a:t>Hyperparameter</a:t>
            </a:r>
            <a:r>
              <a:rPr dirty="0" sz="2950" spc="6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10" b="0">
                <a:solidFill>
                  <a:srgbClr val="000000"/>
                </a:solidFill>
                <a:latin typeface="Microsoft Sans Serif"/>
                <a:cs typeface="Microsoft Sans Serif"/>
              </a:rPr>
              <a:t>Tuning</a:t>
            </a:r>
            <a:endParaRPr sz="2950">
              <a:latin typeface="Microsoft Sans Serif"/>
              <a:cs typeface="Microsoft Sans Serif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3231" y="1717548"/>
            <a:ext cx="7982712" cy="450951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01102" y="6577041"/>
            <a:ext cx="343979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Microsoft Sans Serif"/>
                <a:cs typeface="Microsoft Sans Serif"/>
              </a:rPr>
              <a:t>https://youtu.be/DTcfH5W6o08</a:t>
            </a:r>
            <a:endParaRPr sz="1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5050" rIns="0" bIns="0" rtlCol="0" vert="horz">
            <a:spAutoFit/>
          </a:bodyPr>
          <a:lstStyle/>
          <a:p>
            <a:pPr marL="1405255">
              <a:lnSpc>
                <a:spcPct val="100000"/>
              </a:lnSpc>
              <a:spcBef>
                <a:spcPts val="125"/>
              </a:spcBef>
            </a:pPr>
            <a:r>
              <a:rPr dirty="0" sz="2950" b="0">
                <a:solidFill>
                  <a:srgbClr val="000000"/>
                </a:solidFill>
                <a:latin typeface="Microsoft Sans Serif"/>
                <a:cs typeface="Microsoft Sans Serif"/>
              </a:rPr>
              <a:t>Hyperparameter</a:t>
            </a:r>
            <a:r>
              <a:rPr dirty="0" sz="2950" spc="-4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950" b="0">
                <a:solidFill>
                  <a:srgbClr val="000000"/>
                </a:solidFill>
                <a:latin typeface="Microsoft Sans Serif"/>
                <a:cs typeface="Microsoft Sans Serif"/>
              </a:rPr>
              <a:t>Tuning</a:t>
            </a:r>
            <a:r>
              <a:rPr dirty="0" sz="2950" spc="4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10" b="0">
                <a:solidFill>
                  <a:srgbClr val="000000"/>
                </a:solidFill>
                <a:latin typeface="Microsoft Sans Serif"/>
                <a:cs typeface="Microsoft Sans Serif"/>
              </a:rPr>
              <a:t>Methods</a:t>
            </a:r>
            <a:endParaRPr sz="2950">
              <a:latin typeface="Microsoft Sans Serif"/>
              <a:cs typeface="Microsoft Sans Serif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25937" y="1953307"/>
            <a:ext cx="8771890" cy="423354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295910" marR="5080" indent="-283845">
              <a:lnSpc>
                <a:spcPts val="3170"/>
              </a:lnSpc>
              <a:spcBef>
                <a:spcPts val="204"/>
              </a:spcBef>
              <a:buChar char="•"/>
              <a:tabLst>
                <a:tab pos="295910" algn="l"/>
                <a:tab pos="297180" algn="l"/>
              </a:tabLst>
            </a:pPr>
            <a:r>
              <a:rPr dirty="0" sz="2650">
                <a:latin typeface="Microsoft Sans Serif"/>
                <a:cs typeface="Microsoft Sans Serif"/>
              </a:rPr>
              <a:t>	Both</a:t>
            </a:r>
            <a:r>
              <a:rPr dirty="0" sz="2650" spc="-7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Grid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Search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and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Randomised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Search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use</a:t>
            </a:r>
            <a:r>
              <a:rPr dirty="0" sz="2650" spc="-7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score </a:t>
            </a:r>
            <a:r>
              <a:rPr dirty="0" sz="2650">
                <a:latin typeface="Microsoft Sans Serif"/>
                <a:cs typeface="Microsoft Sans Serif"/>
              </a:rPr>
              <a:t>function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of</a:t>
            </a:r>
            <a:r>
              <a:rPr dirty="0" sz="2650" spc="-7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estimator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to</a:t>
            </a:r>
            <a:r>
              <a:rPr dirty="0" sz="2650" spc="-7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evaluate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</a:t>
            </a:r>
            <a:r>
              <a:rPr dirty="0" sz="2650" spc="-7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parameter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setting.</a:t>
            </a:r>
            <a:endParaRPr sz="2650">
              <a:latin typeface="Microsoft Sans Serif"/>
              <a:cs typeface="Microsoft Sans Serif"/>
            </a:endParaRPr>
          </a:p>
          <a:p>
            <a:pPr marL="297180" indent="-284480">
              <a:lnSpc>
                <a:spcPct val="100000"/>
              </a:lnSpc>
              <a:spcBef>
                <a:spcPts val="1200"/>
              </a:spcBef>
              <a:buChar char="•"/>
              <a:tabLst>
                <a:tab pos="297180" algn="l"/>
              </a:tabLst>
            </a:pP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defaults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 spc="-25">
                <a:latin typeface="Microsoft Sans Serif"/>
                <a:cs typeface="Microsoft Sans Serif"/>
              </a:rPr>
              <a:t>are</a:t>
            </a:r>
            <a:endParaRPr sz="2650">
              <a:latin typeface="Microsoft Sans Serif"/>
              <a:cs typeface="Microsoft Sans Serif"/>
            </a:endParaRPr>
          </a:p>
          <a:p>
            <a:pPr lvl="1" marL="624205" indent="-233679">
              <a:lnSpc>
                <a:spcPts val="3175"/>
              </a:lnSpc>
              <a:spcBef>
                <a:spcPts val="650"/>
              </a:spcBef>
              <a:buChar char="–"/>
              <a:tabLst>
                <a:tab pos="624205" algn="l"/>
              </a:tabLst>
            </a:pPr>
            <a:r>
              <a:rPr dirty="0" sz="2650" spc="-10">
                <a:latin typeface="Microsoft Sans Serif"/>
                <a:cs typeface="Microsoft Sans Serif"/>
              </a:rPr>
              <a:t>sklearn.metrics.</a:t>
            </a:r>
            <a:r>
              <a:rPr dirty="0" sz="2650" spc="-10" b="1">
                <a:solidFill>
                  <a:srgbClr val="00AFEF"/>
                </a:solidFill>
                <a:latin typeface="Arial"/>
                <a:cs typeface="Arial"/>
              </a:rPr>
              <a:t>accuracy_score</a:t>
            </a:r>
            <a:r>
              <a:rPr dirty="0" sz="2650" spc="-60" b="1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00AFEF"/>
                </a:solidFill>
                <a:latin typeface="Arial"/>
                <a:cs typeface="Arial"/>
              </a:rPr>
              <a:t>for</a:t>
            </a:r>
            <a:r>
              <a:rPr dirty="0" sz="2650" spc="-85" b="1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dirty="0" sz="2650" spc="-10" b="1">
                <a:solidFill>
                  <a:srgbClr val="00AFEF"/>
                </a:solidFill>
                <a:latin typeface="Arial"/>
                <a:cs typeface="Arial"/>
              </a:rPr>
              <a:t>classification</a:t>
            </a:r>
            <a:endParaRPr sz="2650">
              <a:latin typeface="Arial"/>
              <a:cs typeface="Arial"/>
            </a:endParaRPr>
          </a:p>
          <a:p>
            <a:pPr marL="624840">
              <a:lnSpc>
                <a:spcPts val="3170"/>
              </a:lnSpc>
            </a:pPr>
            <a:r>
              <a:rPr dirty="0" sz="2650" spc="-25">
                <a:latin typeface="Microsoft Sans Serif"/>
                <a:cs typeface="Microsoft Sans Serif"/>
              </a:rPr>
              <a:t>and</a:t>
            </a:r>
            <a:endParaRPr sz="2650">
              <a:latin typeface="Microsoft Sans Serif"/>
              <a:cs typeface="Microsoft Sans Serif"/>
            </a:endParaRPr>
          </a:p>
          <a:p>
            <a:pPr lvl="1" marL="624205" indent="-233679">
              <a:lnSpc>
                <a:spcPts val="3175"/>
              </a:lnSpc>
              <a:buChar char="–"/>
              <a:tabLst>
                <a:tab pos="624205" algn="l"/>
              </a:tabLst>
            </a:pPr>
            <a:r>
              <a:rPr dirty="0" sz="2650" spc="-10">
                <a:latin typeface="Microsoft Sans Serif"/>
                <a:cs typeface="Microsoft Sans Serif"/>
              </a:rPr>
              <a:t>Sklearn.metrics.</a:t>
            </a:r>
            <a:r>
              <a:rPr dirty="0" sz="2650" spc="-10" b="1">
                <a:solidFill>
                  <a:srgbClr val="00AFEF"/>
                </a:solidFill>
                <a:latin typeface="Arial"/>
                <a:cs typeface="Arial"/>
              </a:rPr>
              <a:t>r2_score</a:t>
            </a:r>
            <a:r>
              <a:rPr dirty="0" sz="2650" spc="-35" b="1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00AFEF"/>
                </a:solidFill>
                <a:latin typeface="Arial"/>
                <a:cs typeface="Arial"/>
              </a:rPr>
              <a:t>for</a:t>
            </a:r>
            <a:r>
              <a:rPr dirty="0" sz="2650" spc="-85" b="1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dirty="0" sz="2650" spc="-10" b="1">
                <a:solidFill>
                  <a:srgbClr val="00AFEF"/>
                </a:solidFill>
                <a:latin typeface="Arial"/>
                <a:cs typeface="Arial"/>
              </a:rPr>
              <a:t>regression</a:t>
            </a:r>
            <a:endParaRPr sz="2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50"/>
              </a:spcBef>
            </a:pPr>
            <a:endParaRPr sz="2650">
              <a:latin typeface="Arial"/>
              <a:cs typeface="Arial"/>
            </a:endParaRPr>
          </a:p>
          <a:p>
            <a:pPr marL="1056005" marR="183515" indent="-767080">
              <a:lnSpc>
                <a:spcPts val="3170"/>
              </a:lnSpc>
              <a:spcBef>
                <a:spcPts val="5"/>
              </a:spcBef>
            </a:pPr>
            <a:r>
              <a:rPr dirty="0" sz="2650" b="1">
                <a:solidFill>
                  <a:srgbClr val="BF0000"/>
                </a:solidFill>
                <a:latin typeface="Arial"/>
                <a:cs typeface="Arial"/>
              </a:rPr>
              <a:t>A</a:t>
            </a:r>
            <a:r>
              <a:rPr dirty="0" sz="2650" spc="-85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BF0000"/>
                </a:solidFill>
                <a:latin typeface="Arial"/>
                <a:cs typeface="Arial"/>
              </a:rPr>
              <a:t>Grid</a:t>
            </a:r>
            <a:r>
              <a:rPr dirty="0" sz="2650" spc="-110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BF0000"/>
                </a:solidFill>
                <a:latin typeface="Arial"/>
                <a:cs typeface="Arial"/>
              </a:rPr>
              <a:t>Search</a:t>
            </a:r>
            <a:r>
              <a:rPr dirty="0" sz="2650" spc="-80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BF0000"/>
                </a:solidFill>
                <a:latin typeface="Arial"/>
                <a:cs typeface="Arial"/>
              </a:rPr>
              <a:t>strategy</a:t>
            </a:r>
            <a:r>
              <a:rPr dirty="0" sz="2650" spc="-70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BF0000"/>
                </a:solidFill>
                <a:latin typeface="Arial"/>
                <a:cs typeface="Arial"/>
              </a:rPr>
              <a:t>for</a:t>
            </a:r>
            <a:r>
              <a:rPr dirty="0" sz="2650" spc="-75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BF0000"/>
                </a:solidFill>
                <a:latin typeface="Arial"/>
                <a:cs typeface="Arial"/>
              </a:rPr>
              <a:t>hyperparameter</a:t>
            </a:r>
            <a:r>
              <a:rPr dirty="0" sz="2650" spc="-30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BF0000"/>
                </a:solidFill>
                <a:latin typeface="Arial"/>
                <a:cs typeface="Arial"/>
              </a:rPr>
              <a:t>tuning</a:t>
            </a:r>
            <a:r>
              <a:rPr dirty="0" sz="2650" spc="-80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650" spc="-25" b="1">
                <a:solidFill>
                  <a:srgbClr val="BF0000"/>
                </a:solidFill>
                <a:latin typeface="Arial"/>
                <a:cs typeface="Arial"/>
              </a:rPr>
              <a:t>is </a:t>
            </a:r>
            <a:r>
              <a:rPr dirty="0" sz="2650" b="1">
                <a:solidFill>
                  <a:srgbClr val="BF0000"/>
                </a:solidFill>
                <a:latin typeface="Arial"/>
                <a:cs typeface="Arial"/>
              </a:rPr>
              <a:t>commonly</a:t>
            </a:r>
            <a:r>
              <a:rPr dirty="0" sz="2650" spc="-70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BF0000"/>
                </a:solidFill>
                <a:latin typeface="Arial"/>
                <a:cs typeface="Arial"/>
              </a:rPr>
              <a:t>combined</a:t>
            </a:r>
            <a:r>
              <a:rPr dirty="0" sz="2650" spc="-80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BF0000"/>
                </a:solidFill>
                <a:latin typeface="Arial"/>
                <a:cs typeface="Arial"/>
              </a:rPr>
              <a:t>with</a:t>
            </a:r>
            <a:r>
              <a:rPr dirty="0" sz="2650" spc="-125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BF0000"/>
                </a:solidFill>
                <a:latin typeface="Arial"/>
                <a:cs typeface="Arial"/>
              </a:rPr>
              <a:t>cross</a:t>
            </a:r>
            <a:r>
              <a:rPr dirty="0" sz="2650" spc="-70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650" spc="-10" b="1">
                <a:solidFill>
                  <a:srgbClr val="BF0000"/>
                </a:solidFill>
                <a:latin typeface="Arial"/>
                <a:cs typeface="Arial"/>
              </a:rPr>
              <a:t>validation</a:t>
            </a:r>
            <a:endParaRPr sz="26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962578" y="7428937"/>
            <a:ext cx="157607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>
                <a:latin typeface="Microsoft Sans Serif"/>
                <a:cs typeface="Microsoft Sans Serif"/>
              </a:rPr>
              <a:t>Slide</a:t>
            </a:r>
            <a:r>
              <a:rPr dirty="0" sz="1950" spc="3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&lt;#&gt;</a:t>
            </a:r>
            <a:r>
              <a:rPr dirty="0" sz="1950" spc="4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of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 spc="-50">
                <a:latin typeface="Microsoft Sans Serif"/>
                <a:cs typeface="Microsoft Sans Serif"/>
              </a:rPr>
              <a:t>9</a:t>
            </a:r>
            <a:endParaRPr sz="1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2870" rIns="0" bIns="0" rtlCol="0" vert="horz">
            <a:spAutoFit/>
          </a:bodyPr>
          <a:lstStyle/>
          <a:p>
            <a:pPr marL="2124710">
              <a:lnSpc>
                <a:spcPct val="100000"/>
              </a:lnSpc>
              <a:spcBef>
                <a:spcPts val="125"/>
              </a:spcBef>
            </a:pPr>
            <a:r>
              <a:rPr dirty="0" sz="2950" spc="-10" b="0" i="1">
                <a:solidFill>
                  <a:srgbClr val="000000"/>
                </a:solidFill>
                <a:latin typeface="Arial"/>
                <a:cs typeface="Arial"/>
              </a:rPr>
              <a:t>k</a:t>
            </a:r>
            <a:r>
              <a:rPr dirty="0" sz="2950" spc="-10" b="0">
                <a:solidFill>
                  <a:srgbClr val="000000"/>
                </a:solidFill>
                <a:latin typeface="Microsoft Sans Serif"/>
                <a:cs typeface="Microsoft Sans Serif"/>
              </a:rPr>
              <a:t>-</a:t>
            </a:r>
            <a:r>
              <a:rPr dirty="0" sz="2950" b="0">
                <a:solidFill>
                  <a:srgbClr val="000000"/>
                </a:solidFill>
                <a:latin typeface="Microsoft Sans Serif"/>
                <a:cs typeface="Microsoft Sans Serif"/>
              </a:rPr>
              <a:t>Fold</a:t>
            </a:r>
            <a:r>
              <a:rPr dirty="0" sz="2950" spc="5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950" b="0">
                <a:solidFill>
                  <a:srgbClr val="000000"/>
                </a:solidFill>
                <a:latin typeface="Microsoft Sans Serif"/>
                <a:cs typeface="Microsoft Sans Serif"/>
              </a:rPr>
              <a:t>Cross</a:t>
            </a:r>
            <a:r>
              <a:rPr dirty="0" sz="2950" spc="3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10" b="0">
                <a:solidFill>
                  <a:srgbClr val="000000"/>
                </a:solidFill>
                <a:latin typeface="Microsoft Sans Serif"/>
                <a:cs typeface="Microsoft Sans Serif"/>
              </a:rPr>
              <a:t>Validation</a:t>
            </a:r>
            <a:endParaRPr sz="2950">
              <a:latin typeface="Microsoft Sans Serif"/>
              <a:cs typeface="Microsoft Sans Serif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73536" y="1858780"/>
            <a:ext cx="8681085" cy="4634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63500" marR="196215" indent="-1270">
              <a:lnSpc>
                <a:spcPct val="100000"/>
              </a:lnSpc>
              <a:spcBef>
                <a:spcPts val="95"/>
              </a:spcBef>
              <a:buSzPct val="95454"/>
              <a:buAutoNum type="alphaLcPeriod" startAt="11"/>
              <a:tabLst>
                <a:tab pos="297180" algn="l"/>
              </a:tabLst>
            </a:pPr>
            <a:r>
              <a:rPr dirty="0" sz="2200">
                <a:latin typeface="Microsoft Sans Serif"/>
                <a:cs typeface="Microsoft Sans Serif"/>
              </a:rPr>
              <a:t>	</a:t>
            </a:r>
            <a:r>
              <a:rPr dirty="0" sz="2200">
                <a:latin typeface="Microsoft Sans Serif"/>
                <a:cs typeface="Microsoft Sans Serif"/>
              </a:rPr>
              <a:t>Fold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divides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all</a:t>
            </a:r>
            <a:r>
              <a:rPr dirty="0" sz="2200" spc="-5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samples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into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 b="1">
                <a:solidFill>
                  <a:srgbClr val="FF0000"/>
                </a:solidFill>
                <a:latin typeface="Arial"/>
                <a:cs typeface="Arial"/>
              </a:rPr>
              <a:t>k</a:t>
            </a:r>
            <a:r>
              <a:rPr dirty="0" sz="2200" spc="-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groups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of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samples,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called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 spc="-10">
                <a:solidFill>
                  <a:srgbClr val="FF0000"/>
                </a:solidFill>
                <a:latin typeface="Microsoft Sans Serif"/>
                <a:cs typeface="Microsoft Sans Serif"/>
              </a:rPr>
              <a:t>folds</a:t>
            </a:r>
            <a:r>
              <a:rPr dirty="0" sz="2200" spc="-10">
                <a:latin typeface="Microsoft Sans Serif"/>
                <a:cs typeface="Microsoft Sans Serif"/>
              </a:rPr>
              <a:t>.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2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prediction</a:t>
            </a:r>
            <a:r>
              <a:rPr dirty="0" sz="2200" spc="-5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function</a:t>
            </a:r>
            <a:r>
              <a:rPr dirty="0" sz="2200" spc="-5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is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learned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using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 spc="-10">
                <a:solidFill>
                  <a:srgbClr val="BF0000"/>
                </a:solidFill>
                <a:latin typeface="Microsoft Sans Serif"/>
                <a:cs typeface="Microsoft Sans Serif"/>
              </a:rPr>
              <a:t>k-</a:t>
            </a:r>
            <a:r>
              <a:rPr dirty="0" sz="2200">
                <a:solidFill>
                  <a:srgbClr val="BF0000"/>
                </a:solidFill>
                <a:latin typeface="Microsoft Sans Serif"/>
                <a:cs typeface="Microsoft Sans Serif"/>
              </a:rPr>
              <a:t>1</a:t>
            </a:r>
            <a:r>
              <a:rPr dirty="0" sz="2200" spc="-40">
                <a:solidFill>
                  <a:srgbClr val="BF0000"/>
                </a:solidFill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folds,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and</a:t>
            </a:r>
            <a:r>
              <a:rPr dirty="0" sz="2200" spc="-2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remaining </a:t>
            </a:r>
            <a:r>
              <a:rPr dirty="0" sz="2200">
                <a:latin typeface="Microsoft Sans Serif"/>
                <a:cs typeface="Microsoft Sans Serif"/>
              </a:rPr>
              <a:t>fold</a:t>
            </a:r>
            <a:r>
              <a:rPr dirty="0" sz="2200" spc="-2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is used</a:t>
            </a:r>
            <a:r>
              <a:rPr dirty="0" sz="2200" spc="-2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as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1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test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 spc="-20">
                <a:latin typeface="Microsoft Sans Serif"/>
                <a:cs typeface="Microsoft Sans Serif"/>
              </a:rPr>
              <a:t>set.</a:t>
            </a:r>
            <a:endParaRPr sz="2200">
              <a:latin typeface="Microsoft Sans Serif"/>
              <a:cs typeface="Microsoft Sans Serif"/>
            </a:endParaRPr>
          </a:p>
          <a:p>
            <a:pPr algn="just" marL="675640" marR="519430" indent="-234950">
              <a:lnSpc>
                <a:spcPct val="100000"/>
              </a:lnSpc>
              <a:spcBef>
                <a:spcPts val="660"/>
              </a:spcBef>
            </a:pPr>
            <a:r>
              <a:rPr dirty="0" sz="2200" spc="565">
                <a:solidFill>
                  <a:srgbClr val="FF0000"/>
                </a:solidFill>
                <a:latin typeface="Microsoft Sans Serif"/>
                <a:cs typeface="Microsoft Sans Serif"/>
              </a:rPr>
              <a:t>–</a:t>
            </a:r>
            <a:r>
              <a:rPr dirty="0" sz="2200" spc="-10">
                <a:solidFill>
                  <a:srgbClr val="FF0000"/>
                </a:solidFill>
                <a:latin typeface="Microsoft Sans Serif"/>
                <a:cs typeface="Microsoft Sans Serif"/>
              </a:rPr>
              <a:t>  </a:t>
            </a:r>
            <a:r>
              <a:rPr dirty="0" sz="2200" b="1">
                <a:solidFill>
                  <a:srgbClr val="FF0000"/>
                </a:solidFill>
                <a:latin typeface="Arial"/>
                <a:cs typeface="Arial"/>
              </a:rPr>
              <a:t>k</a:t>
            </a:r>
            <a:r>
              <a:rPr dirty="0" sz="2200" spc="-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is</a:t>
            </a:r>
            <a:r>
              <a:rPr dirty="0" sz="2200" spc="-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typically</a:t>
            </a:r>
            <a:r>
              <a:rPr dirty="0" sz="2200" spc="-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2, 5</a:t>
            </a:r>
            <a:r>
              <a:rPr dirty="0" sz="2200" spc="-2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or</a:t>
            </a:r>
            <a:r>
              <a:rPr dirty="0" sz="2200" spc="-1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10</a:t>
            </a:r>
            <a:r>
              <a:rPr dirty="0" sz="2200" spc="-2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for</a:t>
            </a:r>
            <a:r>
              <a:rPr dirty="0" sz="2200" spc="-1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</a:t>
            </a:r>
            <a:r>
              <a:rPr dirty="0" sz="2200" spc="-2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balance</a:t>
            </a:r>
            <a:r>
              <a:rPr dirty="0" sz="2200" spc="-2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between</a:t>
            </a:r>
            <a:r>
              <a:rPr dirty="0" sz="2200" spc="-20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computational </a:t>
            </a:r>
            <a:r>
              <a:rPr dirty="0" sz="2200">
                <a:latin typeface="Microsoft Sans Serif"/>
                <a:cs typeface="Microsoft Sans Serif"/>
              </a:rPr>
              <a:t>complexity</a:t>
            </a:r>
            <a:r>
              <a:rPr dirty="0" sz="2200" spc="-7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and</a:t>
            </a:r>
            <a:r>
              <a:rPr dirty="0" sz="2200" spc="-8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validation</a:t>
            </a:r>
            <a:r>
              <a:rPr dirty="0" sz="2200" spc="-65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accuracy</a:t>
            </a:r>
            <a:endParaRPr sz="2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2200">
              <a:latin typeface="Microsoft Sans Serif"/>
              <a:cs typeface="Microsoft Sans Serif"/>
            </a:endParaRPr>
          </a:p>
          <a:p>
            <a:pPr lvl="1" marL="565150" indent="-501650">
              <a:lnSpc>
                <a:spcPct val="100000"/>
              </a:lnSpc>
              <a:buAutoNum type="arabicPeriod"/>
              <a:tabLst>
                <a:tab pos="565150" algn="l"/>
              </a:tabLst>
            </a:pPr>
            <a:r>
              <a:rPr dirty="0" sz="2200">
                <a:latin typeface="Microsoft Sans Serif"/>
                <a:cs typeface="Microsoft Sans Serif"/>
              </a:rPr>
              <a:t>A</a:t>
            </a:r>
            <a:r>
              <a:rPr dirty="0" sz="2200" spc="-1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model</a:t>
            </a:r>
            <a:r>
              <a:rPr dirty="0" sz="2200" spc="-2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is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trained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using</a:t>
            </a:r>
            <a:r>
              <a:rPr dirty="0" sz="2200" spc="-20">
                <a:latin typeface="Microsoft Sans Serif"/>
                <a:cs typeface="Microsoft Sans Serif"/>
              </a:rPr>
              <a:t> </a:t>
            </a:r>
            <a:r>
              <a:rPr dirty="0" sz="2200" spc="-10">
                <a:solidFill>
                  <a:srgbClr val="BF0000"/>
                </a:solidFill>
                <a:latin typeface="Microsoft Sans Serif"/>
                <a:cs typeface="Microsoft Sans Serif"/>
              </a:rPr>
              <a:t>k-</a:t>
            </a:r>
            <a:r>
              <a:rPr dirty="0" sz="2200">
                <a:solidFill>
                  <a:srgbClr val="BF0000"/>
                </a:solidFill>
                <a:latin typeface="Microsoft Sans Serif"/>
                <a:cs typeface="Microsoft Sans Serif"/>
              </a:rPr>
              <a:t>1</a:t>
            </a:r>
            <a:r>
              <a:rPr dirty="0" sz="2200" spc="-35">
                <a:solidFill>
                  <a:srgbClr val="BF0000"/>
                </a:solidFill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folds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as</a:t>
            </a:r>
            <a:r>
              <a:rPr dirty="0" sz="2200" spc="-1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training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 spc="-20">
                <a:latin typeface="Microsoft Sans Serif"/>
                <a:cs typeface="Microsoft Sans Serif"/>
              </a:rPr>
              <a:t>data</a:t>
            </a:r>
            <a:endParaRPr sz="2200">
              <a:latin typeface="Microsoft Sans Serif"/>
              <a:cs typeface="Microsoft Sans Serif"/>
            </a:endParaRPr>
          </a:p>
          <a:p>
            <a:pPr lvl="1" marL="441325" indent="-378460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441325" algn="l"/>
                <a:tab pos="565150" algn="l"/>
              </a:tabLst>
            </a:pPr>
            <a:r>
              <a:rPr dirty="0" sz="2200">
                <a:latin typeface="Microsoft Sans Serif"/>
                <a:cs typeface="Microsoft Sans Serif"/>
              </a:rPr>
              <a:t>	The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resulting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model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is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validated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on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remaining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part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of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 spc="-20">
                <a:latin typeface="Microsoft Sans Serif"/>
                <a:cs typeface="Microsoft Sans Serif"/>
              </a:rPr>
              <a:t>data</a:t>
            </a:r>
            <a:endParaRPr sz="2200">
              <a:latin typeface="Microsoft Sans Serif"/>
              <a:cs typeface="Microsoft Sans Serif"/>
            </a:endParaRPr>
          </a:p>
          <a:p>
            <a:pPr marL="675640" marR="139700" indent="-234950">
              <a:lnSpc>
                <a:spcPct val="100000"/>
              </a:lnSpc>
              <a:spcBef>
                <a:spcPts val="660"/>
              </a:spcBef>
            </a:pPr>
            <a:r>
              <a:rPr dirty="0" sz="2200" spc="565">
                <a:latin typeface="Microsoft Sans Serif"/>
                <a:cs typeface="Microsoft Sans Serif"/>
              </a:rPr>
              <a:t>–</a:t>
            </a:r>
            <a:r>
              <a:rPr dirty="0" sz="2200" spc="-1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It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is</a:t>
            </a:r>
            <a:r>
              <a:rPr dirty="0" sz="2200" spc="-1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used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as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test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set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to</a:t>
            </a:r>
            <a:r>
              <a:rPr dirty="0" sz="2200" spc="-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compute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performance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measure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 spc="-20">
                <a:latin typeface="Microsoft Sans Serif"/>
                <a:cs typeface="Microsoft Sans Serif"/>
              </a:rPr>
              <a:t>such </a:t>
            </a:r>
            <a:r>
              <a:rPr dirty="0" sz="2200">
                <a:latin typeface="Microsoft Sans Serif"/>
                <a:cs typeface="Microsoft Sans Serif"/>
              </a:rPr>
              <a:t>as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accuracy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for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classification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or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 i="1">
                <a:latin typeface="Arial"/>
                <a:cs typeface="Arial"/>
              </a:rPr>
              <a:t>r</a:t>
            </a:r>
            <a:r>
              <a:rPr dirty="0" baseline="24904" sz="2175" i="1">
                <a:latin typeface="Arial"/>
                <a:cs typeface="Arial"/>
              </a:rPr>
              <a:t>2</a:t>
            </a:r>
            <a:r>
              <a:rPr dirty="0" baseline="24904" sz="2175" spc="225" i="1">
                <a:latin typeface="Arial"/>
                <a:cs typeface="Arial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for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regression</a:t>
            </a:r>
            <a:endParaRPr sz="2200">
              <a:latin typeface="Microsoft Sans Serif"/>
              <a:cs typeface="Microsoft Sans Serif"/>
            </a:endParaRPr>
          </a:p>
          <a:p>
            <a:pPr lvl="1" marL="565785" marR="273685" indent="-502920">
              <a:lnSpc>
                <a:spcPct val="100000"/>
              </a:lnSpc>
              <a:spcBef>
                <a:spcPts val="1320"/>
              </a:spcBef>
              <a:buAutoNum type="arabicPeriod" startAt="3"/>
              <a:tabLst>
                <a:tab pos="565785" algn="l"/>
              </a:tabLst>
            </a:pP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performance</a:t>
            </a:r>
            <a:r>
              <a:rPr dirty="0" sz="2200" spc="-6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measure</a:t>
            </a:r>
            <a:r>
              <a:rPr dirty="0" sz="2200" spc="-6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reported</a:t>
            </a:r>
            <a:r>
              <a:rPr dirty="0" sz="2200" spc="-6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by</a:t>
            </a:r>
            <a:r>
              <a:rPr dirty="0" sz="2200" spc="-65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k-</a:t>
            </a:r>
            <a:r>
              <a:rPr dirty="0" sz="2200">
                <a:latin typeface="Microsoft Sans Serif"/>
                <a:cs typeface="Microsoft Sans Serif"/>
              </a:rPr>
              <a:t>fold</a:t>
            </a:r>
            <a:r>
              <a:rPr dirty="0" sz="2200" spc="-60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cross-</a:t>
            </a:r>
            <a:r>
              <a:rPr dirty="0" sz="2200">
                <a:latin typeface="Microsoft Sans Serif"/>
                <a:cs typeface="Microsoft Sans Serif"/>
              </a:rPr>
              <a:t>validation</a:t>
            </a:r>
            <a:r>
              <a:rPr dirty="0" sz="2200" spc="-80">
                <a:latin typeface="Microsoft Sans Serif"/>
                <a:cs typeface="Microsoft Sans Serif"/>
              </a:rPr>
              <a:t> </a:t>
            </a:r>
            <a:r>
              <a:rPr dirty="0" sz="2200" spc="-25">
                <a:latin typeface="Microsoft Sans Serif"/>
                <a:cs typeface="Microsoft Sans Serif"/>
              </a:rPr>
              <a:t>is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average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of</a:t>
            </a:r>
            <a:r>
              <a:rPr dirty="0" sz="2200" spc="-2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values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computed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in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loop.</a:t>
            </a:r>
            <a:endParaRPr sz="2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315" y="2177070"/>
            <a:ext cx="4659417" cy="313310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71895" rIns="0" bIns="0" rtlCol="0" vert="horz">
            <a:spAutoFit/>
          </a:bodyPr>
          <a:lstStyle/>
          <a:p>
            <a:pPr marL="1282065">
              <a:lnSpc>
                <a:spcPct val="100000"/>
              </a:lnSpc>
              <a:spcBef>
                <a:spcPts val="105"/>
              </a:spcBef>
            </a:pPr>
            <a:r>
              <a:rPr dirty="0" sz="2850" spc="-10" b="0" i="1">
                <a:solidFill>
                  <a:srgbClr val="000000"/>
                </a:solidFill>
                <a:latin typeface="Arial"/>
                <a:cs typeface="Arial"/>
              </a:rPr>
              <a:t>K</a:t>
            </a:r>
            <a:r>
              <a:rPr dirty="0" sz="2850" spc="-10" b="0">
                <a:solidFill>
                  <a:srgbClr val="000000"/>
                </a:solidFill>
                <a:latin typeface="Microsoft Sans Serif"/>
                <a:cs typeface="Microsoft Sans Serif"/>
              </a:rPr>
              <a:t>-</a:t>
            </a:r>
            <a:r>
              <a:rPr dirty="0" sz="2850" b="0">
                <a:solidFill>
                  <a:srgbClr val="000000"/>
                </a:solidFill>
                <a:latin typeface="Microsoft Sans Serif"/>
                <a:cs typeface="Microsoft Sans Serif"/>
              </a:rPr>
              <a:t>fold</a:t>
            </a:r>
            <a:r>
              <a:rPr dirty="0" sz="2850" spc="-2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850" b="0">
                <a:solidFill>
                  <a:srgbClr val="000000"/>
                </a:solidFill>
                <a:latin typeface="Microsoft Sans Serif"/>
                <a:cs typeface="Microsoft Sans Serif"/>
              </a:rPr>
              <a:t>Cross</a:t>
            </a:r>
            <a:r>
              <a:rPr dirty="0" sz="2850" spc="-3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850" spc="-10" b="0">
                <a:solidFill>
                  <a:srgbClr val="000000"/>
                </a:solidFill>
                <a:latin typeface="Microsoft Sans Serif"/>
                <a:cs typeface="Microsoft Sans Serif"/>
              </a:rPr>
              <a:t>Validation</a:t>
            </a:r>
            <a:r>
              <a:rPr dirty="0" sz="2850" spc="1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850" spc="-10" b="0">
                <a:solidFill>
                  <a:srgbClr val="000000"/>
                </a:solidFill>
                <a:latin typeface="Microsoft Sans Serif"/>
                <a:cs typeface="Microsoft Sans Serif"/>
              </a:rPr>
              <a:t>Example</a:t>
            </a:r>
            <a:endParaRPr sz="2850">
              <a:latin typeface="Microsoft Sans Serif"/>
              <a:cs typeface="Microsoft Sans Serif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144459" y="2108203"/>
            <a:ext cx="4239260" cy="324421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algn="just" marL="579755" indent="-567055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579755" algn="l"/>
              </a:tabLst>
            </a:pPr>
            <a:r>
              <a:rPr dirty="0" sz="2200">
                <a:latin typeface="Microsoft Sans Serif"/>
                <a:cs typeface="Microsoft Sans Serif"/>
              </a:rPr>
              <a:t>Split</a:t>
            </a:r>
            <a:r>
              <a:rPr dirty="0" sz="2200" spc="-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data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into</a:t>
            </a:r>
            <a:r>
              <a:rPr dirty="0" sz="2200" spc="-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5</a:t>
            </a:r>
            <a:r>
              <a:rPr dirty="0" sz="2200" spc="-20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samples</a:t>
            </a:r>
            <a:endParaRPr sz="2200">
              <a:latin typeface="Microsoft Sans Serif"/>
              <a:cs typeface="Microsoft Sans Serif"/>
            </a:endParaRPr>
          </a:p>
          <a:p>
            <a:pPr algn="just" marL="577850" marR="504190" indent="-565785">
              <a:lnSpc>
                <a:spcPct val="100000"/>
              </a:lnSpc>
              <a:spcBef>
                <a:spcPts val="530"/>
              </a:spcBef>
              <a:buAutoNum type="arabicPeriod"/>
              <a:tabLst>
                <a:tab pos="577850" algn="l"/>
                <a:tab pos="579120" algn="l"/>
              </a:tabLst>
            </a:pPr>
            <a:r>
              <a:rPr dirty="0" sz="2200">
                <a:latin typeface="Microsoft Sans Serif"/>
                <a:cs typeface="Microsoft Sans Serif"/>
              </a:rPr>
              <a:t>	Fit</a:t>
            </a:r>
            <a:r>
              <a:rPr dirty="0" sz="2200" spc="-1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model</a:t>
            </a:r>
            <a:r>
              <a:rPr dirty="0" sz="2200" spc="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to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training </a:t>
            </a:r>
            <a:r>
              <a:rPr dirty="0" sz="2200">
                <a:latin typeface="Microsoft Sans Serif"/>
                <a:cs typeface="Microsoft Sans Serif"/>
              </a:rPr>
              <a:t>samples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and</a:t>
            </a:r>
            <a:r>
              <a:rPr dirty="0" sz="2200" spc="-2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use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 spc="-20">
                <a:latin typeface="Microsoft Sans Serif"/>
                <a:cs typeface="Microsoft Sans Serif"/>
              </a:rPr>
              <a:t>test </a:t>
            </a:r>
            <a:r>
              <a:rPr dirty="0" sz="2200">
                <a:latin typeface="Microsoft Sans Serif"/>
                <a:cs typeface="Microsoft Sans Serif"/>
              </a:rPr>
              <a:t>sample</a:t>
            </a:r>
            <a:r>
              <a:rPr dirty="0" sz="2200" spc="-2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to</a:t>
            </a:r>
            <a:r>
              <a:rPr dirty="0" sz="2200" spc="-5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calculate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 spc="-25">
                <a:latin typeface="Microsoft Sans Serif"/>
                <a:cs typeface="Microsoft Sans Serif"/>
              </a:rPr>
              <a:t>CV </a:t>
            </a:r>
            <a:r>
              <a:rPr dirty="0" sz="2200" spc="-10">
                <a:latin typeface="Microsoft Sans Serif"/>
                <a:cs typeface="Microsoft Sans Serif"/>
              </a:rPr>
              <a:t>metric.</a:t>
            </a:r>
            <a:endParaRPr sz="2200">
              <a:latin typeface="Microsoft Sans Serif"/>
              <a:cs typeface="Microsoft Sans Serif"/>
            </a:endParaRPr>
          </a:p>
          <a:p>
            <a:pPr marL="577850" marR="5080" indent="-565785">
              <a:lnSpc>
                <a:spcPct val="100000"/>
              </a:lnSpc>
              <a:spcBef>
                <a:spcPts val="525"/>
              </a:spcBef>
              <a:buAutoNum type="arabicPeriod"/>
              <a:tabLst>
                <a:tab pos="577850" algn="l"/>
              </a:tabLst>
            </a:pPr>
            <a:r>
              <a:rPr dirty="0" sz="2200">
                <a:latin typeface="Microsoft Sans Serif"/>
                <a:cs typeface="Microsoft Sans Serif"/>
              </a:rPr>
              <a:t>Repeat</a:t>
            </a:r>
            <a:r>
              <a:rPr dirty="0" sz="2200" spc="-2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process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for</a:t>
            </a:r>
            <a:r>
              <a:rPr dirty="0" sz="2200" spc="-50">
                <a:latin typeface="Microsoft Sans Serif"/>
                <a:cs typeface="Microsoft Sans Serif"/>
              </a:rPr>
              <a:t> </a:t>
            </a:r>
            <a:r>
              <a:rPr dirty="0" sz="2200" spc="-25">
                <a:latin typeface="Microsoft Sans Serif"/>
                <a:cs typeface="Microsoft Sans Serif"/>
              </a:rPr>
              <a:t>the </a:t>
            </a:r>
            <a:r>
              <a:rPr dirty="0" sz="2200">
                <a:latin typeface="Microsoft Sans Serif"/>
                <a:cs typeface="Microsoft Sans Serif"/>
              </a:rPr>
              <a:t>next</a:t>
            </a:r>
            <a:r>
              <a:rPr dirty="0" sz="2200" spc="-5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sample,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until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all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samples </a:t>
            </a:r>
            <a:r>
              <a:rPr dirty="0" sz="2200">
                <a:latin typeface="Microsoft Sans Serif"/>
                <a:cs typeface="Microsoft Sans Serif"/>
              </a:rPr>
              <a:t>have</a:t>
            </a:r>
            <a:r>
              <a:rPr dirty="0" sz="2200" spc="-1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been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used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to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either</a:t>
            </a:r>
            <a:r>
              <a:rPr dirty="0" sz="2200" spc="55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train</a:t>
            </a:r>
            <a:r>
              <a:rPr dirty="0" sz="2200" spc="-2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or</a:t>
            </a:r>
            <a:r>
              <a:rPr dirty="0" sz="2200" spc="-1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test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20">
                <a:latin typeface="Microsoft Sans Serif"/>
                <a:cs typeface="Microsoft Sans Serif"/>
              </a:rPr>
              <a:t> model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86792" y="5674835"/>
            <a:ext cx="7955915" cy="13163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>
                <a:latin typeface="Microsoft Sans Serif"/>
                <a:cs typeface="Microsoft Sans Serif"/>
              </a:rPr>
              <a:t>The</a:t>
            </a:r>
            <a:r>
              <a:rPr dirty="0" sz="1950" spc="10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advantages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are</a:t>
            </a:r>
            <a:endParaRPr sz="1950">
              <a:latin typeface="Microsoft Sans Serif"/>
              <a:cs typeface="Microsoft Sans Serif"/>
            </a:endParaRPr>
          </a:p>
          <a:p>
            <a:pPr marL="326390" marR="213995" indent="-314325">
              <a:lnSpc>
                <a:spcPct val="101499"/>
              </a:lnSpc>
              <a:buChar char="•"/>
              <a:tabLst>
                <a:tab pos="326390" algn="l"/>
              </a:tabLst>
            </a:pPr>
            <a:r>
              <a:rPr dirty="0" sz="1950">
                <a:latin typeface="Microsoft Sans Serif"/>
                <a:cs typeface="Microsoft Sans Serif"/>
              </a:rPr>
              <a:t>all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observations</a:t>
            </a:r>
            <a:r>
              <a:rPr dirty="0" sz="1950" spc="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are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used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for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both</a:t>
            </a:r>
            <a:r>
              <a:rPr dirty="0" sz="1950" spc="4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training</a:t>
            </a:r>
            <a:r>
              <a:rPr dirty="0" sz="1950" spc="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and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validation,</a:t>
            </a:r>
            <a:r>
              <a:rPr dirty="0" sz="1950" spc="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and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 spc="-20">
                <a:latin typeface="Microsoft Sans Serif"/>
                <a:cs typeface="Microsoft Sans Serif"/>
              </a:rPr>
              <a:t>each </a:t>
            </a:r>
            <a:r>
              <a:rPr dirty="0" sz="1950">
                <a:latin typeface="Microsoft Sans Serif"/>
                <a:cs typeface="Microsoft Sans Serif"/>
              </a:rPr>
              <a:t>observation</a:t>
            </a:r>
            <a:r>
              <a:rPr dirty="0" sz="1950" spc="2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is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used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once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for</a:t>
            </a:r>
            <a:r>
              <a:rPr dirty="0" sz="1950" spc="8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validation</a:t>
            </a:r>
            <a:endParaRPr sz="1950">
              <a:latin typeface="Microsoft Sans Serif"/>
              <a:cs typeface="Microsoft Sans Serif"/>
            </a:endParaRPr>
          </a:p>
          <a:p>
            <a:pPr marL="326390" indent="-313690">
              <a:lnSpc>
                <a:spcPct val="100000"/>
              </a:lnSpc>
              <a:spcBef>
                <a:spcPts val="695"/>
              </a:spcBef>
              <a:buChar char="•"/>
              <a:tabLst>
                <a:tab pos="326390" algn="l"/>
              </a:tabLst>
            </a:pPr>
            <a:r>
              <a:rPr dirty="0" sz="1950">
                <a:latin typeface="Microsoft Sans Serif"/>
                <a:cs typeface="Microsoft Sans Serif"/>
              </a:rPr>
              <a:t>This</a:t>
            </a:r>
            <a:r>
              <a:rPr dirty="0" sz="1950" spc="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can</a:t>
            </a:r>
            <a:r>
              <a:rPr dirty="0" sz="1950" spc="4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be</a:t>
            </a:r>
            <a:r>
              <a:rPr dirty="0" sz="1950" spc="4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done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using</a:t>
            </a:r>
            <a:r>
              <a:rPr dirty="0" sz="1950" spc="2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the Train</a:t>
            </a:r>
            <a:r>
              <a:rPr dirty="0" sz="1950" spc="2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set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from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the</a:t>
            </a:r>
            <a:r>
              <a:rPr dirty="0" sz="1950" spc="4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original</a:t>
            </a:r>
            <a:r>
              <a:rPr dirty="0" sz="1950" spc="10">
                <a:latin typeface="Microsoft Sans Serif"/>
                <a:cs typeface="Microsoft Sans Serif"/>
              </a:rPr>
              <a:t> </a:t>
            </a:r>
            <a:r>
              <a:rPr dirty="0" sz="1950" spc="-45">
                <a:latin typeface="Microsoft Sans Serif"/>
                <a:cs typeface="Microsoft Sans Serif"/>
              </a:rPr>
              <a:t>Test-</a:t>
            </a:r>
            <a:r>
              <a:rPr dirty="0" sz="1950">
                <a:latin typeface="Microsoft Sans Serif"/>
                <a:cs typeface="Microsoft Sans Serif"/>
              </a:rPr>
              <a:t>Train</a:t>
            </a:r>
            <a:r>
              <a:rPr dirty="0" sz="1950" spc="2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split</a:t>
            </a:r>
            <a:endParaRPr sz="1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962578" y="7428937"/>
            <a:ext cx="157607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>
                <a:latin typeface="Microsoft Sans Serif"/>
                <a:cs typeface="Microsoft Sans Serif"/>
              </a:rPr>
              <a:t>Slide</a:t>
            </a:r>
            <a:r>
              <a:rPr dirty="0" sz="1950" spc="3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&lt;#&gt;</a:t>
            </a:r>
            <a:r>
              <a:rPr dirty="0" sz="1950" spc="4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of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 spc="-50">
                <a:latin typeface="Microsoft Sans Serif"/>
                <a:cs typeface="Microsoft Sans Serif"/>
              </a:rPr>
              <a:t>9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7934" rIns="0" bIns="0" rtlCol="0" vert="horz">
            <a:spAutoFit/>
          </a:bodyPr>
          <a:lstStyle/>
          <a:p>
            <a:pPr marL="2880360">
              <a:lnSpc>
                <a:spcPct val="100000"/>
              </a:lnSpc>
              <a:spcBef>
                <a:spcPts val="125"/>
              </a:spcBef>
            </a:pPr>
            <a:r>
              <a:rPr dirty="0" sz="2950" b="0">
                <a:solidFill>
                  <a:srgbClr val="000000"/>
                </a:solidFill>
                <a:latin typeface="Microsoft Sans Serif"/>
                <a:cs typeface="Microsoft Sans Serif"/>
              </a:rPr>
              <a:t>Best</a:t>
            </a:r>
            <a:r>
              <a:rPr dirty="0" sz="2950" spc="4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10" b="0">
                <a:solidFill>
                  <a:srgbClr val="000000"/>
                </a:solidFill>
                <a:latin typeface="Microsoft Sans Serif"/>
                <a:cs typeface="Microsoft Sans Serif"/>
              </a:rPr>
              <a:t>Practice</a:t>
            </a:r>
            <a:endParaRPr sz="2950">
              <a:latin typeface="Microsoft Sans Serif"/>
              <a:cs typeface="Microsoft Sans Serif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12714" y="1669167"/>
            <a:ext cx="8575675" cy="488696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(Other</a:t>
            </a:r>
            <a:r>
              <a:rPr dirty="0" sz="2200" spc="-9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approaches</a:t>
            </a:r>
            <a:r>
              <a:rPr dirty="0" sz="2200" spc="-6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generally</a:t>
            </a:r>
            <a:r>
              <a:rPr dirty="0" sz="2200" spc="-7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follow</a:t>
            </a:r>
            <a:r>
              <a:rPr dirty="0" sz="2200" spc="-10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the</a:t>
            </a:r>
            <a:r>
              <a:rPr dirty="0" sz="2200" spc="-7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BF"/>
                </a:solidFill>
                <a:latin typeface="Arial"/>
                <a:cs typeface="Arial"/>
              </a:rPr>
              <a:t>same</a:t>
            </a:r>
            <a:r>
              <a:rPr dirty="0" sz="2200" spc="-7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0070BF"/>
                </a:solidFill>
                <a:latin typeface="Arial"/>
                <a:cs typeface="Arial"/>
              </a:rPr>
              <a:t>principles)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320"/>
              </a:spcBef>
            </a:pP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cross-</a:t>
            </a:r>
            <a:r>
              <a:rPr dirty="0" sz="2200">
                <a:latin typeface="Microsoft Sans Serif"/>
                <a:cs typeface="Microsoft Sans Serif"/>
              </a:rPr>
              <a:t>validation</a:t>
            </a:r>
            <a:r>
              <a:rPr dirty="0" sz="2200" spc="-7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information</a:t>
            </a:r>
            <a:r>
              <a:rPr dirty="0" sz="2200" spc="-5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allows</a:t>
            </a:r>
            <a:r>
              <a:rPr dirty="0" sz="2200" spc="-2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us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to</a:t>
            </a:r>
            <a:r>
              <a:rPr dirty="0" sz="2200" spc="-5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evaluate</a:t>
            </a:r>
            <a:r>
              <a:rPr dirty="0" sz="2200" spc="-5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not</a:t>
            </a:r>
            <a:r>
              <a:rPr dirty="0" sz="2200" spc="-6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only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 spc="-25">
                <a:latin typeface="Microsoft Sans Serif"/>
                <a:cs typeface="Microsoft Sans Serif"/>
              </a:rPr>
              <a:t>how </a:t>
            </a:r>
            <a:r>
              <a:rPr dirty="0" sz="2200">
                <a:latin typeface="Microsoft Sans Serif"/>
                <a:cs typeface="Microsoft Sans Serif"/>
              </a:rPr>
              <a:t>much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variance</a:t>
            </a:r>
            <a:r>
              <a:rPr dirty="0" sz="2200" spc="-1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can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be</a:t>
            </a:r>
            <a:r>
              <a:rPr dirty="0" sz="2200" spc="-2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explained</a:t>
            </a:r>
            <a:r>
              <a:rPr dirty="0" sz="2200" spc="-1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by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model,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but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also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predictive </a:t>
            </a:r>
            <a:r>
              <a:rPr dirty="0" sz="2200">
                <a:latin typeface="Microsoft Sans Serif"/>
                <a:cs typeface="Microsoft Sans Serif"/>
              </a:rPr>
              <a:t>accuracy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of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model.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2200">
                <a:solidFill>
                  <a:srgbClr val="FF0000"/>
                </a:solidFill>
                <a:latin typeface="Microsoft Sans Serif"/>
                <a:cs typeface="Microsoft Sans Serif"/>
              </a:rPr>
              <a:t>Good</a:t>
            </a:r>
            <a:r>
              <a:rPr dirty="0" sz="2200" spc="-5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2200">
                <a:solidFill>
                  <a:srgbClr val="FF0000"/>
                </a:solidFill>
                <a:latin typeface="Microsoft Sans Serif"/>
                <a:cs typeface="Microsoft Sans Serif"/>
              </a:rPr>
              <a:t>models</a:t>
            </a:r>
            <a:r>
              <a:rPr dirty="0" sz="2200" spc="-3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2200">
                <a:solidFill>
                  <a:srgbClr val="FF0000"/>
                </a:solidFill>
                <a:latin typeface="Microsoft Sans Serif"/>
                <a:cs typeface="Microsoft Sans Serif"/>
              </a:rPr>
              <a:t>should</a:t>
            </a:r>
            <a:r>
              <a:rPr dirty="0" sz="2200" spc="-4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2200">
                <a:solidFill>
                  <a:srgbClr val="FF0000"/>
                </a:solidFill>
                <a:latin typeface="Microsoft Sans Serif"/>
                <a:cs typeface="Microsoft Sans Serif"/>
              </a:rPr>
              <a:t>have</a:t>
            </a:r>
            <a:r>
              <a:rPr dirty="0" sz="2200" spc="-25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2200">
                <a:solidFill>
                  <a:srgbClr val="FF0000"/>
                </a:solidFill>
                <a:latin typeface="Microsoft Sans Serif"/>
                <a:cs typeface="Microsoft Sans Serif"/>
              </a:rPr>
              <a:t>a</a:t>
            </a:r>
            <a:r>
              <a:rPr dirty="0" sz="2200" spc="-45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2200">
                <a:solidFill>
                  <a:srgbClr val="FF0000"/>
                </a:solidFill>
                <a:latin typeface="Microsoft Sans Serif"/>
                <a:cs typeface="Microsoft Sans Serif"/>
              </a:rPr>
              <a:t>high</a:t>
            </a:r>
            <a:r>
              <a:rPr dirty="0" sz="2200" spc="-4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2200" spc="-10">
                <a:solidFill>
                  <a:srgbClr val="FF0000"/>
                </a:solidFill>
                <a:latin typeface="Microsoft Sans Serif"/>
                <a:cs typeface="Microsoft Sans Serif"/>
              </a:rPr>
              <a:t>predictive</a:t>
            </a:r>
            <a:r>
              <a:rPr dirty="0" sz="2200" spc="-14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2200">
                <a:solidFill>
                  <a:srgbClr val="FF0000"/>
                </a:solidFill>
                <a:latin typeface="Microsoft Sans Serif"/>
                <a:cs typeface="Microsoft Sans Serif"/>
              </a:rPr>
              <a:t>AND</a:t>
            </a:r>
            <a:r>
              <a:rPr dirty="0" sz="2200" spc="-15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2200">
                <a:solidFill>
                  <a:srgbClr val="FF0000"/>
                </a:solidFill>
                <a:latin typeface="Microsoft Sans Serif"/>
                <a:cs typeface="Microsoft Sans Serif"/>
              </a:rPr>
              <a:t>explanatory</a:t>
            </a:r>
            <a:r>
              <a:rPr dirty="0" sz="2200" spc="-5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2200" spc="-10">
                <a:solidFill>
                  <a:srgbClr val="FF0000"/>
                </a:solidFill>
                <a:latin typeface="Microsoft Sans Serif"/>
                <a:cs typeface="Microsoft Sans Serif"/>
              </a:rPr>
              <a:t>power!</a:t>
            </a:r>
            <a:endParaRPr sz="2200">
              <a:latin typeface="Microsoft Sans Serif"/>
              <a:cs typeface="Microsoft Sans Serif"/>
            </a:endParaRPr>
          </a:p>
          <a:p>
            <a:pPr algn="just" marL="12700" marR="5715">
              <a:lnSpc>
                <a:spcPct val="100000"/>
              </a:lnSpc>
              <a:spcBef>
                <a:spcPts val="1320"/>
              </a:spcBef>
            </a:pPr>
            <a:r>
              <a:rPr dirty="0" sz="2200">
                <a:latin typeface="Microsoft Sans Serif"/>
                <a:cs typeface="Microsoft Sans Serif"/>
              </a:rPr>
              <a:t>While</a:t>
            </a:r>
            <a:r>
              <a:rPr dirty="0" sz="2200" spc="-1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this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is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great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way</a:t>
            </a:r>
            <a:r>
              <a:rPr dirty="0" sz="2200" spc="-1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to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make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sure</a:t>
            </a:r>
            <a:r>
              <a:rPr dirty="0" sz="2200" spc="-1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you’ve</a:t>
            </a:r>
            <a:r>
              <a:rPr dirty="0" sz="2200" spc="-1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spanned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parameter </a:t>
            </a:r>
            <a:r>
              <a:rPr dirty="0" sz="2200">
                <a:latin typeface="Microsoft Sans Serif"/>
                <a:cs typeface="Microsoft Sans Serif"/>
              </a:rPr>
              <a:t>space,</a:t>
            </a:r>
            <a:r>
              <a:rPr dirty="0" sz="2200" spc="-7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5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time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required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to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train</a:t>
            </a:r>
            <a:r>
              <a:rPr dirty="0" sz="2200" spc="-5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</a:t>
            </a:r>
            <a:r>
              <a:rPr dirty="0" sz="2200" spc="-5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model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increases</a:t>
            </a:r>
            <a:r>
              <a:rPr dirty="0" sz="2200" spc="-5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exponentially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 spc="-20">
                <a:latin typeface="Microsoft Sans Serif"/>
                <a:cs typeface="Microsoft Sans Serif"/>
              </a:rPr>
              <a:t>with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number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of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parameters.</a:t>
            </a:r>
            <a:endParaRPr sz="2200">
              <a:latin typeface="Microsoft Sans Serif"/>
              <a:cs typeface="Microsoft Sans Serif"/>
            </a:endParaRPr>
          </a:p>
          <a:p>
            <a:pPr marL="12700" marR="21590">
              <a:lnSpc>
                <a:spcPct val="100000"/>
              </a:lnSpc>
              <a:spcBef>
                <a:spcPts val="1320"/>
              </a:spcBef>
            </a:pP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upside</a:t>
            </a:r>
            <a:r>
              <a:rPr dirty="0" sz="2200" spc="-5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is</a:t>
            </a:r>
            <a:r>
              <a:rPr dirty="0" sz="2200" spc="-6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that</a:t>
            </a:r>
            <a:r>
              <a:rPr dirty="0" sz="2200" spc="-7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having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many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parameters</a:t>
            </a:r>
            <a:r>
              <a:rPr dirty="0" sz="2200" spc="-6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typically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indicates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that</a:t>
            </a:r>
            <a:r>
              <a:rPr dirty="0" sz="2200" spc="-55">
                <a:latin typeface="Microsoft Sans Serif"/>
                <a:cs typeface="Microsoft Sans Serif"/>
              </a:rPr>
              <a:t> </a:t>
            </a:r>
            <a:r>
              <a:rPr dirty="0" sz="2200" spc="-25">
                <a:latin typeface="Microsoft Sans Serif"/>
                <a:cs typeface="Microsoft Sans Serif"/>
              </a:rPr>
              <a:t>an </a:t>
            </a:r>
            <a:r>
              <a:rPr dirty="0" sz="2200">
                <a:latin typeface="Microsoft Sans Serif"/>
                <a:cs typeface="Microsoft Sans Serif"/>
              </a:rPr>
              <a:t>algorithm</a:t>
            </a:r>
            <a:r>
              <a:rPr dirty="0" sz="2200" spc="-6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has</a:t>
            </a:r>
            <a:r>
              <a:rPr dirty="0" sz="2200" spc="-5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greater</a:t>
            </a:r>
            <a:r>
              <a:rPr dirty="0" sz="2200" spc="-60">
                <a:latin typeface="Microsoft Sans Serif"/>
                <a:cs typeface="Microsoft Sans Serif"/>
              </a:rPr>
              <a:t> </a:t>
            </a:r>
            <a:r>
              <a:rPr dirty="0" sz="2200" spc="-20">
                <a:latin typeface="Microsoft Sans Serif"/>
                <a:cs typeface="Microsoft Sans Serif"/>
              </a:rPr>
              <a:t>flexibility. </a:t>
            </a:r>
            <a:r>
              <a:rPr dirty="0" sz="2200">
                <a:latin typeface="Microsoft Sans Serif"/>
                <a:cs typeface="Microsoft Sans Serif"/>
              </a:rPr>
              <a:t>It</a:t>
            </a:r>
            <a:r>
              <a:rPr dirty="0" sz="2200" spc="-5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can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often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achieve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very</a:t>
            </a:r>
            <a:r>
              <a:rPr dirty="0" sz="2200" spc="-55">
                <a:latin typeface="Microsoft Sans Serif"/>
                <a:cs typeface="Microsoft Sans Serif"/>
              </a:rPr>
              <a:t> </a:t>
            </a:r>
            <a:r>
              <a:rPr dirty="0" sz="2200" spc="-20">
                <a:latin typeface="Microsoft Sans Serif"/>
                <a:cs typeface="Microsoft Sans Serif"/>
              </a:rPr>
              <a:t>good accuracy,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provided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you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can</a:t>
            </a:r>
            <a:r>
              <a:rPr dirty="0" sz="2200" spc="-5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find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5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right</a:t>
            </a:r>
            <a:r>
              <a:rPr dirty="0" sz="2200" spc="-5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combination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of</a:t>
            </a:r>
            <a:r>
              <a:rPr dirty="0" sz="2200" spc="-55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parameter settings.</a:t>
            </a:r>
            <a:endParaRPr sz="2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8635" rIns="0" bIns="0" rtlCol="0" vert="horz">
            <a:spAutoFit/>
          </a:bodyPr>
          <a:lstStyle/>
          <a:p>
            <a:pPr marL="1170940">
              <a:lnSpc>
                <a:spcPct val="100000"/>
              </a:lnSpc>
              <a:spcBef>
                <a:spcPts val="125"/>
              </a:spcBef>
            </a:pPr>
            <a:r>
              <a:rPr dirty="0" sz="2950">
                <a:solidFill>
                  <a:srgbClr val="262672"/>
                </a:solidFill>
                <a:latin typeface="Arial"/>
                <a:cs typeface="Arial"/>
              </a:rPr>
              <a:t>Permutation</a:t>
            </a:r>
            <a:r>
              <a:rPr dirty="0" sz="2950" spc="15">
                <a:solidFill>
                  <a:srgbClr val="262672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262672"/>
                </a:solidFill>
                <a:latin typeface="Arial"/>
                <a:cs typeface="Arial"/>
              </a:rPr>
              <a:t>Feature </a:t>
            </a:r>
            <a:r>
              <a:rPr dirty="0" sz="2950" spc="-10">
                <a:solidFill>
                  <a:srgbClr val="262672"/>
                </a:solidFill>
                <a:latin typeface="Arial"/>
                <a:cs typeface="Arial"/>
              </a:rPr>
              <a:t>Importance</a:t>
            </a:r>
            <a:endParaRPr sz="29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05445" y="1701846"/>
            <a:ext cx="8433435" cy="533654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295910" marR="393700" indent="-283845">
              <a:lnSpc>
                <a:spcPts val="3170"/>
              </a:lnSpc>
              <a:spcBef>
                <a:spcPts val="204"/>
              </a:spcBef>
              <a:buChar char="•"/>
              <a:tabLst>
                <a:tab pos="295910" algn="l"/>
                <a:tab pos="297180" algn="l"/>
              </a:tabLst>
            </a:pP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	It</a:t>
            </a:r>
            <a:r>
              <a:rPr dirty="0" sz="2650" spc="-8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is</a:t>
            </a:r>
            <a:r>
              <a:rPr dirty="0" sz="2650" spc="-9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a</a:t>
            </a:r>
            <a:r>
              <a:rPr dirty="0" sz="2650" spc="-5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model</a:t>
            </a:r>
            <a:r>
              <a:rPr dirty="0" sz="2650" spc="-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inspection</a:t>
            </a:r>
            <a:r>
              <a:rPr dirty="0" sz="265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technique</a:t>
            </a:r>
            <a:r>
              <a:rPr dirty="0" sz="265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that</a:t>
            </a:r>
            <a:r>
              <a:rPr dirty="0" sz="2650" spc="-6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measures</a:t>
            </a:r>
            <a:r>
              <a:rPr dirty="0" sz="265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25">
                <a:solidFill>
                  <a:srgbClr val="333333"/>
                </a:solidFill>
                <a:latin typeface="Microsoft Sans Serif"/>
                <a:cs typeface="Microsoft Sans Serif"/>
              </a:rPr>
              <a:t>the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contribution</a:t>
            </a:r>
            <a:r>
              <a:rPr dirty="0" sz="265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of</a:t>
            </a:r>
            <a:r>
              <a:rPr dirty="0" sz="2650" spc="-7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each</a:t>
            </a:r>
            <a:r>
              <a:rPr dirty="0" sz="265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feature</a:t>
            </a:r>
            <a:r>
              <a:rPr dirty="0" sz="265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to</a:t>
            </a:r>
            <a:r>
              <a:rPr dirty="0" sz="2650" spc="-6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a</a:t>
            </a:r>
            <a:r>
              <a:rPr dirty="0" sz="265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fitted</a:t>
            </a:r>
            <a:r>
              <a:rPr dirty="0" sz="265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10">
                <a:solidFill>
                  <a:srgbClr val="333333"/>
                </a:solidFill>
                <a:latin typeface="Microsoft Sans Serif"/>
                <a:cs typeface="Microsoft Sans Serif"/>
              </a:rPr>
              <a:t>model’s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statistical</a:t>
            </a:r>
            <a:r>
              <a:rPr dirty="0" sz="2650" spc="-8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performance</a:t>
            </a:r>
            <a:r>
              <a:rPr dirty="0" sz="265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on</a:t>
            </a:r>
            <a:r>
              <a:rPr dirty="0" sz="2650" spc="-6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a</a:t>
            </a:r>
            <a:r>
              <a:rPr dirty="0" sz="2650" spc="-8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given</a:t>
            </a:r>
            <a:r>
              <a:rPr dirty="0" sz="2650" spc="-6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tabular</a:t>
            </a:r>
            <a:r>
              <a:rPr dirty="0" sz="2650" spc="-5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10">
                <a:solidFill>
                  <a:srgbClr val="333333"/>
                </a:solidFill>
                <a:latin typeface="Microsoft Sans Serif"/>
                <a:cs typeface="Microsoft Sans Serif"/>
              </a:rPr>
              <a:t>dataset.</a:t>
            </a:r>
            <a:endParaRPr sz="26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70"/>
              </a:spcBef>
              <a:buClr>
                <a:srgbClr val="333333"/>
              </a:buClr>
              <a:buFont typeface="Microsoft Sans Serif"/>
              <a:buChar char="•"/>
            </a:pPr>
            <a:endParaRPr sz="2650">
              <a:latin typeface="Microsoft Sans Serif"/>
              <a:cs typeface="Microsoft Sans Serif"/>
            </a:endParaRPr>
          </a:p>
          <a:p>
            <a:pPr marL="295910" marR="5080" indent="-283845">
              <a:lnSpc>
                <a:spcPts val="3170"/>
              </a:lnSpc>
              <a:spcBef>
                <a:spcPts val="5"/>
              </a:spcBef>
              <a:buChar char="•"/>
              <a:tabLst>
                <a:tab pos="295910" algn="l"/>
                <a:tab pos="297180" algn="l"/>
              </a:tabLst>
            </a:pP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	We</a:t>
            </a:r>
            <a:r>
              <a:rPr dirty="0" sz="2650" spc="-6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measure</a:t>
            </a:r>
            <a:r>
              <a:rPr dirty="0" sz="265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the</a:t>
            </a:r>
            <a:r>
              <a:rPr dirty="0" sz="2650" spc="-5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importance</a:t>
            </a:r>
            <a:r>
              <a:rPr dirty="0" sz="265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of</a:t>
            </a:r>
            <a:r>
              <a:rPr dirty="0" sz="2650" spc="-6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a</a:t>
            </a:r>
            <a:r>
              <a:rPr dirty="0" sz="2650" spc="-5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feature</a:t>
            </a:r>
            <a:r>
              <a:rPr dirty="0" sz="265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by</a:t>
            </a:r>
            <a:r>
              <a:rPr dirty="0" sz="2650" spc="-6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10">
                <a:solidFill>
                  <a:srgbClr val="333333"/>
                </a:solidFill>
                <a:latin typeface="Microsoft Sans Serif"/>
                <a:cs typeface="Microsoft Sans Serif"/>
              </a:rPr>
              <a:t>calculating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the</a:t>
            </a:r>
            <a:r>
              <a:rPr dirty="0" sz="2650" spc="-5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increase</a:t>
            </a:r>
            <a:r>
              <a:rPr dirty="0" sz="2650" spc="-5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in</a:t>
            </a:r>
            <a:r>
              <a:rPr dirty="0" sz="2650" spc="-5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the</a:t>
            </a:r>
            <a:r>
              <a:rPr dirty="0" sz="2650" spc="-8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model’s</a:t>
            </a:r>
            <a:r>
              <a:rPr dirty="0" sz="2650" spc="-5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prediction</a:t>
            </a:r>
            <a:r>
              <a:rPr dirty="0" sz="265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error</a:t>
            </a:r>
            <a:r>
              <a:rPr dirty="0" sz="2650" spc="-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10">
                <a:solidFill>
                  <a:srgbClr val="333333"/>
                </a:solidFill>
                <a:latin typeface="Microsoft Sans Serif"/>
                <a:cs typeface="Microsoft Sans Serif"/>
              </a:rPr>
              <a:t>after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permuting</a:t>
            </a:r>
            <a:r>
              <a:rPr dirty="0" sz="265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the</a:t>
            </a:r>
            <a:r>
              <a:rPr dirty="0" sz="2650" spc="-6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feature.</a:t>
            </a:r>
            <a:r>
              <a:rPr dirty="0" sz="2650" spc="-6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A</a:t>
            </a:r>
            <a:r>
              <a:rPr dirty="0" sz="2650" spc="-8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feature</a:t>
            </a:r>
            <a:r>
              <a:rPr dirty="0" sz="265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is</a:t>
            </a:r>
            <a:r>
              <a:rPr dirty="0" sz="2650" spc="-6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“important”</a:t>
            </a:r>
            <a:r>
              <a:rPr dirty="0" sz="2650" spc="-5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25">
                <a:solidFill>
                  <a:srgbClr val="333333"/>
                </a:solidFill>
                <a:latin typeface="Microsoft Sans Serif"/>
                <a:cs typeface="Microsoft Sans Serif"/>
              </a:rPr>
              <a:t>if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shuffling</a:t>
            </a:r>
            <a:r>
              <a:rPr dirty="0" sz="2650" spc="-5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its</a:t>
            </a:r>
            <a:r>
              <a:rPr dirty="0" sz="2650" spc="-5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values</a:t>
            </a:r>
            <a:r>
              <a:rPr dirty="0" sz="2650" spc="-6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increases</a:t>
            </a:r>
            <a:r>
              <a:rPr dirty="0" sz="2650" spc="-6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the</a:t>
            </a:r>
            <a:r>
              <a:rPr dirty="0" sz="2650" spc="-7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model</a:t>
            </a:r>
            <a:r>
              <a:rPr dirty="0" sz="2650" spc="-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error,</a:t>
            </a:r>
            <a:r>
              <a:rPr dirty="0" sz="2650" spc="-5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10">
                <a:solidFill>
                  <a:srgbClr val="333333"/>
                </a:solidFill>
                <a:latin typeface="Microsoft Sans Serif"/>
                <a:cs typeface="Microsoft Sans Serif"/>
              </a:rPr>
              <a:t>because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in</a:t>
            </a:r>
            <a:r>
              <a:rPr dirty="0" sz="265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this</a:t>
            </a:r>
            <a:r>
              <a:rPr dirty="0" sz="265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case</a:t>
            </a:r>
            <a:r>
              <a:rPr dirty="0" sz="2650" spc="-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the</a:t>
            </a:r>
            <a:r>
              <a:rPr dirty="0" sz="265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model</a:t>
            </a:r>
            <a:r>
              <a:rPr dirty="0" sz="265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relied</a:t>
            </a:r>
            <a:r>
              <a:rPr dirty="0" sz="265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on</a:t>
            </a:r>
            <a:r>
              <a:rPr dirty="0" sz="2650" spc="-5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the</a:t>
            </a:r>
            <a:r>
              <a:rPr dirty="0" sz="265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feature</a:t>
            </a:r>
            <a:r>
              <a:rPr dirty="0" sz="265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for</a:t>
            </a:r>
            <a:r>
              <a:rPr dirty="0" sz="265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25">
                <a:solidFill>
                  <a:srgbClr val="333333"/>
                </a:solidFill>
                <a:latin typeface="Microsoft Sans Serif"/>
                <a:cs typeface="Microsoft Sans Serif"/>
              </a:rPr>
              <a:t>the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prediction.</a:t>
            </a:r>
            <a:r>
              <a:rPr dirty="0" sz="2650" spc="-5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A</a:t>
            </a:r>
            <a:r>
              <a:rPr dirty="0" sz="2650" spc="-9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feature</a:t>
            </a:r>
            <a:r>
              <a:rPr dirty="0" sz="2650" spc="-7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is</a:t>
            </a:r>
            <a:r>
              <a:rPr dirty="0" sz="2650" spc="-7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“unimportant”</a:t>
            </a:r>
            <a:r>
              <a:rPr dirty="0" sz="265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if</a:t>
            </a:r>
            <a:r>
              <a:rPr dirty="0" sz="2650" spc="-7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shuffling</a:t>
            </a:r>
            <a:r>
              <a:rPr dirty="0" sz="2650" spc="-7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25">
                <a:solidFill>
                  <a:srgbClr val="333333"/>
                </a:solidFill>
                <a:latin typeface="Microsoft Sans Serif"/>
                <a:cs typeface="Microsoft Sans Serif"/>
              </a:rPr>
              <a:t>its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values</a:t>
            </a:r>
            <a:r>
              <a:rPr dirty="0" sz="2650" spc="-7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leaves</a:t>
            </a:r>
            <a:r>
              <a:rPr dirty="0" sz="2650" spc="-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the</a:t>
            </a:r>
            <a:r>
              <a:rPr dirty="0" sz="2650" spc="-8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model</a:t>
            </a:r>
            <a:r>
              <a:rPr dirty="0" sz="2650" spc="-5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error</a:t>
            </a:r>
            <a:r>
              <a:rPr dirty="0" sz="2650" spc="-7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unchanged,</a:t>
            </a:r>
            <a:r>
              <a:rPr dirty="0" sz="265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because</a:t>
            </a:r>
            <a:r>
              <a:rPr dirty="0" sz="2650" spc="-6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25">
                <a:solidFill>
                  <a:srgbClr val="333333"/>
                </a:solidFill>
                <a:latin typeface="Microsoft Sans Serif"/>
                <a:cs typeface="Microsoft Sans Serif"/>
              </a:rPr>
              <a:t>in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this</a:t>
            </a:r>
            <a:r>
              <a:rPr dirty="0" sz="265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case</a:t>
            </a:r>
            <a:r>
              <a:rPr dirty="0" sz="2650" spc="-6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the</a:t>
            </a:r>
            <a:r>
              <a:rPr dirty="0" sz="265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model</a:t>
            </a:r>
            <a:r>
              <a:rPr dirty="0" sz="265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ignored</a:t>
            </a:r>
            <a:r>
              <a:rPr dirty="0" sz="265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the</a:t>
            </a:r>
            <a:r>
              <a:rPr dirty="0" sz="2650" spc="-5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feature</a:t>
            </a:r>
            <a:r>
              <a:rPr dirty="0" sz="265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333333"/>
                </a:solidFill>
                <a:latin typeface="Microsoft Sans Serif"/>
                <a:cs typeface="Microsoft Sans Serif"/>
              </a:rPr>
              <a:t>for</a:t>
            </a:r>
            <a:r>
              <a:rPr dirty="0" sz="2650" spc="-5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25">
                <a:solidFill>
                  <a:srgbClr val="333333"/>
                </a:solidFill>
                <a:latin typeface="Microsoft Sans Serif"/>
                <a:cs typeface="Microsoft Sans Serif"/>
              </a:rPr>
              <a:t>the </a:t>
            </a:r>
            <a:r>
              <a:rPr dirty="0" sz="2650" spc="-10">
                <a:solidFill>
                  <a:srgbClr val="333333"/>
                </a:solidFill>
                <a:latin typeface="Microsoft Sans Serif"/>
                <a:cs typeface="Microsoft Sans Serif"/>
              </a:rPr>
              <a:t>prediction.</a:t>
            </a:r>
            <a:endParaRPr sz="26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8635" rIns="0" bIns="0" rtlCol="0" vert="horz">
            <a:spAutoFit/>
          </a:bodyPr>
          <a:lstStyle/>
          <a:p>
            <a:pPr marL="1170940">
              <a:lnSpc>
                <a:spcPct val="100000"/>
              </a:lnSpc>
              <a:spcBef>
                <a:spcPts val="125"/>
              </a:spcBef>
            </a:pPr>
            <a:r>
              <a:rPr dirty="0" sz="2950">
                <a:solidFill>
                  <a:srgbClr val="262672"/>
                </a:solidFill>
                <a:latin typeface="Arial"/>
                <a:cs typeface="Arial"/>
              </a:rPr>
              <a:t>Permutation</a:t>
            </a:r>
            <a:r>
              <a:rPr dirty="0" sz="2950" spc="15">
                <a:solidFill>
                  <a:srgbClr val="262672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262672"/>
                </a:solidFill>
                <a:latin typeface="Arial"/>
                <a:cs typeface="Arial"/>
              </a:rPr>
              <a:t>Feature </a:t>
            </a:r>
            <a:r>
              <a:rPr dirty="0" sz="2950" spc="-10">
                <a:solidFill>
                  <a:srgbClr val="262672"/>
                </a:solidFill>
                <a:latin typeface="Arial"/>
                <a:cs typeface="Arial"/>
              </a:rPr>
              <a:t>Importance</a:t>
            </a:r>
            <a:endParaRPr sz="295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1727" y="1624583"/>
            <a:ext cx="8007095" cy="452323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93490" y="6417055"/>
            <a:ext cx="3592829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Microsoft Sans Serif"/>
                <a:cs typeface="Microsoft Sans Serif"/>
              </a:rPr>
              <a:t>https://youtu.be/VUvShOEFdQo</a:t>
            </a:r>
            <a:endParaRPr sz="1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8635" rIns="0" bIns="0" rtlCol="0" vert="horz">
            <a:spAutoFit/>
          </a:bodyPr>
          <a:lstStyle/>
          <a:p>
            <a:pPr marL="1170940">
              <a:lnSpc>
                <a:spcPct val="100000"/>
              </a:lnSpc>
              <a:spcBef>
                <a:spcPts val="125"/>
              </a:spcBef>
            </a:pPr>
            <a:r>
              <a:rPr dirty="0" sz="2950">
                <a:solidFill>
                  <a:srgbClr val="262672"/>
                </a:solidFill>
                <a:latin typeface="Arial"/>
                <a:cs typeface="Arial"/>
              </a:rPr>
              <a:t>Permutation</a:t>
            </a:r>
            <a:r>
              <a:rPr dirty="0" sz="2950" spc="15">
                <a:solidFill>
                  <a:srgbClr val="262672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262672"/>
                </a:solidFill>
                <a:latin typeface="Arial"/>
                <a:cs typeface="Arial"/>
              </a:rPr>
              <a:t>Feature </a:t>
            </a:r>
            <a:r>
              <a:rPr dirty="0" sz="2950" spc="-10">
                <a:solidFill>
                  <a:srgbClr val="262672"/>
                </a:solidFill>
                <a:latin typeface="Arial"/>
                <a:cs typeface="Arial"/>
              </a:rPr>
              <a:t>Importance</a:t>
            </a:r>
            <a:endParaRPr sz="29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30084" y="1553517"/>
            <a:ext cx="8343265" cy="5522595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296545" indent="-283845">
              <a:lnSpc>
                <a:spcPct val="100000"/>
              </a:lnSpc>
              <a:spcBef>
                <a:spcPts val="1225"/>
              </a:spcBef>
              <a:buChar char="•"/>
              <a:tabLst>
                <a:tab pos="296545" algn="l"/>
              </a:tabLst>
            </a:pPr>
            <a:r>
              <a:rPr dirty="0" sz="2200" spc="-10">
                <a:latin typeface="Lucida Console"/>
                <a:cs typeface="Lucida Console"/>
              </a:rPr>
              <a:t>mlxtend.evaluate.feature_importance_permutation</a:t>
            </a:r>
            <a:endParaRPr sz="2200">
              <a:latin typeface="Lucida Console"/>
              <a:cs typeface="Lucida Console"/>
            </a:endParaRPr>
          </a:p>
          <a:p>
            <a:pPr marL="295910" marR="206375" indent="-283845">
              <a:lnSpc>
                <a:spcPts val="3170"/>
              </a:lnSpc>
              <a:spcBef>
                <a:spcPts val="1465"/>
              </a:spcBef>
              <a:buChar char="•"/>
              <a:tabLst>
                <a:tab pos="295910" algn="l"/>
                <a:tab pos="297180" algn="l"/>
              </a:tabLst>
            </a:pPr>
            <a:r>
              <a:rPr dirty="0" sz="2650">
                <a:latin typeface="Microsoft Sans Serif"/>
                <a:cs typeface="Microsoft Sans Serif"/>
              </a:rPr>
              <a:t>	can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be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used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with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any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classifier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or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regressor,</a:t>
            </a:r>
            <a:r>
              <a:rPr dirty="0" sz="2650" spc="-1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and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 spc="-25">
                <a:latin typeface="Microsoft Sans Serif"/>
                <a:cs typeface="Microsoft Sans Serif"/>
              </a:rPr>
              <a:t>can </a:t>
            </a:r>
            <a:r>
              <a:rPr dirty="0" sz="2650">
                <a:latin typeface="Microsoft Sans Serif"/>
                <a:cs typeface="Microsoft Sans Serif"/>
              </a:rPr>
              <a:t>be</a:t>
            </a:r>
            <a:r>
              <a:rPr dirty="0" sz="2650" spc="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run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on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test</a:t>
            </a:r>
            <a:r>
              <a:rPr dirty="0" sz="2650" spc="-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set as</a:t>
            </a:r>
            <a:r>
              <a:rPr dirty="0" sz="2650" spc="-10">
                <a:latin typeface="Microsoft Sans Serif"/>
                <a:cs typeface="Microsoft Sans Serif"/>
              </a:rPr>
              <a:t> </a:t>
            </a:r>
            <a:r>
              <a:rPr dirty="0" sz="2650" spc="-20">
                <a:latin typeface="Microsoft Sans Serif"/>
                <a:cs typeface="Microsoft Sans Serif"/>
              </a:rPr>
              <a:t>well</a:t>
            </a:r>
            <a:endParaRPr sz="2650">
              <a:latin typeface="Microsoft Sans Serif"/>
              <a:cs typeface="Microsoft Sans Serif"/>
            </a:endParaRPr>
          </a:p>
          <a:p>
            <a:pPr marL="295910" marR="5080" indent="-283845">
              <a:lnSpc>
                <a:spcPts val="3170"/>
              </a:lnSpc>
              <a:spcBef>
                <a:spcPts val="1315"/>
              </a:spcBef>
              <a:buChar char="•"/>
              <a:tabLst>
                <a:tab pos="295910" algn="l"/>
                <a:tab pos="297180" algn="l"/>
              </a:tabLst>
            </a:pPr>
            <a:r>
              <a:rPr dirty="0" sz="2650">
                <a:latin typeface="Microsoft Sans Serif"/>
                <a:cs typeface="Microsoft Sans Serif"/>
              </a:rPr>
              <a:t>	The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default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metric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is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0000"/>
                </a:solidFill>
                <a:latin typeface="Microsoft Sans Serif"/>
                <a:cs typeface="Microsoft Sans Serif"/>
              </a:rPr>
              <a:t>accuracy</a:t>
            </a:r>
            <a:r>
              <a:rPr dirty="0" sz="2650" spc="-5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0000"/>
                </a:solidFill>
                <a:latin typeface="Microsoft Sans Serif"/>
                <a:cs typeface="Microsoft Sans Serif"/>
              </a:rPr>
              <a:t>for</a:t>
            </a:r>
            <a:r>
              <a:rPr dirty="0" sz="2650" spc="-55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0000"/>
                </a:solidFill>
                <a:latin typeface="Microsoft Sans Serif"/>
                <a:cs typeface="Microsoft Sans Serif"/>
              </a:rPr>
              <a:t>classifiers</a:t>
            </a:r>
            <a:r>
              <a:rPr dirty="0" sz="2650" spc="-4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and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0000"/>
                </a:solidFill>
                <a:latin typeface="Microsoft Sans Serif"/>
                <a:cs typeface="Microsoft Sans Serif"/>
              </a:rPr>
              <a:t>r2</a:t>
            </a:r>
            <a:r>
              <a:rPr dirty="0" sz="2650" spc="-65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25">
                <a:solidFill>
                  <a:srgbClr val="FF0000"/>
                </a:solidFill>
                <a:latin typeface="Microsoft Sans Serif"/>
                <a:cs typeface="Microsoft Sans Serif"/>
              </a:rPr>
              <a:t>for </a:t>
            </a:r>
            <a:r>
              <a:rPr dirty="0" sz="2650">
                <a:solidFill>
                  <a:srgbClr val="FF0000"/>
                </a:solidFill>
                <a:latin typeface="Microsoft Sans Serif"/>
                <a:cs typeface="Microsoft Sans Serif"/>
              </a:rPr>
              <a:t>regressors</a:t>
            </a:r>
            <a:r>
              <a:rPr dirty="0" sz="2650">
                <a:latin typeface="Microsoft Sans Serif"/>
                <a:cs typeface="Microsoft Sans Serif"/>
              </a:rPr>
              <a:t>.</a:t>
            </a:r>
            <a:r>
              <a:rPr dirty="0" sz="2650" spc="-8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Optionally,</a:t>
            </a:r>
            <a:r>
              <a:rPr dirty="0" sz="2650" spc="-9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metric=</a:t>
            </a:r>
            <a:r>
              <a:rPr dirty="0" sz="2650" spc="-114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can</a:t>
            </a:r>
            <a:r>
              <a:rPr dirty="0" sz="2650" spc="-9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designate</a:t>
            </a:r>
            <a:r>
              <a:rPr dirty="0" sz="2650" spc="-70">
                <a:latin typeface="Microsoft Sans Serif"/>
                <a:cs typeface="Microsoft Sans Serif"/>
              </a:rPr>
              <a:t> </a:t>
            </a:r>
            <a:r>
              <a:rPr dirty="0" sz="2650" spc="-50">
                <a:latin typeface="Microsoft Sans Serif"/>
                <a:cs typeface="Microsoft Sans Serif"/>
              </a:rPr>
              <a:t>a </a:t>
            </a:r>
            <a:r>
              <a:rPr dirty="0" sz="2650">
                <a:latin typeface="Microsoft Sans Serif"/>
                <a:cs typeface="Microsoft Sans Serif"/>
              </a:rPr>
              <a:t>custom</a:t>
            </a:r>
            <a:r>
              <a:rPr dirty="0" sz="2650" spc="-8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scoring</a:t>
            </a:r>
            <a:r>
              <a:rPr dirty="0" sz="2650" spc="-70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function</a:t>
            </a:r>
            <a:endParaRPr sz="2650">
              <a:latin typeface="Microsoft Sans Serif"/>
              <a:cs typeface="Microsoft Sans Serif"/>
            </a:endParaRPr>
          </a:p>
          <a:p>
            <a:pPr marL="297180" indent="-284480">
              <a:lnSpc>
                <a:spcPct val="100000"/>
              </a:lnSpc>
              <a:spcBef>
                <a:spcPts val="540"/>
              </a:spcBef>
              <a:buChar char="•"/>
              <a:tabLst>
                <a:tab pos="297180" algn="l"/>
              </a:tabLst>
            </a:pPr>
            <a:r>
              <a:rPr dirty="0" sz="2650">
                <a:latin typeface="Microsoft Sans Serif"/>
                <a:cs typeface="Microsoft Sans Serif"/>
              </a:rPr>
              <a:t>It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returns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two</a:t>
            </a:r>
            <a:r>
              <a:rPr dirty="0" sz="2650" spc="-1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arrays:</a:t>
            </a:r>
            <a:endParaRPr sz="2650">
              <a:latin typeface="Microsoft Sans Serif"/>
              <a:cs typeface="Microsoft Sans Serif"/>
            </a:endParaRPr>
          </a:p>
          <a:p>
            <a:pPr lvl="1" marL="623570" marR="421005" indent="-233679">
              <a:lnSpc>
                <a:spcPct val="100000"/>
              </a:lnSpc>
              <a:spcBef>
                <a:spcPts val="665"/>
              </a:spcBef>
              <a:buChar char="–"/>
              <a:tabLst>
                <a:tab pos="624840" algn="l"/>
              </a:tabLst>
            </a:pP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5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first</a:t>
            </a:r>
            <a:r>
              <a:rPr dirty="0" sz="2200" spc="-7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array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contains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actual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importance</a:t>
            </a:r>
            <a:r>
              <a:rPr dirty="0" sz="2200" spc="-5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values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we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 spc="-25">
                <a:latin typeface="Microsoft Sans Serif"/>
                <a:cs typeface="Microsoft Sans Serif"/>
              </a:rPr>
              <a:t>are </a:t>
            </a:r>
            <a:r>
              <a:rPr dirty="0" sz="2200" spc="-25">
                <a:latin typeface="Microsoft Sans Serif"/>
                <a:cs typeface="Microsoft Sans Serif"/>
              </a:rPr>
              <a:t>	</a:t>
            </a:r>
            <a:r>
              <a:rPr dirty="0" sz="2200">
                <a:latin typeface="Microsoft Sans Serif"/>
                <a:cs typeface="Microsoft Sans Serif"/>
              </a:rPr>
              <a:t>interested</a:t>
            </a:r>
            <a:r>
              <a:rPr dirty="0" sz="2200" spc="-110">
                <a:latin typeface="Microsoft Sans Serif"/>
                <a:cs typeface="Microsoft Sans Serif"/>
              </a:rPr>
              <a:t> </a:t>
            </a:r>
            <a:r>
              <a:rPr dirty="0" sz="2200" spc="-25">
                <a:latin typeface="Microsoft Sans Serif"/>
                <a:cs typeface="Microsoft Sans Serif"/>
              </a:rPr>
              <a:t>in.</a:t>
            </a:r>
            <a:endParaRPr sz="2200">
              <a:latin typeface="Microsoft Sans Serif"/>
              <a:cs typeface="Microsoft Sans Serif"/>
            </a:endParaRPr>
          </a:p>
          <a:p>
            <a:pPr lvl="1" marL="623570" marR="5080" indent="-233679">
              <a:lnSpc>
                <a:spcPct val="100000"/>
              </a:lnSpc>
              <a:spcBef>
                <a:spcPts val="660"/>
              </a:spcBef>
              <a:buChar char="–"/>
              <a:tabLst>
                <a:tab pos="624840" algn="l"/>
              </a:tabLst>
            </a:pPr>
            <a:r>
              <a:rPr dirty="0" sz="2200">
                <a:latin typeface="Microsoft Sans Serif"/>
                <a:cs typeface="Microsoft Sans Serif"/>
              </a:rPr>
              <a:t>When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num_rounds</a:t>
            </a:r>
            <a:r>
              <a:rPr dirty="0" sz="2200" spc="-5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&gt;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1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permutation</a:t>
            </a:r>
            <a:r>
              <a:rPr dirty="0" sz="2200" spc="-6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is</a:t>
            </a:r>
            <a:r>
              <a:rPr dirty="0" sz="2200" spc="-5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repeated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multiple </a:t>
            </a:r>
            <a:r>
              <a:rPr dirty="0" sz="2200" spc="-10">
                <a:latin typeface="Microsoft Sans Serif"/>
                <a:cs typeface="Microsoft Sans Serif"/>
              </a:rPr>
              <a:t>	</a:t>
            </a:r>
            <a:r>
              <a:rPr dirty="0" sz="2200">
                <a:latin typeface="Microsoft Sans Serif"/>
                <a:cs typeface="Microsoft Sans Serif"/>
              </a:rPr>
              <a:t>times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with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different</a:t>
            </a:r>
            <a:r>
              <a:rPr dirty="0" sz="2200" spc="-5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random</a:t>
            </a:r>
            <a:r>
              <a:rPr dirty="0" sz="2200" spc="-6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seeds,</a:t>
            </a:r>
            <a:r>
              <a:rPr dirty="0" sz="2200" spc="-5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and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first</a:t>
            </a:r>
            <a:r>
              <a:rPr dirty="0" sz="2200" spc="-5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array</a:t>
            </a:r>
            <a:r>
              <a:rPr dirty="0" sz="2200" spc="-5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holds</a:t>
            </a:r>
            <a:r>
              <a:rPr dirty="0" sz="2200" spc="-55">
                <a:latin typeface="Microsoft Sans Serif"/>
                <a:cs typeface="Microsoft Sans Serif"/>
              </a:rPr>
              <a:t> </a:t>
            </a:r>
            <a:r>
              <a:rPr dirty="0" sz="2200" spc="-25">
                <a:latin typeface="Microsoft Sans Serif"/>
                <a:cs typeface="Microsoft Sans Serif"/>
              </a:rPr>
              <a:t>the </a:t>
            </a:r>
            <a:r>
              <a:rPr dirty="0" sz="2200" spc="-25">
                <a:latin typeface="Microsoft Sans Serif"/>
                <a:cs typeface="Microsoft Sans Serif"/>
              </a:rPr>
              <a:t>	</a:t>
            </a:r>
            <a:r>
              <a:rPr dirty="0" sz="2200">
                <a:latin typeface="Microsoft Sans Serif"/>
                <a:cs typeface="Microsoft Sans Serif"/>
              </a:rPr>
              <a:t>average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of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5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importance</a:t>
            </a:r>
            <a:r>
              <a:rPr dirty="0" sz="2200" spc="-6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values,</a:t>
            </a:r>
            <a:r>
              <a:rPr dirty="0" sz="2200" spc="-6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with</a:t>
            </a:r>
            <a:r>
              <a:rPr dirty="0" sz="2200" spc="-6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all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individual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values </a:t>
            </a:r>
            <a:r>
              <a:rPr dirty="0" sz="2200" spc="-10">
                <a:latin typeface="Microsoft Sans Serif"/>
                <a:cs typeface="Microsoft Sans Serif"/>
              </a:rPr>
              <a:t>	</a:t>
            </a:r>
            <a:r>
              <a:rPr dirty="0" sz="2200">
                <a:latin typeface="Microsoft Sans Serif"/>
                <a:cs typeface="Microsoft Sans Serif"/>
              </a:rPr>
              <a:t>from</a:t>
            </a:r>
            <a:r>
              <a:rPr dirty="0" sz="2200" spc="-5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these</a:t>
            </a:r>
            <a:r>
              <a:rPr dirty="0" sz="2200" spc="-5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runs</a:t>
            </a:r>
            <a:r>
              <a:rPr dirty="0" sz="2200" spc="-1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in</a:t>
            </a:r>
            <a:r>
              <a:rPr dirty="0" sz="2200" spc="-1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1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second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array.</a:t>
            </a:r>
            <a:endParaRPr sz="2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8635" rIns="0" bIns="0" rtlCol="0" vert="horz">
            <a:spAutoFit/>
          </a:bodyPr>
          <a:lstStyle/>
          <a:p>
            <a:pPr marL="1495425">
              <a:lnSpc>
                <a:spcPct val="100000"/>
              </a:lnSpc>
              <a:spcBef>
                <a:spcPts val="125"/>
              </a:spcBef>
            </a:pPr>
            <a:r>
              <a:rPr dirty="0" sz="2950">
                <a:solidFill>
                  <a:srgbClr val="262672"/>
                </a:solidFill>
                <a:latin typeface="Arial"/>
                <a:cs typeface="Arial"/>
              </a:rPr>
              <a:t>Sequential</a:t>
            </a:r>
            <a:r>
              <a:rPr dirty="0" sz="2950" spc="15">
                <a:solidFill>
                  <a:srgbClr val="262672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262672"/>
                </a:solidFill>
                <a:latin typeface="Arial"/>
                <a:cs typeface="Arial"/>
              </a:rPr>
              <a:t>Feature</a:t>
            </a:r>
            <a:r>
              <a:rPr dirty="0" sz="2950" spc="35">
                <a:solidFill>
                  <a:srgbClr val="262672"/>
                </a:solidFill>
                <a:latin typeface="Arial"/>
                <a:cs typeface="Arial"/>
              </a:rPr>
              <a:t> </a:t>
            </a:r>
            <a:r>
              <a:rPr dirty="0" sz="2950" spc="-10">
                <a:solidFill>
                  <a:srgbClr val="262672"/>
                </a:solidFill>
                <a:latin typeface="Arial"/>
                <a:cs typeface="Arial"/>
              </a:rPr>
              <a:t>Selection</a:t>
            </a:r>
            <a:endParaRPr sz="29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9698" y="1532193"/>
            <a:ext cx="8999855" cy="5506085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296545" indent="-283845">
              <a:lnSpc>
                <a:spcPct val="100000"/>
              </a:lnSpc>
              <a:spcBef>
                <a:spcPts val="1225"/>
              </a:spcBef>
              <a:buChar char="•"/>
              <a:tabLst>
                <a:tab pos="296545" algn="l"/>
              </a:tabLst>
            </a:pPr>
            <a:r>
              <a:rPr dirty="0" sz="2200" spc="-10">
                <a:latin typeface="Lucida Console"/>
                <a:cs typeface="Lucida Console"/>
              </a:rPr>
              <a:t>mlxtend.feature_selection.SequentialFeatureSelector</a:t>
            </a:r>
            <a:endParaRPr sz="2200">
              <a:latin typeface="Lucida Console"/>
              <a:cs typeface="Lucida Console"/>
            </a:endParaRPr>
          </a:p>
          <a:p>
            <a:pPr marL="295910" marR="5080" indent="-283845">
              <a:lnSpc>
                <a:spcPts val="3170"/>
              </a:lnSpc>
              <a:spcBef>
                <a:spcPts val="1465"/>
              </a:spcBef>
              <a:buChar char="•"/>
              <a:tabLst>
                <a:tab pos="295910" algn="l"/>
                <a:tab pos="297180" algn="l"/>
              </a:tabLst>
            </a:pPr>
            <a:r>
              <a:rPr dirty="0" sz="2650">
                <a:latin typeface="Microsoft Sans Serif"/>
                <a:cs typeface="Microsoft Sans Serif"/>
              </a:rPr>
              <a:t>	Sequential</a:t>
            </a:r>
            <a:r>
              <a:rPr dirty="0" sz="2650" spc="-7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feature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selection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algorithms</a:t>
            </a:r>
            <a:r>
              <a:rPr dirty="0" sz="2650" spc="-7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remove</a:t>
            </a:r>
            <a:r>
              <a:rPr dirty="0" sz="2650" spc="-8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or</a:t>
            </a:r>
            <a:r>
              <a:rPr dirty="0" sz="2650" spc="-9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add</a:t>
            </a:r>
            <a:r>
              <a:rPr dirty="0" sz="2650" spc="-80">
                <a:latin typeface="Microsoft Sans Serif"/>
                <a:cs typeface="Microsoft Sans Serif"/>
              </a:rPr>
              <a:t> </a:t>
            </a:r>
            <a:r>
              <a:rPr dirty="0" sz="2650" spc="-25">
                <a:latin typeface="Microsoft Sans Serif"/>
                <a:cs typeface="Microsoft Sans Serif"/>
              </a:rPr>
              <a:t>one </a:t>
            </a:r>
            <a:r>
              <a:rPr dirty="0" sz="2650">
                <a:latin typeface="Microsoft Sans Serif"/>
                <a:cs typeface="Microsoft Sans Serif"/>
              </a:rPr>
              <a:t>feature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at</a:t>
            </a:r>
            <a:r>
              <a:rPr dirty="0" sz="2650" spc="-7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</a:t>
            </a:r>
            <a:r>
              <a:rPr dirty="0" sz="2650" spc="-6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time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based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on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6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classifier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performance</a:t>
            </a:r>
            <a:r>
              <a:rPr dirty="0" sz="2650" spc="-1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until </a:t>
            </a:r>
            <a:r>
              <a:rPr dirty="0" sz="2650">
                <a:latin typeface="Microsoft Sans Serif"/>
                <a:cs typeface="Microsoft Sans Serif"/>
              </a:rPr>
              <a:t>a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feature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subset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of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desired</a:t>
            </a:r>
            <a:r>
              <a:rPr dirty="0" sz="2650" spc="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size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is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reached.</a:t>
            </a:r>
            <a:endParaRPr sz="2650">
              <a:latin typeface="Microsoft Sans Serif"/>
              <a:cs typeface="Microsoft Sans Serif"/>
            </a:endParaRPr>
          </a:p>
          <a:p>
            <a:pPr marL="295910" marR="233045" indent="-283845">
              <a:lnSpc>
                <a:spcPts val="3170"/>
              </a:lnSpc>
              <a:spcBef>
                <a:spcPts val="1315"/>
              </a:spcBef>
              <a:buChar char="•"/>
              <a:tabLst>
                <a:tab pos="295910" algn="l"/>
                <a:tab pos="297180" algn="l"/>
              </a:tabLst>
            </a:pPr>
            <a:r>
              <a:rPr dirty="0" sz="2650">
                <a:latin typeface="Microsoft Sans Serif"/>
                <a:cs typeface="Microsoft Sans Serif"/>
              </a:rPr>
              <a:t>	Features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are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selected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based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on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</a:t>
            </a:r>
            <a:r>
              <a:rPr dirty="0" sz="2650" spc="-8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performance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metric </a:t>
            </a:r>
            <a:r>
              <a:rPr dirty="0" sz="2650">
                <a:latin typeface="Microsoft Sans Serif"/>
                <a:cs typeface="Microsoft Sans Serif"/>
              </a:rPr>
              <a:t>hyperparameter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 i="1">
                <a:latin typeface="Arial"/>
                <a:cs typeface="Arial"/>
              </a:rPr>
              <a:t>(like</a:t>
            </a:r>
            <a:r>
              <a:rPr dirty="0" sz="2650" spc="-135" i="1">
                <a:latin typeface="Arial"/>
                <a:cs typeface="Arial"/>
              </a:rPr>
              <a:t> </a:t>
            </a:r>
            <a:r>
              <a:rPr dirty="0" sz="2650" i="1">
                <a:latin typeface="Arial"/>
                <a:cs typeface="Arial"/>
              </a:rPr>
              <a:t>accuracy</a:t>
            </a:r>
            <a:r>
              <a:rPr dirty="0" sz="2650" spc="-100" i="1">
                <a:latin typeface="Arial"/>
                <a:cs typeface="Arial"/>
              </a:rPr>
              <a:t> </a:t>
            </a:r>
            <a:r>
              <a:rPr dirty="0" sz="2650" i="1">
                <a:latin typeface="Arial"/>
                <a:cs typeface="Arial"/>
              </a:rPr>
              <a:t>or</a:t>
            </a:r>
            <a:r>
              <a:rPr dirty="0" sz="2650" spc="-120" i="1">
                <a:latin typeface="Arial"/>
                <a:cs typeface="Arial"/>
              </a:rPr>
              <a:t> </a:t>
            </a:r>
            <a:r>
              <a:rPr dirty="0" sz="2650" i="1">
                <a:latin typeface="Arial"/>
                <a:cs typeface="Arial"/>
              </a:rPr>
              <a:t>AUC_ROC)</a:t>
            </a:r>
            <a:r>
              <a:rPr dirty="0" sz="2650" spc="-110" i="1">
                <a:latin typeface="Arial"/>
                <a:cs typeface="Arial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rather</a:t>
            </a:r>
            <a:r>
              <a:rPr dirty="0" sz="2650" spc="-70">
                <a:latin typeface="Microsoft Sans Serif"/>
                <a:cs typeface="Microsoft Sans Serif"/>
              </a:rPr>
              <a:t> </a:t>
            </a:r>
            <a:r>
              <a:rPr dirty="0" sz="2650" spc="-20">
                <a:latin typeface="Microsoft Sans Serif"/>
                <a:cs typeface="Microsoft Sans Serif"/>
              </a:rPr>
              <a:t>than </a:t>
            </a:r>
            <a:r>
              <a:rPr dirty="0" sz="2650">
                <a:latin typeface="Microsoft Sans Serif"/>
                <a:cs typeface="Microsoft Sans Serif"/>
              </a:rPr>
              <a:t>feature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weight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coefficients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 i="1">
                <a:latin typeface="Arial"/>
                <a:cs typeface="Arial"/>
              </a:rPr>
              <a:t>(</a:t>
            </a:r>
            <a:r>
              <a:rPr dirty="0" sz="2650" spc="-100" i="1">
                <a:latin typeface="Arial"/>
                <a:cs typeface="Arial"/>
              </a:rPr>
              <a:t> </a:t>
            </a:r>
            <a:r>
              <a:rPr dirty="0" sz="2650" i="1">
                <a:latin typeface="Arial"/>
                <a:cs typeface="Arial"/>
              </a:rPr>
              <a:t>coef_</a:t>
            </a:r>
            <a:r>
              <a:rPr dirty="0" sz="2650" spc="-110" i="1">
                <a:latin typeface="Arial"/>
                <a:cs typeface="Arial"/>
              </a:rPr>
              <a:t> </a:t>
            </a:r>
            <a:r>
              <a:rPr dirty="0" sz="2650" spc="-50" i="1">
                <a:latin typeface="Arial"/>
                <a:cs typeface="Arial"/>
              </a:rPr>
              <a:t>)</a:t>
            </a:r>
            <a:endParaRPr sz="2650">
              <a:latin typeface="Arial"/>
              <a:cs typeface="Arial"/>
            </a:endParaRPr>
          </a:p>
          <a:p>
            <a:pPr algn="just" marL="295910" marR="116839" indent="-283845">
              <a:lnSpc>
                <a:spcPts val="3170"/>
              </a:lnSpc>
              <a:spcBef>
                <a:spcPts val="1315"/>
              </a:spcBef>
              <a:buChar char="•"/>
              <a:tabLst>
                <a:tab pos="295910" algn="l"/>
              </a:tabLst>
            </a:pPr>
            <a:r>
              <a:rPr dirty="0" sz="2650">
                <a:latin typeface="Microsoft Sans Serif"/>
                <a:cs typeface="Microsoft Sans Serif"/>
              </a:rPr>
              <a:t>Each</a:t>
            </a:r>
            <a:r>
              <a:rPr dirty="0" sz="2650" spc="-8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feature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importance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value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has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both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</a:t>
            </a:r>
            <a:r>
              <a:rPr dirty="0" sz="2650" spc="-8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magnitude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 spc="-25">
                <a:latin typeface="Microsoft Sans Serif"/>
                <a:cs typeface="Microsoft Sans Serif"/>
              </a:rPr>
              <a:t>and </a:t>
            </a:r>
            <a:r>
              <a:rPr dirty="0" sz="2650">
                <a:latin typeface="Microsoft Sans Serif"/>
                <a:cs typeface="Microsoft Sans Serif"/>
              </a:rPr>
              <a:t>a</a:t>
            </a:r>
            <a:r>
              <a:rPr dirty="0" sz="2650" spc="-9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direction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(positive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or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negative),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which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indicate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how</a:t>
            </a:r>
            <a:r>
              <a:rPr dirty="0" sz="2650" spc="-80">
                <a:latin typeface="Microsoft Sans Serif"/>
                <a:cs typeface="Microsoft Sans Serif"/>
              </a:rPr>
              <a:t> </a:t>
            </a:r>
            <a:r>
              <a:rPr dirty="0" sz="2650" spc="-20">
                <a:latin typeface="Microsoft Sans Serif"/>
                <a:cs typeface="Microsoft Sans Serif"/>
              </a:rPr>
              <a:t>each </a:t>
            </a:r>
            <a:r>
              <a:rPr dirty="0" sz="2650">
                <a:latin typeface="Microsoft Sans Serif"/>
                <a:cs typeface="Microsoft Sans Serif"/>
              </a:rPr>
              <a:t>feature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affects</a:t>
            </a:r>
            <a:r>
              <a:rPr dirty="0" sz="2650" spc="-6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</a:t>
            </a:r>
            <a:r>
              <a:rPr dirty="0" sz="2650" spc="-8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particular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prediction.</a:t>
            </a:r>
            <a:endParaRPr sz="2650">
              <a:latin typeface="Microsoft Sans Serif"/>
              <a:cs typeface="Microsoft Sans Serif"/>
            </a:endParaRPr>
          </a:p>
          <a:p>
            <a:pPr algn="just" marL="624840" marR="434340" indent="-234950">
              <a:lnSpc>
                <a:spcPct val="100499"/>
              </a:lnSpc>
              <a:spcBef>
                <a:spcPts val="1210"/>
              </a:spcBef>
            </a:pPr>
            <a:r>
              <a:rPr dirty="0" sz="2300" spc="605">
                <a:latin typeface="Microsoft Sans Serif"/>
                <a:cs typeface="Microsoft Sans Serif"/>
              </a:rPr>
              <a:t>–</a:t>
            </a:r>
            <a:r>
              <a:rPr dirty="0" sz="2300" spc="-4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A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negative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value</a:t>
            </a:r>
            <a:r>
              <a:rPr dirty="0" sz="2300" spc="5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means</a:t>
            </a:r>
            <a:r>
              <a:rPr dirty="0" sz="2300" spc="2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that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feature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makes</a:t>
            </a:r>
            <a:r>
              <a:rPr dirty="0" sz="2300" spc="1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the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loss</a:t>
            </a:r>
            <a:r>
              <a:rPr dirty="0" sz="2300" spc="2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go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up;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 spc="-25">
                <a:latin typeface="Microsoft Sans Serif"/>
                <a:cs typeface="Microsoft Sans Serif"/>
              </a:rPr>
              <a:t>in </a:t>
            </a:r>
            <a:r>
              <a:rPr dirty="0" sz="2300">
                <a:latin typeface="Microsoft Sans Serif"/>
                <a:cs typeface="Microsoft Sans Serif"/>
              </a:rPr>
              <a:t>other</a:t>
            </a:r>
            <a:r>
              <a:rPr dirty="0" sz="2300" spc="4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words,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the</a:t>
            </a:r>
            <a:r>
              <a:rPr dirty="0" sz="2300" spc="4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feature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is</a:t>
            </a:r>
            <a:r>
              <a:rPr dirty="0" sz="2300" spc="5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worse</a:t>
            </a:r>
            <a:r>
              <a:rPr dirty="0" sz="2300" spc="2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than</a:t>
            </a:r>
            <a:r>
              <a:rPr dirty="0" sz="2300" spc="15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noise</a:t>
            </a:r>
            <a:endParaRPr sz="2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8635" rIns="0" bIns="0" rtlCol="0" vert="horz">
            <a:spAutoFit/>
          </a:bodyPr>
          <a:lstStyle/>
          <a:p>
            <a:pPr marL="1853564">
              <a:lnSpc>
                <a:spcPct val="100000"/>
              </a:lnSpc>
              <a:spcBef>
                <a:spcPts val="125"/>
              </a:spcBef>
            </a:pPr>
            <a:r>
              <a:rPr dirty="0" sz="2950">
                <a:solidFill>
                  <a:srgbClr val="262672"/>
                </a:solidFill>
                <a:latin typeface="Arial"/>
                <a:cs typeface="Arial"/>
              </a:rPr>
              <a:t>Sequential</a:t>
            </a:r>
            <a:r>
              <a:rPr dirty="0" sz="2950" spc="15">
                <a:solidFill>
                  <a:srgbClr val="262672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262672"/>
                </a:solidFill>
                <a:latin typeface="Arial"/>
                <a:cs typeface="Arial"/>
              </a:rPr>
              <a:t>Feature</a:t>
            </a:r>
            <a:r>
              <a:rPr dirty="0" sz="2950" spc="35">
                <a:solidFill>
                  <a:srgbClr val="262672"/>
                </a:solidFill>
                <a:latin typeface="Arial"/>
                <a:cs typeface="Arial"/>
              </a:rPr>
              <a:t> </a:t>
            </a:r>
            <a:r>
              <a:rPr dirty="0" sz="2950" spc="-10">
                <a:solidFill>
                  <a:srgbClr val="262672"/>
                </a:solidFill>
                <a:latin typeface="Arial"/>
                <a:cs typeface="Arial"/>
              </a:rPr>
              <a:t>Selection</a:t>
            </a:r>
            <a:endParaRPr sz="295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072" y="1674876"/>
            <a:ext cx="8621267" cy="486917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24651" y="6752252"/>
            <a:ext cx="346710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Microsoft Sans Serif"/>
                <a:cs typeface="Microsoft Sans Serif"/>
              </a:rPr>
              <a:t>https://youtu.be/0vCXcGJg5Bo</a:t>
            </a:r>
            <a:endParaRPr sz="1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251812" y="7433663"/>
            <a:ext cx="71818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>
                <a:latin typeface="Microsoft Sans Serif"/>
                <a:cs typeface="Microsoft Sans Serif"/>
              </a:rPr>
              <a:t>Slide</a:t>
            </a:r>
            <a:r>
              <a:rPr dirty="0" sz="850" spc="50">
                <a:latin typeface="Microsoft Sans Serif"/>
                <a:cs typeface="Microsoft Sans Serif"/>
              </a:rPr>
              <a:t> </a:t>
            </a:r>
            <a:r>
              <a:rPr dirty="0" sz="850">
                <a:latin typeface="Microsoft Sans Serif"/>
                <a:cs typeface="Microsoft Sans Serif"/>
              </a:rPr>
              <a:t>&lt;#&gt;</a:t>
            </a:r>
            <a:r>
              <a:rPr dirty="0" sz="850" spc="40">
                <a:latin typeface="Microsoft Sans Serif"/>
                <a:cs typeface="Microsoft Sans Serif"/>
              </a:rPr>
              <a:t> </a:t>
            </a:r>
            <a:r>
              <a:rPr dirty="0" sz="850">
                <a:latin typeface="Microsoft Sans Serif"/>
                <a:cs typeface="Microsoft Sans Serif"/>
              </a:rPr>
              <a:t>of</a:t>
            </a:r>
            <a:r>
              <a:rPr dirty="0" sz="850" spc="55">
                <a:latin typeface="Microsoft Sans Serif"/>
                <a:cs typeface="Microsoft Sans Serif"/>
              </a:rPr>
              <a:t> </a:t>
            </a:r>
            <a:r>
              <a:rPr dirty="0" sz="850" spc="-50">
                <a:latin typeface="Microsoft Sans Serif"/>
                <a:cs typeface="Microsoft Sans Serif"/>
              </a:rPr>
              <a:t>9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112645">
              <a:lnSpc>
                <a:spcPct val="100000"/>
              </a:lnSpc>
              <a:spcBef>
                <a:spcPts val="125"/>
              </a:spcBef>
            </a:pPr>
            <a:r>
              <a:rPr dirty="0" sz="2950">
                <a:solidFill>
                  <a:srgbClr val="262672"/>
                </a:solidFill>
                <a:latin typeface="Arial"/>
                <a:cs typeface="Arial"/>
              </a:rPr>
              <a:t>Sequential</a:t>
            </a:r>
            <a:r>
              <a:rPr dirty="0" sz="2950" spc="15">
                <a:solidFill>
                  <a:srgbClr val="262672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262672"/>
                </a:solidFill>
                <a:latin typeface="Arial"/>
                <a:cs typeface="Arial"/>
              </a:rPr>
              <a:t>Feature</a:t>
            </a:r>
            <a:r>
              <a:rPr dirty="0" sz="2950" spc="35">
                <a:solidFill>
                  <a:srgbClr val="262672"/>
                </a:solidFill>
                <a:latin typeface="Arial"/>
                <a:cs typeface="Arial"/>
              </a:rPr>
              <a:t> </a:t>
            </a:r>
            <a:r>
              <a:rPr dirty="0" sz="2950" spc="-10">
                <a:solidFill>
                  <a:srgbClr val="262672"/>
                </a:solidFill>
                <a:latin typeface="Arial"/>
                <a:cs typeface="Arial"/>
              </a:rPr>
              <a:t>Selection</a:t>
            </a:r>
            <a:endParaRPr sz="29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599697" y="4941822"/>
            <a:ext cx="1973580" cy="1534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Microsoft Sans Serif"/>
                <a:cs typeface="Microsoft Sans Serif"/>
                <a:hlinkClick r:id="rId2"/>
              </a:rPr>
              <a:t>http://rasbt.github</a:t>
            </a:r>
            <a:endParaRPr sz="1950">
              <a:latin typeface="Microsoft Sans Serif"/>
              <a:cs typeface="Microsoft Sans Serif"/>
            </a:endParaRPr>
          </a:p>
          <a:p>
            <a:pPr algn="just" marL="12700" marR="20955">
              <a:lnSpc>
                <a:spcPct val="101499"/>
              </a:lnSpc>
            </a:pPr>
            <a:r>
              <a:rPr dirty="0" u="sng" sz="195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Microsoft Sans Serif"/>
                <a:cs typeface="Microsoft Sans Serif"/>
              </a:rPr>
              <a:t>.io/mlxtend/user_</a:t>
            </a:r>
            <a:r>
              <a:rPr dirty="0" sz="1950" spc="-10">
                <a:solidFill>
                  <a:srgbClr val="009999"/>
                </a:solidFill>
                <a:latin typeface="Microsoft Sans Serif"/>
                <a:cs typeface="Microsoft Sans Serif"/>
              </a:rPr>
              <a:t> </a:t>
            </a:r>
            <a:r>
              <a:rPr dirty="0" u="sng" sz="195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Microsoft Sans Serif"/>
                <a:cs typeface="Microsoft Sans Serif"/>
              </a:rPr>
              <a:t>guide/feature_sel</a:t>
            </a:r>
            <a:r>
              <a:rPr dirty="0" sz="1950" spc="-10">
                <a:solidFill>
                  <a:srgbClr val="009999"/>
                </a:solidFill>
                <a:latin typeface="Microsoft Sans Serif"/>
                <a:cs typeface="Microsoft Sans Serif"/>
              </a:rPr>
              <a:t> </a:t>
            </a:r>
            <a:r>
              <a:rPr dirty="0" u="sng" sz="195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Microsoft Sans Serif"/>
                <a:cs typeface="Microsoft Sans Serif"/>
              </a:rPr>
              <a:t>ection/Sequential</a:t>
            </a:r>
            <a:r>
              <a:rPr dirty="0" sz="1950" spc="-10">
                <a:solidFill>
                  <a:srgbClr val="009999"/>
                </a:solidFill>
                <a:latin typeface="Microsoft Sans Serif"/>
                <a:cs typeface="Microsoft Sans Serif"/>
              </a:rPr>
              <a:t> </a:t>
            </a:r>
            <a:r>
              <a:rPr dirty="0" u="sng" sz="195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Microsoft Sans Serif"/>
                <a:cs typeface="Microsoft Sans Serif"/>
              </a:rPr>
              <a:t>FeatureSelector/</a:t>
            </a:r>
            <a:endParaRPr sz="1950">
              <a:latin typeface="Microsoft Sans Serif"/>
              <a:cs typeface="Microsoft Sans Serif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6594" y="1175283"/>
            <a:ext cx="4987501" cy="611414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8635" rIns="0" bIns="0" rtlCol="0" vert="horz">
            <a:spAutoFit/>
          </a:bodyPr>
          <a:lstStyle/>
          <a:p>
            <a:pPr marL="3004185">
              <a:lnSpc>
                <a:spcPct val="100000"/>
              </a:lnSpc>
              <a:spcBef>
                <a:spcPts val="125"/>
              </a:spcBef>
            </a:pPr>
            <a:r>
              <a:rPr dirty="0" sz="2950" spc="-10">
                <a:solidFill>
                  <a:srgbClr val="262672"/>
                </a:solidFill>
                <a:latin typeface="Arial"/>
                <a:cs typeface="Arial"/>
              </a:rPr>
              <a:t>Resampling</a:t>
            </a:r>
            <a:endParaRPr sz="29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20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/>
              <a:t>General</a:t>
            </a:r>
            <a:r>
              <a:rPr dirty="0" spc="-110"/>
              <a:t> </a:t>
            </a:r>
            <a:r>
              <a:rPr dirty="0" spc="-10"/>
              <a:t>Principle</a:t>
            </a:r>
          </a:p>
          <a:p>
            <a:pPr marL="297180" indent="-284480">
              <a:lnSpc>
                <a:spcPct val="100000"/>
              </a:lnSpc>
              <a:spcBef>
                <a:spcPts val="625"/>
              </a:spcBef>
              <a:buChar char="•"/>
              <a:tabLst>
                <a:tab pos="297180" algn="l"/>
              </a:tabLst>
            </a:pP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Purpose</a:t>
            </a:r>
            <a:r>
              <a:rPr dirty="0" spc="-2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of</a:t>
            </a:r>
            <a:r>
              <a:rPr dirty="0" spc="-2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the</a:t>
            </a:r>
            <a:r>
              <a:rPr dirty="0" spc="-3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>
                <a:solidFill>
                  <a:srgbClr val="000000"/>
                </a:solidFill>
              </a:rPr>
              <a:t>test</a:t>
            </a:r>
            <a:r>
              <a:rPr dirty="0" spc="-60">
                <a:solidFill>
                  <a:srgbClr val="000000"/>
                </a:solidFill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set</a:t>
            </a:r>
            <a:r>
              <a:rPr dirty="0" spc="-2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is</a:t>
            </a:r>
            <a:r>
              <a:rPr dirty="0" spc="-5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to</a:t>
            </a:r>
            <a:r>
              <a:rPr dirty="0" spc="-4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represent</a:t>
            </a:r>
            <a:r>
              <a:rPr dirty="0" spc="-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the</a:t>
            </a:r>
            <a:r>
              <a:rPr dirty="0" spc="-4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pc="-10" b="0" i="1">
                <a:solidFill>
                  <a:srgbClr val="000000"/>
                </a:solidFill>
                <a:latin typeface="Arial"/>
                <a:cs typeface="Arial"/>
              </a:rPr>
              <a:t>population</a:t>
            </a:r>
          </a:p>
          <a:p>
            <a:pPr marL="295910" marR="5080" indent="-283845">
              <a:lnSpc>
                <a:spcPts val="3170"/>
              </a:lnSpc>
              <a:spcBef>
                <a:spcPts val="1420"/>
              </a:spcBef>
              <a:buChar char="•"/>
              <a:tabLst>
                <a:tab pos="295910" algn="l"/>
                <a:tab pos="297180" algn="l"/>
              </a:tabLst>
            </a:pP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	Purpose</a:t>
            </a:r>
            <a:r>
              <a:rPr dirty="0" spc="-3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of</a:t>
            </a:r>
            <a:r>
              <a:rPr dirty="0" spc="-2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the</a:t>
            </a:r>
            <a:r>
              <a:rPr dirty="0" spc="-3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>
                <a:solidFill>
                  <a:srgbClr val="000000"/>
                </a:solidFill>
              </a:rPr>
              <a:t>train</a:t>
            </a:r>
            <a:r>
              <a:rPr dirty="0" spc="-70">
                <a:solidFill>
                  <a:srgbClr val="000000"/>
                </a:solidFill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set</a:t>
            </a:r>
            <a:r>
              <a:rPr dirty="0" spc="-3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is</a:t>
            </a:r>
            <a:r>
              <a:rPr dirty="0" spc="-3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to</a:t>
            </a:r>
            <a:r>
              <a:rPr dirty="0" spc="-5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represent</a:t>
            </a:r>
            <a:r>
              <a:rPr dirty="0" spc="1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the</a:t>
            </a:r>
            <a:r>
              <a:rPr dirty="0" spc="-5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spc="-10" b="0" i="1">
                <a:solidFill>
                  <a:srgbClr val="000000"/>
                </a:solidFill>
                <a:latin typeface="Arial"/>
                <a:cs typeface="Arial"/>
              </a:rPr>
              <a:t>characteristics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dirty="0" spc="-45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dirty="0" spc="-35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pc="-10" b="0" i="1">
                <a:solidFill>
                  <a:srgbClr val="000000"/>
                </a:solidFill>
                <a:latin typeface="Arial"/>
                <a:cs typeface="Arial"/>
              </a:rPr>
              <a:t>classes</a:t>
            </a: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spc="-25"/>
              <a:t>So:</a:t>
            </a:r>
          </a:p>
          <a:p>
            <a:pPr marL="295910" marR="368300" indent="-283845">
              <a:lnSpc>
                <a:spcPts val="3170"/>
              </a:lnSpc>
              <a:spcBef>
                <a:spcPts val="735"/>
              </a:spcBef>
              <a:buChar char="•"/>
              <a:tabLst>
                <a:tab pos="295910" algn="l"/>
                <a:tab pos="297180" algn="l"/>
              </a:tabLst>
            </a:pP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	An</a:t>
            </a:r>
            <a:r>
              <a:rPr dirty="0" spc="-3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imbalanced</a:t>
            </a:r>
            <a:r>
              <a:rPr dirty="0" spc="-2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>
                <a:solidFill>
                  <a:srgbClr val="000000"/>
                </a:solidFill>
              </a:rPr>
              <a:t>test</a:t>
            </a:r>
            <a:r>
              <a:rPr dirty="0" spc="-60">
                <a:solidFill>
                  <a:srgbClr val="000000"/>
                </a:solidFill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set</a:t>
            </a:r>
            <a:r>
              <a:rPr dirty="0" spc="-3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is</a:t>
            </a:r>
            <a:r>
              <a:rPr dirty="0" spc="-4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fine</a:t>
            </a:r>
            <a:r>
              <a:rPr dirty="0" spc="-3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pc="-90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some</a:t>
            </a:r>
            <a:r>
              <a:rPr dirty="0" spc="-65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classes</a:t>
            </a:r>
            <a:r>
              <a:rPr dirty="0" spc="-75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pc="-10" b="0" i="1">
                <a:solidFill>
                  <a:srgbClr val="000000"/>
                </a:solidFill>
                <a:latin typeface="Arial"/>
                <a:cs typeface="Arial"/>
              </a:rPr>
              <a:t>naturally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occur</a:t>
            </a:r>
            <a:r>
              <a:rPr dirty="0" spc="-105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more</a:t>
            </a:r>
            <a:r>
              <a:rPr dirty="0" spc="-65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frequently</a:t>
            </a:r>
            <a:r>
              <a:rPr dirty="0" spc="-75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than</a:t>
            </a:r>
            <a:r>
              <a:rPr dirty="0" spc="-90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pc="-10" b="0" i="1">
                <a:solidFill>
                  <a:srgbClr val="000000"/>
                </a:solidFill>
                <a:latin typeface="Arial"/>
                <a:cs typeface="Arial"/>
              </a:rPr>
              <a:t>others</a:t>
            </a:r>
          </a:p>
          <a:p>
            <a:pPr marL="295910" marR="142240" indent="-283845">
              <a:lnSpc>
                <a:spcPts val="3170"/>
              </a:lnSpc>
              <a:spcBef>
                <a:spcPts val="1305"/>
              </a:spcBef>
              <a:buChar char="•"/>
              <a:tabLst>
                <a:tab pos="295910" algn="l"/>
                <a:tab pos="297180" algn="l"/>
              </a:tabLst>
            </a:pP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	An</a:t>
            </a:r>
            <a:r>
              <a:rPr dirty="0" spc="-3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imbalanced</a:t>
            </a:r>
            <a:r>
              <a:rPr dirty="0" spc="-1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>
                <a:solidFill>
                  <a:srgbClr val="000000"/>
                </a:solidFill>
              </a:rPr>
              <a:t>train</a:t>
            </a:r>
            <a:r>
              <a:rPr dirty="0" spc="-60">
                <a:solidFill>
                  <a:srgbClr val="000000"/>
                </a:solidFill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set</a:t>
            </a:r>
            <a:r>
              <a:rPr dirty="0" spc="-3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is</a:t>
            </a:r>
            <a:r>
              <a:rPr dirty="0" spc="-3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a</a:t>
            </a:r>
            <a:r>
              <a:rPr dirty="0" spc="-50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>
                <a:solidFill>
                  <a:srgbClr val="000000"/>
                </a:solidFill>
                <a:latin typeface="Microsoft Sans Serif"/>
                <a:cs typeface="Microsoft Sans Serif"/>
              </a:rPr>
              <a:t>problem</a:t>
            </a:r>
            <a:r>
              <a:rPr dirty="0" spc="-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pc="-85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there</a:t>
            </a:r>
            <a:r>
              <a:rPr dirty="0" spc="-60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are</a:t>
            </a:r>
            <a:r>
              <a:rPr dirty="0" spc="-85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pc="-25" b="0" i="1">
                <a:solidFill>
                  <a:srgbClr val="000000"/>
                </a:solidFill>
                <a:latin typeface="Arial"/>
                <a:cs typeface="Arial"/>
              </a:rPr>
              <a:t>not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enough</a:t>
            </a:r>
            <a:r>
              <a:rPr dirty="0" spc="-65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observations</a:t>
            </a:r>
            <a:r>
              <a:rPr dirty="0" spc="-70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dirty="0" spc="-114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some</a:t>
            </a:r>
            <a:r>
              <a:rPr dirty="0" spc="-85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classes</a:t>
            </a:r>
            <a:r>
              <a:rPr dirty="0" spc="-90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dirty="0" spc="-110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distinguish</a:t>
            </a:r>
            <a:r>
              <a:rPr dirty="0" spc="-85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pc="-10" b="0" i="1">
                <a:solidFill>
                  <a:srgbClr val="000000"/>
                </a:solidFill>
                <a:latin typeface="Arial"/>
                <a:cs typeface="Arial"/>
              </a:rPr>
              <a:t>their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unique</a:t>
            </a:r>
            <a:r>
              <a:rPr dirty="0" spc="-75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pc="-10" b="0" i="1">
                <a:solidFill>
                  <a:srgbClr val="000000"/>
                </a:solidFill>
                <a:latin typeface="Arial"/>
                <a:cs typeface="Arial"/>
              </a:rPr>
              <a:t>characteristics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8635" rIns="0" bIns="0" rtlCol="0" vert="horz">
            <a:spAutoFit/>
          </a:bodyPr>
          <a:lstStyle/>
          <a:p>
            <a:pPr marL="2039620">
              <a:lnSpc>
                <a:spcPct val="100000"/>
              </a:lnSpc>
              <a:spcBef>
                <a:spcPts val="125"/>
              </a:spcBef>
            </a:pPr>
            <a:r>
              <a:rPr dirty="0" sz="2950">
                <a:solidFill>
                  <a:srgbClr val="262672"/>
                </a:solidFill>
                <a:latin typeface="Arial"/>
                <a:cs typeface="Arial"/>
              </a:rPr>
              <a:t>Resampling</a:t>
            </a:r>
            <a:r>
              <a:rPr dirty="0" sz="2950" spc="10">
                <a:solidFill>
                  <a:srgbClr val="262672"/>
                </a:solidFill>
                <a:latin typeface="Arial"/>
                <a:cs typeface="Arial"/>
              </a:rPr>
              <a:t> </a:t>
            </a:r>
            <a:r>
              <a:rPr dirty="0" sz="2950" spc="-10">
                <a:solidFill>
                  <a:srgbClr val="262672"/>
                </a:solidFill>
                <a:latin typeface="Arial"/>
                <a:cs typeface="Arial"/>
              </a:rPr>
              <a:t>Strategies</a:t>
            </a:r>
            <a:endParaRPr sz="295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43" y="2481072"/>
            <a:ext cx="9572243" cy="314610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68294" y="6996098"/>
            <a:ext cx="923671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>
                <a:latin typeface="Microsoft Sans Serif"/>
                <a:cs typeface="Microsoft Sans Serif"/>
              </a:rPr>
              <a:t>https://</a:t>
            </a:r>
            <a:r>
              <a:rPr dirty="0" sz="1950">
                <a:latin typeface="Microsoft Sans Serif"/>
                <a:cs typeface="Microsoft Sans Serif"/>
                <a:hlinkClick r:id="rId3"/>
              </a:rPr>
              <a:t>www.kaggle.com/code/rafjaa/resampling-strategies-for-imbalanced-</a:t>
            </a:r>
            <a:r>
              <a:rPr dirty="0" sz="1950" spc="-10">
                <a:latin typeface="Microsoft Sans Serif"/>
                <a:cs typeface="Microsoft Sans Serif"/>
                <a:hlinkClick r:id="rId3"/>
              </a:rPr>
              <a:t>datasets</a:t>
            </a:r>
            <a:endParaRPr sz="1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8635" rIns="0" bIns="0" rtlCol="0" vert="horz">
            <a:spAutoFit/>
          </a:bodyPr>
          <a:lstStyle/>
          <a:p>
            <a:pPr marL="1266825">
              <a:lnSpc>
                <a:spcPct val="100000"/>
              </a:lnSpc>
              <a:spcBef>
                <a:spcPts val="125"/>
              </a:spcBef>
            </a:pPr>
            <a:r>
              <a:rPr dirty="0" sz="2950">
                <a:solidFill>
                  <a:srgbClr val="262672"/>
                </a:solidFill>
                <a:latin typeface="Arial"/>
                <a:cs typeface="Arial"/>
              </a:rPr>
              <a:t>Resampling:</a:t>
            </a:r>
            <a:r>
              <a:rPr dirty="0" sz="2950" spc="30">
                <a:solidFill>
                  <a:srgbClr val="262672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262672"/>
                </a:solidFill>
                <a:latin typeface="Arial"/>
                <a:cs typeface="Arial"/>
              </a:rPr>
              <a:t>Class</a:t>
            </a:r>
            <a:r>
              <a:rPr dirty="0" sz="2950" spc="50">
                <a:solidFill>
                  <a:srgbClr val="262672"/>
                </a:solidFill>
                <a:latin typeface="Arial"/>
                <a:cs typeface="Arial"/>
              </a:rPr>
              <a:t> </a:t>
            </a:r>
            <a:r>
              <a:rPr dirty="0" sz="2950" spc="-10">
                <a:solidFill>
                  <a:srgbClr val="262672"/>
                </a:solidFill>
                <a:latin typeface="Arial"/>
                <a:cs typeface="Arial"/>
              </a:rPr>
              <a:t>Separability</a:t>
            </a:r>
            <a:endParaRPr sz="295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227" y="2828544"/>
            <a:ext cx="9459467" cy="302597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88062" y="6078739"/>
            <a:ext cx="8592185" cy="1116965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1950">
                <a:latin typeface="Microsoft Sans Serif"/>
                <a:cs typeface="Microsoft Sans Serif"/>
              </a:rPr>
              <a:t>https://github.com/vinyluis/Articles/tree/main/Kolmogorov-</a:t>
            </a:r>
            <a:r>
              <a:rPr dirty="0" sz="1950" spc="-10">
                <a:latin typeface="Microsoft Sans Serif"/>
                <a:cs typeface="Microsoft Sans Serif"/>
              </a:rPr>
              <a:t>Smirnov</a:t>
            </a:r>
            <a:endParaRPr sz="1950">
              <a:latin typeface="Microsoft Sans Serif"/>
              <a:cs typeface="Microsoft Sans Serif"/>
            </a:endParaRPr>
          </a:p>
          <a:p>
            <a:pPr marL="12700" marR="5080">
              <a:lnSpc>
                <a:spcPct val="102600"/>
              </a:lnSpc>
              <a:spcBef>
                <a:spcPts val="695"/>
              </a:spcBef>
            </a:pPr>
            <a:r>
              <a:rPr dirty="0" u="sng" sz="195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</a:rPr>
              <a:t>https://towardsdatascience.com/evaluating-classification-models-with-</a:t>
            </a:r>
            <a:r>
              <a:rPr dirty="0" u="sng" sz="195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</a:rPr>
              <a:t>kolmogorov-</a:t>
            </a:r>
            <a:r>
              <a:rPr dirty="0" sz="1950" spc="-10">
                <a:solidFill>
                  <a:srgbClr val="009999"/>
                </a:solidFill>
                <a:latin typeface="Calibri"/>
                <a:cs typeface="Calibri"/>
              </a:rPr>
              <a:t> </a:t>
            </a:r>
            <a:r>
              <a:rPr dirty="0" u="sng" sz="195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</a:rPr>
              <a:t>smirnov-</a:t>
            </a:r>
            <a:r>
              <a:rPr dirty="0" u="sng" sz="195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</a:rPr>
              <a:t>ks-test-e211025f5573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24792" y="1720018"/>
            <a:ext cx="6788150" cy="83058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>
              <a:lnSpc>
                <a:spcPts val="3170"/>
              </a:lnSpc>
              <a:spcBef>
                <a:spcPts val="195"/>
              </a:spcBef>
            </a:pPr>
            <a:r>
              <a:rPr dirty="0" sz="2650">
                <a:latin typeface="Microsoft Sans Serif"/>
                <a:cs typeface="Microsoft Sans Serif"/>
              </a:rPr>
              <a:t>As</a:t>
            </a:r>
            <a:r>
              <a:rPr dirty="0" sz="2650" spc="-9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an</a:t>
            </a:r>
            <a:r>
              <a:rPr dirty="0" sz="2650" spc="-8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example,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three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artificial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datasets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 spc="-20">
                <a:latin typeface="Microsoft Sans Serif"/>
                <a:cs typeface="Microsoft Sans Serif"/>
              </a:rPr>
              <a:t>with </a:t>
            </a:r>
            <a:r>
              <a:rPr dirty="0" sz="2650">
                <a:latin typeface="Microsoft Sans Serif"/>
                <a:cs typeface="Microsoft Sans Serif"/>
              </a:rPr>
              <a:t>different</a:t>
            </a:r>
            <a:r>
              <a:rPr dirty="0" sz="2650" spc="-9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levels</a:t>
            </a:r>
            <a:r>
              <a:rPr dirty="0" sz="2650" spc="-9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of</a:t>
            </a:r>
            <a:r>
              <a:rPr dirty="0" sz="2650" spc="-8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separation</a:t>
            </a:r>
            <a:r>
              <a:rPr dirty="0" sz="2650" spc="-6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between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classes</a:t>
            </a:r>
            <a:endParaRPr sz="26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0019" y="598335"/>
            <a:ext cx="3237865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950">
                <a:solidFill>
                  <a:srgbClr val="262672"/>
                </a:solidFill>
                <a:latin typeface="Arial"/>
                <a:cs typeface="Arial"/>
              </a:rPr>
              <a:t>Datasets</a:t>
            </a:r>
            <a:r>
              <a:rPr dirty="0" sz="2950" spc="55">
                <a:solidFill>
                  <a:srgbClr val="262672"/>
                </a:solidFill>
                <a:latin typeface="Arial"/>
                <a:cs typeface="Arial"/>
              </a:rPr>
              <a:t> </a:t>
            </a:r>
            <a:r>
              <a:rPr dirty="0" sz="2950" spc="-10" b="0">
                <a:solidFill>
                  <a:srgbClr val="000000"/>
                </a:solidFill>
                <a:latin typeface="Microsoft Sans Serif"/>
                <a:cs typeface="Microsoft Sans Serif"/>
              </a:rPr>
              <a:t>(artificial)</a:t>
            </a:r>
            <a:endParaRPr sz="2950">
              <a:latin typeface="Microsoft Sans Serif"/>
              <a:cs typeface="Microsoft Sans Serif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73819" y="1419264"/>
            <a:ext cx="9296400" cy="2473325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2300">
                <a:latin typeface="Microsoft Sans Serif"/>
                <a:cs typeface="Microsoft Sans Serif"/>
              </a:rPr>
              <a:t>500</a:t>
            </a:r>
            <a:r>
              <a:rPr dirty="0" sz="2300" spc="4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observations</a:t>
            </a:r>
            <a:r>
              <a:rPr dirty="0" sz="2300" spc="2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for</a:t>
            </a:r>
            <a:r>
              <a:rPr dirty="0" sz="2300" spc="6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each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class: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“True”</a:t>
            </a:r>
            <a:r>
              <a:rPr dirty="0" sz="2300" spc="6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[nonzero]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and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“False”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[zero]</a:t>
            </a:r>
            <a:endParaRPr sz="2200">
              <a:latin typeface="Microsoft Sans Serif"/>
              <a:cs typeface="Microsoft Sans Serif"/>
            </a:endParaRPr>
          </a:p>
          <a:p>
            <a:pPr marL="294640" marR="652145" indent="-282575">
              <a:lnSpc>
                <a:spcPct val="100400"/>
              </a:lnSpc>
              <a:spcBef>
                <a:spcPts val="665"/>
              </a:spcBef>
              <a:buChar char="•"/>
              <a:tabLst>
                <a:tab pos="295910" algn="l"/>
              </a:tabLst>
            </a:pPr>
            <a:r>
              <a:rPr dirty="0" sz="2300">
                <a:latin typeface="Microsoft Sans Serif"/>
                <a:cs typeface="Microsoft Sans Serif"/>
              </a:rPr>
              <a:t>In</a:t>
            </a:r>
            <a:r>
              <a:rPr dirty="0" sz="2300" spc="4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the</a:t>
            </a:r>
            <a:r>
              <a:rPr dirty="0" sz="2300" spc="4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“good”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dataset,</a:t>
            </a:r>
            <a:r>
              <a:rPr dirty="0" sz="2300" spc="2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the</a:t>
            </a:r>
            <a:r>
              <a:rPr dirty="0" sz="2300" spc="4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classes</a:t>
            </a:r>
            <a:r>
              <a:rPr dirty="0" sz="2300" spc="1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don’t</a:t>
            </a:r>
            <a:r>
              <a:rPr dirty="0" sz="2300" spc="2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overlap,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and</a:t>
            </a:r>
            <a:r>
              <a:rPr dirty="0" sz="2300" spc="4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they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have</a:t>
            </a:r>
            <a:r>
              <a:rPr dirty="0" sz="2300" spc="65">
                <a:latin typeface="Microsoft Sans Serif"/>
                <a:cs typeface="Microsoft Sans Serif"/>
              </a:rPr>
              <a:t> </a:t>
            </a:r>
            <a:r>
              <a:rPr dirty="0" sz="2300" spc="-50">
                <a:latin typeface="Microsoft Sans Serif"/>
                <a:cs typeface="Microsoft Sans Serif"/>
              </a:rPr>
              <a:t>a </a:t>
            </a:r>
            <a:r>
              <a:rPr dirty="0" sz="2300" spc="-50">
                <a:latin typeface="Microsoft Sans Serif"/>
                <a:cs typeface="Microsoft Sans Serif"/>
              </a:rPr>
              <a:t>	</a:t>
            </a:r>
            <a:r>
              <a:rPr dirty="0" sz="2300">
                <a:latin typeface="Microsoft Sans Serif"/>
                <a:cs typeface="Microsoft Sans Serif"/>
              </a:rPr>
              <a:t>good</a:t>
            </a:r>
            <a:r>
              <a:rPr dirty="0" sz="2300" spc="4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noticeable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gap</a:t>
            </a:r>
            <a:r>
              <a:rPr dirty="0" sz="2300" spc="4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between</a:t>
            </a:r>
            <a:r>
              <a:rPr dirty="0" sz="2300" spc="20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them.</a:t>
            </a:r>
            <a:endParaRPr sz="2300">
              <a:latin typeface="Microsoft Sans Serif"/>
              <a:cs typeface="Microsoft Sans Serif"/>
            </a:endParaRPr>
          </a:p>
          <a:p>
            <a:pPr marL="294640" indent="-281940">
              <a:lnSpc>
                <a:spcPct val="100000"/>
              </a:lnSpc>
              <a:spcBef>
                <a:spcPts val="670"/>
              </a:spcBef>
              <a:buChar char="•"/>
              <a:tabLst>
                <a:tab pos="294640" algn="l"/>
              </a:tabLst>
            </a:pPr>
            <a:r>
              <a:rPr dirty="0" sz="2300">
                <a:latin typeface="Microsoft Sans Serif"/>
                <a:cs typeface="Microsoft Sans Serif"/>
              </a:rPr>
              <a:t>In</a:t>
            </a:r>
            <a:r>
              <a:rPr dirty="0" sz="2300" spc="4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the</a:t>
            </a:r>
            <a:r>
              <a:rPr dirty="0" sz="2300" spc="4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“medium”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one</a:t>
            </a:r>
            <a:r>
              <a:rPr dirty="0" sz="2300" spc="4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there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is</a:t>
            </a:r>
            <a:r>
              <a:rPr dirty="0" sz="2300" spc="6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enough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overlap</a:t>
            </a:r>
            <a:r>
              <a:rPr dirty="0" sz="2300" spc="4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to</a:t>
            </a:r>
            <a:r>
              <a:rPr dirty="0" sz="2300" spc="4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confuse</a:t>
            </a:r>
            <a:r>
              <a:rPr dirty="0" sz="2300" spc="-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the</a:t>
            </a:r>
            <a:r>
              <a:rPr dirty="0" sz="2300" spc="45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classifier.</a:t>
            </a:r>
            <a:endParaRPr sz="2300">
              <a:latin typeface="Microsoft Sans Serif"/>
              <a:cs typeface="Microsoft Sans Serif"/>
            </a:endParaRPr>
          </a:p>
          <a:p>
            <a:pPr marL="294640" marR="587375" indent="-282575">
              <a:lnSpc>
                <a:spcPct val="100400"/>
              </a:lnSpc>
              <a:spcBef>
                <a:spcPts val="660"/>
              </a:spcBef>
              <a:buChar char="•"/>
              <a:tabLst>
                <a:tab pos="295910" algn="l"/>
              </a:tabLst>
            </a:pPr>
            <a:r>
              <a:rPr dirty="0" sz="2300">
                <a:latin typeface="Microsoft Sans Serif"/>
                <a:cs typeface="Microsoft Sans Serif"/>
              </a:rPr>
              <a:t>In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the</a:t>
            </a:r>
            <a:r>
              <a:rPr dirty="0" sz="2300" spc="4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“bad”</a:t>
            </a:r>
            <a:r>
              <a:rPr dirty="0" sz="2300" spc="5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dataset</a:t>
            </a:r>
            <a:r>
              <a:rPr dirty="0" sz="2300" spc="1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the</a:t>
            </a:r>
            <a:r>
              <a:rPr dirty="0" sz="2300" spc="4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overlap</a:t>
            </a:r>
            <a:r>
              <a:rPr dirty="0" sz="2300" spc="4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is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so</a:t>
            </a:r>
            <a:r>
              <a:rPr dirty="0" sz="2300" spc="4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intense</a:t>
            </a:r>
            <a:r>
              <a:rPr dirty="0" sz="2300" spc="2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that</a:t>
            </a:r>
            <a:r>
              <a:rPr dirty="0" sz="2300" spc="1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the</a:t>
            </a:r>
            <a:r>
              <a:rPr dirty="0" sz="2300" spc="4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classes</a:t>
            </a:r>
            <a:r>
              <a:rPr dirty="0" sz="2300" spc="10">
                <a:latin typeface="Microsoft Sans Serif"/>
                <a:cs typeface="Microsoft Sans Serif"/>
              </a:rPr>
              <a:t> </a:t>
            </a:r>
            <a:r>
              <a:rPr dirty="0" sz="2300" spc="-25">
                <a:latin typeface="Microsoft Sans Serif"/>
                <a:cs typeface="Microsoft Sans Serif"/>
              </a:rPr>
              <a:t>are </a:t>
            </a:r>
            <a:r>
              <a:rPr dirty="0" sz="2300" spc="-25">
                <a:latin typeface="Microsoft Sans Serif"/>
                <a:cs typeface="Microsoft Sans Serif"/>
              </a:rPr>
              <a:t>	</a:t>
            </a:r>
            <a:r>
              <a:rPr dirty="0" sz="2300">
                <a:latin typeface="Microsoft Sans Serif"/>
                <a:cs typeface="Microsoft Sans Serif"/>
              </a:rPr>
              <a:t>almost</a:t>
            </a:r>
            <a:r>
              <a:rPr dirty="0" sz="2300" spc="5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inseparable.</a:t>
            </a:r>
            <a:endParaRPr sz="2300">
              <a:latin typeface="Microsoft Sans Serif"/>
              <a:cs typeface="Microsoft Sans Serif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315" y="4146803"/>
            <a:ext cx="9575291" cy="305866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2865" rIns="0" bIns="0" rtlCol="0" vert="horz">
            <a:spAutoFit/>
          </a:bodyPr>
          <a:lstStyle/>
          <a:p>
            <a:pPr marL="1402080">
              <a:lnSpc>
                <a:spcPct val="100000"/>
              </a:lnSpc>
              <a:spcBef>
                <a:spcPts val="125"/>
              </a:spcBef>
            </a:pPr>
            <a:r>
              <a:rPr dirty="0" sz="2950">
                <a:solidFill>
                  <a:srgbClr val="262672"/>
                </a:solidFill>
                <a:latin typeface="Arial"/>
                <a:cs typeface="Arial"/>
              </a:rPr>
              <a:t>Probability</a:t>
            </a:r>
            <a:r>
              <a:rPr dirty="0" sz="2950" spc="15">
                <a:solidFill>
                  <a:srgbClr val="262672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262672"/>
                </a:solidFill>
                <a:latin typeface="Arial"/>
                <a:cs typeface="Arial"/>
              </a:rPr>
              <a:t>of</a:t>
            </a:r>
            <a:r>
              <a:rPr dirty="0" sz="2950" spc="20">
                <a:solidFill>
                  <a:srgbClr val="262672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262672"/>
                </a:solidFill>
                <a:latin typeface="Arial"/>
                <a:cs typeface="Arial"/>
              </a:rPr>
              <a:t>Predicted</a:t>
            </a:r>
            <a:r>
              <a:rPr dirty="0" sz="2950" spc="-5">
                <a:solidFill>
                  <a:srgbClr val="262672"/>
                </a:solidFill>
                <a:latin typeface="Arial"/>
                <a:cs typeface="Arial"/>
              </a:rPr>
              <a:t> </a:t>
            </a:r>
            <a:r>
              <a:rPr dirty="0" sz="2950" spc="-10">
                <a:solidFill>
                  <a:srgbClr val="262672"/>
                </a:solidFill>
                <a:latin typeface="Arial"/>
                <a:cs typeface="Arial"/>
              </a:rPr>
              <a:t>Class</a:t>
            </a:r>
            <a:endParaRPr sz="295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80" y="4328159"/>
            <a:ext cx="9387839" cy="293217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07589" y="1506786"/>
            <a:ext cx="8545830" cy="23063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26390" marR="5080" indent="-314325">
              <a:lnSpc>
                <a:spcPct val="100400"/>
              </a:lnSpc>
              <a:spcBef>
                <a:spcPts val="105"/>
              </a:spcBef>
              <a:buChar char="•"/>
              <a:tabLst>
                <a:tab pos="326390" algn="l"/>
              </a:tabLst>
            </a:pPr>
            <a:r>
              <a:rPr dirty="0" sz="2300">
                <a:latin typeface="Microsoft Sans Serif"/>
                <a:cs typeface="Microsoft Sans Serif"/>
              </a:rPr>
              <a:t>After</a:t>
            </a:r>
            <a:r>
              <a:rPr dirty="0" sz="2300" spc="5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training</a:t>
            </a:r>
            <a:r>
              <a:rPr dirty="0" sz="2300" spc="-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a</a:t>
            </a:r>
            <a:r>
              <a:rPr dirty="0" sz="2300" spc="4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default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Naïve</a:t>
            </a:r>
            <a:r>
              <a:rPr dirty="0" sz="2300" spc="7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Bayes</a:t>
            </a:r>
            <a:r>
              <a:rPr dirty="0" sz="2300" spc="5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classifier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for</a:t>
            </a:r>
            <a:r>
              <a:rPr dirty="0" sz="2300" spc="5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each</a:t>
            </a:r>
            <a:r>
              <a:rPr dirty="0" sz="2300" spc="20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dataset, </a:t>
            </a:r>
            <a:r>
              <a:rPr dirty="0" sz="2300">
                <a:latin typeface="Microsoft Sans Serif"/>
                <a:cs typeface="Microsoft Sans Serif"/>
              </a:rPr>
              <a:t>we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can</a:t>
            </a:r>
            <a:r>
              <a:rPr dirty="0" sz="2300" spc="2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see</a:t>
            </a:r>
            <a:r>
              <a:rPr dirty="0" sz="2300" spc="4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the</a:t>
            </a:r>
            <a:r>
              <a:rPr dirty="0" sz="2300" spc="1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distributions</a:t>
            </a:r>
            <a:r>
              <a:rPr dirty="0" sz="2300" spc="1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of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the</a:t>
            </a:r>
            <a:r>
              <a:rPr dirty="0" sz="2300" spc="4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predictions</a:t>
            </a:r>
            <a:r>
              <a:rPr dirty="0" sz="2300" spc="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for</a:t>
            </a:r>
            <a:r>
              <a:rPr dirty="0" sz="2300" spc="5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each</a:t>
            </a:r>
            <a:r>
              <a:rPr dirty="0" sz="2300" spc="2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class</a:t>
            </a:r>
            <a:r>
              <a:rPr dirty="0" sz="2300" spc="5">
                <a:latin typeface="Microsoft Sans Serif"/>
                <a:cs typeface="Microsoft Sans Serif"/>
              </a:rPr>
              <a:t> </a:t>
            </a:r>
            <a:r>
              <a:rPr dirty="0" sz="2300" spc="-25">
                <a:latin typeface="Microsoft Sans Serif"/>
                <a:cs typeface="Microsoft Sans Serif"/>
              </a:rPr>
              <a:t>by </a:t>
            </a:r>
            <a:r>
              <a:rPr dirty="0" sz="2300">
                <a:latin typeface="Microsoft Sans Serif"/>
                <a:cs typeface="Microsoft Sans Serif"/>
              </a:rPr>
              <a:t>plotting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histograms.</a:t>
            </a:r>
            <a:endParaRPr sz="2300">
              <a:latin typeface="Microsoft Sans Serif"/>
              <a:cs typeface="Microsoft Sans Serif"/>
            </a:endParaRPr>
          </a:p>
          <a:p>
            <a:pPr marL="326390" marR="281305" indent="-314325">
              <a:lnSpc>
                <a:spcPct val="100400"/>
              </a:lnSpc>
              <a:spcBef>
                <a:spcPts val="1320"/>
              </a:spcBef>
              <a:buChar char="•"/>
              <a:tabLst>
                <a:tab pos="326390" algn="l"/>
              </a:tabLst>
            </a:pPr>
            <a:r>
              <a:rPr dirty="0" sz="2300">
                <a:latin typeface="Microsoft Sans Serif"/>
                <a:cs typeface="Microsoft Sans Serif"/>
              </a:rPr>
              <a:t>On</a:t>
            </a:r>
            <a:r>
              <a:rPr dirty="0" sz="2300" spc="5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the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 spc="-20">
                <a:latin typeface="Microsoft Sans Serif"/>
                <a:cs typeface="Microsoft Sans Serif"/>
              </a:rPr>
              <a:t>x-</a:t>
            </a:r>
            <a:r>
              <a:rPr dirty="0" sz="2300">
                <a:latin typeface="Microsoft Sans Serif"/>
                <a:cs typeface="Microsoft Sans Serif"/>
              </a:rPr>
              <a:t>axis</a:t>
            </a:r>
            <a:r>
              <a:rPr dirty="0" sz="2300" spc="7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we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have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the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probability of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an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observation</a:t>
            </a:r>
            <a:r>
              <a:rPr dirty="0" sz="2300" spc="10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being </a:t>
            </a:r>
            <a:r>
              <a:rPr dirty="0" sz="2300">
                <a:latin typeface="Microsoft Sans Serif"/>
                <a:cs typeface="Microsoft Sans Serif"/>
              </a:rPr>
              <a:t>classified</a:t>
            </a:r>
            <a:r>
              <a:rPr dirty="0" sz="2300" spc="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“True”</a:t>
            </a:r>
            <a:r>
              <a:rPr dirty="0" sz="2300" spc="6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[nonzero] and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on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the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 spc="-20">
                <a:latin typeface="Microsoft Sans Serif"/>
                <a:cs typeface="Microsoft Sans Serif"/>
              </a:rPr>
              <a:t>y-</a:t>
            </a:r>
            <a:r>
              <a:rPr dirty="0" sz="2300">
                <a:latin typeface="Microsoft Sans Serif"/>
                <a:cs typeface="Microsoft Sans Serif"/>
              </a:rPr>
              <a:t>axis</a:t>
            </a:r>
            <a:r>
              <a:rPr dirty="0" sz="2300" spc="7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the</a:t>
            </a:r>
            <a:r>
              <a:rPr dirty="0" sz="2300" spc="1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count</a:t>
            </a:r>
            <a:r>
              <a:rPr dirty="0" sz="2300" spc="20">
                <a:latin typeface="Microsoft Sans Serif"/>
                <a:cs typeface="Microsoft Sans Serif"/>
              </a:rPr>
              <a:t> </a:t>
            </a:r>
            <a:r>
              <a:rPr dirty="0" sz="2300" spc="-25">
                <a:latin typeface="Microsoft Sans Serif"/>
                <a:cs typeface="Microsoft Sans Serif"/>
              </a:rPr>
              <a:t>of </a:t>
            </a:r>
            <a:r>
              <a:rPr dirty="0" sz="2300">
                <a:latin typeface="Microsoft Sans Serif"/>
                <a:cs typeface="Microsoft Sans Serif"/>
              </a:rPr>
              <a:t>observations</a:t>
            </a:r>
            <a:r>
              <a:rPr dirty="0" sz="2300" spc="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in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each</a:t>
            </a:r>
            <a:r>
              <a:rPr dirty="0" sz="2300" spc="2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bin</a:t>
            </a:r>
            <a:r>
              <a:rPr dirty="0" sz="2300" spc="1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of</a:t>
            </a:r>
            <a:r>
              <a:rPr dirty="0" sz="2300" spc="6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the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graph:</a:t>
            </a:r>
            <a:endParaRPr sz="2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3151" y="589292"/>
            <a:ext cx="5372100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950">
                <a:solidFill>
                  <a:srgbClr val="262672"/>
                </a:solidFill>
                <a:latin typeface="Arial"/>
                <a:cs typeface="Arial"/>
              </a:rPr>
              <a:t>Probability</a:t>
            </a:r>
            <a:r>
              <a:rPr dirty="0" sz="2950" spc="15">
                <a:solidFill>
                  <a:srgbClr val="262672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262672"/>
                </a:solidFill>
                <a:latin typeface="Arial"/>
                <a:cs typeface="Arial"/>
              </a:rPr>
              <a:t>of</a:t>
            </a:r>
            <a:r>
              <a:rPr dirty="0" sz="2950" spc="20">
                <a:solidFill>
                  <a:srgbClr val="262672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262672"/>
                </a:solidFill>
                <a:latin typeface="Arial"/>
                <a:cs typeface="Arial"/>
              </a:rPr>
              <a:t>Predicted</a:t>
            </a:r>
            <a:r>
              <a:rPr dirty="0" sz="2950" spc="-5">
                <a:solidFill>
                  <a:srgbClr val="262672"/>
                </a:solidFill>
                <a:latin typeface="Arial"/>
                <a:cs typeface="Arial"/>
              </a:rPr>
              <a:t> </a:t>
            </a:r>
            <a:r>
              <a:rPr dirty="0" sz="2950" spc="-10">
                <a:solidFill>
                  <a:srgbClr val="262672"/>
                </a:solidFill>
                <a:latin typeface="Arial"/>
                <a:cs typeface="Arial"/>
              </a:rPr>
              <a:t>Class</a:t>
            </a:r>
            <a:endParaRPr sz="29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20699" y="1419120"/>
            <a:ext cx="8743315" cy="2640965"/>
          </a:xfrm>
          <a:prstGeom prst="rect">
            <a:avLst/>
          </a:prstGeom>
        </p:spPr>
        <p:txBody>
          <a:bodyPr wrap="square" lIns="0" tIns="181610" rIns="0" bIns="0" rtlCol="0" vert="horz">
            <a:spAutoFit/>
          </a:bodyPr>
          <a:lstStyle/>
          <a:p>
            <a:pPr marL="391795" indent="-379095">
              <a:lnSpc>
                <a:spcPct val="100000"/>
              </a:lnSpc>
              <a:spcBef>
                <a:spcPts val="1430"/>
              </a:spcBef>
              <a:buChar char="•"/>
              <a:tabLst>
                <a:tab pos="391795" algn="l"/>
              </a:tabLst>
            </a:pPr>
            <a:r>
              <a:rPr dirty="0" sz="2300">
                <a:latin typeface="Microsoft Sans Serif"/>
                <a:cs typeface="Microsoft Sans Serif"/>
              </a:rPr>
              <a:t>The</a:t>
            </a:r>
            <a:r>
              <a:rPr dirty="0" sz="2300" spc="4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“good”</a:t>
            </a:r>
            <a:r>
              <a:rPr dirty="0" sz="2300" spc="2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example</a:t>
            </a:r>
            <a:r>
              <a:rPr dirty="0" sz="2300" spc="4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(left)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has</a:t>
            </a:r>
            <a:r>
              <a:rPr dirty="0" sz="2300" spc="6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a</a:t>
            </a:r>
            <a:r>
              <a:rPr dirty="0" sz="2300" spc="4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perfect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separation,</a:t>
            </a:r>
            <a:r>
              <a:rPr dirty="0" sz="2300" spc="1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as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expected.</a:t>
            </a:r>
            <a:endParaRPr sz="2300">
              <a:latin typeface="Microsoft Sans Serif"/>
              <a:cs typeface="Microsoft Sans Serif"/>
            </a:endParaRPr>
          </a:p>
          <a:p>
            <a:pPr marL="390525" marR="73660" indent="-378460">
              <a:lnSpc>
                <a:spcPct val="100400"/>
              </a:lnSpc>
              <a:spcBef>
                <a:spcPts val="1320"/>
              </a:spcBef>
              <a:buChar char="•"/>
              <a:tabLst>
                <a:tab pos="390525" algn="l"/>
                <a:tab pos="391795" algn="l"/>
              </a:tabLst>
            </a:pPr>
            <a:r>
              <a:rPr dirty="0" sz="2300">
                <a:latin typeface="Microsoft Sans Serif"/>
                <a:cs typeface="Microsoft Sans Serif"/>
              </a:rPr>
              <a:t>	The</a:t>
            </a:r>
            <a:r>
              <a:rPr dirty="0" sz="2300" spc="4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“medium”</a:t>
            </a:r>
            <a:r>
              <a:rPr dirty="0" sz="2300" spc="-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one</a:t>
            </a:r>
            <a:r>
              <a:rPr dirty="0" sz="2300" spc="4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(center)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has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a</a:t>
            </a:r>
            <a:r>
              <a:rPr dirty="0" sz="2300" spc="4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bit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of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an</a:t>
            </a:r>
            <a:r>
              <a:rPr dirty="0" sz="2300" spc="4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overlap,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but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most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300" spc="-25">
                <a:latin typeface="Microsoft Sans Serif"/>
                <a:cs typeface="Microsoft Sans Serif"/>
              </a:rPr>
              <a:t>of </a:t>
            </a:r>
            <a:r>
              <a:rPr dirty="0" sz="2300">
                <a:latin typeface="Microsoft Sans Serif"/>
                <a:cs typeface="Microsoft Sans Serif"/>
              </a:rPr>
              <a:t>the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examples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should</a:t>
            </a:r>
            <a:r>
              <a:rPr dirty="0" sz="2300" spc="-1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be</a:t>
            </a:r>
            <a:r>
              <a:rPr dirty="0" sz="2300" spc="4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correctly</a:t>
            </a:r>
            <a:r>
              <a:rPr dirty="0" sz="2300" spc="1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classified</a:t>
            </a:r>
            <a:r>
              <a:rPr dirty="0" sz="2300" spc="15">
                <a:latin typeface="Microsoft Sans Serif"/>
                <a:cs typeface="Microsoft Sans Serif"/>
              </a:rPr>
              <a:t> </a:t>
            </a:r>
            <a:r>
              <a:rPr dirty="0" sz="2300" i="1">
                <a:latin typeface="Arial"/>
                <a:cs typeface="Arial"/>
              </a:rPr>
              <a:t>[</a:t>
            </a:r>
            <a:r>
              <a:rPr dirty="0" sz="2300" spc="10" i="1">
                <a:latin typeface="Arial"/>
                <a:cs typeface="Arial"/>
              </a:rPr>
              <a:t> </a:t>
            </a:r>
            <a:r>
              <a:rPr dirty="0" sz="2300" i="1">
                <a:latin typeface="Arial"/>
                <a:cs typeface="Arial"/>
              </a:rPr>
              <a:t>Note</a:t>
            </a:r>
            <a:r>
              <a:rPr dirty="0" sz="2300" spc="15" i="1">
                <a:latin typeface="Arial"/>
                <a:cs typeface="Arial"/>
              </a:rPr>
              <a:t> </a:t>
            </a:r>
            <a:r>
              <a:rPr dirty="0" sz="2300" i="1">
                <a:latin typeface="Arial"/>
                <a:cs typeface="Arial"/>
              </a:rPr>
              <a:t>the</a:t>
            </a:r>
            <a:r>
              <a:rPr dirty="0" sz="2300" spc="15" i="1">
                <a:latin typeface="Arial"/>
                <a:cs typeface="Arial"/>
              </a:rPr>
              <a:t> </a:t>
            </a:r>
            <a:r>
              <a:rPr dirty="0" sz="2300" i="1">
                <a:latin typeface="Arial"/>
                <a:cs typeface="Arial"/>
              </a:rPr>
              <a:t>change</a:t>
            </a:r>
            <a:r>
              <a:rPr dirty="0" sz="2300" spc="-15" i="1">
                <a:latin typeface="Arial"/>
                <a:cs typeface="Arial"/>
              </a:rPr>
              <a:t> </a:t>
            </a:r>
            <a:r>
              <a:rPr dirty="0" sz="2300" spc="-25" i="1">
                <a:latin typeface="Arial"/>
                <a:cs typeface="Arial"/>
              </a:rPr>
              <a:t>in </a:t>
            </a:r>
            <a:r>
              <a:rPr dirty="0" sz="2300" i="1">
                <a:latin typeface="Arial"/>
                <a:cs typeface="Arial"/>
              </a:rPr>
              <a:t>the</a:t>
            </a:r>
            <a:r>
              <a:rPr dirty="0" sz="2300" spc="10" i="1">
                <a:latin typeface="Arial"/>
                <a:cs typeface="Arial"/>
              </a:rPr>
              <a:t> </a:t>
            </a:r>
            <a:r>
              <a:rPr dirty="0" sz="2300" i="1">
                <a:latin typeface="Arial"/>
                <a:cs typeface="Arial"/>
              </a:rPr>
              <a:t>scale</a:t>
            </a:r>
            <a:r>
              <a:rPr dirty="0" sz="2300" spc="-40" i="1">
                <a:latin typeface="Arial"/>
                <a:cs typeface="Arial"/>
              </a:rPr>
              <a:t> </a:t>
            </a:r>
            <a:r>
              <a:rPr dirty="0" sz="2300" i="1">
                <a:latin typeface="Arial"/>
                <a:cs typeface="Arial"/>
              </a:rPr>
              <a:t>of</a:t>
            </a:r>
            <a:r>
              <a:rPr dirty="0" sz="2300" spc="5" i="1">
                <a:latin typeface="Arial"/>
                <a:cs typeface="Arial"/>
              </a:rPr>
              <a:t> </a:t>
            </a:r>
            <a:r>
              <a:rPr dirty="0" sz="2300" i="1">
                <a:latin typeface="Arial"/>
                <a:cs typeface="Arial"/>
              </a:rPr>
              <a:t>axis</a:t>
            </a:r>
            <a:r>
              <a:rPr dirty="0" sz="2300" spc="-45" i="1">
                <a:latin typeface="Arial"/>
                <a:cs typeface="Arial"/>
              </a:rPr>
              <a:t> </a:t>
            </a:r>
            <a:r>
              <a:rPr dirty="0" sz="2300" i="1">
                <a:latin typeface="Arial"/>
                <a:cs typeface="Arial"/>
              </a:rPr>
              <a:t>Y</a:t>
            </a:r>
            <a:r>
              <a:rPr dirty="0" sz="2300" spc="-15" i="1">
                <a:latin typeface="Arial"/>
                <a:cs typeface="Arial"/>
              </a:rPr>
              <a:t> </a:t>
            </a:r>
            <a:r>
              <a:rPr dirty="0" sz="2300" i="1">
                <a:latin typeface="Arial"/>
                <a:cs typeface="Arial"/>
              </a:rPr>
              <a:t>!</a:t>
            </a:r>
            <a:r>
              <a:rPr dirty="0" sz="2300" spc="25" i="1">
                <a:latin typeface="Arial"/>
                <a:cs typeface="Arial"/>
              </a:rPr>
              <a:t> </a:t>
            </a:r>
            <a:r>
              <a:rPr dirty="0" sz="2300" spc="-25" i="1">
                <a:latin typeface="Arial"/>
                <a:cs typeface="Arial"/>
              </a:rPr>
              <a:t>]</a:t>
            </a:r>
            <a:r>
              <a:rPr dirty="0" sz="2300" spc="-25">
                <a:latin typeface="Microsoft Sans Serif"/>
                <a:cs typeface="Microsoft Sans Serif"/>
              </a:rPr>
              <a:t>.</a:t>
            </a:r>
            <a:endParaRPr sz="2300">
              <a:latin typeface="Microsoft Sans Serif"/>
              <a:cs typeface="Microsoft Sans Serif"/>
            </a:endParaRPr>
          </a:p>
          <a:p>
            <a:pPr marL="390525" marR="283210" indent="-378460">
              <a:lnSpc>
                <a:spcPct val="100400"/>
              </a:lnSpc>
              <a:spcBef>
                <a:spcPts val="1320"/>
              </a:spcBef>
              <a:buChar char="•"/>
              <a:tabLst>
                <a:tab pos="390525" algn="l"/>
                <a:tab pos="391795" algn="l"/>
              </a:tabLst>
            </a:pPr>
            <a:r>
              <a:rPr dirty="0" sz="2300">
                <a:latin typeface="Microsoft Sans Serif"/>
                <a:cs typeface="Microsoft Sans Serif"/>
              </a:rPr>
              <a:t>	The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classifier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cannot</a:t>
            </a:r>
            <a:r>
              <a:rPr dirty="0" sz="2300" spc="1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separate</a:t>
            </a:r>
            <a:r>
              <a:rPr dirty="0" sz="2300" spc="-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the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“bad”</a:t>
            </a:r>
            <a:r>
              <a:rPr dirty="0" sz="2300" spc="5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example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(right)</a:t>
            </a:r>
            <a:r>
              <a:rPr dirty="0" sz="2300" spc="40">
                <a:latin typeface="Microsoft Sans Serif"/>
                <a:cs typeface="Microsoft Sans Serif"/>
              </a:rPr>
              <a:t> </a:t>
            </a:r>
            <a:r>
              <a:rPr dirty="0" sz="2300" i="1">
                <a:latin typeface="Arial"/>
                <a:cs typeface="Arial"/>
              </a:rPr>
              <a:t>[</a:t>
            </a:r>
            <a:r>
              <a:rPr dirty="0" sz="2300" spc="10" i="1">
                <a:latin typeface="Arial"/>
                <a:cs typeface="Arial"/>
              </a:rPr>
              <a:t> </a:t>
            </a:r>
            <a:r>
              <a:rPr dirty="0" sz="2300" spc="-20" i="1">
                <a:latin typeface="Arial"/>
                <a:cs typeface="Arial"/>
              </a:rPr>
              <a:t>Note </a:t>
            </a:r>
            <a:r>
              <a:rPr dirty="0" sz="2300" i="1">
                <a:latin typeface="Arial"/>
                <a:cs typeface="Arial"/>
              </a:rPr>
              <a:t>the</a:t>
            </a:r>
            <a:r>
              <a:rPr dirty="0" sz="2300" spc="10" i="1">
                <a:latin typeface="Arial"/>
                <a:cs typeface="Arial"/>
              </a:rPr>
              <a:t> </a:t>
            </a:r>
            <a:r>
              <a:rPr dirty="0" sz="2300" i="1">
                <a:latin typeface="Arial"/>
                <a:cs typeface="Arial"/>
              </a:rPr>
              <a:t>change</a:t>
            </a:r>
            <a:r>
              <a:rPr dirty="0" sz="2300" spc="-15" i="1">
                <a:latin typeface="Arial"/>
                <a:cs typeface="Arial"/>
              </a:rPr>
              <a:t> </a:t>
            </a:r>
            <a:r>
              <a:rPr dirty="0" sz="2300" i="1">
                <a:latin typeface="Arial"/>
                <a:cs typeface="Arial"/>
              </a:rPr>
              <a:t>in</a:t>
            </a:r>
            <a:r>
              <a:rPr dirty="0" sz="2300" spc="15" i="1">
                <a:latin typeface="Arial"/>
                <a:cs typeface="Arial"/>
              </a:rPr>
              <a:t> </a:t>
            </a:r>
            <a:r>
              <a:rPr dirty="0" sz="2300" i="1">
                <a:latin typeface="Arial"/>
                <a:cs typeface="Arial"/>
              </a:rPr>
              <a:t>the</a:t>
            </a:r>
            <a:r>
              <a:rPr dirty="0" sz="2300" spc="-15" i="1">
                <a:latin typeface="Arial"/>
                <a:cs typeface="Arial"/>
              </a:rPr>
              <a:t> </a:t>
            </a:r>
            <a:r>
              <a:rPr dirty="0" sz="2300" i="1">
                <a:latin typeface="Arial"/>
                <a:cs typeface="Arial"/>
              </a:rPr>
              <a:t>scale</a:t>
            </a:r>
            <a:r>
              <a:rPr dirty="0" sz="2300" spc="-15" i="1">
                <a:latin typeface="Arial"/>
                <a:cs typeface="Arial"/>
              </a:rPr>
              <a:t> </a:t>
            </a:r>
            <a:r>
              <a:rPr dirty="0" sz="2300" i="1">
                <a:latin typeface="Arial"/>
                <a:cs typeface="Arial"/>
              </a:rPr>
              <a:t>of</a:t>
            </a:r>
            <a:r>
              <a:rPr dirty="0" sz="2300" spc="30" i="1">
                <a:latin typeface="Arial"/>
                <a:cs typeface="Arial"/>
              </a:rPr>
              <a:t> </a:t>
            </a:r>
            <a:r>
              <a:rPr dirty="0" sz="2300" i="1">
                <a:latin typeface="Arial"/>
                <a:cs typeface="Arial"/>
              </a:rPr>
              <a:t>axis</a:t>
            </a:r>
            <a:r>
              <a:rPr dirty="0" sz="2300" spc="-25" i="1">
                <a:latin typeface="Arial"/>
                <a:cs typeface="Arial"/>
              </a:rPr>
              <a:t> </a:t>
            </a:r>
            <a:r>
              <a:rPr dirty="0" sz="2300" i="1">
                <a:latin typeface="Arial"/>
                <a:cs typeface="Arial"/>
              </a:rPr>
              <a:t>X</a:t>
            </a:r>
            <a:r>
              <a:rPr dirty="0" sz="2300" spc="35" i="1">
                <a:latin typeface="Arial"/>
                <a:cs typeface="Arial"/>
              </a:rPr>
              <a:t> </a:t>
            </a:r>
            <a:r>
              <a:rPr dirty="0" sz="2300" i="1">
                <a:latin typeface="Arial"/>
                <a:cs typeface="Arial"/>
              </a:rPr>
              <a:t>and</a:t>
            </a:r>
            <a:r>
              <a:rPr dirty="0" sz="2300" spc="-60" i="1">
                <a:latin typeface="Arial"/>
                <a:cs typeface="Arial"/>
              </a:rPr>
              <a:t> </a:t>
            </a:r>
            <a:r>
              <a:rPr dirty="0" sz="2300" i="1">
                <a:latin typeface="Arial"/>
                <a:cs typeface="Arial"/>
              </a:rPr>
              <a:t>Y</a:t>
            </a:r>
            <a:r>
              <a:rPr dirty="0" sz="2300" spc="-15" i="1">
                <a:latin typeface="Arial"/>
                <a:cs typeface="Arial"/>
              </a:rPr>
              <a:t> </a:t>
            </a:r>
            <a:r>
              <a:rPr dirty="0" sz="2300" i="1">
                <a:latin typeface="Arial"/>
                <a:cs typeface="Arial"/>
              </a:rPr>
              <a:t>!</a:t>
            </a:r>
            <a:r>
              <a:rPr dirty="0" sz="2300" spc="30" i="1">
                <a:latin typeface="Arial"/>
                <a:cs typeface="Arial"/>
              </a:rPr>
              <a:t> </a:t>
            </a:r>
            <a:r>
              <a:rPr dirty="0" sz="2300" spc="-25" i="1">
                <a:latin typeface="Arial"/>
                <a:cs typeface="Arial"/>
              </a:rPr>
              <a:t>].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80" y="4328159"/>
            <a:ext cx="9387839" cy="293217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8635" rIns="0" bIns="0" rtlCol="0" vert="horz">
            <a:spAutoFit/>
          </a:bodyPr>
          <a:lstStyle/>
          <a:p>
            <a:pPr marL="1874520">
              <a:lnSpc>
                <a:spcPct val="100000"/>
              </a:lnSpc>
              <a:spcBef>
                <a:spcPts val="125"/>
              </a:spcBef>
            </a:pPr>
            <a:r>
              <a:rPr dirty="0" sz="2950">
                <a:solidFill>
                  <a:srgbClr val="262672"/>
                </a:solidFill>
                <a:latin typeface="Arial"/>
                <a:cs typeface="Arial"/>
              </a:rPr>
              <a:t>UnderSampling</a:t>
            </a:r>
            <a:r>
              <a:rPr dirty="0" sz="2950" spc="-5">
                <a:solidFill>
                  <a:srgbClr val="262672"/>
                </a:solidFill>
                <a:latin typeface="Arial"/>
                <a:cs typeface="Arial"/>
              </a:rPr>
              <a:t> </a:t>
            </a:r>
            <a:r>
              <a:rPr dirty="0" sz="2950" spc="-10">
                <a:solidFill>
                  <a:srgbClr val="262672"/>
                </a:solidFill>
                <a:latin typeface="Arial"/>
                <a:cs typeface="Arial"/>
              </a:rPr>
              <a:t>Strategy</a:t>
            </a:r>
            <a:endParaRPr sz="29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46074" y="1835860"/>
            <a:ext cx="7162800" cy="41357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0525" marR="617855" indent="-378460">
              <a:lnSpc>
                <a:spcPct val="119600"/>
              </a:lnSpc>
              <a:spcBef>
                <a:spcPts val="100"/>
              </a:spcBef>
            </a:pPr>
            <a:r>
              <a:rPr dirty="0" sz="2650">
                <a:latin typeface="Microsoft Sans Serif"/>
                <a:cs typeface="Microsoft Sans Serif"/>
              </a:rPr>
              <a:t>Three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datasets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based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on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7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“medium”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 spc="-20">
                <a:latin typeface="Microsoft Sans Serif"/>
                <a:cs typeface="Microsoft Sans Serif"/>
              </a:rPr>
              <a:t>one: </a:t>
            </a:r>
            <a:r>
              <a:rPr dirty="0" sz="2650" spc="685">
                <a:latin typeface="Microsoft Sans Serif"/>
                <a:cs typeface="Microsoft Sans Serif"/>
              </a:rPr>
              <a:t>–</a:t>
            </a:r>
            <a:r>
              <a:rPr dirty="0" sz="2650" spc="-3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8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original,</a:t>
            </a:r>
            <a:r>
              <a:rPr dirty="0" sz="2650" spc="-2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where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“True”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class</a:t>
            </a:r>
            <a:r>
              <a:rPr dirty="0" sz="2650" spc="-75">
                <a:latin typeface="Microsoft Sans Serif"/>
                <a:cs typeface="Microsoft Sans Serif"/>
              </a:rPr>
              <a:t> </a:t>
            </a:r>
            <a:r>
              <a:rPr dirty="0" sz="2650" spc="-25">
                <a:latin typeface="Microsoft Sans Serif"/>
                <a:cs typeface="Microsoft Sans Serif"/>
              </a:rPr>
              <a:t>has</a:t>
            </a:r>
            <a:endParaRPr sz="2650">
              <a:latin typeface="Microsoft Sans Serif"/>
              <a:cs typeface="Microsoft Sans Serif"/>
            </a:endParaRPr>
          </a:p>
          <a:p>
            <a:pPr marL="624840">
              <a:lnSpc>
                <a:spcPts val="3170"/>
              </a:lnSpc>
            </a:pPr>
            <a:r>
              <a:rPr dirty="0" sz="2650">
                <a:latin typeface="Microsoft Sans Serif"/>
                <a:cs typeface="Microsoft Sans Serif"/>
              </a:rPr>
              <a:t>100%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of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8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original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examples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(500)</a:t>
            </a:r>
            <a:endParaRPr sz="2650">
              <a:latin typeface="Microsoft Sans Serif"/>
              <a:cs typeface="Microsoft Sans Serif"/>
            </a:endParaRPr>
          </a:p>
          <a:p>
            <a:pPr marL="623570" marR="342900" indent="-233679">
              <a:lnSpc>
                <a:spcPts val="3170"/>
              </a:lnSpc>
              <a:spcBef>
                <a:spcPts val="740"/>
              </a:spcBef>
              <a:buChar char="–"/>
              <a:tabLst>
                <a:tab pos="624840" algn="l"/>
              </a:tabLst>
            </a:pPr>
            <a:r>
              <a:rPr dirty="0" sz="2650">
                <a:latin typeface="Microsoft Sans Serif"/>
                <a:cs typeface="Microsoft Sans Serif"/>
              </a:rPr>
              <a:t>A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new</a:t>
            </a:r>
            <a:r>
              <a:rPr dirty="0" sz="2650" spc="-2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dataset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where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“True”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class</a:t>
            </a:r>
            <a:r>
              <a:rPr dirty="0" sz="2650" spc="-20">
                <a:latin typeface="Microsoft Sans Serif"/>
                <a:cs typeface="Microsoft Sans Serif"/>
              </a:rPr>
              <a:t> </a:t>
            </a:r>
            <a:r>
              <a:rPr dirty="0" sz="2650" spc="-25">
                <a:latin typeface="Microsoft Sans Serif"/>
                <a:cs typeface="Microsoft Sans Serif"/>
              </a:rPr>
              <a:t>has </a:t>
            </a:r>
            <a:r>
              <a:rPr dirty="0" sz="2650" spc="-25">
                <a:latin typeface="Microsoft Sans Serif"/>
                <a:cs typeface="Microsoft Sans Serif"/>
              </a:rPr>
              <a:t>	</a:t>
            </a:r>
            <a:r>
              <a:rPr dirty="0" sz="2650">
                <a:latin typeface="Microsoft Sans Serif"/>
                <a:cs typeface="Microsoft Sans Serif"/>
              </a:rPr>
              <a:t>50%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of</a:t>
            </a:r>
            <a:r>
              <a:rPr dirty="0" sz="2650" spc="-8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original</a:t>
            </a:r>
            <a:r>
              <a:rPr dirty="0" sz="2650" spc="-1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examples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(250)</a:t>
            </a:r>
            <a:endParaRPr sz="2650">
              <a:latin typeface="Microsoft Sans Serif"/>
              <a:cs typeface="Microsoft Sans Serif"/>
            </a:endParaRPr>
          </a:p>
          <a:p>
            <a:pPr marL="623570" marR="342900" indent="-233679">
              <a:lnSpc>
                <a:spcPts val="3170"/>
              </a:lnSpc>
              <a:spcBef>
                <a:spcPts val="620"/>
              </a:spcBef>
              <a:buChar char="–"/>
              <a:tabLst>
                <a:tab pos="624840" algn="l"/>
              </a:tabLst>
            </a:pPr>
            <a:r>
              <a:rPr dirty="0" sz="2650">
                <a:latin typeface="Microsoft Sans Serif"/>
                <a:cs typeface="Microsoft Sans Serif"/>
              </a:rPr>
              <a:t>A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new</a:t>
            </a:r>
            <a:r>
              <a:rPr dirty="0" sz="2650" spc="-2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dataset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where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“True”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class</a:t>
            </a:r>
            <a:r>
              <a:rPr dirty="0" sz="2650" spc="-20">
                <a:latin typeface="Microsoft Sans Serif"/>
                <a:cs typeface="Microsoft Sans Serif"/>
              </a:rPr>
              <a:t> </a:t>
            </a:r>
            <a:r>
              <a:rPr dirty="0" sz="2650" spc="-25">
                <a:latin typeface="Microsoft Sans Serif"/>
                <a:cs typeface="Microsoft Sans Serif"/>
              </a:rPr>
              <a:t>has </a:t>
            </a:r>
            <a:r>
              <a:rPr dirty="0" sz="2650" spc="-25">
                <a:latin typeface="Microsoft Sans Serif"/>
                <a:cs typeface="Microsoft Sans Serif"/>
              </a:rPr>
              <a:t>	</a:t>
            </a:r>
            <a:r>
              <a:rPr dirty="0" sz="2650">
                <a:latin typeface="Microsoft Sans Serif"/>
                <a:cs typeface="Microsoft Sans Serif"/>
              </a:rPr>
              <a:t>only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10%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of</a:t>
            </a:r>
            <a:r>
              <a:rPr dirty="0" sz="2650" spc="-7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7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original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examples</a:t>
            </a:r>
            <a:r>
              <a:rPr dirty="0" sz="2650" spc="-10">
                <a:latin typeface="Microsoft Sans Serif"/>
                <a:cs typeface="Microsoft Sans Serif"/>
              </a:rPr>
              <a:t> </a:t>
            </a:r>
            <a:r>
              <a:rPr dirty="0" sz="2650" spc="-20">
                <a:latin typeface="Microsoft Sans Serif"/>
                <a:cs typeface="Microsoft Sans Serif"/>
              </a:rPr>
              <a:t>(50)</a:t>
            </a:r>
            <a:endParaRPr sz="2650">
              <a:latin typeface="Microsoft Sans Serif"/>
              <a:cs typeface="Microsoft Sans Serif"/>
            </a:endParaRPr>
          </a:p>
          <a:p>
            <a:pPr marL="12700" marR="5080">
              <a:lnSpc>
                <a:spcPts val="3170"/>
              </a:lnSpc>
              <a:spcBef>
                <a:spcPts val="1305"/>
              </a:spcBef>
            </a:pPr>
            <a:r>
              <a:rPr dirty="0" sz="2650">
                <a:latin typeface="Microsoft Sans Serif"/>
                <a:cs typeface="Microsoft Sans Serif"/>
              </a:rPr>
              <a:t>In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all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three</a:t>
            </a:r>
            <a:r>
              <a:rPr dirty="0" sz="2650" spc="-2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cases,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“False”</a:t>
            </a:r>
            <a:r>
              <a:rPr dirty="0" sz="2650" spc="-2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[zero]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class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will</a:t>
            </a:r>
            <a:r>
              <a:rPr dirty="0" sz="2650" spc="-15">
                <a:latin typeface="Microsoft Sans Serif"/>
                <a:cs typeface="Microsoft Sans Serif"/>
              </a:rPr>
              <a:t> </a:t>
            </a:r>
            <a:r>
              <a:rPr dirty="0" sz="2650" spc="-25">
                <a:latin typeface="Microsoft Sans Serif"/>
                <a:cs typeface="Microsoft Sans Serif"/>
              </a:rPr>
              <a:t>be </a:t>
            </a:r>
            <a:r>
              <a:rPr dirty="0" sz="2650">
                <a:latin typeface="Microsoft Sans Serif"/>
                <a:cs typeface="Microsoft Sans Serif"/>
              </a:rPr>
              <a:t>unchanged</a:t>
            </a:r>
            <a:r>
              <a:rPr dirty="0" sz="2650" spc="-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with</a:t>
            </a:r>
            <a:r>
              <a:rPr dirty="0" sz="2650" spc="-7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all</a:t>
            </a:r>
            <a:r>
              <a:rPr dirty="0" sz="2650" spc="-6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500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examples.</a:t>
            </a:r>
            <a:endParaRPr sz="26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543" y="4148327"/>
            <a:ext cx="9735312" cy="320801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8635" rIns="0" bIns="0" rtlCol="0" vert="horz">
            <a:spAutoFit/>
          </a:bodyPr>
          <a:lstStyle/>
          <a:p>
            <a:pPr marL="3004185">
              <a:lnSpc>
                <a:spcPct val="100000"/>
              </a:lnSpc>
              <a:spcBef>
                <a:spcPts val="125"/>
              </a:spcBef>
            </a:pPr>
            <a:r>
              <a:rPr dirty="0" sz="2950" spc="-10">
                <a:solidFill>
                  <a:srgbClr val="262672"/>
                </a:solidFill>
                <a:latin typeface="Arial"/>
                <a:cs typeface="Arial"/>
              </a:rPr>
              <a:t>Resampling</a:t>
            </a:r>
            <a:endParaRPr sz="29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68938" y="1683587"/>
            <a:ext cx="8613140" cy="2100580"/>
          </a:xfrm>
          <a:prstGeom prst="rect">
            <a:avLst/>
          </a:prstGeom>
        </p:spPr>
        <p:txBody>
          <a:bodyPr wrap="square" lIns="0" tIns="1924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dirty="0" sz="2650">
                <a:latin typeface="Microsoft Sans Serif"/>
                <a:cs typeface="Microsoft Sans Serif"/>
              </a:rPr>
              <a:t>Histograms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after</a:t>
            </a:r>
            <a:r>
              <a:rPr dirty="0" sz="2650" spc="-8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training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6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classifiers:</a:t>
            </a:r>
            <a:endParaRPr sz="2650">
              <a:latin typeface="Microsoft Sans Serif"/>
              <a:cs typeface="Microsoft Sans Serif"/>
            </a:endParaRPr>
          </a:p>
          <a:p>
            <a:pPr marL="423545" indent="-375920">
              <a:lnSpc>
                <a:spcPct val="100000"/>
              </a:lnSpc>
              <a:spcBef>
                <a:spcPts val="1185"/>
              </a:spcBef>
              <a:buChar char="•"/>
              <a:tabLst>
                <a:tab pos="423545" algn="l"/>
              </a:tabLst>
            </a:pP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original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“medium”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dataset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is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on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45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left.</a:t>
            </a:r>
            <a:endParaRPr sz="2200">
              <a:latin typeface="Microsoft Sans Serif"/>
              <a:cs typeface="Microsoft Sans Serif"/>
            </a:endParaRPr>
          </a:p>
          <a:p>
            <a:pPr marL="423545" indent="-375920">
              <a:lnSpc>
                <a:spcPct val="100000"/>
              </a:lnSpc>
              <a:spcBef>
                <a:spcPts val="1320"/>
              </a:spcBef>
              <a:buChar char="•"/>
              <a:tabLst>
                <a:tab pos="423545" algn="l"/>
              </a:tabLst>
            </a:pPr>
            <a:r>
              <a:rPr dirty="0" sz="2200">
                <a:latin typeface="Microsoft Sans Serif"/>
                <a:cs typeface="Microsoft Sans Serif"/>
              </a:rPr>
              <a:t>The “50%”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one</a:t>
            </a:r>
            <a:r>
              <a:rPr dirty="0" sz="2200" spc="-1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(center)</a:t>
            </a:r>
            <a:r>
              <a:rPr dirty="0" sz="2200" spc="-35">
                <a:latin typeface="Microsoft Sans Serif"/>
                <a:cs typeface="Microsoft Sans Serif"/>
              </a:rPr>
              <a:t> </a:t>
            </a:r>
            <a:r>
              <a:rPr dirty="0" sz="2200" i="1">
                <a:latin typeface="Arial"/>
                <a:cs typeface="Arial"/>
              </a:rPr>
              <a:t>[</a:t>
            </a:r>
            <a:r>
              <a:rPr dirty="0" sz="2200" spc="-4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Note</a:t>
            </a:r>
            <a:r>
              <a:rPr dirty="0" sz="2200" spc="-2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the</a:t>
            </a:r>
            <a:r>
              <a:rPr dirty="0" sz="2200" spc="-4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change</a:t>
            </a:r>
            <a:r>
              <a:rPr dirty="0" sz="2200" spc="-4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in</a:t>
            </a:r>
            <a:r>
              <a:rPr dirty="0" sz="2200" spc="-4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the</a:t>
            </a:r>
            <a:r>
              <a:rPr dirty="0" sz="2200" spc="-4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scale</a:t>
            </a:r>
            <a:r>
              <a:rPr dirty="0" sz="2200" spc="-4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of</a:t>
            </a:r>
            <a:r>
              <a:rPr dirty="0" sz="2200" spc="-4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axis</a:t>
            </a:r>
            <a:r>
              <a:rPr dirty="0" sz="2200" spc="-9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Y</a:t>
            </a:r>
            <a:r>
              <a:rPr dirty="0" sz="2200" spc="-6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!</a:t>
            </a:r>
            <a:r>
              <a:rPr dirty="0" sz="2200" spc="-45" i="1">
                <a:latin typeface="Arial"/>
                <a:cs typeface="Arial"/>
              </a:rPr>
              <a:t> </a:t>
            </a:r>
            <a:r>
              <a:rPr dirty="0" sz="2200" spc="-25" i="1">
                <a:latin typeface="Arial"/>
                <a:cs typeface="Arial"/>
              </a:rPr>
              <a:t>]</a:t>
            </a:r>
            <a:r>
              <a:rPr dirty="0" sz="2200" spc="-25">
                <a:latin typeface="Microsoft Sans Serif"/>
                <a:cs typeface="Microsoft Sans Serif"/>
              </a:rPr>
              <a:t>.</a:t>
            </a:r>
            <a:endParaRPr sz="2200">
              <a:latin typeface="Microsoft Sans Serif"/>
              <a:cs typeface="Microsoft Sans Serif"/>
            </a:endParaRPr>
          </a:p>
          <a:p>
            <a:pPr marL="423545" indent="-375920">
              <a:lnSpc>
                <a:spcPct val="100000"/>
              </a:lnSpc>
              <a:spcBef>
                <a:spcPts val="1315"/>
              </a:spcBef>
              <a:buChar char="•"/>
              <a:tabLst>
                <a:tab pos="423545" algn="l"/>
              </a:tabLst>
            </a:pP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1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“10%”</a:t>
            </a:r>
            <a:r>
              <a:rPr dirty="0" sz="2200" spc="-4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one</a:t>
            </a:r>
            <a:r>
              <a:rPr dirty="0" sz="2200" spc="-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(right)</a:t>
            </a:r>
            <a:r>
              <a:rPr dirty="0" sz="2200" spc="-55">
                <a:latin typeface="Microsoft Sans Serif"/>
                <a:cs typeface="Microsoft Sans Serif"/>
              </a:rPr>
              <a:t> </a:t>
            </a:r>
            <a:r>
              <a:rPr dirty="0" sz="2200" i="1">
                <a:latin typeface="Arial"/>
                <a:cs typeface="Arial"/>
              </a:rPr>
              <a:t>[</a:t>
            </a:r>
            <a:r>
              <a:rPr dirty="0" sz="2200" spc="-6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Note</a:t>
            </a:r>
            <a:r>
              <a:rPr dirty="0" sz="2200" spc="-5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how</a:t>
            </a:r>
            <a:r>
              <a:rPr dirty="0" sz="2200" spc="-2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the</a:t>
            </a:r>
            <a:r>
              <a:rPr dirty="0" sz="2200" spc="-80" i="1">
                <a:latin typeface="Arial"/>
                <a:cs typeface="Arial"/>
              </a:rPr>
              <a:t> </a:t>
            </a:r>
            <a:r>
              <a:rPr dirty="0" sz="2200" spc="-20" i="1">
                <a:latin typeface="Arial"/>
                <a:cs typeface="Arial"/>
              </a:rPr>
              <a:t>“True”</a:t>
            </a:r>
            <a:r>
              <a:rPr dirty="0" sz="2200" spc="-5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class</a:t>
            </a:r>
            <a:r>
              <a:rPr dirty="0" sz="2200" spc="-6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“disappears”</a:t>
            </a:r>
            <a:r>
              <a:rPr dirty="0" sz="2200" spc="-7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!</a:t>
            </a:r>
            <a:r>
              <a:rPr dirty="0" sz="2200" spc="-55" i="1">
                <a:latin typeface="Arial"/>
                <a:cs typeface="Arial"/>
              </a:rPr>
              <a:t> </a:t>
            </a:r>
            <a:r>
              <a:rPr dirty="0" sz="2200" spc="-25" i="1">
                <a:latin typeface="Arial"/>
                <a:cs typeface="Arial"/>
              </a:rPr>
              <a:t>]</a:t>
            </a:r>
            <a:r>
              <a:rPr dirty="0" sz="2200" spc="-25">
                <a:latin typeface="Microsoft Sans Serif"/>
                <a:cs typeface="Microsoft Sans Serif"/>
              </a:rPr>
              <a:t>.</a:t>
            </a:r>
            <a:endParaRPr sz="2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8635" rIns="0" bIns="0" rtlCol="0" vert="horz">
            <a:spAutoFit/>
          </a:bodyPr>
          <a:lstStyle/>
          <a:p>
            <a:pPr marL="3004185">
              <a:lnSpc>
                <a:spcPct val="100000"/>
              </a:lnSpc>
              <a:spcBef>
                <a:spcPts val="125"/>
              </a:spcBef>
            </a:pPr>
            <a:r>
              <a:rPr dirty="0" sz="2950" spc="-10">
                <a:solidFill>
                  <a:srgbClr val="262672"/>
                </a:solidFill>
                <a:latin typeface="Arial"/>
                <a:cs typeface="Arial"/>
              </a:rPr>
              <a:t>Resampling</a:t>
            </a:r>
            <a:endParaRPr sz="29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66073" y="2009623"/>
            <a:ext cx="8438515" cy="495427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295910" marR="19685" indent="-283845">
              <a:lnSpc>
                <a:spcPts val="3170"/>
              </a:lnSpc>
              <a:spcBef>
                <a:spcPts val="204"/>
              </a:spcBef>
              <a:buChar char="•"/>
              <a:tabLst>
                <a:tab pos="295910" algn="l"/>
                <a:tab pos="297180" algn="l"/>
              </a:tabLst>
            </a:pPr>
            <a:r>
              <a:rPr dirty="0" sz="2650">
                <a:latin typeface="Microsoft Sans Serif"/>
                <a:cs typeface="Microsoft Sans Serif"/>
              </a:rPr>
              <a:t>	One</a:t>
            </a:r>
            <a:r>
              <a:rPr dirty="0" sz="2650" spc="-9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approach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to</a:t>
            </a:r>
            <a:r>
              <a:rPr dirty="0" sz="2650" spc="-8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addressing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imbalanced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datasets</a:t>
            </a:r>
            <a:r>
              <a:rPr dirty="0" sz="2650" spc="-7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is</a:t>
            </a:r>
            <a:r>
              <a:rPr dirty="0" sz="2650" spc="-70">
                <a:latin typeface="Microsoft Sans Serif"/>
                <a:cs typeface="Microsoft Sans Serif"/>
              </a:rPr>
              <a:t> </a:t>
            </a:r>
            <a:r>
              <a:rPr dirty="0" sz="2650" spc="-25">
                <a:latin typeface="Microsoft Sans Serif"/>
                <a:cs typeface="Microsoft Sans Serif"/>
              </a:rPr>
              <a:t>to </a:t>
            </a:r>
            <a:r>
              <a:rPr dirty="0" sz="2650">
                <a:latin typeface="Microsoft Sans Serif"/>
                <a:cs typeface="Microsoft Sans Serif"/>
              </a:rPr>
              <a:t>oversample</a:t>
            </a:r>
            <a:r>
              <a:rPr dirty="0" sz="2650" spc="-6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10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minority</a:t>
            </a:r>
            <a:r>
              <a:rPr dirty="0" sz="2650" spc="-70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class.</a:t>
            </a:r>
            <a:endParaRPr sz="2650">
              <a:latin typeface="Microsoft Sans Serif"/>
              <a:cs typeface="Microsoft Sans Serif"/>
            </a:endParaRPr>
          </a:p>
          <a:p>
            <a:pPr marL="295910" marR="209550" indent="-283845">
              <a:lnSpc>
                <a:spcPts val="3170"/>
              </a:lnSpc>
              <a:spcBef>
                <a:spcPts val="1315"/>
              </a:spcBef>
              <a:buChar char="•"/>
              <a:tabLst>
                <a:tab pos="295910" algn="l"/>
                <a:tab pos="297180" algn="l"/>
              </a:tabLst>
            </a:pPr>
            <a:r>
              <a:rPr dirty="0" sz="2650">
                <a:latin typeface="Microsoft Sans Serif"/>
                <a:cs typeface="Microsoft Sans Serif"/>
              </a:rPr>
              <a:t>	The</a:t>
            </a:r>
            <a:r>
              <a:rPr dirty="0" sz="2650" spc="-10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simplest</a:t>
            </a:r>
            <a:r>
              <a:rPr dirty="0" sz="2650" spc="-8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approach</a:t>
            </a:r>
            <a:r>
              <a:rPr dirty="0" sz="2650" spc="-8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involves</a:t>
            </a:r>
            <a:r>
              <a:rPr dirty="0" sz="2650" spc="-9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duplicating</a:t>
            </a:r>
            <a:r>
              <a:rPr dirty="0" sz="2650" spc="-7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examples </a:t>
            </a:r>
            <a:r>
              <a:rPr dirty="0" sz="2650">
                <a:latin typeface="Microsoft Sans Serif"/>
                <a:cs typeface="Microsoft Sans Serif"/>
              </a:rPr>
              <a:t>in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8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minority</a:t>
            </a:r>
            <a:r>
              <a:rPr dirty="0" sz="2650" spc="-6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class,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although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these</a:t>
            </a:r>
            <a:r>
              <a:rPr dirty="0" sz="2650" spc="-8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examples</a:t>
            </a:r>
            <a:r>
              <a:rPr dirty="0" sz="2650" spc="-20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don’t </a:t>
            </a:r>
            <a:r>
              <a:rPr dirty="0" sz="2650">
                <a:latin typeface="Microsoft Sans Serif"/>
                <a:cs typeface="Microsoft Sans Serif"/>
              </a:rPr>
              <a:t>add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any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new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information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to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model.</a:t>
            </a:r>
            <a:endParaRPr sz="2650">
              <a:latin typeface="Microsoft Sans Serif"/>
              <a:cs typeface="Microsoft Sans Serif"/>
            </a:endParaRPr>
          </a:p>
          <a:p>
            <a:pPr marL="295910" marR="5080" indent="-283845">
              <a:lnSpc>
                <a:spcPts val="3170"/>
              </a:lnSpc>
              <a:spcBef>
                <a:spcPts val="1315"/>
              </a:spcBef>
              <a:buChar char="•"/>
              <a:tabLst>
                <a:tab pos="295910" algn="l"/>
                <a:tab pos="297180" algn="l"/>
              </a:tabLst>
            </a:pPr>
            <a:r>
              <a:rPr dirty="0" sz="2650">
                <a:latin typeface="Microsoft Sans Serif"/>
                <a:cs typeface="Microsoft Sans Serif"/>
              </a:rPr>
              <a:t>	Instead,</a:t>
            </a:r>
            <a:r>
              <a:rPr dirty="0" sz="2650" spc="-6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new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examples</a:t>
            </a:r>
            <a:r>
              <a:rPr dirty="0" sz="2650" spc="-7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can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be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synthesized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from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 spc="-25">
                <a:latin typeface="Microsoft Sans Serif"/>
                <a:cs typeface="Microsoft Sans Serif"/>
              </a:rPr>
              <a:t>the </a:t>
            </a:r>
            <a:r>
              <a:rPr dirty="0" sz="2650">
                <a:latin typeface="Microsoft Sans Serif"/>
                <a:cs typeface="Microsoft Sans Serif"/>
              </a:rPr>
              <a:t>existing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examples: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new</a:t>
            </a:r>
            <a:r>
              <a:rPr dirty="0" sz="2650" spc="-7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examples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are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similar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to</a:t>
            </a:r>
            <a:r>
              <a:rPr dirty="0" sz="2650" spc="-75">
                <a:latin typeface="Microsoft Sans Serif"/>
                <a:cs typeface="Microsoft Sans Serif"/>
              </a:rPr>
              <a:t> </a:t>
            </a:r>
            <a:r>
              <a:rPr dirty="0" sz="2650" spc="-25">
                <a:latin typeface="Microsoft Sans Serif"/>
                <a:cs typeface="Microsoft Sans Serif"/>
              </a:rPr>
              <a:t>the </a:t>
            </a:r>
            <a:r>
              <a:rPr dirty="0" sz="2650">
                <a:latin typeface="Microsoft Sans Serif"/>
                <a:cs typeface="Microsoft Sans Serif"/>
              </a:rPr>
              <a:t>existing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examples,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but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not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exact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copies.</a:t>
            </a:r>
            <a:endParaRPr sz="2650">
              <a:latin typeface="Microsoft Sans Serif"/>
              <a:cs typeface="Microsoft Sans Serif"/>
            </a:endParaRPr>
          </a:p>
          <a:p>
            <a:pPr algn="just" marL="295910" marR="269875" indent="-283845">
              <a:lnSpc>
                <a:spcPts val="3170"/>
              </a:lnSpc>
              <a:spcBef>
                <a:spcPts val="1300"/>
              </a:spcBef>
              <a:buChar char="•"/>
              <a:tabLst>
                <a:tab pos="295910" algn="l"/>
              </a:tabLst>
            </a:pPr>
            <a:r>
              <a:rPr dirty="0" sz="2650">
                <a:latin typeface="Microsoft Sans Serif"/>
                <a:cs typeface="Microsoft Sans Serif"/>
              </a:rPr>
              <a:t>This</a:t>
            </a:r>
            <a:r>
              <a:rPr dirty="0" sz="2650" spc="62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type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of</a:t>
            </a:r>
            <a:r>
              <a:rPr dirty="0" sz="2650" spc="-6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data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augmentation</a:t>
            </a:r>
            <a:r>
              <a:rPr dirty="0" sz="2650" spc="-1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for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minority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class </a:t>
            </a:r>
            <a:r>
              <a:rPr dirty="0" sz="2650">
                <a:latin typeface="Microsoft Sans Serif"/>
                <a:cs typeface="Microsoft Sans Serif"/>
              </a:rPr>
              <a:t>is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referred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to</a:t>
            </a:r>
            <a:r>
              <a:rPr dirty="0" sz="2650" spc="-6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as</a:t>
            </a:r>
            <a:r>
              <a:rPr dirty="0" sz="2650" spc="-6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the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Synthetic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Minority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Oversampling </a:t>
            </a:r>
            <a:r>
              <a:rPr dirty="0" sz="2650">
                <a:latin typeface="Microsoft Sans Serif"/>
                <a:cs typeface="Microsoft Sans Serif"/>
              </a:rPr>
              <a:t>Technique,</a:t>
            </a:r>
            <a:r>
              <a:rPr dirty="0" sz="2650" spc="-3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or</a:t>
            </a:r>
            <a:r>
              <a:rPr dirty="0" sz="2650" spc="-4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SMOTE</a:t>
            </a:r>
            <a:r>
              <a:rPr dirty="0" sz="2650" spc="-7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for</a:t>
            </a:r>
            <a:r>
              <a:rPr dirty="0" sz="2650" spc="-40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short.</a:t>
            </a:r>
            <a:endParaRPr sz="26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263383"/>
            <a:ext cx="10058400" cy="39471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402539" y="7393949"/>
            <a:ext cx="396875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 spc="-10">
                <a:solidFill>
                  <a:srgbClr val="BFF9FB"/>
                </a:solidFill>
                <a:latin typeface="Verdana"/>
                <a:cs typeface="Verdana"/>
              </a:rPr>
              <a:t>SLIDE</a:t>
            </a:r>
            <a:r>
              <a:rPr dirty="0" sz="650" spc="-35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BFF9FB"/>
                </a:solidFill>
                <a:latin typeface="Verdana"/>
                <a:cs typeface="Verdana"/>
              </a:rPr>
              <a:t>37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1412" y="7393949"/>
            <a:ext cx="1212215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BFF9FB"/>
                </a:solidFill>
                <a:latin typeface="Verdana"/>
                <a:cs typeface="Verdana"/>
              </a:rPr>
              <a:t>Module</a:t>
            </a:r>
            <a:r>
              <a:rPr dirty="0" sz="650" spc="60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BFF9FB"/>
                </a:solidFill>
                <a:latin typeface="Verdana"/>
                <a:cs typeface="Verdana"/>
              </a:rPr>
              <a:t>Code</a:t>
            </a:r>
            <a:r>
              <a:rPr dirty="0" sz="650" spc="65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BFF9FB"/>
                </a:solidFill>
                <a:latin typeface="Verdana"/>
                <a:cs typeface="Verdana"/>
              </a:rPr>
              <a:t>&amp;</a:t>
            </a:r>
            <a:r>
              <a:rPr dirty="0" sz="650" spc="55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BFF9FB"/>
                </a:solidFill>
                <a:latin typeface="Verdana"/>
                <a:cs typeface="Verdana"/>
              </a:rPr>
              <a:t>Module</a:t>
            </a:r>
            <a:r>
              <a:rPr dirty="0" sz="650" spc="40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BFF9FB"/>
                </a:solidFill>
                <a:latin typeface="Verdana"/>
                <a:cs typeface="Verdana"/>
              </a:rPr>
              <a:t>Title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82388" y="7377185"/>
            <a:ext cx="433705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BFF9FB"/>
                </a:solidFill>
                <a:latin typeface="Verdana"/>
                <a:cs typeface="Verdana"/>
              </a:rPr>
              <a:t>Slide</a:t>
            </a:r>
            <a:r>
              <a:rPr dirty="0" sz="650" spc="-30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BFF9FB"/>
                </a:solidFill>
                <a:latin typeface="Verdana"/>
                <a:cs typeface="Verdana"/>
              </a:rPr>
              <a:t>Title</a:t>
            </a:r>
            <a:endParaRPr sz="65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60764" y="114300"/>
            <a:ext cx="897635" cy="119329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286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0"/>
              <a:t>Review</a:t>
            </a:r>
            <a:r>
              <a:rPr dirty="0" spc="-90"/>
              <a:t> </a:t>
            </a:r>
            <a:r>
              <a:rPr dirty="0" spc="-65"/>
              <a:t>Questions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298183" y="1940153"/>
            <a:ext cx="8517890" cy="115824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515620" indent="-502920">
              <a:lnSpc>
                <a:spcPct val="100000"/>
              </a:lnSpc>
              <a:spcBef>
                <a:spcPts val="610"/>
              </a:spcBef>
              <a:buAutoNum type="arabicPeriod"/>
              <a:tabLst>
                <a:tab pos="515620" algn="l"/>
              </a:tabLst>
            </a:pP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How</a:t>
            </a:r>
            <a:r>
              <a:rPr dirty="0" sz="2050" spc="-13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to</a:t>
            </a:r>
            <a:r>
              <a:rPr dirty="0" sz="2050" spc="-114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35">
                <a:solidFill>
                  <a:srgbClr val="082F50"/>
                </a:solidFill>
                <a:latin typeface="Tahoma"/>
                <a:cs typeface="Tahoma"/>
              </a:rPr>
              <a:t>use</a:t>
            </a:r>
            <a:r>
              <a:rPr dirty="0" sz="2050" spc="-114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40">
                <a:solidFill>
                  <a:srgbClr val="082F50"/>
                </a:solidFill>
                <a:latin typeface="Tahoma"/>
                <a:cs typeface="Tahoma"/>
              </a:rPr>
              <a:t>hyperparameter</a:t>
            </a:r>
            <a:r>
              <a:rPr dirty="0" sz="2050" spc="-9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tuning</a:t>
            </a:r>
            <a:r>
              <a:rPr dirty="0" sz="2050" spc="-9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to</a:t>
            </a:r>
            <a:r>
              <a:rPr dirty="0" sz="2050" spc="-9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20">
                <a:solidFill>
                  <a:srgbClr val="082F50"/>
                </a:solidFill>
                <a:latin typeface="Tahoma"/>
                <a:cs typeface="Tahoma"/>
              </a:rPr>
              <a:t>improve</a:t>
            </a:r>
            <a:r>
              <a:rPr dirty="0" sz="2050" spc="-114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the</a:t>
            </a:r>
            <a:r>
              <a:rPr dirty="0" sz="2050" spc="-9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model</a:t>
            </a:r>
            <a:r>
              <a:rPr dirty="0" sz="2050" spc="-10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10">
                <a:solidFill>
                  <a:srgbClr val="082F50"/>
                </a:solidFill>
                <a:latin typeface="Tahoma"/>
                <a:cs typeface="Tahoma"/>
              </a:rPr>
              <a:t>performance?</a:t>
            </a:r>
            <a:endParaRPr sz="2050">
              <a:latin typeface="Tahoma"/>
              <a:cs typeface="Tahoma"/>
            </a:endParaRPr>
          </a:p>
          <a:p>
            <a:pPr marL="515620" indent="-502920">
              <a:lnSpc>
                <a:spcPct val="100000"/>
              </a:lnSpc>
              <a:spcBef>
                <a:spcPts val="520"/>
              </a:spcBef>
              <a:buAutoNum type="arabicPeriod"/>
              <a:tabLst>
                <a:tab pos="515620" algn="l"/>
              </a:tabLst>
            </a:pP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How</a:t>
            </a:r>
            <a:r>
              <a:rPr dirty="0" sz="2050" spc="-12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to</a:t>
            </a:r>
            <a:r>
              <a:rPr dirty="0" sz="2050" spc="-10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35">
                <a:solidFill>
                  <a:srgbClr val="082F50"/>
                </a:solidFill>
                <a:latin typeface="Tahoma"/>
                <a:cs typeface="Tahoma"/>
              </a:rPr>
              <a:t>use</a:t>
            </a:r>
            <a:r>
              <a:rPr dirty="0" sz="2050" spc="-10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25">
                <a:solidFill>
                  <a:srgbClr val="082F50"/>
                </a:solidFill>
                <a:latin typeface="Tahoma"/>
                <a:cs typeface="Tahoma"/>
              </a:rPr>
              <a:t>feature</a:t>
            </a:r>
            <a:r>
              <a:rPr dirty="0" sz="2050" spc="-9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selection</a:t>
            </a:r>
            <a:r>
              <a:rPr dirty="0" sz="2050" spc="-8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to</a:t>
            </a:r>
            <a:r>
              <a:rPr dirty="0" sz="2050" spc="-8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20">
                <a:solidFill>
                  <a:srgbClr val="082F50"/>
                </a:solidFill>
                <a:latin typeface="Tahoma"/>
                <a:cs typeface="Tahoma"/>
              </a:rPr>
              <a:t>improve</a:t>
            </a:r>
            <a:r>
              <a:rPr dirty="0" sz="2050" spc="-11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model</a:t>
            </a:r>
            <a:r>
              <a:rPr dirty="0" sz="2050" spc="-114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10">
                <a:solidFill>
                  <a:srgbClr val="082F50"/>
                </a:solidFill>
                <a:latin typeface="Tahoma"/>
                <a:cs typeface="Tahoma"/>
              </a:rPr>
              <a:t>performance?</a:t>
            </a:r>
            <a:endParaRPr sz="2050">
              <a:latin typeface="Tahoma"/>
              <a:cs typeface="Tahoma"/>
            </a:endParaRPr>
          </a:p>
          <a:p>
            <a:pPr marL="515620" indent="-502920">
              <a:lnSpc>
                <a:spcPct val="100000"/>
              </a:lnSpc>
              <a:spcBef>
                <a:spcPts val="500"/>
              </a:spcBef>
              <a:buAutoNum type="arabicPeriod"/>
              <a:tabLst>
                <a:tab pos="515620" algn="l"/>
              </a:tabLst>
            </a:pP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How</a:t>
            </a:r>
            <a:r>
              <a:rPr dirty="0" sz="2050" spc="-13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to</a:t>
            </a:r>
            <a:r>
              <a:rPr dirty="0" sz="2050" spc="-11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35">
                <a:solidFill>
                  <a:srgbClr val="082F50"/>
                </a:solidFill>
                <a:latin typeface="Tahoma"/>
                <a:cs typeface="Tahoma"/>
              </a:rPr>
              <a:t>use</a:t>
            </a:r>
            <a:r>
              <a:rPr dirty="0" sz="2050" spc="-11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35">
                <a:solidFill>
                  <a:srgbClr val="082F50"/>
                </a:solidFill>
                <a:latin typeface="Tahoma"/>
                <a:cs typeface="Tahoma"/>
              </a:rPr>
              <a:t>re-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sampling</a:t>
            </a:r>
            <a:r>
              <a:rPr dirty="0" sz="2050" spc="-9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25">
                <a:solidFill>
                  <a:srgbClr val="082F50"/>
                </a:solidFill>
                <a:latin typeface="Tahoma"/>
                <a:cs typeface="Tahoma"/>
              </a:rPr>
              <a:t>strategies</a:t>
            </a:r>
            <a:r>
              <a:rPr dirty="0" sz="2050" spc="-10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to</a:t>
            </a:r>
            <a:r>
              <a:rPr dirty="0" sz="2050" spc="-11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10">
                <a:solidFill>
                  <a:srgbClr val="082F50"/>
                </a:solidFill>
                <a:latin typeface="Tahoma"/>
                <a:cs typeface="Tahoma"/>
              </a:rPr>
              <a:t>improve</a:t>
            </a:r>
            <a:r>
              <a:rPr dirty="0" sz="2050" spc="-114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model</a:t>
            </a:r>
            <a:r>
              <a:rPr dirty="0" sz="2050" spc="-10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10">
                <a:solidFill>
                  <a:srgbClr val="082F50"/>
                </a:solidFill>
                <a:latin typeface="Tahoma"/>
                <a:cs typeface="Tahoma"/>
              </a:rPr>
              <a:t>performance?</a:t>
            </a:r>
            <a:endParaRPr sz="20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263383"/>
            <a:ext cx="10058400" cy="39471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399552" y="7393949"/>
            <a:ext cx="40132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 spc="-10">
                <a:solidFill>
                  <a:srgbClr val="BFF9FB"/>
                </a:solidFill>
                <a:latin typeface="Verdana"/>
                <a:cs typeface="Verdana"/>
              </a:rPr>
              <a:t>SLIDE</a:t>
            </a:r>
            <a:r>
              <a:rPr dirty="0" sz="650" spc="-35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BFF9FB"/>
                </a:solidFill>
                <a:latin typeface="Verdana"/>
                <a:cs typeface="Verdana"/>
              </a:rPr>
              <a:t>38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1412" y="7393949"/>
            <a:ext cx="1212215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BFF9FB"/>
                </a:solidFill>
                <a:latin typeface="Verdana"/>
                <a:cs typeface="Verdana"/>
              </a:rPr>
              <a:t>Module</a:t>
            </a:r>
            <a:r>
              <a:rPr dirty="0" sz="650" spc="60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BFF9FB"/>
                </a:solidFill>
                <a:latin typeface="Verdana"/>
                <a:cs typeface="Verdana"/>
              </a:rPr>
              <a:t>Code</a:t>
            </a:r>
            <a:r>
              <a:rPr dirty="0" sz="650" spc="65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BFF9FB"/>
                </a:solidFill>
                <a:latin typeface="Verdana"/>
                <a:cs typeface="Verdana"/>
              </a:rPr>
              <a:t>&amp;</a:t>
            </a:r>
            <a:r>
              <a:rPr dirty="0" sz="650" spc="55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BFF9FB"/>
                </a:solidFill>
                <a:latin typeface="Verdana"/>
                <a:cs typeface="Verdana"/>
              </a:rPr>
              <a:t>Module</a:t>
            </a:r>
            <a:r>
              <a:rPr dirty="0" sz="650" spc="40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BFF9FB"/>
                </a:solidFill>
                <a:latin typeface="Verdana"/>
                <a:cs typeface="Verdana"/>
              </a:rPr>
              <a:t>Title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82388" y="7377185"/>
            <a:ext cx="433705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BFF9FB"/>
                </a:solidFill>
                <a:latin typeface="Verdana"/>
                <a:cs typeface="Verdana"/>
              </a:rPr>
              <a:t>Slide</a:t>
            </a:r>
            <a:r>
              <a:rPr dirty="0" sz="650" spc="-30">
                <a:solidFill>
                  <a:srgbClr val="BFF9FB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BFF9FB"/>
                </a:solidFill>
                <a:latin typeface="Verdana"/>
                <a:cs typeface="Verdana"/>
              </a:rPr>
              <a:t>Title</a:t>
            </a:r>
            <a:endParaRPr sz="65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60764" y="114300"/>
            <a:ext cx="897635" cy="119329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33266" y="829925"/>
            <a:ext cx="5400675" cy="40259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95"/>
              <a:t>Summary</a:t>
            </a:r>
            <a:r>
              <a:rPr dirty="0" spc="-85"/>
              <a:t> </a:t>
            </a:r>
            <a:r>
              <a:rPr dirty="0" spc="-730"/>
              <a:t>/</a:t>
            </a:r>
            <a:r>
              <a:rPr dirty="0" spc="-120"/>
              <a:t> </a:t>
            </a:r>
            <a:r>
              <a:rPr dirty="0" spc="-65"/>
              <a:t>Recap</a:t>
            </a:r>
            <a:r>
              <a:rPr dirty="0" spc="-114"/>
              <a:t> </a:t>
            </a:r>
            <a:r>
              <a:rPr dirty="0" spc="-100"/>
              <a:t>of</a:t>
            </a:r>
            <a:r>
              <a:rPr dirty="0" spc="-125"/>
              <a:t> </a:t>
            </a:r>
            <a:r>
              <a:rPr dirty="0" spc="-60"/>
              <a:t>Main</a:t>
            </a:r>
            <a:r>
              <a:rPr dirty="0" spc="-140"/>
              <a:t> </a:t>
            </a:r>
            <a:r>
              <a:rPr dirty="0" spc="-25"/>
              <a:t>Points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298183" y="1940153"/>
            <a:ext cx="6229350" cy="1536065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At</a:t>
            </a:r>
            <a:r>
              <a:rPr dirty="0" sz="2050" spc="-12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the</a:t>
            </a:r>
            <a:r>
              <a:rPr dirty="0" sz="2050" spc="-12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10">
                <a:solidFill>
                  <a:srgbClr val="082F50"/>
                </a:solidFill>
                <a:latin typeface="Tahoma"/>
                <a:cs typeface="Tahoma"/>
              </a:rPr>
              <a:t>end</a:t>
            </a:r>
            <a:r>
              <a:rPr dirty="0" sz="2050" spc="-10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of</a:t>
            </a:r>
            <a:r>
              <a:rPr dirty="0" sz="2050" spc="-10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this</a:t>
            </a:r>
            <a:r>
              <a:rPr dirty="0" sz="2050" spc="-11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25">
                <a:solidFill>
                  <a:srgbClr val="082F50"/>
                </a:solidFill>
                <a:latin typeface="Tahoma"/>
                <a:cs typeface="Tahoma"/>
              </a:rPr>
              <a:t>topic,</a:t>
            </a:r>
            <a:r>
              <a:rPr dirty="0" sz="2050" spc="-11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35">
                <a:solidFill>
                  <a:srgbClr val="082F50"/>
                </a:solidFill>
                <a:latin typeface="Tahoma"/>
                <a:cs typeface="Tahoma"/>
              </a:rPr>
              <a:t>you</a:t>
            </a:r>
            <a:r>
              <a:rPr dirty="0" sz="2050" spc="-10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should</a:t>
            </a:r>
            <a:r>
              <a:rPr dirty="0" sz="2050" spc="-10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10">
                <a:solidFill>
                  <a:srgbClr val="082F50"/>
                </a:solidFill>
                <a:latin typeface="Tahoma"/>
                <a:cs typeface="Tahoma"/>
              </a:rPr>
              <a:t>be</a:t>
            </a:r>
            <a:r>
              <a:rPr dirty="0" sz="2050" spc="-12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able</a:t>
            </a:r>
            <a:r>
              <a:rPr dirty="0" sz="2050" spc="-10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25">
                <a:solidFill>
                  <a:srgbClr val="082F50"/>
                </a:solidFill>
                <a:latin typeface="Tahoma"/>
                <a:cs typeface="Tahoma"/>
              </a:rPr>
              <a:t>to:</a:t>
            </a:r>
            <a:endParaRPr sz="2050">
              <a:latin typeface="Tahoma"/>
              <a:cs typeface="Tahoma"/>
            </a:endParaRPr>
          </a:p>
          <a:p>
            <a:pPr marL="402590" indent="-389890">
              <a:lnSpc>
                <a:spcPct val="100000"/>
              </a:lnSpc>
              <a:spcBef>
                <a:spcPts val="520"/>
              </a:spcBef>
              <a:buAutoNum type="arabicPeriod"/>
              <a:tabLst>
                <a:tab pos="402590" algn="l"/>
              </a:tabLst>
            </a:pPr>
            <a:r>
              <a:rPr dirty="0" sz="2050" spc="-30">
                <a:solidFill>
                  <a:srgbClr val="082F50"/>
                </a:solidFill>
                <a:latin typeface="Tahoma"/>
                <a:cs typeface="Tahoma"/>
              </a:rPr>
              <a:t>Understand</a:t>
            </a:r>
            <a:r>
              <a:rPr dirty="0" sz="2050" spc="-7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the</a:t>
            </a:r>
            <a:r>
              <a:rPr dirty="0" sz="2050" spc="-10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25">
                <a:solidFill>
                  <a:srgbClr val="082F50"/>
                </a:solidFill>
                <a:latin typeface="Tahoma"/>
                <a:cs typeface="Tahoma"/>
              </a:rPr>
              <a:t>concepts</a:t>
            </a:r>
            <a:r>
              <a:rPr dirty="0" sz="2050" spc="-114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of</a:t>
            </a:r>
            <a:r>
              <a:rPr dirty="0" sz="2050" spc="-114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40">
                <a:solidFill>
                  <a:srgbClr val="082F50"/>
                </a:solidFill>
                <a:latin typeface="Tahoma"/>
                <a:cs typeface="Tahoma"/>
              </a:rPr>
              <a:t>Hyperparameter</a:t>
            </a:r>
            <a:r>
              <a:rPr dirty="0" sz="2050" spc="-9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10">
                <a:solidFill>
                  <a:srgbClr val="082F50"/>
                </a:solidFill>
                <a:latin typeface="Tahoma"/>
                <a:cs typeface="Tahoma"/>
              </a:rPr>
              <a:t>Tuning</a:t>
            </a:r>
            <a:endParaRPr sz="2050">
              <a:latin typeface="Tahoma"/>
              <a:cs typeface="Tahoma"/>
            </a:endParaRPr>
          </a:p>
          <a:p>
            <a:pPr marL="402590" indent="-389890">
              <a:lnSpc>
                <a:spcPct val="100000"/>
              </a:lnSpc>
              <a:spcBef>
                <a:spcPts val="500"/>
              </a:spcBef>
              <a:buAutoNum type="arabicPeriod"/>
              <a:tabLst>
                <a:tab pos="402590" algn="l"/>
              </a:tabLst>
            </a:pPr>
            <a:r>
              <a:rPr dirty="0" sz="2050" spc="-30">
                <a:solidFill>
                  <a:srgbClr val="082F50"/>
                </a:solidFill>
                <a:latin typeface="Tahoma"/>
                <a:cs typeface="Tahoma"/>
              </a:rPr>
              <a:t>Understand</a:t>
            </a:r>
            <a:r>
              <a:rPr dirty="0" sz="2050" spc="-7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the</a:t>
            </a:r>
            <a:r>
              <a:rPr dirty="0" sz="2050" spc="-11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25">
                <a:solidFill>
                  <a:srgbClr val="082F50"/>
                </a:solidFill>
                <a:latin typeface="Tahoma"/>
                <a:cs typeface="Tahoma"/>
              </a:rPr>
              <a:t>concepts</a:t>
            </a:r>
            <a:r>
              <a:rPr dirty="0" sz="2050" spc="-12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of</a:t>
            </a:r>
            <a:r>
              <a:rPr dirty="0" sz="2050" spc="-11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30">
                <a:solidFill>
                  <a:srgbClr val="082F50"/>
                </a:solidFill>
                <a:latin typeface="Tahoma"/>
                <a:cs typeface="Tahoma"/>
              </a:rPr>
              <a:t>Feature</a:t>
            </a:r>
            <a:r>
              <a:rPr dirty="0" sz="2050" spc="-9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10">
                <a:solidFill>
                  <a:srgbClr val="082F50"/>
                </a:solidFill>
                <a:latin typeface="Tahoma"/>
                <a:cs typeface="Tahoma"/>
              </a:rPr>
              <a:t>Selection</a:t>
            </a:r>
            <a:endParaRPr sz="2050">
              <a:latin typeface="Tahoma"/>
              <a:cs typeface="Tahoma"/>
            </a:endParaRPr>
          </a:p>
          <a:p>
            <a:pPr marL="402590" indent="-389890">
              <a:lnSpc>
                <a:spcPct val="100000"/>
              </a:lnSpc>
              <a:spcBef>
                <a:spcPts val="520"/>
              </a:spcBef>
              <a:buAutoNum type="arabicPeriod"/>
              <a:tabLst>
                <a:tab pos="402590" algn="l"/>
              </a:tabLst>
            </a:pPr>
            <a:r>
              <a:rPr dirty="0" sz="2050" spc="-30">
                <a:solidFill>
                  <a:srgbClr val="082F50"/>
                </a:solidFill>
                <a:latin typeface="Tahoma"/>
                <a:cs typeface="Tahoma"/>
              </a:rPr>
              <a:t>Understand</a:t>
            </a:r>
            <a:r>
              <a:rPr dirty="0" sz="2050" spc="-6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the</a:t>
            </a:r>
            <a:r>
              <a:rPr dirty="0" sz="2050" spc="-10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25">
                <a:solidFill>
                  <a:srgbClr val="082F50"/>
                </a:solidFill>
                <a:latin typeface="Tahoma"/>
                <a:cs typeface="Tahoma"/>
              </a:rPr>
              <a:t>concepts</a:t>
            </a:r>
            <a:r>
              <a:rPr dirty="0" sz="2050" spc="-110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82F50"/>
                </a:solidFill>
                <a:latin typeface="Tahoma"/>
                <a:cs typeface="Tahoma"/>
              </a:rPr>
              <a:t>of</a:t>
            </a:r>
            <a:r>
              <a:rPr dirty="0" sz="2050" spc="-105">
                <a:solidFill>
                  <a:srgbClr val="082F50"/>
                </a:solidFill>
                <a:latin typeface="Tahoma"/>
                <a:cs typeface="Tahoma"/>
              </a:rPr>
              <a:t> </a:t>
            </a:r>
            <a:r>
              <a:rPr dirty="0" sz="2050" spc="-45">
                <a:solidFill>
                  <a:srgbClr val="082F50"/>
                </a:solidFill>
                <a:latin typeface="Tahoma"/>
                <a:cs typeface="Tahoma"/>
              </a:rPr>
              <a:t>Re-</a:t>
            </a:r>
            <a:r>
              <a:rPr dirty="0" sz="2050" spc="-10">
                <a:solidFill>
                  <a:srgbClr val="082F50"/>
                </a:solidFill>
                <a:latin typeface="Tahoma"/>
                <a:cs typeface="Tahoma"/>
              </a:rPr>
              <a:t>Sampling</a:t>
            </a:r>
            <a:endParaRPr sz="20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 Fei Thang</dc:creator>
  <dc:title>Microsoft PowerPoint - 07_Model Optimisation Strategies</dc:title>
  <dcterms:created xsi:type="dcterms:W3CDTF">2025-12-26T00:25:35Z</dcterms:created>
  <dcterms:modified xsi:type="dcterms:W3CDTF">2025-12-26T00:25:35Z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2025-04-28T00:00:00Z</vt:filetime>
  </property>
  <property fmtid="{D5CDD505-2E9C-101B-9397-08002B2CF9AE}" pid="3" name="LastSaved">
    <vt:filetime>2025-12-26T00:00:00Z</vt:filetime>
  </property>
  <property fmtid="{D5CDD505-2E9C-101B-9397-08002B2CF9AE}" pid="4" name="Producer">
    <vt:lpwstr>Microsoft: Print To PDF</vt:lpwstr>
  </property>
</Properties>
</file>