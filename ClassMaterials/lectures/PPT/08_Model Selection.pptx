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png" ContentType="image/pn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2505" y="0"/>
            <a:ext cx="1241494" cy="12985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329" y="534670"/>
            <a:ext cx="6588582" cy="6353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8066" y="1914855"/>
            <a:ext cx="6073140" cy="2282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youtu.be/nzznkiW8ulk?t=143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asbt.github.io/mlxtend/user_guide/evaluate/paired_ttest_5x2cv/" TargetMode="External"/><Relationship Id="rId3" Type="http://schemas.openxmlformats.org/officeDocument/2006/relationships/hyperlink" Target="https://rasbt.github.io/mlxtend/user_guide/evaluate/combined_ftest_5x2cv/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NZsL2eDQiDQ" TargetMode="External"/><Relationship Id="rId3" Type="http://schemas.openxmlformats.org/officeDocument/2006/relationships/image" Target="../media/image1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575293" y="6619747"/>
            <a:ext cx="3028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5">
                <a:solidFill>
                  <a:srgbClr val="C0F8FB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13866" y="3185617"/>
            <a:ext cx="4362450" cy="1610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" marR="5080">
              <a:lnSpc>
                <a:spcPct val="100000"/>
              </a:lnSpc>
              <a:spcBef>
                <a:spcPts val="95"/>
              </a:spcBef>
            </a:pPr>
            <a:r>
              <a:rPr dirty="0" sz="2500" spc="-50">
                <a:solidFill>
                  <a:srgbClr val="082E50"/>
                </a:solidFill>
                <a:latin typeface="Tahoma"/>
                <a:cs typeface="Tahoma"/>
              </a:rPr>
              <a:t>Data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82E50"/>
                </a:solidFill>
                <a:latin typeface="Tahoma"/>
                <a:cs typeface="Tahoma"/>
              </a:rPr>
              <a:t>Analytics</a:t>
            </a:r>
            <a:r>
              <a:rPr dirty="0" sz="2500" spc="-13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Cyber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082E50"/>
                </a:solidFill>
                <a:latin typeface="Tahoma"/>
                <a:cs typeface="Tahoma"/>
              </a:rPr>
              <a:t>Security </a:t>
            </a:r>
            <a:r>
              <a:rPr dirty="0" sz="2500" spc="-45">
                <a:solidFill>
                  <a:srgbClr val="082E50"/>
                </a:solidFill>
                <a:latin typeface="Tahoma"/>
                <a:cs typeface="Tahoma"/>
              </a:rPr>
              <a:t>CT115-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3-</a:t>
            </a:r>
            <a:r>
              <a:rPr dirty="0" sz="2500">
                <a:solidFill>
                  <a:srgbClr val="082E50"/>
                </a:solidFill>
                <a:latin typeface="Tahoma"/>
                <a:cs typeface="Tahoma"/>
              </a:rPr>
              <a:t>M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(Version</a:t>
            </a:r>
            <a:r>
              <a:rPr dirty="0" sz="250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E)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250" spc="-55" b="1">
                <a:solidFill>
                  <a:srgbClr val="006FC0"/>
                </a:solidFill>
                <a:latin typeface="Verdana"/>
                <a:cs typeface="Verdana"/>
              </a:rPr>
              <a:t>Model</a:t>
            </a:r>
            <a:r>
              <a:rPr dirty="0" sz="2250" spc="-145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10" b="1">
                <a:solidFill>
                  <a:srgbClr val="006FC0"/>
                </a:solidFill>
                <a:latin typeface="Verdana"/>
                <a:cs typeface="Verdana"/>
              </a:rPr>
              <a:t>Selection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67673" y="6619747"/>
            <a:ext cx="31877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50">
                <a:solidFill>
                  <a:srgbClr val="C0F8FB"/>
                </a:solidFill>
                <a:latin typeface="Verdana"/>
                <a:cs typeface="Verdana"/>
              </a:rPr>
              <a:t>2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6972934" cy="10547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At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end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this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topic,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you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should</a:t>
            </a:r>
            <a:r>
              <a:rPr dirty="0" sz="1850" spc="-11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be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able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to: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5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essential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steps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model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validation.</a:t>
            </a:r>
            <a:endParaRPr sz="1850">
              <a:latin typeface="Tahoma"/>
              <a:cs typeface="Tahoma"/>
            </a:endParaRPr>
          </a:p>
          <a:p>
            <a:pPr marL="254635" indent="-24193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4635" algn="l"/>
              </a:tabLst>
            </a:pP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5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different</a:t>
            </a:r>
            <a:r>
              <a:rPr dirty="0" sz="1850" spc="-6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model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comparison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0">
                <a:solidFill>
                  <a:srgbClr val="082E50"/>
                </a:solidFill>
                <a:latin typeface="Tahoma"/>
                <a:cs typeface="Tahoma"/>
              </a:rPr>
              <a:t>and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selection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techniques.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12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TOPIC </a:t>
            </a:r>
            <a:r>
              <a:rPr dirty="0" spc="-140"/>
              <a:t>LEARNING</a:t>
            </a:r>
            <a:r>
              <a:rPr dirty="0" spc="-150"/>
              <a:t> </a:t>
            </a:r>
            <a:r>
              <a:rPr dirty="0" spc="-2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67673" y="6619747"/>
            <a:ext cx="31877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50">
                <a:solidFill>
                  <a:srgbClr val="C0F8FB"/>
                </a:solidFill>
                <a:latin typeface="Verdana"/>
                <a:cs typeface="Verdana"/>
              </a:rPr>
              <a:t>3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0329" y="570102"/>
            <a:ext cx="570928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95">
                <a:solidFill>
                  <a:srgbClr val="046C33"/>
                </a:solidFill>
              </a:rPr>
              <a:t>Machine</a:t>
            </a:r>
            <a:r>
              <a:rPr dirty="0" sz="3200" spc="-170">
                <a:solidFill>
                  <a:srgbClr val="046C33"/>
                </a:solidFill>
              </a:rPr>
              <a:t> </a:t>
            </a:r>
            <a:r>
              <a:rPr dirty="0" sz="3200" spc="-125">
                <a:solidFill>
                  <a:srgbClr val="046C33"/>
                </a:solidFill>
              </a:rPr>
              <a:t>Learning</a:t>
            </a:r>
            <a:r>
              <a:rPr dirty="0" sz="3200" spc="-150">
                <a:solidFill>
                  <a:srgbClr val="046C33"/>
                </a:solidFill>
              </a:rPr>
              <a:t> </a:t>
            </a:r>
            <a:r>
              <a:rPr dirty="0" sz="3200" spc="-60">
                <a:solidFill>
                  <a:srgbClr val="046C33"/>
                </a:solidFill>
              </a:rPr>
              <a:t>Pipeline</a:t>
            </a:r>
            <a:endParaRPr sz="3200"/>
          </a:p>
        </p:txBody>
      </p:sp>
      <p:sp>
        <p:nvSpPr>
          <p:cNvPr id="8" name="object 8" descr=""/>
          <p:cNvSpPr txBox="1"/>
          <p:nvPr/>
        </p:nvSpPr>
        <p:spPr>
          <a:xfrm>
            <a:off x="4477892" y="1681734"/>
            <a:ext cx="4020185" cy="24631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75" b="1">
                <a:solidFill>
                  <a:srgbClr val="FF0000"/>
                </a:solidFill>
                <a:latin typeface="Tahoma"/>
                <a:cs typeface="Tahoma"/>
              </a:rPr>
              <a:t>Iteration: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850" spc="-130" b="1">
                <a:solidFill>
                  <a:srgbClr val="00AFEF"/>
                </a:solidFill>
                <a:latin typeface="Tahoma"/>
                <a:cs typeface="Tahoma"/>
              </a:rPr>
              <a:t>Model</a:t>
            </a:r>
            <a:r>
              <a:rPr dirty="0" sz="1850" spc="-35" b="1">
                <a:solidFill>
                  <a:srgbClr val="00AFEF"/>
                </a:solidFill>
                <a:latin typeface="Tahoma"/>
                <a:cs typeface="Tahoma"/>
              </a:rPr>
              <a:t> </a:t>
            </a:r>
            <a:r>
              <a:rPr dirty="0" sz="1850" spc="-30" b="1">
                <a:solidFill>
                  <a:srgbClr val="00AFEF"/>
                </a:solidFill>
                <a:latin typeface="Tahoma"/>
                <a:cs typeface="Tahoma"/>
              </a:rPr>
              <a:t>Validation</a:t>
            </a:r>
            <a:endParaRPr sz="1850">
              <a:latin typeface="Tahoma"/>
              <a:cs typeface="Tahoma"/>
            </a:endParaRPr>
          </a:p>
          <a:p>
            <a:pPr marL="269875" marR="5080" indent="-257810">
              <a:lnSpc>
                <a:spcPct val="101299"/>
              </a:lnSpc>
              <a:spcBef>
                <a:spcPts val="1210"/>
              </a:spcBef>
              <a:buChar char="•"/>
              <a:tabLst>
                <a:tab pos="269875" algn="l"/>
              </a:tabLst>
            </a:pP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6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model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validation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phase</a:t>
            </a: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should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lead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to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new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round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performance evaluation,</a:t>
            </a:r>
            <a:r>
              <a:rPr dirty="0" sz="1850" spc="-12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and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114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set</a:t>
            </a:r>
            <a:r>
              <a:rPr dirty="0" sz="1850" spc="-114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12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candidate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algorithms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75">
                <a:solidFill>
                  <a:srgbClr val="082E50"/>
                </a:solidFill>
                <a:latin typeface="Tahoma"/>
                <a:cs typeface="Tahoma"/>
              </a:rPr>
              <a:t>will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gradually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be</a:t>
            </a:r>
            <a:r>
              <a:rPr dirty="0" sz="1850" spc="-11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reduced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until</a:t>
            </a:r>
            <a:r>
              <a:rPr dirty="0" sz="1850" spc="-3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one</a:t>
            </a: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algorithm</a:t>
            </a: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(or</a:t>
            </a: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one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ensemble</a:t>
            </a:r>
            <a:r>
              <a:rPr dirty="0" sz="1850" spc="-6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5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algorithms)</a:t>
            </a:r>
            <a:r>
              <a:rPr dirty="0" sz="1850" spc="-5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is</a:t>
            </a:r>
            <a:r>
              <a:rPr dirty="0" sz="1850" spc="-6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selected.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5411" y="1554175"/>
            <a:ext cx="3551809" cy="46330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64626" y="6619747"/>
            <a:ext cx="3257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50">
                <a:solidFill>
                  <a:srgbClr val="C0F8FB"/>
                </a:solidFill>
                <a:latin typeface="Verdana"/>
                <a:cs typeface="Verdana"/>
              </a:rPr>
              <a:t>4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2192655" cy="10547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75"/>
              </a:spcBef>
              <a:buChar char="•"/>
              <a:tabLst>
                <a:tab pos="26987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Model</a:t>
            </a:r>
            <a:r>
              <a:rPr dirty="0" sz="1850" spc="2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selection</a:t>
            </a:r>
            <a:endParaRPr sz="1850">
              <a:latin typeface="Tahoma"/>
              <a:cs typeface="Tahoma"/>
            </a:endParaRP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Char char="•"/>
              <a:tabLst>
                <a:tab pos="269875" algn="l"/>
              </a:tabLst>
            </a:pP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Comparing</a:t>
            </a:r>
            <a:r>
              <a:rPr dirty="0" sz="1850" spc="-114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models</a:t>
            </a:r>
            <a:endParaRPr sz="1850">
              <a:latin typeface="Tahoma"/>
              <a:cs typeface="Tahoma"/>
            </a:endParaRP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Char char="•"/>
              <a:tabLst>
                <a:tab pos="269875" algn="l"/>
              </a:tabLst>
            </a:pPr>
            <a:r>
              <a:rPr dirty="0" sz="1850" spc="-50">
                <a:solidFill>
                  <a:srgbClr val="082E50"/>
                </a:solidFill>
                <a:latin typeface="Tahoma"/>
                <a:cs typeface="Tahoma"/>
              </a:rPr>
              <a:t>Case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study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12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Contents</a:t>
            </a:r>
            <a:r>
              <a:rPr dirty="0" spc="-150"/>
              <a:t> </a:t>
            </a:r>
            <a:r>
              <a:rPr dirty="0" spc="-310"/>
              <a:t>&amp;</a:t>
            </a:r>
            <a:r>
              <a:rPr dirty="0" spc="-114"/>
              <a:t> </a:t>
            </a:r>
            <a:r>
              <a:rPr dirty="0" spc="-75"/>
              <a:t>Structure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3714" y="2955798"/>
            <a:ext cx="3975735" cy="2008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201" rIns="0" bIns="0" rtlCol="0" vert="horz">
            <a:spAutoFit/>
          </a:bodyPr>
          <a:lstStyle/>
          <a:p>
            <a:pPr marL="2582545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27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Final</a:t>
            </a:r>
            <a:r>
              <a:rPr dirty="0" sz="27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Model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41959" y="1722882"/>
            <a:ext cx="7609840" cy="387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final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prepared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entire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 </a:t>
            </a:r>
            <a:r>
              <a:rPr dirty="0" sz="2100">
                <a:latin typeface="Arial MT"/>
                <a:cs typeface="Arial MT"/>
              </a:rPr>
              <a:t>dataset,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once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have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chosen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algorithm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configuration.</a:t>
            </a:r>
            <a:endParaRPr sz="2100">
              <a:latin typeface="Arial MT"/>
              <a:cs typeface="Arial MT"/>
            </a:endParaRPr>
          </a:p>
          <a:p>
            <a:pPr marL="269875" marR="12382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statistics,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more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samples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higher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confidence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25">
                <a:latin typeface="Arial MT"/>
                <a:cs typeface="Arial MT"/>
              </a:rPr>
              <a:t> our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representative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population.</a:t>
            </a:r>
            <a:endParaRPr sz="21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One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strategy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gather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population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performance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measures</a:t>
            </a:r>
            <a:endParaRPr sz="21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</a:pP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several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runs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k-fold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cross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validation.</a:t>
            </a:r>
            <a:endParaRPr sz="2100">
              <a:latin typeface="Arial MT"/>
              <a:cs typeface="Arial MT"/>
            </a:endParaRPr>
          </a:p>
          <a:p>
            <a:pPr marL="269875" marR="7937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Or,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build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ensemble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models,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trained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different </a:t>
            </a:r>
            <a:r>
              <a:rPr dirty="0" sz="2100">
                <a:latin typeface="Arial MT"/>
                <a:cs typeface="Arial MT"/>
              </a:rPr>
              <a:t>random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seed.</a:t>
            </a:r>
            <a:endParaRPr sz="2100">
              <a:latin typeface="Arial MT"/>
              <a:cs typeface="Arial MT"/>
            </a:endParaRPr>
          </a:p>
          <a:p>
            <a:pPr marL="570230" marR="71120" indent="-215265">
              <a:lnSpc>
                <a:spcPct val="100000"/>
              </a:lnSpc>
              <a:spcBef>
                <a:spcPts val="445"/>
              </a:spcBef>
            </a:pP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1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simple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voting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ensemble,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each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makes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prediction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predictions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reported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final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prediction.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391" rIns="0" bIns="0" rtlCol="0" vert="horz">
            <a:spAutoFit/>
          </a:bodyPr>
          <a:lstStyle/>
          <a:p>
            <a:pPr marL="266573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random_state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6440" y="1443355"/>
            <a:ext cx="7616190" cy="4218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classifiers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make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randomness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during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process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  <a:p>
            <a:pPr marL="27051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constructing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training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270510" marR="497205" indent="-258445">
              <a:lnSpc>
                <a:spcPct val="100000"/>
              </a:lnSpc>
              <a:spcBef>
                <a:spcPts val="1200"/>
              </a:spcBef>
              <a:buChar char="•"/>
              <a:tabLst>
                <a:tab pos="270510" algn="l"/>
              </a:tabLst>
            </a:pP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effect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fitting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time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same </a:t>
            </a:r>
            <a:r>
              <a:rPr dirty="0" sz="2000">
                <a:latin typeface="Arial MT"/>
                <a:cs typeface="Arial MT"/>
              </a:rPr>
              <a:t>algorithm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run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turn,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slightly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have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performance</a:t>
            </a:r>
            <a:endParaRPr sz="2000">
              <a:latin typeface="Arial MT"/>
              <a:cs typeface="Arial MT"/>
            </a:endParaRPr>
          </a:p>
          <a:p>
            <a:pPr marL="27051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when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evaluated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dataset.</a:t>
            </a:r>
            <a:endParaRPr sz="2000">
              <a:latin typeface="Arial MT"/>
              <a:cs typeface="Arial MT"/>
            </a:endParaRPr>
          </a:p>
          <a:p>
            <a:pPr marL="270510" marR="180975" indent="-258445">
              <a:lnSpc>
                <a:spcPct val="100000"/>
              </a:lnSpc>
              <a:spcBef>
                <a:spcPts val="1205"/>
              </a:spcBef>
              <a:buChar char="•"/>
              <a:tabLst>
                <a:tab pos="270510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proper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name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difference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behavior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within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a </a:t>
            </a:r>
            <a:r>
              <a:rPr dirty="0" sz="2000">
                <a:latin typeface="Arial MT"/>
                <a:cs typeface="Arial MT"/>
              </a:rPr>
              <a:t>range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u="sng" sz="20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stochastic</a:t>
            </a:r>
            <a:r>
              <a:rPr dirty="0" sz="2000" spc="-1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Font typeface="Wingdings"/>
              <a:buChar char=""/>
              <a:tabLst>
                <a:tab pos="269875" algn="l"/>
              </a:tabLst>
            </a:pP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Expect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performance</a:t>
            </a:r>
            <a:r>
              <a:rPr dirty="0" sz="2000" spc="-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20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range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20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0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r>
              <a:rPr dirty="0" sz="20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Arial"/>
                <a:cs typeface="Arial"/>
              </a:rPr>
              <a:t>value.</a:t>
            </a:r>
            <a:endParaRPr sz="2000">
              <a:latin typeface="Arial"/>
              <a:cs typeface="Arial"/>
            </a:endParaRPr>
          </a:p>
          <a:p>
            <a:pPr marL="269875" indent="-257175">
              <a:lnSpc>
                <a:spcPct val="100000"/>
              </a:lnSpc>
              <a:spcBef>
                <a:spcPts val="1195"/>
              </a:spcBef>
              <a:buFont typeface="Wingdings"/>
              <a:buChar char=""/>
              <a:tabLst>
                <a:tab pos="269875" algn="l"/>
              </a:tabLst>
            </a:pP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Expect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there</a:t>
            </a:r>
            <a:r>
              <a:rPr dirty="0" sz="20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20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0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range</a:t>
            </a:r>
            <a:r>
              <a:rPr dirty="0" sz="20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models</a:t>
            </a:r>
            <a:r>
              <a:rPr dirty="0" sz="20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0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choose</a:t>
            </a:r>
            <a:r>
              <a:rPr dirty="0" sz="20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dirty="0" sz="20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20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not</a:t>
            </a:r>
            <a:endParaRPr sz="2000">
              <a:latin typeface="Arial"/>
              <a:cs typeface="Arial"/>
            </a:endParaRPr>
          </a:p>
          <a:p>
            <a:pPr marL="27051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0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r>
              <a:rPr dirty="0" sz="2000" spc="-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Arial"/>
                <a:cs typeface="Arial"/>
              </a:rPr>
              <a:t>model.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391" rIns="0" bIns="0" rtlCol="0" vert="horz">
            <a:spAutoFit/>
          </a:bodyPr>
          <a:lstStyle/>
          <a:p>
            <a:pPr marL="266573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random_state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6440" y="1443355"/>
            <a:ext cx="7275195" cy="38373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marR="5080" indent="-258445">
              <a:lnSpc>
                <a:spcPct val="100000"/>
              </a:lnSpc>
              <a:spcBef>
                <a:spcPts val="105"/>
              </a:spcBef>
              <a:buChar char="•"/>
              <a:tabLst>
                <a:tab pos="270510" algn="l"/>
              </a:tabLst>
            </a:pP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numbers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software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pseudo </a:t>
            </a: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number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generator.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It’s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simple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math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function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that </a:t>
            </a:r>
            <a:r>
              <a:rPr dirty="0" sz="2000">
                <a:latin typeface="Arial MT"/>
                <a:cs typeface="Arial MT"/>
              </a:rPr>
              <a:t>generates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sequence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numbers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enough</a:t>
            </a:r>
            <a:r>
              <a:rPr dirty="0" sz="2000" spc="-25">
                <a:latin typeface="Arial MT"/>
                <a:cs typeface="Arial MT"/>
              </a:rPr>
              <a:t> for </a:t>
            </a: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applications.</a:t>
            </a:r>
            <a:endParaRPr sz="2000">
              <a:latin typeface="Arial MT"/>
              <a:cs typeface="Arial MT"/>
            </a:endParaRPr>
          </a:p>
          <a:p>
            <a:pPr marL="270510" marR="74295" indent="-258445">
              <a:lnSpc>
                <a:spcPct val="100000"/>
              </a:lnSpc>
              <a:spcBef>
                <a:spcPts val="1200"/>
              </a:spcBef>
              <a:buChar char="•"/>
              <a:tabLst>
                <a:tab pos="270510" algn="l"/>
              </a:tabLst>
            </a:pP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math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function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deterministic.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starting </a:t>
            </a:r>
            <a:r>
              <a:rPr dirty="0" sz="2000">
                <a:latin typeface="Arial MT"/>
                <a:cs typeface="Arial MT"/>
              </a:rPr>
              <a:t>point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called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number,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will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give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sequence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 </a:t>
            </a: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numbers.</a:t>
            </a:r>
            <a:endParaRPr sz="2000">
              <a:latin typeface="Arial MT"/>
              <a:cs typeface="Arial MT"/>
            </a:endParaRPr>
          </a:p>
          <a:p>
            <a:pPr marL="270510" marR="147955" indent="-258445">
              <a:lnSpc>
                <a:spcPct val="100000"/>
              </a:lnSpc>
              <a:spcBef>
                <a:spcPts val="1205"/>
              </a:spcBef>
              <a:buChar char="•"/>
              <a:tabLst>
                <a:tab pos="270510" algn="l"/>
              </a:tabLst>
            </a:pP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reproducible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results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fixing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number </a:t>
            </a:r>
            <a:r>
              <a:rPr dirty="0" sz="2000">
                <a:latin typeface="Arial MT"/>
                <a:cs typeface="Arial MT"/>
              </a:rPr>
              <a:t>generator’s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before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construct.</a:t>
            </a:r>
            <a:endParaRPr sz="20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setting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i="1">
                <a:latin typeface="Arial"/>
                <a:cs typeface="Arial"/>
              </a:rPr>
              <a:t>random_state</a:t>
            </a:r>
            <a:r>
              <a:rPr dirty="0" sz="2000" spc="-70" i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hyperparameter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27051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call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classifier.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901" rIns="0" bIns="0" rtlCol="0" vert="horz">
            <a:spAutoFit/>
          </a:bodyPr>
          <a:lstStyle/>
          <a:p>
            <a:pPr marL="185928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Report</a:t>
            </a:r>
            <a:r>
              <a:rPr dirty="0" sz="27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27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Uncertainty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1368297"/>
            <a:ext cx="7158990" cy="328866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100">
                <a:latin typeface="Arial MT"/>
                <a:cs typeface="Arial MT"/>
              </a:rPr>
              <a:t>Then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report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summary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statistics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population</a:t>
            </a:r>
            <a:endParaRPr sz="2100">
              <a:latin typeface="Arial MT"/>
              <a:cs typeface="Arial MT"/>
            </a:endParaRPr>
          </a:p>
          <a:p>
            <a:pPr marL="269875" marR="19177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  <a:tab pos="862330" algn="l"/>
              </a:tabLst>
            </a:pPr>
            <a:r>
              <a:rPr dirty="0" sz="2100">
                <a:latin typeface="Arial MT"/>
                <a:cs typeface="Arial MT"/>
              </a:rPr>
              <a:t>Report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mean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standard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deviation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performance, </a:t>
            </a:r>
            <a:r>
              <a:rPr dirty="0" sz="2100" spc="-25">
                <a:latin typeface="Arial MT"/>
                <a:cs typeface="Arial MT"/>
              </a:rPr>
              <a:t>and</a:t>
            </a:r>
            <a:r>
              <a:rPr dirty="0" sz="2100">
                <a:latin typeface="Arial MT"/>
                <a:cs typeface="Arial MT"/>
              </a:rPr>
              <a:t>	the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highest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lowest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performance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observed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(the </a:t>
            </a:r>
            <a:r>
              <a:rPr dirty="0" sz="2100" spc="-10">
                <a:latin typeface="Arial MT"/>
                <a:cs typeface="Arial MT"/>
              </a:rPr>
              <a:t>range)</a:t>
            </a:r>
            <a:endParaRPr sz="2100">
              <a:latin typeface="Arial MT"/>
              <a:cs typeface="Arial MT"/>
            </a:endParaRPr>
          </a:p>
          <a:p>
            <a:pPr lvl="1" marL="570230" marR="55244" indent="-215265">
              <a:lnSpc>
                <a:spcPct val="100000"/>
              </a:lnSpc>
              <a:spcBef>
                <a:spcPts val="1215"/>
              </a:spcBef>
              <a:buChar char="–"/>
              <a:tabLst>
                <a:tab pos="570230" algn="l"/>
              </a:tabLst>
            </a:pP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figure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“box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whisker”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plot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each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algorithm’s </a:t>
            </a:r>
            <a:r>
              <a:rPr dirty="0" sz="1800">
                <a:latin typeface="Arial MT"/>
                <a:cs typeface="Arial MT"/>
              </a:rPr>
              <a:t>sample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0">
                <a:latin typeface="Arial MT"/>
                <a:cs typeface="Arial MT"/>
              </a:rPr>
              <a:t> results.</a:t>
            </a:r>
            <a:endParaRPr sz="1800">
              <a:latin typeface="Arial MT"/>
              <a:cs typeface="Arial MT"/>
            </a:endParaRPr>
          </a:p>
          <a:p>
            <a:pPr lvl="1" marL="570230" marR="5080" indent="-215265">
              <a:lnSpc>
                <a:spcPct val="100000"/>
              </a:lnSpc>
              <a:spcBef>
                <a:spcPts val="1200"/>
              </a:spcBef>
              <a:buChar char="–"/>
              <a:tabLst>
                <a:tab pos="570230" algn="l"/>
              </a:tabLst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box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shows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middle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50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percent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orange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line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middle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each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box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shows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median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sample,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green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triangle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each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box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shows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mean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sample.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994" rIns="0" bIns="0" rtlCol="0" vert="horz">
            <a:spAutoFit/>
          </a:bodyPr>
          <a:lstStyle/>
          <a:p>
            <a:pPr marL="216408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Comparing</a:t>
            </a:r>
            <a:r>
              <a:rPr dirty="0" sz="2700" spc="-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Models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2698" y="1722882"/>
            <a:ext cx="6986905" cy="39674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0510" marR="257175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0510" algn="l"/>
              </a:tabLst>
            </a:pPr>
            <a:r>
              <a:rPr dirty="0" sz="2100">
                <a:latin typeface="Arial MT"/>
                <a:cs typeface="Arial MT"/>
              </a:rPr>
              <a:t>Differences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performance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measures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might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easily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turn </a:t>
            </a:r>
            <a:r>
              <a:rPr dirty="0" sz="2100">
                <a:latin typeface="Arial MT"/>
                <a:cs typeface="Arial MT"/>
              </a:rPr>
              <a:t>out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merely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chance,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because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 </a:t>
            </a:r>
            <a:r>
              <a:rPr dirty="0" sz="2100">
                <a:latin typeface="Arial MT"/>
                <a:cs typeface="Arial MT"/>
              </a:rPr>
              <a:t>systematically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predicts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b="1" i="1">
                <a:latin typeface="Arial"/>
                <a:cs typeface="Arial"/>
              </a:rPr>
              <a:t>better</a:t>
            </a:r>
            <a:r>
              <a:rPr dirty="0" sz="2100" spc="-20" b="1" i="1"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than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other.</a:t>
            </a:r>
            <a:endParaRPr sz="2100">
              <a:latin typeface="Arial MT"/>
              <a:cs typeface="Arial MT"/>
            </a:endParaRPr>
          </a:p>
          <a:p>
            <a:pPr marL="270510" marR="5080" indent="-258445">
              <a:lnSpc>
                <a:spcPct val="100000"/>
              </a:lnSpc>
              <a:spcBef>
                <a:spcPts val="1800"/>
              </a:spcBef>
              <a:buChar char="•"/>
              <a:tabLst>
                <a:tab pos="270510" algn="l"/>
              </a:tabLst>
            </a:pPr>
            <a:r>
              <a:rPr dirty="0" sz="2100">
                <a:latin typeface="Arial MT"/>
                <a:cs typeface="Arial MT"/>
              </a:rPr>
              <a:t>Statistical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significance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determine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difference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between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population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result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measures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is </a:t>
            </a:r>
            <a:r>
              <a:rPr dirty="0" sz="2100">
                <a:latin typeface="Arial MT"/>
                <a:cs typeface="Arial MT"/>
              </a:rPr>
              <a:t>significantly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different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second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population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results.</a:t>
            </a:r>
            <a:endParaRPr sz="21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45"/>
              </a:spcBef>
            </a:pP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1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methods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exist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statistics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selection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of</a:t>
            </a:r>
            <a:endParaRPr sz="1800">
              <a:latin typeface="Arial MT"/>
              <a:cs typeface="Arial MT"/>
            </a:endParaRPr>
          </a:p>
          <a:p>
            <a:pPr marL="57023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Machine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Learning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models.</a:t>
            </a:r>
            <a:endParaRPr sz="1800">
              <a:latin typeface="Arial MT"/>
              <a:cs typeface="Arial MT"/>
            </a:endParaRPr>
          </a:p>
          <a:p>
            <a:pPr algn="just" marL="270510" marR="241935" indent="-258445">
              <a:lnSpc>
                <a:spcPct val="100000"/>
              </a:lnSpc>
              <a:spcBef>
                <a:spcPts val="1789"/>
              </a:spcBef>
              <a:buChar char="•"/>
              <a:tabLst>
                <a:tab pos="270510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robust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way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such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comparisons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0">
                <a:latin typeface="Arial MT"/>
                <a:cs typeface="Arial MT"/>
              </a:rPr>
              <a:t> called </a:t>
            </a:r>
            <a:r>
              <a:rPr dirty="0" sz="2100" i="1">
                <a:latin typeface="Arial"/>
                <a:cs typeface="Arial"/>
              </a:rPr>
              <a:t>paired</a:t>
            </a:r>
            <a:r>
              <a:rPr dirty="0" sz="2100" spc="-45" i="1">
                <a:latin typeface="Arial"/>
                <a:cs typeface="Arial"/>
              </a:rPr>
              <a:t> </a:t>
            </a:r>
            <a:r>
              <a:rPr dirty="0" sz="2100" i="1">
                <a:latin typeface="Arial"/>
                <a:cs typeface="Arial"/>
              </a:rPr>
              <a:t>designs</a:t>
            </a:r>
            <a:r>
              <a:rPr dirty="0" sz="2100">
                <a:latin typeface="Arial MT"/>
                <a:cs typeface="Arial MT"/>
              </a:rPr>
              <a:t>,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which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compare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performance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two </a:t>
            </a:r>
            <a:r>
              <a:rPr dirty="0" sz="2100">
                <a:latin typeface="Arial MT"/>
                <a:cs typeface="Arial MT"/>
              </a:rPr>
              <a:t>models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(or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algorithms)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901" rIns="0" bIns="0" rtlCol="0" vert="horz">
            <a:spAutoFit/>
          </a:bodyPr>
          <a:lstStyle/>
          <a:p>
            <a:pPr marL="1268095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Statistical</a:t>
            </a:r>
            <a:r>
              <a:rPr dirty="0" sz="2700" spc="-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Hypothesis</a:t>
            </a:r>
            <a:r>
              <a:rPr dirty="0" sz="27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Testing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2366" y="1443354"/>
            <a:ext cx="7807325" cy="473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statistical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hypothesis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test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quantifies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how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plausible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two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samples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have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dirty="0" sz="24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been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drawn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same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distribution.</a:t>
            </a:r>
            <a:endParaRPr sz="2400">
              <a:latin typeface="Arial MT"/>
              <a:cs typeface="Arial MT"/>
            </a:endParaRPr>
          </a:p>
          <a:p>
            <a:pPr marL="269875" marR="2349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describes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null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hypothesis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test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null </a:t>
            </a:r>
            <a:r>
              <a:rPr dirty="0" sz="2400">
                <a:latin typeface="Arial MT"/>
                <a:cs typeface="Arial MT"/>
              </a:rPr>
              <a:t>hypothesis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applying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statistical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calculations.</a:t>
            </a:r>
            <a:endParaRPr sz="2400">
              <a:latin typeface="Arial MT"/>
              <a:cs typeface="Arial MT"/>
            </a:endParaRPr>
          </a:p>
          <a:p>
            <a:pPr marL="269875" marR="107314" indent="-257810">
              <a:lnSpc>
                <a:spcPct val="100000"/>
              </a:lnSpc>
              <a:spcBef>
                <a:spcPts val="180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test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result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infers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insufficient</a:t>
            </a:r>
            <a:r>
              <a:rPr dirty="0" sz="2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evidence</a:t>
            </a:r>
            <a:r>
              <a:rPr dirty="0" sz="2400" spc="-4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reject</a:t>
            </a:r>
            <a:r>
              <a:rPr dirty="0" sz="2400" spc="-5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null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hypothesis,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difference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scores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happened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chance.</a:t>
            </a:r>
            <a:endParaRPr sz="2400">
              <a:latin typeface="Arial MT"/>
              <a:cs typeface="Arial MT"/>
            </a:endParaRPr>
          </a:p>
          <a:p>
            <a:pPr marL="269875" marR="17335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test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result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infers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sufficient</a:t>
            </a:r>
            <a:r>
              <a:rPr dirty="0" sz="24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evidence</a:t>
            </a:r>
            <a:r>
              <a:rPr dirty="0" sz="2400" spc="-2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to</a:t>
            </a:r>
            <a:r>
              <a:rPr dirty="0" sz="2400" spc="-4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FEF"/>
                </a:solidFill>
                <a:latin typeface="Arial MT"/>
                <a:cs typeface="Arial MT"/>
              </a:rPr>
              <a:t>reject</a:t>
            </a:r>
            <a:r>
              <a:rPr dirty="0" sz="2400" spc="-6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null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hypothesis,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difference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model </a:t>
            </a:r>
            <a:r>
              <a:rPr dirty="0" sz="2400">
                <a:latin typeface="Arial MT"/>
                <a:cs typeface="Arial MT"/>
              </a:rPr>
              <a:t>scores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real.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901" rIns="0" bIns="0" rtlCol="0" vert="horz">
            <a:spAutoFit/>
          </a:bodyPr>
          <a:lstStyle/>
          <a:p>
            <a:pPr marL="239903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McNemar's</a:t>
            </a:r>
            <a:r>
              <a:rPr dirty="0" sz="2700" spc="-20">
                <a:solidFill>
                  <a:srgbClr val="000000"/>
                </a:solidFill>
                <a:latin typeface="Arial"/>
                <a:cs typeface="Arial"/>
              </a:rPr>
              <a:t> Test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597" y="1475040"/>
            <a:ext cx="2715152" cy="263161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46226" y="1688719"/>
            <a:ext cx="7444105" cy="45904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218180" marR="29209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McNemar's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compares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the </a:t>
            </a:r>
            <a:r>
              <a:rPr dirty="0" sz="2000">
                <a:latin typeface="Arial MT"/>
                <a:cs typeface="Arial MT"/>
              </a:rPr>
              <a:t>predictions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two models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a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2x2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confusion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matrix</a:t>
            </a:r>
            <a:endParaRPr sz="2000">
              <a:latin typeface="Arial MT"/>
              <a:cs typeface="Arial MT"/>
            </a:endParaRPr>
          </a:p>
          <a:p>
            <a:pPr marL="321818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Arial MT"/>
                <a:cs typeface="Arial MT"/>
              </a:rPr>
              <a:t>Cells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off-</a:t>
            </a:r>
            <a:r>
              <a:rPr dirty="0" sz="2000" spc="-10">
                <a:latin typeface="Arial MT"/>
                <a:cs typeface="Arial MT"/>
              </a:rPr>
              <a:t>diagonal</a:t>
            </a:r>
            <a:endParaRPr sz="2000">
              <a:latin typeface="Arial MT"/>
              <a:cs typeface="Arial MT"/>
            </a:endParaRPr>
          </a:p>
          <a:p>
            <a:pPr marL="321818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entries)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tell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how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differ</a:t>
            </a:r>
            <a:endParaRPr sz="2000">
              <a:latin typeface="Arial MT"/>
              <a:cs typeface="Arial MT"/>
            </a:endParaRPr>
          </a:p>
          <a:p>
            <a:pPr marL="3218180" marR="22669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Arial MT"/>
                <a:cs typeface="Arial MT"/>
              </a:rPr>
              <a:t>Null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hypothesis: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performance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two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same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Set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significance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threshold,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normally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775">
                <a:latin typeface="Arial MT"/>
                <a:cs typeface="Arial MT"/>
              </a:rPr>
              <a:t>α</a:t>
            </a:r>
            <a:r>
              <a:rPr dirty="0" sz="1800">
                <a:latin typeface="Arial MT"/>
                <a:cs typeface="Arial MT"/>
              </a:rPr>
              <a:t> =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0.05</a:t>
            </a:r>
            <a:endParaRPr sz="1800">
              <a:latin typeface="Arial MT"/>
              <a:cs typeface="Arial MT"/>
            </a:endParaRPr>
          </a:p>
          <a:p>
            <a:pPr marL="355600" marR="135890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Compute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p-</a:t>
            </a:r>
            <a:r>
              <a:rPr dirty="0" sz="1800">
                <a:latin typeface="Arial MT"/>
                <a:cs typeface="Arial MT"/>
              </a:rPr>
              <a:t>value,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probability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observing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given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empirical </a:t>
            </a:r>
            <a:r>
              <a:rPr dirty="0" sz="1800">
                <a:latin typeface="Arial MT"/>
                <a:cs typeface="Arial MT"/>
              </a:rPr>
              <a:t>(or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larger)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chi-</a:t>
            </a:r>
            <a:r>
              <a:rPr dirty="0" sz="1800">
                <a:latin typeface="Arial MT"/>
                <a:cs typeface="Arial MT"/>
              </a:rPr>
              <a:t>squared </a:t>
            </a:r>
            <a:r>
              <a:rPr dirty="0" sz="1800" spc="-20">
                <a:latin typeface="Arial MT"/>
                <a:cs typeface="Arial MT"/>
              </a:rPr>
              <a:t>value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If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p-</a:t>
            </a:r>
            <a:r>
              <a:rPr dirty="0" sz="1800">
                <a:latin typeface="Arial MT"/>
                <a:cs typeface="Arial MT"/>
              </a:rPr>
              <a:t>value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lower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our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chosen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significance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level,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can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reject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null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hypothesis that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two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model's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performances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equal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901" rIns="0" bIns="0" rtlCol="0" vert="horz">
            <a:spAutoFit/>
          </a:bodyPr>
          <a:lstStyle/>
          <a:p>
            <a:pPr marL="239903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McNemar's</a:t>
            </a:r>
            <a:r>
              <a:rPr dirty="0" sz="2700" spc="-20">
                <a:solidFill>
                  <a:srgbClr val="000000"/>
                </a:solidFill>
                <a:latin typeface="Arial"/>
                <a:cs typeface="Arial"/>
              </a:rPr>
              <a:t> Test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597" y="1475040"/>
            <a:ext cx="2715152" cy="263161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972559" y="1662683"/>
            <a:ext cx="4407535" cy="2554605"/>
          </a:xfrm>
          <a:prstGeom prst="rect">
            <a:avLst/>
          </a:prstGeom>
          <a:solidFill>
            <a:srgbClr val="FFC000"/>
          </a:solidFill>
        </p:spPr>
        <p:txBody>
          <a:bodyPr wrap="square" lIns="0" tIns="39369" rIns="0" bIns="0" rtlCol="0" vert="horz">
            <a:spAutoFit/>
          </a:bodyPr>
          <a:lstStyle/>
          <a:p>
            <a:pPr marL="91440" marR="118745">
              <a:lnSpc>
                <a:spcPct val="100000"/>
              </a:lnSpc>
              <a:spcBef>
                <a:spcPts val="309"/>
              </a:spcBef>
            </a:pPr>
            <a:r>
              <a:rPr dirty="0" sz="2000">
                <a:latin typeface="Arial MT"/>
                <a:cs typeface="Arial MT"/>
              </a:rPr>
              <a:t>McNemar's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compares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the </a:t>
            </a:r>
            <a:r>
              <a:rPr dirty="0" sz="2000">
                <a:latin typeface="Arial MT"/>
                <a:cs typeface="Arial MT"/>
              </a:rPr>
              <a:t>predictions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two models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a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2x2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confusion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matrix</a:t>
            </a:r>
            <a:endParaRPr sz="20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Arial MT"/>
                <a:cs typeface="Arial MT"/>
              </a:rPr>
              <a:t>Cells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off-</a:t>
            </a:r>
            <a:r>
              <a:rPr dirty="0" sz="2000" spc="-10">
                <a:latin typeface="Arial MT"/>
                <a:cs typeface="Arial MT"/>
              </a:rPr>
              <a:t>diagonal</a:t>
            </a:r>
            <a:endParaRPr sz="20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entries)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tell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how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differ</a:t>
            </a:r>
            <a:endParaRPr sz="2000">
              <a:latin typeface="Arial MT"/>
              <a:cs typeface="Arial MT"/>
            </a:endParaRPr>
          </a:p>
          <a:p>
            <a:pPr marL="91440" marR="31623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Arial MT"/>
                <a:cs typeface="Arial MT"/>
              </a:rPr>
              <a:t>Null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hypothesis: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performance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two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same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7219" y="4548606"/>
            <a:ext cx="7609840" cy="156972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91440" marR="96520">
              <a:lnSpc>
                <a:spcPct val="100000"/>
              </a:lnSpc>
              <a:spcBef>
                <a:spcPts val="309"/>
              </a:spcBef>
            </a:pPr>
            <a:r>
              <a:rPr dirty="0" sz="2400">
                <a:latin typeface="Arial MT"/>
                <a:cs typeface="Arial MT"/>
              </a:rPr>
              <a:t>McNemar's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test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unique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actual </a:t>
            </a:r>
            <a:r>
              <a:rPr dirty="0" sz="2400">
                <a:latin typeface="Arial MT"/>
                <a:cs typeface="Arial MT"/>
              </a:rPr>
              <a:t>predictions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these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tests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metric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derived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confusion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matrix,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like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accuracy, </a:t>
            </a:r>
            <a:r>
              <a:rPr dirty="0" sz="2400">
                <a:latin typeface="Arial MT"/>
                <a:cs typeface="Arial MT"/>
              </a:rPr>
              <a:t>precision,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recall,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F1,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roc_auc,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…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0832" y="279908"/>
            <a:ext cx="263969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McNemar's</a:t>
            </a:r>
            <a:r>
              <a:rPr dirty="0" sz="2700" spc="-20">
                <a:solidFill>
                  <a:srgbClr val="000000"/>
                </a:solidFill>
                <a:latin typeface="Arial"/>
                <a:cs typeface="Arial"/>
              </a:rPr>
              <a:t> Test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387" y="967905"/>
            <a:ext cx="8247888" cy="466001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820672" y="5883351"/>
            <a:ext cx="3633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3"/>
              </a:rPr>
              <a:t>https://youtu.be/nzznkiW8ulk?t=143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575" y="65659"/>
            <a:ext cx="389382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5x2cv</a:t>
            </a:r>
            <a:r>
              <a:rPr dirty="0" sz="27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paired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(t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or</a:t>
            </a:r>
            <a:r>
              <a:rPr dirty="0" sz="27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f)</a:t>
            </a:r>
            <a:r>
              <a:rPr dirty="0" sz="27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20">
                <a:solidFill>
                  <a:srgbClr val="000000"/>
                </a:solidFill>
                <a:latin typeface="Arial"/>
                <a:cs typeface="Arial"/>
              </a:rPr>
              <a:t>test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49364" y="731138"/>
            <a:ext cx="6314440" cy="5755640"/>
          </a:xfrm>
          <a:custGeom>
            <a:avLst/>
            <a:gdLst/>
            <a:ahLst/>
            <a:cxnLst/>
            <a:rect l="l" t="t" r="r" b="b"/>
            <a:pathLst>
              <a:path w="6314440" h="5755640">
                <a:moveTo>
                  <a:pt x="0" y="5755386"/>
                </a:moveTo>
                <a:lnTo>
                  <a:pt x="6314313" y="5755386"/>
                </a:lnTo>
                <a:lnTo>
                  <a:pt x="6314313" y="0"/>
                </a:lnTo>
                <a:lnTo>
                  <a:pt x="0" y="0"/>
                </a:lnTo>
                <a:lnTo>
                  <a:pt x="0" y="575538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28066" y="756920"/>
            <a:ext cx="5728970" cy="1125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9875" marR="5080" indent="-257810">
              <a:lnSpc>
                <a:spcPct val="100200"/>
              </a:lnSpc>
              <a:spcBef>
                <a:spcPts val="9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5x2cv</a:t>
            </a:r>
            <a:r>
              <a:rPr dirty="0" sz="2400" spc="-4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paired</a:t>
            </a:r>
            <a:r>
              <a:rPr dirty="0" sz="24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t-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test:</a:t>
            </a:r>
            <a:r>
              <a:rPr dirty="0" sz="2400" spc="-6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Dietterich,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T.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G.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(1998). </a:t>
            </a:r>
            <a:r>
              <a:rPr dirty="0" sz="1600">
                <a:latin typeface="Arial MT"/>
                <a:cs typeface="Arial MT"/>
              </a:rPr>
              <a:t>Approximate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statistical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tests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comparing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supervised </a:t>
            </a:r>
            <a:r>
              <a:rPr dirty="0" sz="1600">
                <a:latin typeface="Arial MT"/>
                <a:cs typeface="Arial MT"/>
              </a:rPr>
              <a:t>classification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learning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algorithms.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Neural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computation,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10(7), </a:t>
            </a:r>
            <a:r>
              <a:rPr dirty="0" sz="1600" spc="-20">
                <a:latin typeface="Arial MT"/>
                <a:cs typeface="Arial MT"/>
              </a:rPr>
              <a:t>1895-1923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har char="•"/>
              <a:tabLst>
                <a:tab pos="269875" algn="l"/>
              </a:tabLst>
            </a:pPr>
            <a:r>
              <a:rPr dirty="0"/>
              <a:t>Low</a:t>
            </a:r>
            <a:r>
              <a:rPr dirty="0" spc="-20"/>
              <a:t> </a:t>
            </a:r>
            <a:r>
              <a:rPr dirty="0"/>
              <a:t>false</a:t>
            </a:r>
            <a:r>
              <a:rPr dirty="0" spc="-20"/>
              <a:t> </a:t>
            </a:r>
            <a:r>
              <a:rPr dirty="0"/>
              <a:t>positive</a:t>
            </a:r>
            <a:r>
              <a:rPr dirty="0" spc="-30"/>
              <a:t> </a:t>
            </a:r>
            <a:r>
              <a:rPr dirty="0"/>
              <a:t>rate,</a:t>
            </a:r>
            <a:r>
              <a:rPr dirty="0" spc="-30"/>
              <a:t> </a:t>
            </a:r>
            <a:r>
              <a:rPr dirty="0"/>
              <a:t>slightly</a:t>
            </a:r>
            <a:r>
              <a:rPr dirty="0" spc="-15"/>
              <a:t> </a:t>
            </a:r>
            <a:r>
              <a:rPr dirty="0"/>
              <a:t>more</a:t>
            </a:r>
            <a:r>
              <a:rPr dirty="0" spc="-35"/>
              <a:t> </a:t>
            </a:r>
            <a:r>
              <a:rPr dirty="0"/>
              <a:t>powerful</a:t>
            </a:r>
            <a:r>
              <a:rPr dirty="0" spc="-40"/>
              <a:t> </a:t>
            </a:r>
            <a:r>
              <a:rPr dirty="0" spc="-20"/>
              <a:t>than</a:t>
            </a:r>
          </a:p>
          <a:p>
            <a:pPr marL="269875">
              <a:lnSpc>
                <a:spcPct val="100000"/>
              </a:lnSpc>
            </a:pPr>
            <a:r>
              <a:rPr dirty="0" spc="-10"/>
              <a:t>McNemar</a:t>
            </a:r>
          </a:p>
          <a:p>
            <a:pPr marL="269875" marR="5080" indent="-257810">
              <a:lnSpc>
                <a:spcPct val="100000"/>
              </a:lnSpc>
              <a:spcBef>
                <a:spcPts val="480"/>
              </a:spcBef>
              <a:buChar char="•"/>
              <a:tabLst>
                <a:tab pos="269875" algn="l"/>
              </a:tabLst>
            </a:pPr>
            <a:r>
              <a:rPr dirty="0"/>
              <a:t>Recommended</a:t>
            </a:r>
            <a:r>
              <a:rPr dirty="0" spc="-75"/>
              <a:t> </a:t>
            </a:r>
            <a:r>
              <a:rPr dirty="0"/>
              <a:t>if</a:t>
            </a:r>
            <a:r>
              <a:rPr dirty="0" spc="-30"/>
              <a:t> </a:t>
            </a:r>
            <a:r>
              <a:rPr dirty="0"/>
              <a:t>computational</a:t>
            </a:r>
            <a:r>
              <a:rPr dirty="0" spc="-55"/>
              <a:t> </a:t>
            </a:r>
            <a:r>
              <a:rPr dirty="0"/>
              <a:t>efficiency</a:t>
            </a:r>
            <a:r>
              <a:rPr dirty="0" spc="-70"/>
              <a:t> </a:t>
            </a:r>
            <a:r>
              <a:rPr dirty="0" spc="-10"/>
              <a:t>(runtime) </a:t>
            </a:r>
            <a:r>
              <a:rPr dirty="0"/>
              <a:t>is</a:t>
            </a:r>
            <a:r>
              <a:rPr dirty="0" spc="-5"/>
              <a:t> </a:t>
            </a:r>
            <a:r>
              <a:rPr dirty="0"/>
              <a:t>not</a:t>
            </a:r>
            <a:r>
              <a:rPr dirty="0" spc="-15"/>
              <a:t> </a:t>
            </a:r>
            <a:r>
              <a:rPr dirty="0"/>
              <a:t>an</a:t>
            </a:r>
            <a:r>
              <a:rPr dirty="0" spc="-15"/>
              <a:t> </a:t>
            </a:r>
            <a:r>
              <a:rPr dirty="0"/>
              <a:t>issue</a:t>
            </a:r>
            <a:r>
              <a:rPr dirty="0" spc="-25"/>
              <a:t> </a:t>
            </a:r>
            <a:r>
              <a:rPr dirty="0"/>
              <a:t>(10</a:t>
            </a:r>
            <a:r>
              <a:rPr dirty="0" spc="-15"/>
              <a:t> </a:t>
            </a:r>
            <a:r>
              <a:rPr dirty="0"/>
              <a:t>times</a:t>
            </a:r>
            <a:r>
              <a:rPr dirty="0" spc="-10"/>
              <a:t> </a:t>
            </a:r>
            <a:r>
              <a:rPr dirty="0"/>
              <a:t>more</a:t>
            </a:r>
            <a:r>
              <a:rPr dirty="0" spc="-30"/>
              <a:t> </a:t>
            </a:r>
            <a:r>
              <a:rPr dirty="0"/>
              <a:t>computations</a:t>
            </a:r>
            <a:r>
              <a:rPr dirty="0" spc="-45"/>
              <a:t> </a:t>
            </a:r>
            <a:r>
              <a:rPr dirty="0" spc="-20"/>
              <a:t>than </a:t>
            </a:r>
            <a:r>
              <a:rPr dirty="0" spc="-10"/>
              <a:t>McNemar)</a:t>
            </a: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2"/>
              </a:rPr>
              <a:t>https://rasbt.github.io/mlxtend/user_guide/evaluate/</a:t>
            </a:r>
          </a:p>
          <a:p>
            <a:pPr marL="269875">
              <a:lnSpc>
                <a:spcPct val="100000"/>
              </a:lnSpc>
              <a:spcBef>
                <a:spcPts val="5"/>
              </a:spcBef>
            </a:pPr>
            <a:r>
              <a:rPr dirty="0" u="sng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2"/>
              </a:rPr>
              <a:t>paired_ttest_5x2cv/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28066" y="4399915"/>
            <a:ext cx="5942330" cy="8813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267970" marR="5080" indent="-255904">
              <a:lnSpc>
                <a:spcPct val="100299"/>
              </a:lnSpc>
              <a:spcBef>
                <a:spcPts val="9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Combined</a:t>
            </a:r>
            <a:r>
              <a:rPr dirty="0" sz="2400" spc="-8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5×2cv</a:t>
            </a:r>
            <a:r>
              <a:rPr dirty="0" sz="24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f-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test:</a:t>
            </a:r>
            <a:r>
              <a:rPr dirty="0" sz="2400" spc="-6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Alpaydin,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Ethem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(1999). </a:t>
            </a:r>
            <a:r>
              <a:rPr dirty="0" sz="1600" spc="-10">
                <a:latin typeface="Arial MT"/>
                <a:cs typeface="Arial MT"/>
              </a:rPr>
              <a:t>	</a:t>
            </a:r>
            <a:r>
              <a:rPr dirty="0" sz="1600">
                <a:latin typeface="Arial MT"/>
                <a:cs typeface="Arial MT"/>
              </a:rPr>
              <a:t>"Combined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5×2cv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f-</a:t>
            </a:r>
            <a:r>
              <a:rPr dirty="0" sz="1600">
                <a:latin typeface="Arial MT"/>
                <a:cs typeface="Arial MT"/>
              </a:rPr>
              <a:t>test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comparing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supervised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classification </a:t>
            </a:r>
            <a:r>
              <a:rPr dirty="0" sz="1600" spc="-10">
                <a:latin typeface="Arial MT"/>
                <a:cs typeface="Arial MT"/>
              </a:rPr>
              <a:t>	</a:t>
            </a:r>
            <a:r>
              <a:rPr dirty="0" sz="1600">
                <a:latin typeface="Arial MT"/>
                <a:cs typeface="Arial MT"/>
              </a:rPr>
              <a:t>learning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algorithms."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Neural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computation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11(8),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1885-</a:t>
            </a:r>
            <a:r>
              <a:rPr dirty="0" sz="1600" spc="-20">
                <a:latin typeface="Arial MT"/>
                <a:cs typeface="Arial MT"/>
              </a:rPr>
              <a:t>1892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8066" y="5254193"/>
            <a:ext cx="6167120" cy="106235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8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More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robust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5x2cv</a:t>
            </a:r>
            <a:r>
              <a:rPr dirty="0" sz="2000" spc="-1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paired</a:t>
            </a:r>
            <a:r>
              <a:rPr dirty="0" sz="20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t-</a:t>
            </a:r>
            <a:r>
              <a:rPr dirty="0" sz="2000" spc="-20" b="1">
                <a:solidFill>
                  <a:srgbClr val="006FC0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  <a:p>
            <a:pPr marL="269875" marR="5080" indent="-25781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z="20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https://rasbt.github.io/mlxtend/user_guide/evaluate/c</a:t>
            </a:r>
            <a:r>
              <a:rPr dirty="0" sz="2000" spc="-1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sng" sz="20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ombined_ftest_5x2cv/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019290" y="1893823"/>
            <a:ext cx="173736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difference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is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distribution </a:t>
            </a:r>
            <a:r>
              <a:rPr dirty="0" sz="1800">
                <a:latin typeface="Arial MT"/>
                <a:cs typeface="Arial MT"/>
              </a:rPr>
              <a:t>used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calculate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p-value: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84466" y="3265678"/>
            <a:ext cx="12687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2130" marR="5080" indent="-52006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t-distribution </a:t>
            </a:r>
            <a:r>
              <a:rPr dirty="0" sz="1800" spc="-25">
                <a:latin typeface="Arial MT"/>
                <a:cs typeface="Arial MT"/>
              </a:rPr>
              <a:t>or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Arial MT"/>
                <a:cs typeface="Arial MT"/>
              </a:rPr>
              <a:t>f-distribution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74154" y="4362957"/>
            <a:ext cx="168783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8920" marR="5080" indent="-23622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(McNiemar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uses </a:t>
            </a:r>
            <a:r>
              <a:rPr dirty="0" sz="1800" spc="-10">
                <a:latin typeface="Arial MT"/>
                <a:cs typeface="Arial MT"/>
              </a:rPr>
              <a:t>chi-squared distribution)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901" rIns="0" bIns="0" rtlCol="0" vert="horz">
            <a:spAutoFit/>
          </a:bodyPr>
          <a:lstStyle/>
          <a:p>
            <a:pPr marL="839469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5x2CV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paired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(t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or</a:t>
            </a:r>
            <a:r>
              <a:rPr dirty="0" sz="27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f)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test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 procedure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1395" y="4401692"/>
            <a:ext cx="7257415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Let’s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have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two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classifiers,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B.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randomly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split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data</a:t>
            </a:r>
            <a:r>
              <a:rPr dirty="0" sz="1800" spc="5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50%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training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50%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test.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Then,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each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training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compute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difference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accuracy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between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models</a:t>
            </a:r>
            <a:r>
              <a:rPr dirty="0" sz="1800" spc="-20">
                <a:latin typeface="Arial MT"/>
                <a:cs typeface="Arial MT"/>
              </a:rPr>
              <a:t> from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test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set,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DiffA.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Then,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training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test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splits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reversed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difference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calculated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again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DiffB.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repeated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five </a:t>
            </a:r>
            <a:r>
              <a:rPr dirty="0" sz="1800">
                <a:latin typeface="Arial MT"/>
                <a:cs typeface="Arial MT"/>
              </a:rPr>
              <a:t>times,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after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which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mean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variance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differences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is </a:t>
            </a:r>
            <a:r>
              <a:rPr dirty="0" sz="1800" spc="-10">
                <a:latin typeface="Arial MT"/>
                <a:cs typeface="Arial MT"/>
              </a:rPr>
              <a:t>computed.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442" y="1679099"/>
            <a:ext cx="7420399" cy="25886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960" rIns="0" bIns="0" rtlCol="0" vert="horz">
            <a:spAutoFit/>
          </a:bodyPr>
          <a:lstStyle/>
          <a:p>
            <a:pPr marL="1449705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Wilcoxon</a:t>
            </a:r>
            <a:r>
              <a:rPr dirty="0" sz="27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Signed-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Rank</a:t>
            </a:r>
            <a:r>
              <a:rPr dirty="0" sz="27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20">
                <a:solidFill>
                  <a:srgbClr val="000000"/>
                </a:solidFill>
                <a:latin typeface="Arial"/>
                <a:cs typeface="Arial"/>
              </a:rPr>
              <a:t>Test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6115" y="1722882"/>
            <a:ext cx="7419340" cy="4264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marR="8890" indent="-257810">
              <a:lnSpc>
                <a:spcPct val="100000"/>
              </a:lnSpc>
              <a:spcBef>
                <a:spcPts val="105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Wilcoxon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signed-</a:t>
            </a:r>
            <a:r>
              <a:rPr dirty="0" sz="2000">
                <a:latin typeface="Arial MT"/>
                <a:cs typeface="Arial MT"/>
              </a:rPr>
              <a:t>rank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non-</a:t>
            </a:r>
            <a:r>
              <a:rPr dirty="0" sz="2000">
                <a:latin typeface="Arial MT"/>
                <a:cs typeface="Arial MT"/>
              </a:rPr>
              <a:t>parametric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paired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Student’s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t-test.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when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sample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size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small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follow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normal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distribution.</a:t>
            </a:r>
            <a:endParaRPr sz="2000">
              <a:latin typeface="Arial MT"/>
              <a:cs typeface="Arial MT"/>
            </a:endParaRPr>
          </a:p>
          <a:p>
            <a:pPr marL="269875" marR="144145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apply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significance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comparing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two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 </a:t>
            </a:r>
            <a:r>
              <a:rPr dirty="0" sz="2000">
                <a:latin typeface="Arial MT"/>
                <a:cs typeface="Arial MT"/>
              </a:rPr>
              <a:t>Learning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models.</a:t>
            </a:r>
            <a:endParaRPr sz="2000">
              <a:latin typeface="Arial MT"/>
              <a:cs typeface="Arial MT"/>
            </a:endParaRPr>
          </a:p>
          <a:p>
            <a:pPr lvl="1" marL="354965" marR="19685" indent="2800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635000" algn="l"/>
              </a:tabLst>
            </a:pPr>
            <a:r>
              <a:rPr dirty="0" sz="2000">
                <a:latin typeface="Arial MT"/>
                <a:cs typeface="Arial MT"/>
              </a:rPr>
              <a:t>Create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accuracy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scores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k-</a:t>
            </a:r>
            <a:r>
              <a:rPr dirty="0" sz="2000" spc="-20">
                <a:latin typeface="Arial MT"/>
                <a:cs typeface="Arial MT"/>
              </a:rPr>
              <a:t>fold </a:t>
            </a:r>
            <a:r>
              <a:rPr dirty="0" sz="2000">
                <a:latin typeface="Arial MT"/>
                <a:cs typeface="Arial MT"/>
              </a:rPr>
              <a:t>cross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validation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several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runs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number seeds.</a:t>
            </a:r>
            <a:endParaRPr sz="2000">
              <a:latin typeface="Arial MT"/>
              <a:cs typeface="Arial MT"/>
            </a:endParaRPr>
          </a:p>
          <a:p>
            <a:pPr lvl="2" marL="869315" indent="-170815">
              <a:lnSpc>
                <a:spcPct val="100000"/>
              </a:lnSpc>
              <a:spcBef>
                <a:spcPts val="480"/>
              </a:spcBef>
              <a:buChar char="•"/>
              <a:tabLst>
                <a:tab pos="869315" algn="l"/>
              </a:tabLst>
            </a:pP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gives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two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samples,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model.</a:t>
            </a:r>
            <a:endParaRPr sz="2000">
              <a:latin typeface="Arial MT"/>
              <a:cs typeface="Arial MT"/>
            </a:endParaRPr>
          </a:p>
          <a:p>
            <a:pPr lvl="1" marL="635000" indent="-2800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635000" algn="l"/>
              </a:tabLst>
            </a:pPr>
            <a:r>
              <a:rPr dirty="0" sz="2000">
                <a:latin typeface="Arial MT"/>
                <a:cs typeface="Arial MT"/>
              </a:rPr>
              <a:t>Then,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 use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Wilcoxon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signed-</a:t>
            </a:r>
            <a:r>
              <a:rPr dirty="0" sz="2000">
                <a:latin typeface="Arial MT"/>
                <a:cs typeface="Arial MT"/>
              </a:rPr>
              <a:t>rank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two</a:t>
            </a:r>
            <a:endParaRPr sz="20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accuracy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score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samples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significantly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other.</a:t>
            </a:r>
            <a:endParaRPr sz="2000">
              <a:latin typeface="Arial MT"/>
              <a:cs typeface="Arial MT"/>
            </a:endParaRPr>
          </a:p>
          <a:p>
            <a:pPr lvl="2" marL="869315" indent="-170815">
              <a:lnSpc>
                <a:spcPct val="100000"/>
              </a:lnSpc>
              <a:spcBef>
                <a:spcPts val="484"/>
              </a:spcBef>
              <a:buChar char="•"/>
              <a:tabLst>
                <a:tab pos="869315" algn="l"/>
              </a:tabLst>
            </a:pP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more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accurate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other.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383" y="1512756"/>
            <a:ext cx="8472520" cy="23975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695" rIns="0" bIns="0" rtlCol="0" vert="horz">
            <a:spAutoFit/>
          </a:bodyPr>
          <a:lstStyle/>
          <a:p>
            <a:pPr marL="1449705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Wilcoxon</a:t>
            </a:r>
            <a:r>
              <a:rPr dirty="0" sz="27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Signed-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Rank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20">
                <a:solidFill>
                  <a:srgbClr val="000000"/>
                </a:solidFill>
                <a:latin typeface="Arial"/>
                <a:cs typeface="Arial"/>
              </a:rPr>
              <a:t>Test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2612" y="4200525"/>
            <a:ext cx="7689850" cy="19170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result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will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C00000"/>
                </a:solidFill>
                <a:latin typeface="Arial MT"/>
                <a:cs typeface="Arial MT"/>
              </a:rPr>
              <a:t>p-value</a:t>
            </a:r>
            <a:r>
              <a:rPr dirty="0" sz="2000">
                <a:latin typeface="Arial MT"/>
                <a:cs typeface="Arial MT"/>
              </a:rPr>
              <a:t>.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value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lower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0.05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can </a:t>
            </a:r>
            <a:r>
              <a:rPr dirty="0" sz="2000">
                <a:latin typeface="Arial MT"/>
                <a:cs typeface="Arial MT"/>
              </a:rPr>
              <a:t>reject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null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hypothesis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there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significant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differences </a:t>
            </a:r>
            <a:r>
              <a:rPr dirty="0" sz="2000">
                <a:latin typeface="Arial MT"/>
                <a:cs typeface="Arial MT"/>
              </a:rPr>
              <a:t>between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models.</a:t>
            </a:r>
            <a:endParaRPr sz="2000">
              <a:latin typeface="Arial MT"/>
              <a:cs typeface="Arial MT"/>
            </a:endParaRPr>
          </a:p>
          <a:p>
            <a:pPr algn="just" marL="269875" marR="45085" indent="-257810">
              <a:lnSpc>
                <a:spcPct val="100000"/>
              </a:lnSpc>
              <a:spcBef>
                <a:spcPts val="121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1800" b="1" i="1">
                <a:latin typeface="Arial"/>
                <a:cs typeface="Arial"/>
              </a:rPr>
              <a:t>NOTE: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It</a:t>
            </a:r>
            <a:r>
              <a:rPr dirty="0" sz="1800" spc="-1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is</a:t>
            </a:r>
            <a:r>
              <a:rPr dirty="0" sz="1800" spc="-3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important</a:t>
            </a:r>
            <a:r>
              <a:rPr dirty="0" sz="1800" spc="-1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to</a:t>
            </a:r>
            <a:r>
              <a:rPr dirty="0" sz="1800" spc="-15" b="1" i="1"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keep</a:t>
            </a:r>
            <a:r>
              <a:rPr dirty="0" u="sng" sz="18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800" spc="-1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same</a:t>
            </a:r>
            <a:r>
              <a:rPr dirty="0" u="sng" sz="1800" spc="-1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folds</a:t>
            </a:r>
            <a:r>
              <a:rPr dirty="0" u="sng" sz="1800" spc="-3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between</a:t>
            </a:r>
            <a:r>
              <a:rPr dirty="0" u="sng" sz="1800" spc="-1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800" spc="-3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r>
              <a:rPr dirty="0" u="sng" sz="18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sz="1800" spc="-25" b="1" i="1">
                <a:latin typeface="Arial"/>
                <a:cs typeface="Arial"/>
              </a:rPr>
              <a:t>to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make</a:t>
            </a:r>
            <a:r>
              <a:rPr dirty="0" u="sng" sz="18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sure</a:t>
            </a:r>
            <a:r>
              <a:rPr dirty="0" u="sng" sz="1800" spc="-3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8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samples</a:t>
            </a:r>
            <a:r>
              <a:rPr dirty="0" u="sng" sz="18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dirty="0" u="sng" sz="18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drawn</a:t>
            </a:r>
            <a:r>
              <a:rPr dirty="0" u="sng" sz="18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from</a:t>
            </a:r>
            <a:r>
              <a:rPr dirty="0" u="sng" sz="18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800" spc="-4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same</a:t>
            </a:r>
            <a:r>
              <a:rPr dirty="0" u="sng" sz="1800" spc="-1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population</a:t>
            </a:r>
            <a:r>
              <a:rPr dirty="0" sz="1800" b="1" i="1">
                <a:latin typeface="Arial"/>
                <a:cs typeface="Arial"/>
              </a:rPr>
              <a:t>.</a:t>
            </a:r>
            <a:r>
              <a:rPr dirty="0" sz="1800" spc="-5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This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spc="-25" b="1" i="1">
                <a:latin typeface="Arial"/>
                <a:cs typeface="Arial"/>
              </a:rPr>
              <a:t>is </a:t>
            </a:r>
            <a:r>
              <a:rPr dirty="0" sz="1800" b="1" i="1">
                <a:latin typeface="Arial"/>
                <a:cs typeface="Arial"/>
              </a:rPr>
              <a:t>achieved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by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simply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using</a:t>
            </a:r>
            <a:r>
              <a:rPr dirty="0" sz="1800" spc="-4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the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same</a:t>
            </a:r>
            <a:r>
              <a:rPr dirty="0" sz="1800" spc="-2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random_state</a:t>
            </a:r>
            <a:r>
              <a:rPr dirty="0" sz="1800" spc="-15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value.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41805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Wilcoxon</a:t>
            </a:r>
            <a:r>
              <a:rPr dirty="0" sz="27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"/>
                <a:cs typeface="Arial"/>
              </a:rPr>
              <a:t>Signed-</a:t>
            </a:r>
            <a:r>
              <a:rPr dirty="0" sz="2700">
                <a:solidFill>
                  <a:srgbClr val="000000"/>
                </a:solidFill>
                <a:latin typeface="Arial"/>
                <a:cs typeface="Arial"/>
              </a:rPr>
              <a:t>Rank</a:t>
            </a:r>
            <a:r>
              <a:rPr dirty="0" sz="27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spc="-20">
                <a:solidFill>
                  <a:srgbClr val="000000"/>
                </a:solidFill>
                <a:latin typeface="Arial"/>
                <a:cs typeface="Arial"/>
              </a:rPr>
              <a:t>Test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64994" y="5983630"/>
            <a:ext cx="3183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https://youtu.be/NZsL2eDQiDQ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521" y="1384427"/>
            <a:ext cx="7238365" cy="40891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52433" y="6619747"/>
            <a:ext cx="3492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70">
                <a:solidFill>
                  <a:srgbClr val="C0F8FB"/>
                </a:solidFill>
                <a:latin typeface="Verdana"/>
                <a:cs typeface="Verdana"/>
              </a:rPr>
              <a:t>19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7167880" cy="7112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75"/>
              </a:spcBef>
              <a:buChar char="•"/>
              <a:tabLst>
                <a:tab pos="269875" algn="l"/>
              </a:tabLst>
            </a:pPr>
            <a:r>
              <a:rPr dirty="0" sz="1850" spc="-50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5">
                <a:solidFill>
                  <a:srgbClr val="082E50"/>
                </a:solidFill>
                <a:latin typeface="Tahoma"/>
                <a:cs typeface="Tahoma"/>
              </a:rPr>
              <a:t>are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essential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steps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model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validation?</a:t>
            </a:r>
            <a:endParaRPr sz="1850">
              <a:latin typeface="Tahoma"/>
              <a:cs typeface="Tahoma"/>
            </a:endParaRP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Char char="•"/>
              <a:tabLst>
                <a:tab pos="269875" algn="l"/>
              </a:tabLst>
            </a:pPr>
            <a:r>
              <a:rPr dirty="0" sz="1850" spc="-50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5">
                <a:solidFill>
                  <a:srgbClr val="082E50"/>
                </a:solidFill>
                <a:latin typeface="Tahoma"/>
                <a:cs typeface="Tahoma"/>
              </a:rPr>
              <a:t>are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different</a:t>
            </a:r>
            <a:r>
              <a:rPr dirty="0" sz="1850" spc="-6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model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comparison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and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selection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techniques?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12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Review</a:t>
            </a:r>
            <a:r>
              <a:rPr dirty="0" spc="-95"/>
              <a:t> </a:t>
            </a:r>
            <a:r>
              <a:rPr dirty="0" spc="-65"/>
              <a:t>Questions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43290" y="6619747"/>
            <a:ext cx="3683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20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7184390" cy="7112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</a:tabLst>
            </a:pP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essential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steps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model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validation.</a:t>
            </a:r>
            <a:endParaRPr sz="185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</a:tabLst>
            </a:pP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different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model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comparison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and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selection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techniques.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0329" y="648461"/>
            <a:ext cx="4914900" cy="3695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Summary</a:t>
            </a:r>
            <a:r>
              <a:rPr dirty="0" spc="-120"/>
              <a:t> </a:t>
            </a:r>
            <a:r>
              <a:rPr dirty="0" spc="-670"/>
              <a:t>/</a:t>
            </a:r>
            <a:r>
              <a:rPr dirty="0" spc="-110"/>
              <a:t> </a:t>
            </a:r>
            <a:r>
              <a:rPr dirty="0" spc="-70"/>
              <a:t>Recap</a:t>
            </a:r>
            <a:r>
              <a:rPr dirty="0" spc="-130"/>
              <a:t> </a:t>
            </a:r>
            <a:r>
              <a:rPr dirty="0" spc="-75"/>
              <a:t>of</a:t>
            </a:r>
            <a:r>
              <a:rPr dirty="0" spc="-110"/>
              <a:t> </a:t>
            </a:r>
            <a:r>
              <a:rPr dirty="0" spc="-70"/>
              <a:t>Main</a:t>
            </a:r>
            <a:r>
              <a:rPr dirty="0" spc="-145"/>
              <a:t> </a:t>
            </a:r>
            <a:r>
              <a:rPr dirty="0" spc="-55"/>
              <a:t>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dc:title>Topic 4: Naïve Bayesian</dc:title>
  <dcterms:created xsi:type="dcterms:W3CDTF">2025-12-26T00:25:47Z</dcterms:created>
  <dcterms:modified xsi:type="dcterms:W3CDTF">2025-12-26T00:25:47Z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2025-12-26T00:00:00Z</vt:filetime>
  </property>
  <property fmtid="{D5CDD505-2E9C-101B-9397-08002B2CF9AE}" pid="5" name="Producer">
    <vt:lpwstr>Microsoft® PowerPoint® for Microsoft 365</vt:lpwstr>
  </property>
</Properties>
</file>