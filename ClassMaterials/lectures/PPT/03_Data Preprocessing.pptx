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Default Extension="png" ContentType="image/png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B0F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B0F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720" y="549467"/>
            <a:ext cx="6903089" cy="897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12318" y="1803428"/>
            <a:ext cx="4537709" cy="410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B0F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82966" y="7086055"/>
            <a:ext cx="3111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0">
                <a:solidFill>
                  <a:srgbClr val="C0F9FC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59065" y="3418183"/>
            <a:ext cx="4516120" cy="168275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6195" marR="5080">
              <a:lnSpc>
                <a:spcPts val="3100"/>
              </a:lnSpc>
              <a:spcBef>
                <a:spcPts val="220"/>
              </a:spcBef>
            </a:pPr>
            <a:r>
              <a:rPr dirty="0" sz="2600" spc="-180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2600" spc="-1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60">
                <a:solidFill>
                  <a:srgbClr val="082F50"/>
                </a:solidFill>
                <a:latin typeface="Lucida Sans Unicode"/>
                <a:cs typeface="Lucida Sans Unicode"/>
              </a:rPr>
              <a:t>Analytics</a:t>
            </a:r>
            <a:r>
              <a:rPr dirty="0" sz="2600" spc="-1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35">
                <a:solidFill>
                  <a:srgbClr val="082F50"/>
                </a:solidFill>
                <a:latin typeface="Lucida Sans Unicode"/>
                <a:cs typeface="Lucida Sans Unicode"/>
              </a:rPr>
              <a:t>in</a:t>
            </a:r>
            <a:r>
              <a:rPr dirty="0" sz="2600" spc="-1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25">
                <a:solidFill>
                  <a:srgbClr val="082F50"/>
                </a:solidFill>
                <a:latin typeface="Lucida Sans Unicode"/>
                <a:cs typeface="Lucida Sans Unicode"/>
              </a:rPr>
              <a:t>Cyber</a:t>
            </a:r>
            <a:r>
              <a:rPr dirty="0" sz="2600" spc="-120">
                <a:solidFill>
                  <a:srgbClr val="082F50"/>
                </a:solidFill>
                <a:latin typeface="Lucida Sans Unicode"/>
                <a:cs typeface="Lucida Sans Unicode"/>
              </a:rPr>
              <a:t> Security </a:t>
            </a:r>
            <a:r>
              <a:rPr dirty="0" sz="2600" spc="-295">
                <a:solidFill>
                  <a:srgbClr val="082F50"/>
                </a:solidFill>
                <a:latin typeface="Lucida Sans Unicode"/>
                <a:cs typeface="Lucida Sans Unicode"/>
              </a:rPr>
              <a:t>(CT115-</a:t>
            </a:r>
            <a:r>
              <a:rPr dirty="0" sz="2600" spc="-420">
                <a:solidFill>
                  <a:srgbClr val="082F50"/>
                </a:solidFill>
                <a:latin typeface="Lucida Sans Unicode"/>
                <a:cs typeface="Lucida Sans Unicode"/>
              </a:rPr>
              <a:t>3-</a:t>
            </a:r>
            <a:r>
              <a:rPr dirty="0" sz="2600" spc="-170">
                <a:solidFill>
                  <a:srgbClr val="082F50"/>
                </a:solidFill>
                <a:latin typeface="Lucida Sans Unicode"/>
                <a:cs typeface="Lucida Sans Unicode"/>
              </a:rPr>
              <a:t>M)</a:t>
            </a:r>
            <a:r>
              <a:rPr dirty="0" sz="2600" spc="-11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80">
                <a:solidFill>
                  <a:srgbClr val="082F50"/>
                </a:solidFill>
                <a:latin typeface="Lucida Sans Unicode"/>
                <a:cs typeface="Lucida Sans Unicode"/>
              </a:rPr>
              <a:t>(Version</a:t>
            </a:r>
            <a:r>
              <a:rPr dirty="0" sz="2600" spc="-1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082F50"/>
                </a:solidFill>
                <a:latin typeface="Lucida Sans Unicode"/>
                <a:cs typeface="Lucida Sans Unicode"/>
              </a:rPr>
              <a:t>E)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65"/>
              </a:spcBef>
            </a:pPr>
            <a:r>
              <a:rPr dirty="0" sz="2300" spc="-65" b="1">
                <a:solidFill>
                  <a:srgbClr val="0070C0"/>
                </a:solidFill>
                <a:latin typeface="Verdana"/>
                <a:cs typeface="Verdana"/>
              </a:rPr>
              <a:t>Data</a:t>
            </a:r>
            <a:r>
              <a:rPr dirty="0" sz="2300" spc="-125" b="1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dirty="0" sz="2300" spc="-10" b="1">
                <a:solidFill>
                  <a:srgbClr val="0070C0"/>
                </a:solidFill>
                <a:latin typeface="Verdana"/>
                <a:cs typeface="Verdana"/>
              </a:rPr>
              <a:t>Preprocessing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4753" y="7086055"/>
            <a:ext cx="3270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6833234" cy="14706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At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end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Lucida Sans Unicode"/>
                <a:cs typeface="Lucida Sans Unicode"/>
              </a:rPr>
              <a:t>this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082F50"/>
                </a:solidFill>
                <a:latin typeface="Lucida Sans Unicode"/>
                <a:cs typeface="Lucida Sans Unicode"/>
              </a:rPr>
              <a:t>topic,</a:t>
            </a:r>
            <a:r>
              <a:rPr dirty="0" sz="1900" spc="-6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you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should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be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able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to: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4795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feature</a:t>
            </a:r>
            <a:r>
              <a:rPr dirty="0" sz="1900" spc="-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selection</a:t>
            </a:r>
            <a:r>
              <a:rPr dirty="0" sz="1900" spc="-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techniques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264795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importance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Exploratory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Analysis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(EDA)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900" spc="-175">
                <a:solidFill>
                  <a:srgbClr val="082F50"/>
                </a:solidFill>
                <a:latin typeface="Lucida Sans Unicode"/>
                <a:cs typeface="Lucida Sans Unicode"/>
              </a:rPr>
              <a:t>2.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 spc="-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preparation</a:t>
            </a:r>
            <a:r>
              <a:rPr dirty="0" sz="1900" spc="-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techniques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226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TOPIC</a:t>
            </a:r>
            <a:r>
              <a:rPr dirty="0" spc="-60"/>
              <a:t> </a:t>
            </a:r>
            <a:r>
              <a:rPr dirty="0" spc="-130"/>
              <a:t>LEARNING</a:t>
            </a:r>
            <a:r>
              <a:rPr dirty="0" spc="-55"/>
              <a:t> </a:t>
            </a:r>
            <a:r>
              <a:rPr dirty="0" spc="-1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7187" y="549467"/>
            <a:ext cx="497459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33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3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Pipeline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58471" y="1474243"/>
            <a:ext cx="2873375" cy="939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Problem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Definition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collection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58471" y="2380631"/>
            <a:ext cx="3404235" cy="198755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6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extraction</a:t>
            </a:r>
            <a:endParaRPr sz="2500">
              <a:latin typeface="Arial MT"/>
              <a:cs typeface="Arial MT"/>
            </a:endParaRPr>
          </a:p>
          <a:p>
            <a:pPr lvl="1" marL="633095" indent="-266065">
              <a:lnSpc>
                <a:spcPct val="100000"/>
              </a:lnSpc>
              <a:spcBef>
                <a:spcPts val="505"/>
              </a:spcBef>
              <a:buChar char="–"/>
              <a:tabLst>
                <a:tab pos="633095" algn="l"/>
              </a:tabLst>
            </a:pPr>
            <a:r>
              <a:rPr dirty="0" sz="1900">
                <a:latin typeface="Arial MT"/>
                <a:cs typeface="Arial MT"/>
              </a:rPr>
              <a:t>Flattening,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Labeling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preparation</a:t>
            </a:r>
            <a:endParaRPr sz="25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5"/>
              </a:spcBef>
              <a:buChar char="–"/>
              <a:tabLst>
                <a:tab pos="588010" algn="l"/>
              </a:tabLst>
            </a:pPr>
            <a:r>
              <a:rPr dirty="0" sz="1900" spc="-30">
                <a:latin typeface="Arial MT"/>
                <a:cs typeface="Arial MT"/>
              </a:rPr>
              <a:t>Normalisation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type</a:t>
            </a:r>
            <a:endParaRPr sz="19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9"/>
              </a:spcBef>
              <a:buChar char="–"/>
              <a:tabLst>
                <a:tab pos="588010" algn="l"/>
              </a:tabLst>
            </a:pPr>
            <a:r>
              <a:rPr dirty="0" sz="1900" spc="-30">
                <a:latin typeface="Arial MT"/>
                <a:cs typeface="Arial MT"/>
              </a:rPr>
              <a:t>Dimensionality</a:t>
            </a:r>
            <a:r>
              <a:rPr dirty="0" sz="19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reduction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58471" y="4353489"/>
            <a:ext cx="3661410" cy="163004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63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Selection</a:t>
            </a:r>
            <a:endParaRPr sz="25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9"/>
              </a:spcBef>
              <a:buChar char="–"/>
              <a:tabLst>
                <a:tab pos="588010" algn="l"/>
              </a:tabLst>
            </a:pPr>
            <a:r>
              <a:rPr dirty="0" sz="1900" spc="-10">
                <a:latin typeface="Arial MT"/>
                <a:cs typeface="Arial MT"/>
              </a:rPr>
              <a:t>Train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Test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1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Evaluation</a:t>
            </a:r>
            <a:endParaRPr sz="2500">
              <a:latin typeface="Arial MT"/>
              <a:cs typeface="Arial MT"/>
            </a:endParaRPr>
          </a:p>
          <a:p>
            <a:pPr lvl="1" marL="633095" indent="-266065">
              <a:lnSpc>
                <a:spcPct val="100000"/>
              </a:lnSpc>
              <a:spcBef>
                <a:spcPts val="505"/>
              </a:spcBef>
              <a:buChar char="–"/>
              <a:tabLst>
                <a:tab pos="633095" algn="l"/>
              </a:tabLst>
            </a:pPr>
            <a:r>
              <a:rPr dirty="0" sz="1900" spc="-10">
                <a:latin typeface="Arial MT"/>
                <a:cs typeface="Arial MT"/>
              </a:rPr>
              <a:t>Visualisation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058471" y="5961619"/>
            <a:ext cx="2627630" cy="83566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575"/>
              </a:spcBef>
              <a:tabLst>
                <a:tab pos="633095" algn="l"/>
              </a:tabLst>
            </a:pPr>
            <a:r>
              <a:rPr dirty="0" sz="1900" spc="-50">
                <a:latin typeface="Arial MT"/>
                <a:cs typeface="Arial MT"/>
              </a:rPr>
              <a:t>–</a:t>
            </a:r>
            <a:r>
              <a:rPr dirty="0" sz="1900">
                <a:latin typeface="Arial MT"/>
                <a:cs typeface="Arial MT"/>
              </a:rPr>
              <a:t>	Parameter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tuning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Validation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256952" y="4551370"/>
            <a:ext cx="1768475" cy="837565"/>
            <a:chOff x="1256952" y="4551370"/>
            <a:chExt cx="1768475" cy="837565"/>
          </a:xfrm>
        </p:grpSpPr>
        <p:sp>
          <p:nvSpPr>
            <p:cNvPr id="8" name="object 8" descr=""/>
            <p:cNvSpPr/>
            <p:nvPr/>
          </p:nvSpPr>
          <p:spPr>
            <a:xfrm>
              <a:off x="1263525" y="4557943"/>
              <a:ext cx="1755775" cy="824865"/>
            </a:xfrm>
            <a:custGeom>
              <a:avLst/>
              <a:gdLst/>
              <a:ahLst/>
              <a:cxnLst/>
              <a:rect l="l" t="t" r="r" b="b"/>
              <a:pathLst>
                <a:path w="1755775" h="824864">
                  <a:moveTo>
                    <a:pt x="1401307" y="662398"/>
                  </a:moveTo>
                  <a:lnTo>
                    <a:pt x="980915" y="662398"/>
                  </a:lnTo>
                  <a:lnTo>
                    <a:pt x="1755238" y="824294"/>
                  </a:lnTo>
                  <a:lnTo>
                    <a:pt x="1401307" y="662398"/>
                  </a:lnTo>
                  <a:close/>
                </a:path>
                <a:path w="1755775" h="824864">
                  <a:moveTo>
                    <a:pt x="1571217" y="0"/>
                  </a:moveTo>
                  <a:lnTo>
                    <a:pt x="110352" y="0"/>
                  </a:lnTo>
                  <a:lnTo>
                    <a:pt x="67398" y="8675"/>
                  </a:lnTo>
                  <a:lnTo>
                    <a:pt x="32321" y="32335"/>
                  </a:lnTo>
                  <a:lnTo>
                    <a:pt x="8672" y="67428"/>
                  </a:lnTo>
                  <a:lnTo>
                    <a:pt x="0" y="110401"/>
                  </a:lnTo>
                  <a:lnTo>
                    <a:pt x="0" y="551999"/>
                  </a:lnTo>
                  <a:lnTo>
                    <a:pt x="8672" y="594970"/>
                  </a:lnTo>
                  <a:lnTo>
                    <a:pt x="32321" y="630063"/>
                  </a:lnTo>
                  <a:lnTo>
                    <a:pt x="67398" y="653723"/>
                  </a:lnTo>
                  <a:lnTo>
                    <a:pt x="110352" y="662398"/>
                  </a:lnTo>
                  <a:lnTo>
                    <a:pt x="1571217" y="662398"/>
                  </a:lnTo>
                  <a:lnTo>
                    <a:pt x="1614171" y="653723"/>
                  </a:lnTo>
                  <a:lnTo>
                    <a:pt x="1649248" y="630063"/>
                  </a:lnTo>
                  <a:lnTo>
                    <a:pt x="1672897" y="594970"/>
                  </a:lnTo>
                  <a:lnTo>
                    <a:pt x="1681569" y="551999"/>
                  </a:lnTo>
                  <a:lnTo>
                    <a:pt x="1681569" y="110401"/>
                  </a:lnTo>
                  <a:lnTo>
                    <a:pt x="1672897" y="67428"/>
                  </a:lnTo>
                  <a:lnTo>
                    <a:pt x="1649248" y="32335"/>
                  </a:lnTo>
                  <a:lnTo>
                    <a:pt x="1614171" y="8675"/>
                  </a:lnTo>
                  <a:lnTo>
                    <a:pt x="157121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63525" y="4557943"/>
              <a:ext cx="1755775" cy="824865"/>
            </a:xfrm>
            <a:custGeom>
              <a:avLst/>
              <a:gdLst/>
              <a:ahLst/>
              <a:cxnLst/>
              <a:rect l="l" t="t" r="r" b="b"/>
              <a:pathLst>
                <a:path w="1755775" h="824864">
                  <a:moveTo>
                    <a:pt x="0" y="110401"/>
                  </a:moveTo>
                  <a:lnTo>
                    <a:pt x="8672" y="67428"/>
                  </a:lnTo>
                  <a:lnTo>
                    <a:pt x="32321" y="32335"/>
                  </a:lnTo>
                  <a:lnTo>
                    <a:pt x="67398" y="8675"/>
                  </a:lnTo>
                  <a:lnTo>
                    <a:pt x="110352" y="0"/>
                  </a:lnTo>
                  <a:lnTo>
                    <a:pt x="980915" y="0"/>
                  </a:lnTo>
                  <a:lnTo>
                    <a:pt x="1401307" y="0"/>
                  </a:lnTo>
                  <a:lnTo>
                    <a:pt x="1571217" y="0"/>
                  </a:lnTo>
                  <a:lnTo>
                    <a:pt x="1614171" y="8675"/>
                  </a:lnTo>
                  <a:lnTo>
                    <a:pt x="1649248" y="32335"/>
                  </a:lnTo>
                  <a:lnTo>
                    <a:pt x="1672897" y="67428"/>
                  </a:lnTo>
                  <a:lnTo>
                    <a:pt x="1681569" y="110401"/>
                  </a:lnTo>
                  <a:lnTo>
                    <a:pt x="1681569" y="386399"/>
                  </a:lnTo>
                  <a:lnTo>
                    <a:pt x="1681569" y="551999"/>
                  </a:lnTo>
                  <a:lnTo>
                    <a:pt x="1672897" y="594971"/>
                  </a:lnTo>
                  <a:lnTo>
                    <a:pt x="1649248" y="630063"/>
                  </a:lnTo>
                  <a:lnTo>
                    <a:pt x="1614171" y="653723"/>
                  </a:lnTo>
                  <a:lnTo>
                    <a:pt x="1571217" y="662399"/>
                  </a:lnTo>
                  <a:lnTo>
                    <a:pt x="1401307" y="662399"/>
                  </a:lnTo>
                  <a:lnTo>
                    <a:pt x="1755239" y="824295"/>
                  </a:lnTo>
                  <a:lnTo>
                    <a:pt x="980915" y="662399"/>
                  </a:lnTo>
                  <a:lnTo>
                    <a:pt x="110352" y="662399"/>
                  </a:lnTo>
                  <a:lnTo>
                    <a:pt x="67398" y="653723"/>
                  </a:lnTo>
                  <a:lnTo>
                    <a:pt x="32321" y="630063"/>
                  </a:lnTo>
                  <a:lnTo>
                    <a:pt x="8672" y="594971"/>
                  </a:lnTo>
                  <a:lnTo>
                    <a:pt x="0" y="551997"/>
                  </a:lnTo>
                  <a:lnTo>
                    <a:pt x="0" y="386399"/>
                  </a:lnTo>
                  <a:lnTo>
                    <a:pt x="0" y="110401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377762" y="4611527"/>
            <a:ext cx="1123950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5"/>
              </a:spcBef>
            </a:pPr>
            <a:r>
              <a:rPr dirty="0" sz="1700" spc="-25">
                <a:latin typeface="Arial MT"/>
                <a:cs typeface="Arial MT"/>
              </a:rPr>
              <a:t>Selection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of </a:t>
            </a:r>
            <a:r>
              <a:rPr dirty="0" sz="1700" spc="-10">
                <a:latin typeface="Arial MT"/>
                <a:cs typeface="Arial MT"/>
              </a:rPr>
              <a:t>metrics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72336" y="1349506"/>
            <a:ext cx="2277110" cy="921385"/>
            <a:chOff x="772336" y="1349506"/>
            <a:chExt cx="2277110" cy="921385"/>
          </a:xfrm>
        </p:grpSpPr>
        <p:sp>
          <p:nvSpPr>
            <p:cNvPr id="12" name="object 12" descr=""/>
            <p:cNvSpPr/>
            <p:nvPr/>
          </p:nvSpPr>
          <p:spPr>
            <a:xfrm>
              <a:off x="778909" y="1356079"/>
              <a:ext cx="2263775" cy="908050"/>
            </a:xfrm>
            <a:custGeom>
              <a:avLst/>
              <a:gdLst/>
              <a:ahLst/>
              <a:cxnLst/>
              <a:rect l="l" t="t" r="r" b="b"/>
              <a:pathLst>
                <a:path w="2263775" h="908050">
                  <a:moveTo>
                    <a:pt x="1621566" y="0"/>
                  </a:moveTo>
                  <a:lnTo>
                    <a:pt x="151219" y="0"/>
                  </a:lnTo>
                  <a:lnTo>
                    <a:pt x="103422" y="7712"/>
                  </a:lnTo>
                  <a:lnTo>
                    <a:pt x="61911" y="29189"/>
                  </a:lnTo>
                  <a:lnTo>
                    <a:pt x="29176" y="61939"/>
                  </a:lnTo>
                  <a:lnTo>
                    <a:pt x="7709" y="103469"/>
                  </a:lnTo>
                  <a:lnTo>
                    <a:pt x="0" y="151287"/>
                  </a:lnTo>
                  <a:lnTo>
                    <a:pt x="0" y="756423"/>
                  </a:lnTo>
                  <a:lnTo>
                    <a:pt x="7709" y="804237"/>
                  </a:lnTo>
                  <a:lnTo>
                    <a:pt x="29176" y="845767"/>
                  </a:lnTo>
                  <a:lnTo>
                    <a:pt x="61911" y="878517"/>
                  </a:lnTo>
                  <a:lnTo>
                    <a:pt x="103422" y="899994"/>
                  </a:lnTo>
                  <a:lnTo>
                    <a:pt x="151219" y="907707"/>
                  </a:lnTo>
                  <a:lnTo>
                    <a:pt x="1621566" y="907707"/>
                  </a:lnTo>
                  <a:lnTo>
                    <a:pt x="1669364" y="899994"/>
                  </a:lnTo>
                  <a:lnTo>
                    <a:pt x="1710875" y="878517"/>
                  </a:lnTo>
                  <a:lnTo>
                    <a:pt x="1743609" y="845767"/>
                  </a:lnTo>
                  <a:lnTo>
                    <a:pt x="1765076" y="804237"/>
                  </a:lnTo>
                  <a:lnTo>
                    <a:pt x="1772785" y="756423"/>
                  </a:lnTo>
                  <a:lnTo>
                    <a:pt x="2129767" y="756423"/>
                  </a:lnTo>
                  <a:lnTo>
                    <a:pt x="1772785" y="529496"/>
                  </a:lnTo>
                  <a:lnTo>
                    <a:pt x="1772785" y="151287"/>
                  </a:lnTo>
                  <a:lnTo>
                    <a:pt x="1765076" y="103469"/>
                  </a:lnTo>
                  <a:lnTo>
                    <a:pt x="1743609" y="61939"/>
                  </a:lnTo>
                  <a:lnTo>
                    <a:pt x="1710875" y="29189"/>
                  </a:lnTo>
                  <a:lnTo>
                    <a:pt x="1669364" y="7712"/>
                  </a:lnTo>
                  <a:lnTo>
                    <a:pt x="1621566" y="0"/>
                  </a:lnTo>
                  <a:close/>
                </a:path>
                <a:path w="2263775" h="908050">
                  <a:moveTo>
                    <a:pt x="2129767" y="756423"/>
                  </a:moveTo>
                  <a:lnTo>
                    <a:pt x="1772785" y="756423"/>
                  </a:lnTo>
                  <a:lnTo>
                    <a:pt x="2263529" y="841453"/>
                  </a:lnTo>
                  <a:lnTo>
                    <a:pt x="2129767" y="75642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78909" y="1356079"/>
              <a:ext cx="2263775" cy="908050"/>
            </a:xfrm>
            <a:custGeom>
              <a:avLst/>
              <a:gdLst/>
              <a:ahLst/>
              <a:cxnLst/>
              <a:rect l="l" t="t" r="r" b="b"/>
              <a:pathLst>
                <a:path w="2263775" h="908050">
                  <a:moveTo>
                    <a:pt x="0" y="151287"/>
                  </a:moveTo>
                  <a:lnTo>
                    <a:pt x="7709" y="103469"/>
                  </a:lnTo>
                  <a:lnTo>
                    <a:pt x="29176" y="61939"/>
                  </a:lnTo>
                  <a:lnTo>
                    <a:pt x="61911" y="29189"/>
                  </a:lnTo>
                  <a:lnTo>
                    <a:pt x="103422" y="7712"/>
                  </a:lnTo>
                  <a:lnTo>
                    <a:pt x="151219" y="0"/>
                  </a:lnTo>
                  <a:lnTo>
                    <a:pt x="1034125" y="0"/>
                  </a:lnTo>
                  <a:lnTo>
                    <a:pt x="1477322" y="0"/>
                  </a:lnTo>
                  <a:lnTo>
                    <a:pt x="1621566" y="0"/>
                  </a:lnTo>
                  <a:lnTo>
                    <a:pt x="1669364" y="7712"/>
                  </a:lnTo>
                  <a:lnTo>
                    <a:pt x="1710875" y="29189"/>
                  </a:lnTo>
                  <a:lnTo>
                    <a:pt x="1743609" y="61939"/>
                  </a:lnTo>
                  <a:lnTo>
                    <a:pt x="1765077" y="103469"/>
                  </a:lnTo>
                  <a:lnTo>
                    <a:pt x="1772786" y="151287"/>
                  </a:lnTo>
                  <a:lnTo>
                    <a:pt x="1772786" y="529496"/>
                  </a:lnTo>
                  <a:lnTo>
                    <a:pt x="2263529" y="841453"/>
                  </a:lnTo>
                  <a:lnTo>
                    <a:pt x="1772786" y="756423"/>
                  </a:lnTo>
                  <a:lnTo>
                    <a:pt x="1765077" y="804238"/>
                  </a:lnTo>
                  <a:lnTo>
                    <a:pt x="1743609" y="845768"/>
                  </a:lnTo>
                  <a:lnTo>
                    <a:pt x="1710875" y="878517"/>
                  </a:lnTo>
                  <a:lnTo>
                    <a:pt x="1669364" y="899994"/>
                  </a:lnTo>
                  <a:lnTo>
                    <a:pt x="1621566" y="907707"/>
                  </a:lnTo>
                  <a:lnTo>
                    <a:pt x="1477322" y="907707"/>
                  </a:lnTo>
                  <a:lnTo>
                    <a:pt x="1034125" y="907707"/>
                  </a:lnTo>
                  <a:lnTo>
                    <a:pt x="151219" y="907707"/>
                  </a:lnTo>
                  <a:lnTo>
                    <a:pt x="103422" y="899994"/>
                  </a:lnTo>
                  <a:lnTo>
                    <a:pt x="61911" y="878517"/>
                  </a:lnTo>
                  <a:lnTo>
                    <a:pt x="29176" y="845768"/>
                  </a:lnTo>
                  <a:lnTo>
                    <a:pt x="7709" y="804238"/>
                  </a:lnTo>
                  <a:lnTo>
                    <a:pt x="0" y="756419"/>
                  </a:lnTo>
                  <a:lnTo>
                    <a:pt x="0" y="529496"/>
                  </a:lnTo>
                  <a:lnTo>
                    <a:pt x="0" y="151287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05115" y="1420270"/>
            <a:ext cx="1456690" cy="793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98200"/>
              </a:lnSpc>
              <a:spcBef>
                <a:spcPts val="135"/>
              </a:spcBef>
            </a:pPr>
            <a:r>
              <a:rPr dirty="0" sz="1700" spc="-20">
                <a:latin typeface="Arial MT"/>
                <a:cs typeface="Arial MT"/>
              </a:rPr>
              <a:t>What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do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have What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do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need </a:t>
            </a:r>
            <a:r>
              <a:rPr dirty="0" sz="1700" spc="-20">
                <a:latin typeface="Arial MT"/>
                <a:cs typeface="Arial MT"/>
              </a:rPr>
              <a:t>What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can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get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41985" y="2749992"/>
            <a:ext cx="2342515" cy="1021715"/>
            <a:chOff x="6141985" y="2749992"/>
            <a:chExt cx="2342515" cy="1021715"/>
          </a:xfrm>
        </p:grpSpPr>
        <p:sp>
          <p:nvSpPr>
            <p:cNvPr id="16" name="object 16" descr=""/>
            <p:cNvSpPr/>
            <p:nvPr/>
          </p:nvSpPr>
          <p:spPr>
            <a:xfrm>
              <a:off x="6148559" y="2756565"/>
              <a:ext cx="2329180" cy="1009015"/>
            </a:xfrm>
            <a:custGeom>
              <a:avLst/>
              <a:gdLst/>
              <a:ahLst/>
              <a:cxnLst/>
              <a:rect l="l" t="t" r="r" b="b"/>
              <a:pathLst>
                <a:path w="2329179" h="1009014">
                  <a:moveTo>
                    <a:pt x="2219237" y="349448"/>
                  </a:moveTo>
                  <a:lnTo>
                    <a:pt x="616228" y="349448"/>
                  </a:lnTo>
                  <a:lnTo>
                    <a:pt x="573493" y="358079"/>
                  </a:lnTo>
                  <a:lnTo>
                    <a:pt x="538596" y="381618"/>
                  </a:lnTo>
                  <a:lnTo>
                    <a:pt x="515068" y="416531"/>
                  </a:lnTo>
                  <a:lnTo>
                    <a:pt x="506440" y="459284"/>
                  </a:lnTo>
                  <a:lnTo>
                    <a:pt x="506440" y="898621"/>
                  </a:lnTo>
                  <a:lnTo>
                    <a:pt x="515068" y="941375"/>
                  </a:lnTo>
                  <a:lnTo>
                    <a:pt x="538596" y="976288"/>
                  </a:lnTo>
                  <a:lnTo>
                    <a:pt x="573493" y="999827"/>
                  </a:lnTo>
                  <a:lnTo>
                    <a:pt x="616228" y="1008458"/>
                  </a:lnTo>
                  <a:lnTo>
                    <a:pt x="2219237" y="1008458"/>
                  </a:lnTo>
                  <a:lnTo>
                    <a:pt x="2261971" y="999827"/>
                  </a:lnTo>
                  <a:lnTo>
                    <a:pt x="2296868" y="976288"/>
                  </a:lnTo>
                  <a:lnTo>
                    <a:pt x="2320396" y="941375"/>
                  </a:lnTo>
                  <a:lnTo>
                    <a:pt x="2329023" y="898621"/>
                  </a:lnTo>
                  <a:lnTo>
                    <a:pt x="2329023" y="459284"/>
                  </a:lnTo>
                  <a:lnTo>
                    <a:pt x="2320396" y="416531"/>
                  </a:lnTo>
                  <a:lnTo>
                    <a:pt x="2296868" y="381618"/>
                  </a:lnTo>
                  <a:lnTo>
                    <a:pt x="2261971" y="358079"/>
                  </a:lnTo>
                  <a:lnTo>
                    <a:pt x="2219237" y="349448"/>
                  </a:lnTo>
                  <a:close/>
                </a:path>
                <a:path w="2329179" h="1009014">
                  <a:moveTo>
                    <a:pt x="0" y="0"/>
                  </a:moveTo>
                  <a:lnTo>
                    <a:pt x="810204" y="349448"/>
                  </a:lnTo>
                  <a:lnTo>
                    <a:pt x="1265850" y="349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48558" y="2756565"/>
              <a:ext cx="2329180" cy="1009015"/>
            </a:xfrm>
            <a:custGeom>
              <a:avLst/>
              <a:gdLst/>
              <a:ahLst/>
              <a:cxnLst/>
              <a:rect l="l" t="t" r="r" b="b"/>
              <a:pathLst>
                <a:path w="2329179" h="1009014">
                  <a:moveTo>
                    <a:pt x="506440" y="459284"/>
                  </a:moveTo>
                  <a:lnTo>
                    <a:pt x="515068" y="416531"/>
                  </a:lnTo>
                  <a:lnTo>
                    <a:pt x="538596" y="381618"/>
                  </a:lnTo>
                  <a:lnTo>
                    <a:pt x="573493" y="358079"/>
                  </a:lnTo>
                  <a:lnTo>
                    <a:pt x="616228" y="349447"/>
                  </a:lnTo>
                  <a:lnTo>
                    <a:pt x="810204" y="349447"/>
                  </a:lnTo>
                  <a:lnTo>
                    <a:pt x="0" y="0"/>
                  </a:lnTo>
                  <a:lnTo>
                    <a:pt x="1265850" y="349447"/>
                  </a:lnTo>
                  <a:lnTo>
                    <a:pt x="2219236" y="349447"/>
                  </a:lnTo>
                  <a:lnTo>
                    <a:pt x="2261971" y="358079"/>
                  </a:lnTo>
                  <a:lnTo>
                    <a:pt x="2296868" y="381618"/>
                  </a:lnTo>
                  <a:lnTo>
                    <a:pt x="2320396" y="416531"/>
                  </a:lnTo>
                  <a:lnTo>
                    <a:pt x="2329024" y="459284"/>
                  </a:lnTo>
                  <a:lnTo>
                    <a:pt x="2329024" y="624034"/>
                  </a:lnTo>
                  <a:lnTo>
                    <a:pt x="2329024" y="898622"/>
                  </a:lnTo>
                  <a:lnTo>
                    <a:pt x="2320396" y="941375"/>
                  </a:lnTo>
                  <a:lnTo>
                    <a:pt x="2296868" y="976288"/>
                  </a:lnTo>
                  <a:lnTo>
                    <a:pt x="2261971" y="999827"/>
                  </a:lnTo>
                  <a:lnTo>
                    <a:pt x="2219236" y="1008458"/>
                  </a:lnTo>
                  <a:lnTo>
                    <a:pt x="1265850" y="1008458"/>
                  </a:lnTo>
                  <a:lnTo>
                    <a:pt x="810204" y="1008458"/>
                  </a:lnTo>
                  <a:lnTo>
                    <a:pt x="616228" y="1008458"/>
                  </a:lnTo>
                  <a:lnTo>
                    <a:pt x="573493" y="999827"/>
                  </a:lnTo>
                  <a:lnTo>
                    <a:pt x="538596" y="976288"/>
                  </a:lnTo>
                  <a:lnTo>
                    <a:pt x="515068" y="941375"/>
                  </a:lnTo>
                  <a:lnTo>
                    <a:pt x="506440" y="898622"/>
                  </a:lnTo>
                  <a:lnTo>
                    <a:pt x="506440" y="624034"/>
                  </a:lnTo>
                  <a:lnTo>
                    <a:pt x="506440" y="459282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769070" y="3160678"/>
            <a:ext cx="1595120" cy="53784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204"/>
              </a:spcBef>
            </a:pPr>
            <a:r>
              <a:rPr dirty="0" sz="1700" spc="-25">
                <a:latin typeface="Arial MT"/>
                <a:cs typeface="Arial MT"/>
              </a:rPr>
              <a:t>Exploratory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Data </a:t>
            </a:r>
            <a:r>
              <a:rPr dirty="0" sz="1700" spc="-25">
                <a:latin typeface="Arial MT"/>
                <a:cs typeface="Arial MT"/>
              </a:rPr>
              <a:t>Analysis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(EDA)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167910" y="4522945"/>
            <a:ext cx="3471545" cy="685800"/>
            <a:chOff x="6167910" y="4522945"/>
            <a:chExt cx="3471545" cy="685800"/>
          </a:xfrm>
        </p:grpSpPr>
        <p:sp>
          <p:nvSpPr>
            <p:cNvPr id="20" name="object 20" descr=""/>
            <p:cNvSpPr/>
            <p:nvPr/>
          </p:nvSpPr>
          <p:spPr>
            <a:xfrm>
              <a:off x="6174484" y="4529518"/>
              <a:ext cx="3458845" cy="672465"/>
            </a:xfrm>
            <a:custGeom>
              <a:avLst/>
              <a:gdLst/>
              <a:ahLst/>
              <a:cxnLst/>
              <a:rect l="l" t="t" r="r" b="b"/>
              <a:pathLst>
                <a:path w="3458845" h="672464">
                  <a:moveTo>
                    <a:pt x="3346385" y="0"/>
                  </a:moveTo>
                  <a:lnTo>
                    <a:pt x="881352" y="0"/>
                  </a:lnTo>
                  <a:lnTo>
                    <a:pt x="837751" y="8806"/>
                  </a:lnTo>
                  <a:lnTo>
                    <a:pt x="802147" y="32821"/>
                  </a:lnTo>
                  <a:lnTo>
                    <a:pt x="778141" y="68441"/>
                  </a:lnTo>
                  <a:lnTo>
                    <a:pt x="769339" y="112060"/>
                  </a:lnTo>
                  <a:lnTo>
                    <a:pt x="0" y="181330"/>
                  </a:lnTo>
                  <a:lnTo>
                    <a:pt x="769339" y="280150"/>
                  </a:lnTo>
                  <a:lnTo>
                    <a:pt x="769339" y="560301"/>
                  </a:lnTo>
                  <a:lnTo>
                    <a:pt x="778141" y="603920"/>
                  </a:lnTo>
                  <a:lnTo>
                    <a:pt x="802147" y="639540"/>
                  </a:lnTo>
                  <a:lnTo>
                    <a:pt x="837751" y="663555"/>
                  </a:lnTo>
                  <a:lnTo>
                    <a:pt x="881352" y="672362"/>
                  </a:lnTo>
                  <a:lnTo>
                    <a:pt x="3346385" y="672362"/>
                  </a:lnTo>
                  <a:lnTo>
                    <a:pt x="3389985" y="663555"/>
                  </a:lnTo>
                  <a:lnTo>
                    <a:pt x="3425590" y="639540"/>
                  </a:lnTo>
                  <a:lnTo>
                    <a:pt x="3449595" y="603920"/>
                  </a:lnTo>
                  <a:lnTo>
                    <a:pt x="3458397" y="560301"/>
                  </a:lnTo>
                  <a:lnTo>
                    <a:pt x="3458397" y="112060"/>
                  </a:lnTo>
                  <a:lnTo>
                    <a:pt x="3449595" y="68441"/>
                  </a:lnTo>
                  <a:lnTo>
                    <a:pt x="3425590" y="32821"/>
                  </a:lnTo>
                  <a:lnTo>
                    <a:pt x="3389985" y="8806"/>
                  </a:lnTo>
                  <a:lnTo>
                    <a:pt x="334638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174484" y="4529518"/>
              <a:ext cx="3458845" cy="672465"/>
            </a:xfrm>
            <a:custGeom>
              <a:avLst/>
              <a:gdLst/>
              <a:ahLst/>
              <a:cxnLst/>
              <a:rect l="l" t="t" r="r" b="b"/>
              <a:pathLst>
                <a:path w="3458845" h="672464">
                  <a:moveTo>
                    <a:pt x="769339" y="112061"/>
                  </a:moveTo>
                  <a:lnTo>
                    <a:pt x="778142" y="68442"/>
                  </a:lnTo>
                  <a:lnTo>
                    <a:pt x="802147" y="32822"/>
                  </a:lnTo>
                  <a:lnTo>
                    <a:pt x="837751" y="8806"/>
                  </a:lnTo>
                  <a:lnTo>
                    <a:pt x="881351" y="0"/>
                  </a:lnTo>
                  <a:lnTo>
                    <a:pt x="1217516" y="0"/>
                  </a:lnTo>
                  <a:lnTo>
                    <a:pt x="1889780" y="0"/>
                  </a:lnTo>
                  <a:lnTo>
                    <a:pt x="3346385" y="0"/>
                  </a:lnTo>
                  <a:lnTo>
                    <a:pt x="3389986" y="8806"/>
                  </a:lnTo>
                  <a:lnTo>
                    <a:pt x="3425590" y="32822"/>
                  </a:lnTo>
                  <a:lnTo>
                    <a:pt x="3449595" y="68442"/>
                  </a:lnTo>
                  <a:lnTo>
                    <a:pt x="3458397" y="112061"/>
                  </a:lnTo>
                  <a:lnTo>
                    <a:pt x="3458397" y="280150"/>
                  </a:lnTo>
                  <a:lnTo>
                    <a:pt x="3458397" y="560301"/>
                  </a:lnTo>
                  <a:lnTo>
                    <a:pt x="3449595" y="603920"/>
                  </a:lnTo>
                  <a:lnTo>
                    <a:pt x="3425590" y="639540"/>
                  </a:lnTo>
                  <a:lnTo>
                    <a:pt x="3389986" y="663556"/>
                  </a:lnTo>
                  <a:lnTo>
                    <a:pt x="3346385" y="672363"/>
                  </a:lnTo>
                  <a:lnTo>
                    <a:pt x="1889780" y="672363"/>
                  </a:lnTo>
                  <a:lnTo>
                    <a:pt x="1217516" y="672363"/>
                  </a:lnTo>
                  <a:lnTo>
                    <a:pt x="881351" y="672363"/>
                  </a:lnTo>
                  <a:lnTo>
                    <a:pt x="837751" y="663556"/>
                  </a:lnTo>
                  <a:lnTo>
                    <a:pt x="802147" y="639540"/>
                  </a:lnTo>
                  <a:lnTo>
                    <a:pt x="778142" y="603920"/>
                  </a:lnTo>
                  <a:lnTo>
                    <a:pt x="769339" y="560301"/>
                  </a:lnTo>
                  <a:lnTo>
                    <a:pt x="769339" y="280150"/>
                  </a:lnTo>
                  <a:lnTo>
                    <a:pt x="0" y="181330"/>
                  </a:lnTo>
                  <a:lnTo>
                    <a:pt x="769339" y="112061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058546" y="4584094"/>
            <a:ext cx="2378075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5"/>
              </a:spcBef>
            </a:pPr>
            <a:r>
              <a:rPr dirty="0" sz="1700" spc="-10">
                <a:latin typeface="Arial MT"/>
                <a:cs typeface="Arial MT"/>
              </a:rPr>
              <a:t>May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have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special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data </a:t>
            </a:r>
            <a:r>
              <a:rPr dirty="0" sz="1700" spc="-30">
                <a:latin typeface="Arial MT"/>
                <a:cs typeface="Arial MT"/>
              </a:rPr>
              <a:t>preparation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requirements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803787" y="6160859"/>
            <a:ext cx="2919730" cy="441325"/>
            <a:chOff x="5803787" y="6160859"/>
            <a:chExt cx="2919730" cy="441325"/>
          </a:xfrm>
        </p:grpSpPr>
        <p:sp>
          <p:nvSpPr>
            <p:cNvPr id="24" name="object 24" descr=""/>
            <p:cNvSpPr/>
            <p:nvPr/>
          </p:nvSpPr>
          <p:spPr>
            <a:xfrm>
              <a:off x="5810360" y="6167432"/>
              <a:ext cx="2906395" cy="427990"/>
            </a:xfrm>
            <a:custGeom>
              <a:avLst/>
              <a:gdLst/>
              <a:ahLst/>
              <a:cxnLst/>
              <a:rect l="l" t="t" r="r" b="b"/>
              <a:pathLst>
                <a:path w="2906395" h="427990">
                  <a:moveTo>
                    <a:pt x="0" y="0"/>
                  </a:moveTo>
                  <a:lnTo>
                    <a:pt x="625532" y="203947"/>
                  </a:lnTo>
                  <a:lnTo>
                    <a:pt x="625532" y="363699"/>
                  </a:lnTo>
                  <a:lnTo>
                    <a:pt x="630551" y="388573"/>
                  </a:lnTo>
                  <a:lnTo>
                    <a:pt x="644240" y="408886"/>
                  </a:lnTo>
                  <a:lnTo>
                    <a:pt x="664543" y="422581"/>
                  </a:lnTo>
                  <a:lnTo>
                    <a:pt x="689406" y="427602"/>
                  </a:lnTo>
                  <a:lnTo>
                    <a:pt x="2842376" y="427602"/>
                  </a:lnTo>
                  <a:lnTo>
                    <a:pt x="2867239" y="422581"/>
                  </a:lnTo>
                  <a:lnTo>
                    <a:pt x="2887542" y="408886"/>
                  </a:lnTo>
                  <a:lnTo>
                    <a:pt x="2901231" y="388573"/>
                  </a:lnTo>
                  <a:lnTo>
                    <a:pt x="2906251" y="363699"/>
                  </a:lnTo>
                  <a:lnTo>
                    <a:pt x="2906251" y="108096"/>
                  </a:lnTo>
                  <a:lnTo>
                    <a:pt x="625546" y="108096"/>
                  </a:lnTo>
                  <a:lnTo>
                    <a:pt x="0" y="0"/>
                  </a:lnTo>
                  <a:close/>
                </a:path>
                <a:path w="2906395" h="427990">
                  <a:moveTo>
                    <a:pt x="2842376" y="44193"/>
                  </a:moveTo>
                  <a:lnTo>
                    <a:pt x="689406" y="44193"/>
                  </a:lnTo>
                  <a:lnTo>
                    <a:pt x="664543" y="49215"/>
                  </a:lnTo>
                  <a:lnTo>
                    <a:pt x="644240" y="62910"/>
                  </a:lnTo>
                  <a:lnTo>
                    <a:pt x="630551" y="83222"/>
                  </a:lnTo>
                  <a:lnTo>
                    <a:pt x="625532" y="108096"/>
                  </a:lnTo>
                  <a:lnTo>
                    <a:pt x="2906251" y="108096"/>
                  </a:lnTo>
                  <a:lnTo>
                    <a:pt x="2901231" y="83222"/>
                  </a:lnTo>
                  <a:lnTo>
                    <a:pt x="2887542" y="62910"/>
                  </a:lnTo>
                  <a:lnTo>
                    <a:pt x="2867239" y="49215"/>
                  </a:lnTo>
                  <a:lnTo>
                    <a:pt x="2842376" y="4419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810360" y="6167433"/>
              <a:ext cx="2906395" cy="427990"/>
            </a:xfrm>
            <a:custGeom>
              <a:avLst/>
              <a:gdLst/>
              <a:ahLst/>
              <a:cxnLst/>
              <a:rect l="l" t="t" r="r" b="b"/>
              <a:pathLst>
                <a:path w="2906395" h="427990">
                  <a:moveTo>
                    <a:pt x="625531" y="108095"/>
                  </a:moveTo>
                  <a:lnTo>
                    <a:pt x="630551" y="83221"/>
                  </a:lnTo>
                  <a:lnTo>
                    <a:pt x="644240" y="62909"/>
                  </a:lnTo>
                  <a:lnTo>
                    <a:pt x="664543" y="49214"/>
                  </a:lnTo>
                  <a:lnTo>
                    <a:pt x="689406" y="44192"/>
                  </a:lnTo>
                  <a:lnTo>
                    <a:pt x="1005651" y="44192"/>
                  </a:lnTo>
                  <a:lnTo>
                    <a:pt x="1575831" y="44192"/>
                  </a:lnTo>
                  <a:lnTo>
                    <a:pt x="2842377" y="44192"/>
                  </a:lnTo>
                  <a:lnTo>
                    <a:pt x="2867240" y="49214"/>
                  </a:lnTo>
                  <a:lnTo>
                    <a:pt x="2887543" y="62909"/>
                  </a:lnTo>
                  <a:lnTo>
                    <a:pt x="2901232" y="83221"/>
                  </a:lnTo>
                  <a:lnTo>
                    <a:pt x="2906252" y="108095"/>
                  </a:lnTo>
                  <a:lnTo>
                    <a:pt x="2906252" y="203947"/>
                  </a:lnTo>
                  <a:lnTo>
                    <a:pt x="2906252" y="363699"/>
                  </a:lnTo>
                  <a:lnTo>
                    <a:pt x="2901232" y="388573"/>
                  </a:lnTo>
                  <a:lnTo>
                    <a:pt x="2887543" y="408885"/>
                  </a:lnTo>
                  <a:lnTo>
                    <a:pt x="2867240" y="422580"/>
                  </a:lnTo>
                  <a:lnTo>
                    <a:pt x="2842377" y="427602"/>
                  </a:lnTo>
                  <a:lnTo>
                    <a:pt x="1575831" y="427602"/>
                  </a:lnTo>
                  <a:lnTo>
                    <a:pt x="1005651" y="427602"/>
                  </a:lnTo>
                  <a:lnTo>
                    <a:pt x="689406" y="427602"/>
                  </a:lnTo>
                  <a:lnTo>
                    <a:pt x="664543" y="422580"/>
                  </a:lnTo>
                  <a:lnTo>
                    <a:pt x="644240" y="408885"/>
                  </a:lnTo>
                  <a:lnTo>
                    <a:pt x="630551" y="388573"/>
                  </a:lnTo>
                  <a:lnTo>
                    <a:pt x="625531" y="363699"/>
                  </a:lnTo>
                  <a:lnTo>
                    <a:pt x="625531" y="203947"/>
                  </a:lnTo>
                  <a:lnTo>
                    <a:pt x="0" y="0"/>
                  </a:lnTo>
                  <a:lnTo>
                    <a:pt x="625531" y="108093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536514" y="6254398"/>
            <a:ext cx="207835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0">
                <a:latin typeface="Arial MT"/>
                <a:cs typeface="Arial MT"/>
              </a:rPr>
              <a:t>Repeat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Train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and</a:t>
            </a:r>
            <a:r>
              <a:rPr dirty="0" sz="1700" spc="-10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Test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976256" y="1828710"/>
            <a:ext cx="3773170" cy="441959"/>
            <a:chOff x="5976256" y="1828710"/>
            <a:chExt cx="3773170" cy="441959"/>
          </a:xfrm>
        </p:grpSpPr>
        <p:sp>
          <p:nvSpPr>
            <p:cNvPr id="28" name="object 28" descr=""/>
            <p:cNvSpPr/>
            <p:nvPr/>
          </p:nvSpPr>
          <p:spPr>
            <a:xfrm>
              <a:off x="5982829" y="1835284"/>
              <a:ext cx="3759835" cy="428625"/>
            </a:xfrm>
            <a:custGeom>
              <a:avLst/>
              <a:gdLst/>
              <a:ahLst/>
              <a:cxnLst/>
              <a:rect l="l" t="t" r="r" b="b"/>
              <a:pathLst>
                <a:path w="3759834" h="428625">
                  <a:moveTo>
                    <a:pt x="0" y="0"/>
                  </a:moveTo>
                  <a:lnTo>
                    <a:pt x="453063" y="193230"/>
                  </a:lnTo>
                  <a:lnTo>
                    <a:pt x="453063" y="361280"/>
                  </a:lnTo>
                  <a:lnTo>
                    <a:pt x="458343" y="387445"/>
                  </a:lnTo>
                  <a:lnTo>
                    <a:pt x="472742" y="408813"/>
                  </a:lnTo>
                  <a:lnTo>
                    <a:pt x="494099" y="423219"/>
                  </a:lnTo>
                  <a:lnTo>
                    <a:pt x="520252" y="428501"/>
                  </a:lnTo>
                  <a:lnTo>
                    <a:pt x="3692417" y="428501"/>
                  </a:lnTo>
                  <a:lnTo>
                    <a:pt x="3718570" y="423219"/>
                  </a:lnTo>
                  <a:lnTo>
                    <a:pt x="3739927" y="408813"/>
                  </a:lnTo>
                  <a:lnTo>
                    <a:pt x="3754327" y="387445"/>
                  </a:lnTo>
                  <a:lnTo>
                    <a:pt x="3759607" y="361280"/>
                  </a:lnTo>
                  <a:lnTo>
                    <a:pt x="3759607" y="92400"/>
                  </a:lnTo>
                  <a:lnTo>
                    <a:pt x="453063" y="92400"/>
                  </a:lnTo>
                  <a:lnTo>
                    <a:pt x="0" y="0"/>
                  </a:lnTo>
                  <a:close/>
                </a:path>
                <a:path w="3759834" h="428625">
                  <a:moveTo>
                    <a:pt x="3692417" y="25179"/>
                  </a:moveTo>
                  <a:lnTo>
                    <a:pt x="520252" y="25179"/>
                  </a:lnTo>
                  <a:lnTo>
                    <a:pt x="494099" y="30461"/>
                  </a:lnTo>
                  <a:lnTo>
                    <a:pt x="472742" y="44867"/>
                  </a:lnTo>
                  <a:lnTo>
                    <a:pt x="458343" y="66234"/>
                  </a:lnTo>
                  <a:lnTo>
                    <a:pt x="453063" y="92400"/>
                  </a:lnTo>
                  <a:lnTo>
                    <a:pt x="3759607" y="92400"/>
                  </a:lnTo>
                  <a:lnTo>
                    <a:pt x="3754327" y="66234"/>
                  </a:lnTo>
                  <a:lnTo>
                    <a:pt x="3739927" y="44867"/>
                  </a:lnTo>
                  <a:lnTo>
                    <a:pt x="3718570" y="30461"/>
                  </a:lnTo>
                  <a:lnTo>
                    <a:pt x="3692417" y="2517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982830" y="1835284"/>
              <a:ext cx="3759835" cy="428625"/>
            </a:xfrm>
            <a:custGeom>
              <a:avLst/>
              <a:gdLst/>
              <a:ahLst/>
              <a:cxnLst/>
              <a:rect l="l" t="t" r="r" b="b"/>
              <a:pathLst>
                <a:path w="3759834" h="428625">
                  <a:moveTo>
                    <a:pt x="453062" y="92400"/>
                  </a:moveTo>
                  <a:lnTo>
                    <a:pt x="458342" y="66234"/>
                  </a:lnTo>
                  <a:lnTo>
                    <a:pt x="472742" y="44867"/>
                  </a:lnTo>
                  <a:lnTo>
                    <a:pt x="494099" y="30461"/>
                  </a:lnTo>
                  <a:lnTo>
                    <a:pt x="520252" y="25179"/>
                  </a:lnTo>
                  <a:lnTo>
                    <a:pt x="1004153" y="25179"/>
                  </a:lnTo>
                  <a:lnTo>
                    <a:pt x="1830789" y="25179"/>
                  </a:lnTo>
                  <a:lnTo>
                    <a:pt x="3692416" y="25179"/>
                  </a:lnTo>
                  <a:lnTo>
                    <a:pt x="3718570" y="30461"/>
                  </a:lnTo>
                  <a:lnTo>
                    <a:pt x="3739927" y="44867"/>
                  </a:lnTo>
                  <a:lnTo>
                    <a:pt x="3754326" y="66234"/>
                  </a:lnTo>
                  <a:lnTo>
                    <a:pt x="3759607" y="92400"/>
                  </a:lnTo>
                  <a:lnTo>
                    <a:pt x="3759607" y="193230"/>
                  </a:lnTo>
                  <a:lnTo>
                    <a:pt x="3759607" y="361280"/>
                  </a:lnTo>
                  <a:lnTo>
                    <a:pt x="3754326" y="387446"/>
                  </a:lnTo>
                  <a:lnTo>
                    <a:pt x="3739927" y="408813"/>
                  </a:lnTo>
                  <a:lnTo>
                    <a:pt x="3718570" y="423219"/>
                  </a:lnTo>
                  <a:lnTo>
                    <a:pt x="3692416" y="428502"/>
                  </a:lnTo>
                  <a:lnTo>
                    <a:pt x="1830789" y="428502"/>
                  </a:lnTo>
                  <a:lnTo>
                    <a:pt x="1004153" y="428502"/>
                  </a:lnTo>
                  <a:lnTo>
                    <a:pt x="520252" y="428502"/>
                  </a:lnTo>
                  <a:lnTo>
                    <a:pt x="494099" y="423219"/>
                  </a:lnTo>
                  <a:lnTo>
                    <a:pt x="472742" y="408813"/>
                  </a:lnTo>
                  <a:lnTo>
                    <a:pt x="458342" y="387446"/>
                  </a:lnTo>
                  <a:lnTo>
                    <a:pt x="453062" y="361280"/>
                  </a:lnTo>
                  <a:lnTo>
                    <a:pt x="453062" y="193230"/>
                  </a:lnTo>
                  <a:lnTo>
                    <a:pt x="0" y="0"/>
                  </a:lnTo>
                  <a:lnTo>
                    <a:pt x="453062" y="9240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537486" y="1901855"/>
            <a:ext cx="308991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 MT"/>
                <a:cs typeface="Arial MT"/>
              </a:rPr>
              <a:t>“Objective”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“objective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function”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59189" y="4359575"/>
            <a:ext cx="9212580" cy="49530"/>
            <a:chOff x="759189" y="4359575"/>
            <a:chExt cx="9212580" cy="49530"/>
          </a:xfrm>
        </p:grpSpPr>
        <p:sp>
          <p:nvSpPr>
            <p:cNvPr id="32" name="object 32" descr=""/>
            <p:cNvSpPr/>
            <p:nvPr/>
          </p:nvSpPr>
          <p:spPr>
            <a:xfrm>
              <a:off x="778909" y="437929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9172675" y="0"/>
                  </a:moveTo>
                  <a:lnTo>
                    <a:pt x="0" y="9963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78909" y="437929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0" y="9963"/>
                  </a:moveTo>
                  <a:lnTo>
                    <a:pt x="9172676" y="0"/>
                  </a:lnTo>
                </a:path>
              </a:pathLst>
            </a:custGeom>
            <a:ln w="394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759189" y="2430836"/>
            <a:ext cx="9212580" cy="49530"/>
            <a:chOff x="759189" y="2430836"/>
            <a:chExt cx="9212580" cy="49530"/>
          </a:xfrm>
        </p:grpSpPr>
        <p:sp>
          <p:nvSpPr>
            <p:cNvPr id="35" name="object 35" descr=""/>
            <p:cNvSpPr/>
            <p:nvPr/>
          </p:nvSpPr>
          <p:spPr>
            <a:xfrm>
              <a:off x="778909" y="245055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9172675" y="0"/>
                  </a:moveTo>
                  <a:lnTo>
                    <a:pt x="0" y="9964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8909" y="2450557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0" y="9963"/>
                  </a:moveTo>
                  <a:lnTo>
                    <a:pt x="9172676" y="0"/>
                  </a:lnTo>
                </a:path>
              </a:pathLst>
            </a:custGeom>
            <a:ln w="394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0647" y="7086055"/>
            <a:ext cx="3340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4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3625850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Feature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Selection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Exploratory</a:t>
            </a:r>
            <a:r>
              <a:rPr dirty="0" sz="1900" spc="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Analysis</a:t>
            </a:r>
            <a:r>
              <a:rPr dirty="0" sz="190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(EDA)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525"/>
              </a:spcBef>
              <a:buChar char="•"/>
              <a:tabLst>
                <a:tab pos="278130" algn="l"/>
              </a:tabLst>
            </a:pP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Preparation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226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Contents</a:t>
            </a:r>
            <a:r>
              <a:rPr dirty="0" spc="-120"/>
              <a:t> </a:t>
            </a:r>
            <a:r>
              <a:rPr dirty="0" spc="-320"/>
              <a:t>&amp;</a:t>
            </a:r>
            <a:r>
              <a:rPr dirty="0" spc="-110"/>
              <a:t> </a:t>
            </a:r>
            <a:r>
              <a:rPr dirty="0" spc="-60"/>
              <a:t>Structure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1638" y="2738659"/>
            <a:ext cx="4113759" cy="2079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216916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r>
              <a:rPr dirty="0" sz="2800" spc="-8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Preprocessing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5799" y="1717913"/>
            <a:ext cx="8383905" cy="4701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02489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preprocessing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first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machine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project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Feature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Extraction</a:t>
            </a:r>
            <a:r>
              <a:rPr dirty="0" sz="2500" spc="-8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0" b="1">
                <a:latin typeface="Arial"/>
                <a:cs typeface="Arial"/>
              </a:rPr>
              <a:t>Data </a:t>
            </a:r>
            <a:r>
              <a:rPr dirty="0" sz="2500" spc="-10" b="1">
                <a:latin typeface="Arial"/>
                <a:cs typeface="Arial"/>
              </a:rPr>
              <a:t>Preparation</a:t>
            </a:r>
            <a:r>
              <a:rPr dirty="0" sz="2500" spc="-1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  <a:p>
            <a:pPr marL="278765" marR="4064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preprocessing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refer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manipulation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dropping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before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ensure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enhance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learning process.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299"/>
              </a:lnSpc>
              <a:spcBef>
                <a:spcPts val="189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phrase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"garbage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garbage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out"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particularly </a:t>
            </a:r>
            <a:r>
              <a:rPr dirty="0" sz="2500">
                <a:latin typeface="Arial MT"/>
                <a:cs typeface="Arial MT"/>
              </a:rPr>
              <a:t>applicable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projects.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unclean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result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will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satisfying </a:t>
            </a:r>
            <a:r>
              <a:rPr dirty="0" sz="2500">
                <a:latin typeface="Arial MT"/>
                <a:cs typeface="Arial MT"/>
              </a:rPr>
              <a:t>enough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end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application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118745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  <a:latin typeface="Arial"/>
                <a:cs typeface="Arial"/>
              </a:rPr>
              <a:t>Machine</a:t>
            </a:r>
            <a:r>
              <a:rPr dirty="0" sz="3300" spc="-7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262673"/>
                </a:solidFill>
                <a:latin typeface="Arial"/>
                <a:cs typeface="Arial"/>
              </a:rPr>
              <a:t>Learning</a:t>
            </a:r>
            <a:r>
              <a:rPr dirty="0" sz="3300" spc="-6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262673"/>
                </a:solidFill>
                <a:latin typeface="Arial"/>
                <a:cs typeface="Arial"/>
              </a:rPr>
              <a:t>Pipeline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/>
              <a:t>Feature</a:t>
            </a:r>
            <a:r>
              <a:rPr dirty="0" spc="-90"/>
              <a:t> </a:t>
            </a:r>
            <a:r>
              <a:rPr dirty="0" spc="-10"/>
              <a:t>Extraction</a:t>
            </a:r>
          </a:p>
          <a:p>
            <a:pPr algn="just" marL="278765" marR="67500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>
                <a:solidFill>
                  <a:srgbClr val="000000"/>
                </a:solidFill>
              </a:rPr>
              <a:t>Goal:</a:t>
            </a:r>
            <a:r>
              <a:rPr dirty="0" spc="-11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Specifying</a:t>
            </a:r>
            <a:r>
              <a:rPr dirty="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features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useful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prediction</a:t>
            </a:r>
          </a:p>
          <a:p>
            <a:pPr algn="just" marL="278765" marR="5080" indent="-266700">
              <a:lnSpc>
                <a:spcPct val="100400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>
                <a:solidFill>
                  <a:srgbClr val="000000"/>
                </a:solidFill>
              </a:rPr>
              <a:t>Methods:</a:t>
            </a:r>
            <a:r>
              <a:rPr dirty="0" spc="-11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Check</a:t>
            </a:r>
            <a:r>
              <a:rPr dirty="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distributions, correlation/covariance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checks,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drop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unique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identifiers</a:t>
            </a:r>
          </a:p>
          <a:p>
            <a:pPr marL="278765" marR="42735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pc="-10">
                <a:solidFill>
                  <a:srgbClr val="000000"/>
                </a:solidFill>
              </a:rPr>
              <a:t>Outcome: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“flat”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(single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table)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dataset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selected features.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748" rIns="0" bIns="0" rtlCol="0" vert="horz">
            <a:spAutoFit/>
          </a:bodyPr>
          <a:lstStyle/>
          <a:p>
            <a:pPr marL="108267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Exploratory</a:t>
            </a:r>
            <a:r>
              <a:rPr dirty="0" sz="2800" spc="-19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r>
              <a:rPr dirty="0" sz="2800" spc="-18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Analysis</a:t>
            </a:r>
            <a:r>
              <a:rPr dirty="0" sz="2800" spc="-1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(EDA)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84045" y="4191173"/>
            <a:ext cx="5680075" cy="2585085"/>
            <a:chOff x="1084045" y="4191173"/>
            <a:chExt cx="5680075" cy="2585085"/>
          </a:xfrm>
        </p:grpSpPr>
        <p:sp>
          <p:nvSpPr>
            <p:cNvPr id="4" name="object 4" descr=""/>
            <p:cNvSpPr/>
            <p:nvPr/>
          </p:nvSpPr>
          <p:spPr>
            <a:xfrm>
              <a:off x="1093904" y="4201033"/>
              <a:ext cx="5660390" cy="2565400"/>
            </a:xfrm>
            <a:custGeom>
              <a:avLst/>
              <a:gdLst/>
              <a:ahLst/>
              <a:cxnLst/>
              <a:rect l="l" t="t" r="r" b="b"/>
              <a:pathLst>
                <a:path w="5660390" h="2565400">
                  <a:moveTo>
                    <a:pt x="5659782" y="0"/>
                  </a:moveTo>
                  <a:lnTo>
                    <a:pt x="0" y="0"/>
                  </a:lnTo>
                  <a:lnTo>
                    <a:pt x="0" y="2564907"/>
                  </a:lnTo>
                  <a:lnTo>
                    <a:pt x="5659782" y="2564907"/>
                  </a:lnTo>
                  <a:lnTo>
                    <a:pt x="565978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93904" y="4201033"/>
              <a:ext cx="5660390" cy="2565400"/>
            </a:xfrm>
            <a:custGeom>
              <a:avLst/>
              <a:gdLst/>
              <a:ahLst/>
              <a:cxnLst/>
              <a:rect l="l" t="t" r="r" b="b"/>
              <a:pathLst>
                <a:path w="5660390" h="2565400">
                  <a:moveTo>
                    <a:pt x="0" y="0"/>
                  </a:moveTo>
                  <a:lnTo>
                    <a:pt x="5659782" y="0"/>
                  </a:lnTo>
                  <a:lnTo>
                    <a:pt x="5659782" y="2564907"/>
                  </a:lnTo>
                  <a:lnTo>
                    <a:pt x="0" y="2564907"/>
                  </a:lnTo>
                  <a:lnTo>
                    <a:pt x="0" y="0"/>
                  </a:lnTo>
                  <a:close/>
                </a:path>
              </a:pathLst>
            </a:custGeom>
            <a:ln w="1971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88519" y="4223403"/>
            <a:ext cx="10807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latin typeface="Arial"/>
                <a:cs typeface="Arial"/>
              </a:rPr>
              <a:t>Checking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88519" y="4513093"/>
            <a:ext cx="5325110" cy="205867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472440" indent="-47244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72440" algn="l"/>
              </a:tabLst>
            </a:pPr>
            <a:r>
              <a:rPr dirty="0" sz="1900" spc="-20">
                <a:latin typeface="Arial MT"/>
                <a:cs typeface="Arial MT"/>
              </a:rPr>
              <a:t>Feature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Distributions</a:t>
            </a:r>
            <a:endParaRPr sz="1900">
              <a:latin typeface="Arial MT"/>
              <a:cs typeface="Arial MT"/>
            </a:endParaRPr>
          </a:p>
          <a:p>
            <a:pPr marL="472440" indent="-4724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472440" algn="l"/>
              </a:tabLst>
            </a:pPr>
            <a:r>
              <a:rPr dirty="0" sz="1900" spc="-10">
                <a:latin typeface="Arial MT"/>
                <a:cs typeface="Arial MT"/>
              </a:rPr>
              <a:t>Class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balance</a:t>
            </a:r>
            <a:endParaRPr sz="1900">
              <a:latin typeface="Arial MT"/>
              <a:cs typeface="Arial MT"/>
            </a:endParaRPr>
          </a:p>
          <a:p>
            <a:pPr marL="472440" marR="5080" indent="-473075">
              <a:lnSpc>
                <a:spcPct val="101099"/>
              </a:lnSpc>
              <a:spcBef>
                <a:spcPts val="480"/>
              </a:spcBef>
              <a:buAutoNum type="arabicPeriod"/>
              <a:tabLst>
                <a:tab pos="472440" algn="l"/>
              </a:tabLst>
            </a:pP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between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input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variables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target variable</a:t>
            </a:r>
            <a:endParaRPr sz="1900">
              <a:latin typeface="Arial MT"/>
              <a:cs typeface="Arial MT"/>
            </a:endParaRPr>
          </a:p>
          <a:p>
            <a:pPr marL="472440" marR="1134110" indent="-473075">
              <a:lnSpc>
                <a:spcPts val="2210"/>
              </a:lnSpc>
              <a:spcBef>
                <a:spcPts val="755"/>
              </a:spcBef>
              <a:buAutoNum type="arabicPeriod"/>
              <a:tabLst>
                <a:tab pos="472440" algn="l"/>
              </a:tabLst>
            </a:pP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between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input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variables (collinearity)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2160" y="1745345"/>
            <a:ext cx="8249920" cy="1931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78765" marR="508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EDA</a:t>
            </a:r>
            <a:r>
              <a:rPr dirty="0" sz="2500" spc="3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5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important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first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understand</a:t>
            </a:r>
            <a:r>
              <a:rPr dirty="0" sz="2500" spc="5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(identify</a:t>
            </a:r>
            <a:r>
              <a:rPr dirty="0" sz="2500" spc="2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trends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patterns</a:t>
            </a:r>
            <a:r>
              <a:rPr dirty="0" sz="2500" spc="2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within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2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data,</a:t>
            </a:r>
            <a:r>
              <a:rPr dirty="0" sz="2500" spc="2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detect </a:t>
            </a:r>
            <a:r>
              <a:rPr dirty="0" sz="2500">
                <a:latin typeface="Arial MT"/>
                <a:cs typeface="Arial MT"/>
              </a:rPr>
              <a:t>outliers</a:t>
            </a:r>
            <a:r>
              <a:rPr dirty="0" sz="2500" spc="45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4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anomalous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events,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find</a:t>
            </a:r>
            <a:r>
              <a:rPr dirty="0" sz="2500" spc="4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interesting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relations </a:t>
            </a:r>
            <a:r>
              <a:rPr dirty="0" sz="2500">
                <a:latin typeface="Arial MT"/>
                <a:cs typeface="Arial MT"/>
              </a:rPr>
              <a:t>among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variables,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points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interest,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etc.)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before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using </a:t>
            </a:r>
            <a:r>
              <a:rPr dirty="0" sz="2500">
                <a:latin typeface="Arial MT"/>
                <a:cs typeface="Arial MT"/>
              </a:rPr>
              <a:t>them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modeling,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etc.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84945" y="4311761"/>
            <a:ext cx="1748155" cy="231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Since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will </a:t>
            </a:r>
            <a:r>
              <a:rPr dirty="0" sz="2500">
                <a:latin typeface="Arial MT"/>
                <a:cs typeface="Arial MT"/>
              </a:rPr>
              <a:t>always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be </a:t>
            </a:r>
            <a:r>
              <a:rPr dirty="0" sz="2500" spc="-10">
                <a:latin typeface="Arial MT"/>
                <a:cs typeface="Arial MT"/>
              </a:rPr>
              <a:t>large, </a:t>
            </a:r>
            <a:r>
              <a:rPr dirty="0" u="heavy" sz="25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visualization</a:t>
            </a:r>
            <a:r>
              <a:rPr dirty="0" sz="2500" spc="-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essential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235648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Feature</a:t>
            </a:r>
            <a:r>
              <a:rPr dirty="0" sz="2800" spc="-1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Selection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717913"/>
            <a:ext cx="8037195" cy="4791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31877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have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all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relevant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significant.</a:t>
            </a:r>
            <a:endParaRPr sz="2500">
              <a:latin typeface="Arial MT"/>
              <a:cs typeface="Arial MT"/>
            </a:endParaRPr>
          </a:p>
          <a:p>
            <a:pPr lvl="1" marL="589280" marR="455295" indent="-222250">
              <a:lnSpc>
                <a:spcPct val="99500"/>
              </a:lnSpc>
              <a:spcBef>
                <a:spcPts val="190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certain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types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genetics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text,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large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compared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 </a:t>
            </a:r>
            <a:r>
              <a:rPr dirty="0" sz="2100" spc="-10">
                <a:latin typeface="Arial MT"/>
                <a:cs typeface="Arial MT"/>
              </a:rPr>
              <a:t>points.</a:t>
            </a:r>
            <a:endParaRPr sz="2100">
              <a:latin typeface="Arial MT"/>
              <a:cs typeface="Arial MT"/>
            </a:endParaRPr>
          </a:p>
          <a:p>
            <a:pPr lvl="1" marL="589280" marR="50165" indent="-222250">
              <a:lnSpc>
                <a:spcPts val="2500"/>
              </a:lnSpc>
              <a:spcBef>
                <a:spcPts val="197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Curse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dimensionality: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error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increases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increase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features.</a:t>
            </a:r>
            <a:endParaRPr sz="2100">
              <a:latin typeface="Arial MT"/>
              <a:cs typeface="Arial MT"/>
            </a:endParaRPr>
          </a:p>
          <a:p>
            <a:pPr marL="278765" marR="579755" indent="-266700">
              <a:lnSpc>
                <a:spcPct val="100400"/>
              </a:lnSpc>
              <a:spcBef>
                <a:spcPts val="17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process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most </a:t>
            </a:r>
            <a:r>
              <a:rPr dirty="0" sz="2500">
                <a:latin typeface="Arial MT"/>
                <a:cs typeface="Arial MT"/>
              </a:rPr>
              <a:t>relevant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variables.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goal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determine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which </a:t>
            </a:r>
            <a:r>
              <a:rPr dirty="0" sz="2500">
                <a:latin typeface="Arial MT"/>
                <a:cs typeface="Arial MT"/>
              </a:rPr>
              <a:t>columns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predictive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output.</a:t>
            </a:r>
            <a:endParaRPr sz="2500">
              <a:latin typeface="Arial MT"/>
              <a:cs typeface="Arial MT"/>
            </a:endParaRPr>
          </a:p>
          <a:p>
            <a:pPr lvl="1" marL="588645" indent="-221615">
              <a:lnSpc>
                <a:spcPct val="100000"/>
              </a:lnSpc>
              <a:spcBef>
                <a:spcPts val="1795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Also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“dimensionality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reduction”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“feature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engineering”.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012" rIns="0" bIns="0" rtlCol="0" vert="horz">
            <a:spAutoFit/>
          </a:bodyPr>
          <a:lstStyle/>
          <a:p>
            <a:pPr marL="206057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Feature</a:t>
            </a:r>
            <a:r>
              <a:rPr dirty="0" sz="2800" spc="-16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Value</a:t>
            </a:r>
            <a:r>
              <a:rPr dirty="0" sz="2800" spc="-16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Variance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75348" y="1909937"/>
            <a:ext cx="7455534" cy="3939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508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Columns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low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provide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information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distinguishing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type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another</a:t>
            </a:r>
            <a:endParaRPr sz="2500">
              <a:latin typeface="Arial MT"/>
              <a:cs typeface="Arial MT"/>
            </a:endParaRPr>
          </a:p>
          <a:p>
            <a:pPr lvl="1" marL="589280" indent="-222250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2500" i="1">
                <a:latin typeface="Arial"/>
                <a:cs typeface="Arial"/>
              </a:rPr>
              <a:t>Remove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unique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identifiers</a:t>
            </a:r>
            <a:endParaRPr sz="2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645"/>
              </a:spcBef>
              <a:buFont typeface="Arial MT"/>
              <a:buChar char="–"/>
            </a:pPr>
            <a:endParaRPr sz="2500">
              <a:latin typeface="Arial"/>
              <a:cs typeface="Arial"/>
            </a:endParaRPr>
          </a:p>
          <a:p>
            <a:pPr marL="278765" marR="213995" indent="-266700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Columns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high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variance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have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unique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less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information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for </a:t>
            </a:r>
            <a:r>
              <a:rPr dirty="0" sz="2500">
                <a:latin typeface="Arial MT"/>
                <a:cs typeface="Arial MT"/>
              </a:rPr>
              <a:t>distinguishing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type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another</a:t>
            </a:r>
            <a:endParaRPr sz="2500">
              <a:latin typeface="Arial MT"/>
              <a:cs typeface="Arial MT"/>
            </a:endParaRPr>
          </a:p>
          <a:p>
            <a:pPr lvl="1" marL="589280" marR="819785" indent="-22225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2500" i="1">
                <a:latin typeface="Arial"/>
                <a:cs typeface="Arial"/>
              </a:rPr>
              <a:t>‘bin’</a:t>
            </a:r>
            <a:r>
              <a:rPr dirty="0" sz="2500" spc="-5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values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to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reduce</a:t>
            </a:r>
            <a:r>
              <a:rPr dirty="0" sz="2500" spc="-5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-5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number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of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unique values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1300" rIns="0" bIns="0" rtlCol="0" vert="horz">
            <a:spAutoFit/>
          </a:bodyPr>
          <a:lstStyle/>
          <a:p>
            <a:pPr marL="234696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Feature</a:t>
            </a:r>
            <a:r>
              <a:rPr dirty="0" sz="2800" spc="-1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Covariance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529" y="1699659"/>
            <a:ext cx="8359140" cy="22205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78765" marR="5080" indent="-266700">
              <a:lnSpc>
                <a:spcPct val="101099"/>
              </a:lnSpc>
              <a:spcBef>
                <a:spcPts val="75"/>
              </a:spcBef>
              <a:buChar char="•"/>
              <a:tabLst>
                <a:tab pos="278765" algn="l"/>
              </a:tabLst>
            </a:pP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worst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case,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one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feature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explain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(or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already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determine)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all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other </a:t>
            </a:r>
            <a:r>
              <a:rPr dirty="0" sz="1900" spc="-20">
                <a:latin typeface="Arial MT"/>
                <a:cs typeface="Arial MT"/>
              </a:rPr>
              <a:t>features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makes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them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obsolete.</a:t>
            </a:r>
            <a:endParaRPr sz="1900">
              <a:latin typeface="Arial MT"/>
              <a:cs typeface="Arial MT"/>
            </a:endParaRPr>
          </a:p>
          <a:p>
            <a:pPr marL="278765" marR="1286510" indent="-266700">
              <a:lnSpc>
                <a:spcPts val="2210"/>
              </a:lnSpc>
              <a:spcBef>
                <a:spcPts val="1930"/>
              </a:spcBef>
              <a:buChar char="•"/>
              <a:tabLst>
                <a:tab pos="278765" algn="l"/>
              </a:tabLst>
            </a:pPr>
            <a:r>
              <a:rPr dirty="0" sz="1900">
                <a:latin typeface="Arial MT"/>
                <a:cs typeface="Arial MT"/>
              </a:rPr>
              <a:t>This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results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high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redundancy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among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features,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increasing </a:t>
            </a:r>
            <a:r>
              <a:rPr dirty="0" sz="1900" spc="-30">
                <a:latin typeface="Arial MT"/>
                <a:cs typeface="Arial MT"/>
              </a:rPr>
              <a:t>computational</a:t>
            </a:r>
            <a:r>
              <a:rPr dirty="0" sz="1900" spc="-10">
                <a:latin typeface="Arial MT"/>
                <a:cs typeface="Arial MT"/>
              </a:rPr>
              <a:t> overhead</a:t>
            </a:r>
            <a:endParaRPr sz="1900">
              <a:latin typeface="Arial MT"/>
              <a:cs typeface="Arial MT"/>
            </a:endParaRPr>
          </a:p>
          <a:p>
            <a:pPr marL="278765" marR="144780" indent="-266700">
              <a:lnSpc>
                <a:spcPts val="2210"/>
              </a:lnSpc>
              <a:spcBef>
                <a:spcPts val="1989"/>
              </a:spcBef>
              <a:buChar char="•"/>
              <a:tabLst>
                <a:tab pos="278765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covariance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matrix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find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redundant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features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(those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that </a:t>
            </a:r>
            <a:r>
              <a:rPr dirty="0" sz="1900" spc="-25">
                <a:latin typeface="Arial MT"/>
                <a:cs typeface="Arial MT"/>
              </a:rPr>
              <a:t>measure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same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thing),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make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decisions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about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removed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817" y="4391350"/>
            <a:ext cx="3250190" cy="2135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213931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Pearson</a:t>
            </a:r>
            <a:r>
              <a:rPr dirty="0" sz="2800" spc="-16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4589" y="1716406"/>
            <a:ext cx="8382000" cy="49847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277495" marR="191770" indent="-26543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Pearson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r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standardized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covariance,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ranges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-1,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indicating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perfect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linear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relationship,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+1,indicating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perfect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relationship.</a:t>
            </a:r>
            <a:endParaRPr sz="2200">
              <a:latin typeface="Arial MT"/>
              <a:cs typeface="Arial MT"/>
            </a:endParaRPr>
          </a:p>
          <a:p>
            <a:pPr marL="278765" marR="531495" indent="-266700">
              <a:lnSpc>
                <a:spcPts val="2620"/>
              </a:lnSpc>
              <a:spcBef>
                <a:spcPts val="19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covariance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variables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product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their </a:t>
            </a:r>
            <a:r>
              <a:rPr dirty="0" sz="2200" spc="-20">
                <a:latin typeface="Arial MT"/>
                <a:cs typeface="Arial MT"/>
              </a:rPr>
              <a:t>standard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deviations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gives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Pearson's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correlation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coefficient.</a:t>
            </a:r>
            <a:endParaRPr sz="2200">
              <a:latin typeface="Arial MT"/>
              <a:cs typeface="Arial MT"/>
            </a:endParaRPr>
          </a:p>
          <a:p>
            <a:pPr marL="288290">
              <a:lnSpc>
                <a:spcPts val="2505"/>
              </a:lnSpc>
            </a:pPr>
            <a:r>
              <a:rPr dirty="0" sz="2200" spc="-969">
                <a:latin typeface="Arial MT"/>
                <a:cs typeface="Arial MT"/>
              </a:rPr>
              <a:t>ρ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(X,Y)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cov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(X,Y)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/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310">
                <a:latin typeface="Arial MT"/>
                <a:cs typeface="Arial MT"/>
              </a:rPr>
              <a:t>σX.σY.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ct val="100499"/>
              </a:lnSpc>
              <a:spcBef>
                <a:spcPts val="18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zero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suggests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association,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but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does</a:t>
            </a:r>
            <a:r>
              <a:rPr dirty="0" u="heavy" sz="2200" spc="-7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dirty="0" u="heavy" sz="220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mean</a:t>
            </a:r>
            <a:r>
              <a:rPr dirty="0" u="heavy" sz="2200" spc="-229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2200" spc="-229"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two</a:t>
            </a:r>
            <a:r>
              <a:rPr dirty="0" u="heavy" sz="2200" spc="-9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variables</a:t>
            </a:r>
            <a:r>
              <a:rPr dirty="0" u="heavy" sz="2200" spc="-8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are</a:t>
            </a:r>
            <a:r>
              <a:rPr dirty="0" u="heavy" sz="2200" spc="-9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independent</a:t>
            </a:r>
            <a:r>
              <a:rPr dirty="0" sz="2200" spc="-25">
                <a:latin typeface="Arial MT"/>
                <a:cs typeface="Arial MT"/>
              </a:rPr>
              <a:t>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extremely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important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point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to </a:t>
            </a:r>
            <a:r>
              <a:rPr dirty="0" sz="2200" spc="-10">
                <a:latin typeface="Arial MT"/>
                <a:cs typeface="Arial MT"/>
              </a:rPr>
              <a:t>remember.</a:t>
            </a:r>
            <a:endParaRPr sz="2200">
              <a:latin typeface="Arial MT"/>
              <a:cs typeface="Arial MT"/>
            </a:endParaRPr>
          </a:p>
          <a:p>
            <a:pPr marL="278765" marR="929005" indent="-266700">
              <a:lnSpc>
                <a:spcPts val="2620"/>
              </a:lnSpc>
              <a:spcBef>
                <a:spcPts val="195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Pearson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r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is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not</a:t>
            </a:r>
            <a:r>
              <a:rPr dirty="0" sz="2200" spc="-6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viable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for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C0"/>
                </a:solidFill>
                <a:latin typeface="Arial"/>
                <a:cs typeface="Arial"/>
              </a:rPr>
              <a:t>understanding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dirty="0" sz="2200" spc="-7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great</a:t>
            </a:r>
            <a:r>
              <a:rPr dirty="0" sz="2200" spc="-6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070C0"/>
                </a:solidFill>
                <a:latin typeface="Arial"/>
                <a:cs typeface="Arial"/>
              </a:rPr>
              <a:t>many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dependencies</a:t>
            </a:r>
            <a:endParaRPr sz="2200">
              <a:latin typeface="Arial"/>
              <a:cs typeface="Arial"/>
            </a:endParaRPr>
          </a:p>
          <a:p>
            <a:pPr marL="278130" indent="-265430">
              <a:lnSpc>
                <a:spcPct val="100000"/>
              </a:lnSpc>
              <a:spcBef>
                <a:spcPts val="176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alternative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sz="22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Mutual</a:t>
            </a:r>
            <a:r>
              <a:rPr dirty="0" sz="22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Information</a:t>
            </a:r>
            <a:r>
              <a:rPr dirty="0" sz="22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Correlation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3284" rIns="0" bIns="0" rtlCol="0" vert="horz">
            <a:spAutoFit/>
          </a:bodyPr>
          <a:lstStyle/>
          <a:p>
            <a:pPr marL="318643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638" y="1475811"/>
            <a:ext cx="8580281" cy="5400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11909" y="4708035"/>
            <a:ext cx="1499235" cy="1826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High </a:t>
            </a:r>
            <a:r>
              <a:rPr dirty="0" sz="1900" spc="-30" b="1">
                <a:solidFill>
                  <a:srgbClr val="C00000"/>
                </a:solidFill>
                <a:latin typeface="Arial"/>
                <a:cs typeface="Arial"/>
              </a:rPr>
              <a:t>Correlations:</a:t>
            </a:r>
            <a:endParaRPr sz="1900">
              <a:latin typeface="Arial"/>
              <a:cs typeface="Arial"/>
            </a:endParaRPr>
          </a:p>
          <a:p>
            <a:pPr marL="12700" marR="108585">
              <a:lnSpc>
                <a:spcPct val="101099"/>
              </a:lnSpc>
              <a:spcBef>
                <a:spcPts val="480"/>
              </a:spcBef>
            </a:pP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9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greater</a:t>
            </a:r>
            <a:r>
              <a:rPr dirty="0" sz="19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than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10"/>
              </a:lnSpc>
            </a:pPr>
            <a:r>
              <a:rPr dirty="0" sz="1900" b="1">
                <a:solidFill>
                  <a:srgbClr val="C00000"/>
                </a:solidFill>
                <a:latin typeface="Arial"/>
                <a:cs typeface="Arial"/>
              </a:rPr>
              <a:t>0.7</a:t>
            </a:r>
            <a:r>
              <a:rPr dirty="0" sz="1900" spc="-1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1900" spc="-1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less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900" spc="-10" b="1">
                <a:solidFill>
                  <a:srgbClr val="C00000"/>
                </a:solidFill>
                <a:latin typeface="Arial"/>
                <a:cs typeface="Arial"/>
              </a:rPr>
              <a:t>than</a:t>
            </a:r>
            <a:r>
              <a:rPr dirty="0" sz="19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dirty="0" sz="1900" spc="-25" b="1">
                <a:solidFill>
                  <a:srgbClr val="C00000"/>
                </a:solidFill>
                <a:latin typeface="Arial"/>
                <a:cs typeface="Arial"/>
              </a:rPr>
              <a:t>0.7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89593" y="410321"/>
            <a:ext cx="1710055" cy="11690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 spc="-20">
                <a:solidFill>
                  <a:srgbClr val="000000"/>
                </a:solidFill>
                <a:latin typeface="Arial"/>
                <a:cs typeface="Arial"/>
              </a:rPr>
              <a:t>Correlation </a:t>
            </a:r>
            <a:r>
              <a:rPr dirty="0" sz="2500" spc="-10">
                <a:solidFill>
                  <a:srgbClr val="000000"/>
                </a:solidFill>
                <a:latin typeface="Arial"/>
                <a:cs typeface="Arial"/>
              </a:rPr>
              <a:t>Matrix “heatmap”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731" y="464711"/>
            <a:ext cx="4431229" cy="354960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5188" y="2607316"/>
            <a:ext cx="4185220" cy="41307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340" rIns="0" bIns="0" rtlCol="0" vert="horz">
            <a:spAutoFit/>
          </a:bodyPr>
          <a:lstStyle/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Mutual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Information</a:t>
            </a:r>
            <a:r>
              <a:rPr dirty="0" sz="2800" spc="-11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(MI)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75741" y="1722502"/>
            <a:ext cx="8472170" cy="518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6570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496570" algn="l"/>
              </a:tabLst>
            </a:pP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based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Arial"/>
                <a:cs typeface="Arial"/>
              </a:rPr>
              <a:t>Entropy</a:t>
            </a:r>
            <a:endParaRPr sz="2200">
              <a:latin typeface="Arial"/>
              <a:cs typeface="Arial"/>
            </a:endParaRPr>
          </a:p>
          <a:p>
            <a:pPr marL="496570" marR="185420" indent="-266700">
              <a:lnSpc>
                <a:spcPct val="102699"/>
              </a:lnSpc>
              <a:spcBef>
                <a:spcPts val="1775"/>
              </a:spcBef>
              <a:buChar char="•"/>
              <a:tabLst>
                <a:tab pos="496570" algn="l"/>
              </a:tabLst>
            </a:pPr>
            <a:r>
              <a:rPr dirty="0" sz="2200" spc="-10">
                <a:solidFill>
                  <a:srgbClr val="FF0000"/>
                </a:solidFill>
                <a:latin typeface="Arial MT"/>
                <a:cs typeface="Arial MT"/>
              </a:rPr>
              <a:t>Entropy</a:t>
            </a:r>
            <a:r>
              <a:rPr dirty="0" sz="2200" spc="-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defined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u="heavy" sz="22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randomness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disorder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a </a:t>
            </a:r>
            <a:r>
              <a:rPr dirty="0" sz="2200" spc="-10">
                <a:latin typeface="Arial MT"/>
                <a:cs typeface="Arial MT"/>
              </a:rPr>
              <a:t>system</a:t>
            </a:r>
            <a:endParaRPr sz="2200">
              <a:latin typeface="Arial MT"/>
              <a:cs typeface="Arial MT"/>
            </a:endParaRPr>
          </a:p>
          <a:p>
            <a:pPr marL="496570" marR="5080" indent="-266700">
              <a:lnSpc>
                <a:spcPts val="2620"/>
              </a:lnSpc>
              <a:spcBef>
                <a:spcPts val="1955"/>
              </a:spcBef>
              <a:buChar char="•"/>
              <a:tabLst>
                <a:tab pos="496570" algn="l"/>
              </a:tabLst>
            </a:pP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example,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devices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connected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network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iPhones,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 i="1">
                <a:solidFill>
                  <a:srgbClr val="0070C0"/>
                </a:solidFill>
                <a:latin typeface="Arial"/>
                <a:cs typeface="Arial"/>
              </a:rPr>
              <a:t>device</a:t>
            </a:r>
            <a:r>
              <a:rPr dirty="0" sz="2200" spc="-105" i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0070C0"/>
                </a:solidFill>
                <a:latin typeface="Arial"/>
                <a:cs typeface="Arial"/>
              </a:rPr>
              <a:t>type</a:t>
            </a:r>
            <a:r>
              <a:rPr dirty="0" sz="2200" spc="-100" i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>
                <a:latin typeface="Arial MT"/>
                <a:cs typeface="Arial MT"/>
              </a:rPr>
              <a:t>random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variable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uncertainty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(zero entropy).</a:t>
            </a:r>
            <a:endParaRPr sz="2200">
              <a:latin typeface="Arial MT"/>
              <a:cs typeface="Arial MT"/>
            </a:endParaRPr>
          </a:p>
          <a:p>
            <a:pPr marL="496570" marR="12065" indent="-266700">
              <a:lnSpc>
                <a:spcPct val="100000"/>
              </a:lnSpc>
              <a:spcBef>
                <a:spcPts val="1755"/>
              </a:spcBef>
              <a:buChar char="•"/>
              <a:tabLst>
                <a:tab pos="496570" algn="l"/>
              </a:tabLst>
            </a:pPr>
            <a:r>
              <a:rPr dirty="0" sz="2200" spc="-20">
                <a:latin typeface="Arial MT"/>
                <a:cs typeface="Arial MT"/>
              </a:rPr>
              <a:t>However,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when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Android,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Chromebook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iPhone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devices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all </a:t>
            </a:r>
            <a:r>
              <a:rPr dirty="0" sz="2200" spc="-20">
                <a:latin typeface="Arial MT"/>
                <a:cs typeface="Arial MT"/>
              </a:rPr>
              <a:t>connected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network,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 i="1">
                <a:solidFill>
                  <a:srgbClr val="0070C0"/>
                </a:solidFill>
                <a:latin typeface="Arial"/>
                <a:cs typeface="Arial"/>
              </a:rPr>
              <a:t>device</a:t>
            </a:r>
            <a:r>
              <a:rPr dirty="0" sz="2200" spc="-100" i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0070C0"/>
                </a:solidFill>
                <a:latin typeface="Arial"/>
                <a:cs typeface="Arial"/>
              </a:rPr>
              <a:t>type</a:t>
            </a:r>
            <a:r>
              <a:rPr dirty="0" sz="2200" spc="-100" i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>
                <a:latin typeface="Arial MT"/>
                <a:cs typeface="Arial MT"/>
              </a:rPr>
              <a:t>entropy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non-</a:t>
            </a:r>
            <a:r>
              <a:rPr dirty="0" sz="2200">
                <a:latin typeface="Arial MT"/>
                <a:cs typeface="Arial MT"/>
              </a:rPr>
              <a:t>zero,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which </a:t>
            </a:r>
            <a:r>
              <a:rPr dirty="0" sz="2200" spc="-20">
                <a:latin typeface="Arial MT"/>
                <a:cs typeface="Arial MT"/>
              </a:rPr>
              <a:t>captures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uncertainty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predicting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what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device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types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are </a:t>
            </a:r>
            <a:r>
              <a:rPr dirty="0" sz="2200" spc="-20">
                <a:latin typeface="Arial MT"/>
                <a:cs typeface="Arial MT"/>
              </a:rPr>
              <a:t>connected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network.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ts val="2510"/>
              </a:lnSpc>
            </a:pPr>
            <a:r>
              <a:rPr dirty="0" sz="2100">
                <a:latin typeface="Arial MT"/>
                <a:cs typeface="Arial MT"/>
              </a:rPr>
              <a:t>Good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Explanation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graphic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ts val="2270"/>
              </a:lnSpc>
            </a:pPr>
            <a:r>
              <a:rPr dirty="0" u="heavy" sz="19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https://thenewstack.io/mutual-information-</a:t>
            </a:r>
            <a:r>
              <a:rPr dirty="0" u="heavy" sz="1900" spc="-4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pearson-</a:t>
            </a:r>
            <a:r>
              <a:rPr dirty="0" u="heavy" sz="19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correlation-building-blocks-</a:t>
            </a:r>
            <a:r>
              <a:rPr dirty="0" u="heavy" sz="19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ai/</a:t>
            </a:r>
            <a:r>
              <a:rPr dirty="0" u="heavy" sz="1900" spc="5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 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5204" rIns="0" bIns="0" rtlCol="0" vert="horz">
            <a:spAutoFit/>
          </a:bodyPr>
          <a:lstStyle/>
          <a:p>
            <a:pPr marL="877569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Mutual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Information</a:t>
            </a:r>
            <a:r>
              <a:rPr dirty="0" sz="2800" spc="-11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(MI)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4589" y="1546353"/>
            <a:ext cx="8333740" cy="50577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860"/>
              </a:spcBef>
              <a:buChar char="•"/>
              <a:tabLst>
                <a:tab pos="278130" algn="l"/>
              </a:tabLst>
            </a:pP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Correlation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based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Arial"/>
                <a:cs typeface="Arial"/>
              </a:rPr>
              <a:t>Entropy</a:t>
            </a:r>
            <a:endParaRPr sz="2200">
              <a:latin typeface="Arial"/>
              <a:cs typeface="Arial"/>
            </a:endParaRPr>
          </a:p>
          <a:p>
            <a:pPr lvl="1" marL="588010" marR="5080" indent="-220979">
              <a:lnSpc>
                <a:spcPts val="2210"/>
              </a:lnSpc>
              <a:spcBef>
                <a:spcPts val="795"/>
              </a:spcBef>
              <a:buChar char="–"/>
              <a:tabLst>
                <a:tab pos="589280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Pearson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coefficient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assumes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normality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linearity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two 	random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variables;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Mutual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Information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removes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these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assumptions.</a:t>
            </a:r>
            <a:endParaRPr sz="19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44"/>
              </a:spcBef>
              <a:buFont typeface="Arial MT"/>
              <a:buChar char="–"/>
            </a:pPr>
            <a:endParaRPr sz="1900">
              <a:latin typeface="Arial MT"/>
              <a:cs typeface="Arial MT"/>
            </a:endParaRPr>
          </a:p>
          <a:p>
            <a:pPr algn="just" marL="277495" marR="34925" indent="-265430">
              <a:lnSpc>
                <a:spcPct val="100499"/>
              </a:lnSpc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essence,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dirty="0" sz="2200" spc="-9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useful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feature</a:t>
            </a:r>
            <a:r>
              <a:rPr dirty="0" sz="2200" spc="-9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5" i="1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dirty="0" sz="2200" spc="-25" i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dirty="0" sz="2200" spc="-7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FF0000"/>
                </a:solidFill>
                <a:latin typeface="Arial"/>
                <a:cs typeface="Arial"/>
              </a:rPr>
              <a:t>predicting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FF0000"/>
                </a:solidFill>
                <a:latin typeface="Arial"/>
                <a:cs typeface="Arial"/>
              </a:rPr>
              <a:t>random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scale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200" spc="-7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zero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with </a:t>
            </a:r>
            <a:r>
              <a:rPr dirty="0" sz="2200" spc="-20">
                <a:latin typeface="Arial MT"/>
                <a:cs typeface="Arial MT"/>
              </a:rPr>
              <a:t>	</a:t>
            </a:r>
            <a:r>
              <a:rPr dirty="0" sz="2200" spc="-10">
                <a:latin typeface="Arial MT"/>
                <a:cs typeface="Arial MT"/>
              </a:rPr>
              <a:t>higher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indicating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better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predictors.</a:t>
            </a:r>
            <a:endParaRPr sz="2200">
              <a:latin typeface="Arial MT"/>
              <a:cs typeface="Arial MT"/>
            </a:endParaRPr>
          </a:p>
          <a:p>
            <a:pPr algn="just" lvl="1" marL="588010" marR="1124585" indent="-220979">
              <a:lnSpc>
                <a:spcPts val="2210"/>
              </a:lnSpc>
              <a:spcBef>
                <a:spcPts val="695"/>
              </a:spcBef>
              <a:buChar char="–"/>
              <a:tabLst>
                <a:tab pos="589280" algn="l"/>
              </a:tabLst>
            </a:pPr>
            <a:r>
              <a:rPr dirty="0" sz="1900" spc="-20">
                <a:latin typeface="Arial MT"/>
                <a:cs typeface="Arial MT"/>
              </a:rPr>
              <a:t>Mutual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Information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captures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many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different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types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of 	relationships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(not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just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linear)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considered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best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metric.</a:t>
            </a:r>
            <a:endParaRPr sz="19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90"/>
              </a:spcBef>
              <a:buFont typeface="Arial MT"/>
              <a:buChar char="–"/>
            </a:pPr>
            <a:endParaRPr sz="1900">
              <a:latin typeface="Arial MT"/>
              <a:cs typeface="Arial MT"/>
            </a:endParaRPr>
          </a:p>
          <a:p>
            <a:pPr marL="278765" marR="265430" indent="-266700">
              <a:lnSpc>
                <a:spcPct val="102699"/>
              </a:lnSpc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However,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doesn’t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predictor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success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failure.</a:t>
            </a:r>
            <a:endParaRPr sz="2200">
              <a:latin typeface="Arial MT"/>
              <a:cs typeface="Arial MT"/>
            </a:endParaRPr>
          </a:p>
          <a:p>
            <a:pPr marL="278765" marR="174625" indent="-266700">
              <a:lnSpc>
                <a:spcPct val="102699"/>
              </a:lnSpc>
              <a:spcBef>
                <a:spcPts val="1080"/>
              </a:spcBef>
              <a:buChar char="•"/>
              <a:tabLst>
                <a:tab pos="278765" algn="l"/>
              </a:tabLst>
            </a:pP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Pearson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complementary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– </a:t>
            </a:r>
            <a:r>
              <a:rPr dirty="0" sz="2200">
                <a:latin typeface="Arial MT"/>
                <a:cs typeface="Arial MT"/>
              </a:rPr>
              <a:t>they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do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always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move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same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way.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145288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with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262673"/>
                </a:solidFill>
                <a:latin typeface="Arial"/>
                <a:cs typeface="Arial"/>
              </a:rPr>
              <a:t>Target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label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066" y="1752898"/>
            <a:ext cx="8550070" cy="50473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160" y="1711497"/>
            <a:ext cx="8421456" cy="51221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636" rIns="0" bIns="0" rtlCol="0" vert="horz">
            <a:spAutoFit/>
          </a:bodyPr>
          <a:lstStyle/>
          <a:p>
            <a:pPr marL="145288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Correlation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with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262673"/>
                </a:solidFill>
                <a:latin typeface="Arial"/>
                <a:cs typeface="Arial"/>
              </a:rPr>
              <a:t>Target</a:t>
            </a:r>
            <a:r>
              <a:rPr dirty="0" sz="2800" spc="-9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label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221297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  <a:latin typeface="Arial"/>
                <a:cs typeface="Arial"/>
              </a:rPr>
              <a:t>Further</a:t>
            </a:r>
            <a:r>
              <a:rPr dirty="0" sz="3300" spc="-4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262673"/>
                </a:solidFill>
                <a:latin typeface="Arial"/>
                <a:cs typeface="Arial"/>
              </a:rPr>
              <a:t>Reading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4157" y="1687604"/>
            <a:ext cx="8070215" cy="2199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20135" indent="265430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500" b="1">
                <a:latin typeface="Arial"/>
                <a:cs typeface="Arial"/>
              </a:rPr>
              <a:t>Exploratory</a:t>
            </a:r>
            <a:r>
              <a:rPr dirty="0" sz="2500" spc="-11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Data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Analysis </a:t>
            </a:r>
            <a:r>
              <a:rPr dirty="0" u="heavy" sz="2500" spc="-20" b="1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https://youtu.be/QiqZliDXCCg</a:t>
            </a:r>
            <a:endParaRPr sz="2500">
              <a:latin typeface="Arial"/>
              <a:cs typeface="Arial"/>
            </a:endParaRPr>
          </a:p>
          <a:p>
            <a:pPr marL="12700" marR="5080" indent="265430">
              <a:lnSpc>
                <a:spcPct val="120000"/>
              </a:lnSpc>
              <a:spcBef>
                <a:spcPts val="271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500" b="1">
                <a:latin typeface="Arial"/>
                <a:cs typeface="Arial"/>
              </a:rPr>
              <a:t>Exploratory</a:t>
            </a:r>
            <a:r>
              <a:rPr dirty="0" sz="2500" spc="-10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Data</a:t>
            </a:r>
            <a:r>
              <a:rPr dirty="0" sz="2500" spc="-10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Analysis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with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Pandas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Python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spc="-20" b="1">
                <a:latin typeface="Arial"/>
                <a:cs typeface="Arial"/>
              </a:rPr>
              <a:t>2023 </a:t>
            </a:r>
            <a:r>
              <a:rPr dirty="0" u="heavy" sz="2500" spc="-10" b="1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https://youtu.be/xi0vhXFPegw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118745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  <a:latin typeface="Arial"/>
                <a:cs typeface="Arial"/>
              </a:rPr>
              <a:t>Machine</a:t>
            </a:r>
            <a:r>
              <a:rPr dirty="0" sz="3300" spc="-7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262673"/>
                </a:solidFill>
                <a:latin typeface="Arial"/>
                <a:cs typeface="Arial"/>
              </a:rPr>
              <a:t>Learning</a:t>
            </a:r>
            <a:r>
              <a:rPr dirty="0" sz="3300" spc="-6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262673"/>
                </a:solidFill>
                <a:latin typeface="Arial"/>
                <a:cs typeface="Arial"/>
              </a:rPr>
              <a:t>Pipeline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42401" y="1803428"/>
            <a:ext cx="4153535" cy="410400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Data</a:t>
            </a:r>
            <a:r>
              <a:rPr dirty="0" sz="2500" spc="-5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preparation</a:t>
            </a:r>
            <a:endParaRPr sz="2500">
              <a:latin typeface="Arial"/>
              <a:cs typeface="Arial"/>
            </a:endParaRPr>
          </a:p>
          <a:p>
            <a:pPr marL="278765" marR="5778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Clean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up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(normalize, </a:t>
            </a:r>
            <a:r>
              <a:rPr dirty="0" sz="2500">
                <a:latin typeface="Arial MT"/>
                <a:cs typeface="Arial MT"/>
              </a:rPr>
              <a:t>regularize)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marL="278765" marR="133350" indent="-266700">
              <a:lnSpc>
                <a:spcPct val="100400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2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Scaling,</a:t>
            </a:r>
            <a:r>
              <a:rPr dirty="0" sz="2500" spc="-1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dummy </a:t>
            </a:r>
            <a:r>
              <a:rPr dirty="0" sz="2500">
                <a:latin typeface="Arial MT"/>
                <a:cs typeface="Arial MT"/>
              </a:rPr>
              <a:t>variables,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interpolating </a:t>
            </a:r>
            <a:r>
              <a:rPr dirty="0" sz="2500">
                <a:latin typeface="Arial MT"/>
                <a:cs typeface="Arial MT"/>
              </a:rPr>
              <a:t>missing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114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Normalized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numeric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appropriate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modeling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150" y="653133"/>
            <a:ext cx="4885690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262673"/>
                </a:solidFill>
                <a:latin typeface="Arial"/>
                <a:cs typeface="Arial"/>
              </a:rPr>
              <a:t>ML</a:t>
            </a:r>
            <a:r>
              <a:rPr dirty="0" sz="2700" spc="-10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62673"/>
                </a:solidFill>
                <a:latin typeface="Arial"/>
                <a:cs typeface="Arial"/>
              </a:rPr>
              <a:t>Process:</a:t>
            </a:r>
            <a:r>
              <a:rPr dirty="0" sz="2700" spc="-6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r>
              <a:rPr dirty="0" sz="2700" spc="-5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62673"/>
                </a:solidFill>
                <a:latin typeface="Arial"/>
                <a:cs typeface="Arial"/>
              </a:rPr>
              <a:t>Preparation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4006" y="1425475"/>
            <a:ext cx="7148830" cy="32334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85140" indent="-472440">
              <a:lnSpc>
                <a:spcPct val="100000"/>
              </a:lnSpc>
              <a:spcBef>
                <a:spcPts val="700"/>
              </a:spcBef>
              <a:buSzPct val="80000"/>
              <a:buChar char="•"/>
              <a:tabLst>
                <a:tab pos="485140" algn="l"/>
              </a:tabLst>
            </a:pPr>
            <a:r>
              <a:rPr dirty="0" sz="2500">
                <a:latin typeface="Arial MT"/>
                <a:cs typeface="Arial MT"/>
              </a:rPr>
              <a:t>Needed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several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reasons</a:t>
            </a:r>
            <a:endParaRPr sz="2500">
              <a:latin typeface="Arial MT"/>
              <a:cs typeface="Arial MT"/>
            </a:endParaRPr>
          </a:p>
          <a:p>
            <a:pPr algn="r" lvl="1" marL="472440" marR="142875" indent="-47244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8000"/>
              <a:buChar char="•"/>
              <a:tabLst>
                <a:tab pos="472440" algn="l"/>
              </a:tabLst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Some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Models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have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strict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data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requirements</a:t>
            </a:r>
            <a:endParaRPr sz="2500">
              <a:latin typeface="Arial MT"/>
              <a:cs typeface="Arial MT"/>
            </a:endParaRPr>
          </a:p>
          <a:p>
            <a:pPr algn="r" lvl="2" marL="354330" marR="163195" indent="-35433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4000"/>
              <a:buChar char="•"/>
              <a:tabLst>
                <a:tab pos="354330" algn="l"/>
              </a:tabLst>
            </a:pP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Scale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data,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data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point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intervals,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 spc="-20">
                <a:solidFill>
                  <a:srgbClr val="2D9DFF"/>
                </a:solidFill>
                <a:latin typeface="Arial MT"/>
                <a:cs typeface="Arial MT"/>
              </a:rPr>
              <a:t>etc.</a:t>
            </a:r>
            <a:endParaRPr sz="2500">
              <a:latin typeface="Arial MT"/>
              <a:cs typeface="Arial MT"/>
            </a:endParaRPr>
          </a:p>
          <a:p>
            <a:pPr lvl="1" marL="911225" marR="5080" indent="-47307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8000"/>
              <a:buChar char="•"/>
              <a:tabLst>
                <a:tab pos="911225" algn="l"/>
              </a:tabLst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Some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characteristics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data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may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have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a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dramatic</a:t>
            </a:r>
            <a:r>
              <a:rPr dirty="0" sz="25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impact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on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model</a:t>
            </a:r>
            <a:r>
              <a:rPr dirty="0" sz="2500" spc="-7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performance</a:t>
            </a:r>
            <a:endParaRPr sz="2500">
              <a:latin typeface="Arial MT"/>
              <a:cs typeface="Arial MT"/>
            </a:endParaRPr>
          </a:p>
          <a:p>
            <a:pPr marL="1172210" marR="793750" indent="-414020">
              <a:lnSpc>
                <a:spcPct val="100699"/>
              </a:lnSpc>
              <a:spcBef>
                <a:spcPts val="844"/>
              </a:spcBef>
            </a:pP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Time</a:t>
            </a:r>
            <a:r>
              <a:rPr dirty="0" sz="2900" spc="-3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required</a:t>
            </a:r>
            <a:r>
              <a:rPr dirty="0" sz="2900" spc="-2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for</a:t>
            </a:r>
            <a:r>
              <a:rPr dirty="0" sz="2900" spc="-2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data</a:t>
            </a:r>
            <a:r>
              <a:rPr dirty="0" sz="2900" spc="-3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0B050"/>
                </a:solidFill>
                <a:latin typeface="Arial MT"/>
                <a:cs typeface="Arial MT"/>
              </a:rPr>
              <a:t>preparation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should</a:t>
            </a:r>
            <a:r>
              <a:rPr dirty="0" sz="2900" spc="-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not</a:t>
            </a:r>
            <a:r>
              <a:rPr dirty="0" sz="2900" spc="-1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be</a:t>
            </a:r>
            <a:r>
              <a:rPr dirty="0" sz="2900" spc="-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0B050"/>
                </a:solidFill>
                <a:latin typeface="Arial MT"/>
                <a:cs typeface="Arial MT"/>
              </a:rPr>
              <a:t>underestimated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25345" y="5169556"/>
            <a:ext cx="6830059" cy="1433830"/>
          </a:xfrm>
          <a:prstGeom prst="rect">
            <a:avLst/>
          </a:prstGeom>
          <a:solidFill>
            <a:srgbClr val="FFFFCC"/>
          </a:solidFill>
          <a:ln w="19719">
            <a:solidFill>
              <a:srgbClr val="FF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448945" indent="-354965">
              <a:lnSpc>
                <a:spcPct val="100000"/>
              </a:lnSpc>
              <a:spcBef>
                <a:spcPts val="265"/>
              </a:spcBef>
              <a:buChar char="•"/>
              <a:tabLst>
                <a:tab pos="448945" algn="l"/>
              </a:tabLst>
            </a:pPr>
            <a:r>
              <a:rPr dirty="0" sz="2900">
                <a:latin typeface="Arial MT"/>
                <a:cs typeface="Arial MT"/>
              </a:rPr>
              <a:t>Dealing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with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missing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values</a:t>
            </a:r>
            <a:endParaRPr sz="2900">
              <a:latin typeface="Arial MT"/>
              <a:cs typeface="Arial MT"/>
            </a:endParaRPr>
          </a:p>
          <a:p>
            <a:pPr marL="448945" indent="-354965">
              <a:lnSpc>
                <a:spcPct val="100000"/>
              </a:lnSpc>
              <a:spcBef>
                <a:spcPts val="25"/>
              </a:spcBef>
              <a:buChar char="•"/>
              <a:tabLst>
                <a:tab pos="448945" algn="l"/>
              </a:tabLst>
            </a:pPr>
            <a:r>
              <a:rPr dirty="0" sz="2900">
                <a:latin typeface="Arial MT"/>
                <a:cs typeface="Arial MT"/>
              </a:rPr>
              <a:t>Transforming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text</a:t>
            </a:r>
            <a:r>
              <a:rPr dirty="0" sz="2900" spc="-7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variables</a:t>
            </a:r>
            <a:endParaRPr sz="2900">
              <a:latin typeface="Arial MT"/>
              <a:cs typeface="Arial MT"/>
            </a:endParaRPr>
          </a:p>
          <a:p>
            <a:pPr marL="448945" indent="-354965">
              <a:lnSpc>
                <a:spcPct val="100000"/>
              </a:lnSpc>
              <a:spcBef>
                <a:spcPts val="25"/>
              </a:spcBef>
              <a:buChar char="•"/>
              <a:tabLst>
                <a:tab pos="448945" algn="l"/>
              </a:tabLst>
            </a:pPr>
            <a:r>
              <a:rPr dirty="0" sz="2900">
                <a:latin typeface="Arial MT"/>
                <a:cs typeface="Arial MT"/>
              </a:rPr>
              <a:t>Scaling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numeric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variables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8257" y="1559417"/>
            <a:ext cx="29883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latin typeface="Arial"/>
                <a:cs typeface="Arial"/>
              </a:rPr>
              <a:t>3</a:t>
            </a:r>
            <a:r>
              <a:rPr dirty="0" sz="2500" spc="-4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Types</a:t>
            </a:r>
            <a:r>
              <a:rPr dirty="0" sz="2500" spc="-4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-4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Features</a:t>
            </a:r>
            <a:endParaRPr sz="25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95185" y="2059406"/>
          <a:ext cx="7466330" cy="1268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4425"/>
                <a:gridCol w="1995170"/>
                <a:gridCol w="3011804"/>
              </a:tblGrid>
              <a:tr h="405765">
                <a:tc>
                  <a:txBody>
                    <a:bodyPr/>
                    <a:lstStyle/>
                    <a:p>
                      <a:pPr marL="297180" indent="-265430">
                        <a:lnSpc>
                          <a:spcPts val="2765"/>
                        </a:lnSpc>
                        <a:buChar char="•"/>
                        <a:tabLst>
                          <a:tab pos="297180" algn="l"/>
                        </a:tabLst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Discrete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5775">
                        <a:lnSpc>
                          <a:spcPts val="2765"/>
                        </a:lnSpc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binary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ts val="2765"/>
                        </a:lnSpc>
                      </a:pPr>
                      <a:r>
                        <a:rPr dirty="0" sz="2500">
                          <a:latin typeface="Arial MT"/>
                          <a:cs typeface="Arial MT"/>
                        </a:rPr>
                        <a:t>CPU</a:t>
                      </a:r>
                      <a:r>
                        <a:rPr dirty="0" sz="25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00" spc="-10">
                          <a:latin typeface="Arial MT"/>
                          <a:cs typeface="Arial MT"/>
                        </a:rPr>
                        <a:t>friendly!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 marL="297180" indent="-265430">
                        <a:lnSpc>
                          <a:spcPct val="100000"/>
                        </a:lnSpc>
                        <a:spcBef>
                          <a:spcPts val="165"/>
                        </a:spcBef>
                        <a:buChar char="•"/>
                        <a:tabLst>
                          <a:tab pos="297180" algn="l"/>
                        </a:tabLst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Continuous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4857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numeric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range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</a:tr>
              <a:tr h="405765">
                <a:tc>
                  <a:txBody>
                    <a:bodyPr/>
                    <a:lstStyle/>
                    <a:p>
                      <a:pPr marL="297180" indent="-265430">
                        <a:lnSpc>
                          <a:spcPts val="2930"/>
                        </a:lnSpc>
                        <a:spcBef>
                          <a:spcPts val="165"/>
                        </a:spcBef>
                        <a:buChar char="•"/>
                        <a:tabLst>
                          <a:tab pos="297180" algn="l"/>
                        </a:tabLst>
                      </a:pPr>
                      <a:r>
                        <a:rPr dirty="0" sz="2500" spc="-10">
                          <a:latin typeface="Arial MT"/>
                          <a:cs typeface="Arial MT"/>
                        </a:rPr>
                        <a:t>Categorical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485775">
                        <a:lnSpc>
                          <a:spcPts val="2930"/>
                        </a:lnSpc>
                        <a:spcBef>
                          <a:spcPts val="165"/>
                        </a:spcBef>
                      </a:pPr>
                      <a:r>
                        <a:rPr dirty="0" sz="2500" spc="-20">
                          <a:latin typeface="Arial MT"/>
                          <a:cs typeface="Arial MT"/>
                        </a:rPr>
                        <a:t>text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ts val="2930"/>
                        </a:lnSpc>
                        <a:spcBef>
                          <a:spcPts val="165"/>
                        </a:spcBef>
                      </a:pPr>
                      <a:r>
                        <a:rPr dirty="0" sz="2500">
                          <a:latin typeface="Arial MT"/>
                          <a:cs typeface="Arial MT"/>
                        </a:rPr>
                        <a:t>convert</a:t>
                      </a:r>
                      <a:r>
                        <a:rPr dirty="0" sz="25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25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00" spc="-10">
                          <a:latin typeface="Arial MT"/>
                          <a:cs typeface="Arial MT"/>
                        </a:rPr>
                        <a:t>numeric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14235" y="3687581"/>
            <a:ext cx="8413750" cy="299085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500" b="1" i="1">
                <a:latin typeface="Arial"/>
                <a:cs typeface="Arial"/>
              </a:rPr>
              <a:t>Text</a:t>
            </a:r>
            <a:r>
              <a:rPr dirty="0" sz="2500" spc="-6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must</a:t>
            </a:r>
            <a:r>
              <a:rPr dirty="0" sz="2500" spc="-6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be</a:t>
            </a:r>
            <a:r>
              <a:rPr dirty="0" sz="2500" spc="-7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converted</a:t>
            </a:r>
            <a:r>
              <a:rPr dirty="0" sz="2500" spc="-7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to</a:t>
            </a:r>
            <a:r>
              <a:rPr dirty="0" sz="2500" spc="-7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a</a:t>
            </a:r>
            <a:r>
              <a:rPr dirty="0" sz="2500" spc="-7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numeric</a:t>
            </a:r>
            <a:r>
              <a:rPr dirty="0" sz="2500" spc="-65" b="1" i="1">
                <a:latin typeface="Arial"/>
                <a:cs typeface="Arial"/>
              </a:rPr>
              <a:t> </a:t>
            </a:r>
            <a:r>
              <a:rPr dirty="0" sz="2500" spc="-10" b="1" i="1">
                <a:latin typeface="Arial"/>
                <a:cs typeface="Arial"/>
              </a:rPr>
              <a:t>representation</a:t>
            </a:r>
            <a:endParaRPr sz="2500">
              <a:latin typeface="Arial"/>
              <a:cs typeface="Arial"/>
            </a:endParaRPr>
          </a:p>
          <a:p>
            <a:pPr lvl="1" marL="588645" indent="-221615">
              <a:lnSpc>
                <a:spcPct val="100000"/>
              </a:lnSpc>
              <a:spcBef>
                <a:spcPts val="590"/>
              </a:spcBef>
              <a:buChar char="–"/>
              <a:tabLst>
                <a:tab pos="588645" algn="l"/>
              </a:tabLst>
            </a:pPr>
            <a:r>
              <a:rPr dirty="0" sz="2200">
                <a:latin typeface="Arial MT"/>
                <a:cs typeface="Arial MT"/>
              </a:rPr>
              <a:t>An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arbitrary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sequence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(categorical)</a:t>
            </a:r>
            <a:endParaRPr sz="2200">
              <a:latin typeface="Arial MT"/>
              <a:cs typeface="Arial MT"/>
            </a:endParaRPr>
          </a:p>
          <a:p>
            <a:pPr lvl="1" marL="588645" indent="-221615">
              <a:lnSpc>
                <a:spcPct val="100000"/>
              </a:lnSpc>
              <a:spcBef>
                <a:spcPts val="455"/>
              </a:spcBef>
              <a:buChar char="–"/>
              <a:tabLst>
                <a:tab pos="588645" algn="l"/>
              </a:tabLst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set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discrete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“dummy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variables”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45"/>
              </a:spcBef>
              <a:buFont typeface="Arial MT"/>
              <a:buChar char="–"/>
            </a:pPr>
            <a:endParaRPr sz="22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buFont typeface="Arial MT"/>
              <a:buChar char="•"/>
              <a:tabLst>
                <a:tab pos="278130" algn="l"/>
              </a:tabLst>
            </a:pPr>
            <a:r>
              <a:rPr dirty="0" sz="2500" b="1" i="1">
                <a:latin typeface="Arial"/>
                <a:cs typeface="Arial"/>
              </a:rPr>
              <a:t>Scaling</a:t>
            </a:r>
            <a:r>
              <a:rPr dirty="0" sz="2500" spc="-80" b="1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continuous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required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some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algorithms</a:t>
            </a:r>
            <a:endParaRPr sz="2500">
              <a:latin typeface="Arial MT"/>
              <a:cs typeface="Arial MT"/>
            </a:endParaRPr>
          </a:p>
          <a:p>
            <a:pPr lvl="1" marL="588645" indent="-221615">
              <a:lnSpc>
                <a:spcPct val="100000"/>
              </a:lnSpc>
              <a:spcBef>
                <a:spcPts val="15"/>
              </a:spcBef>
              <a:buChar char="–"/>
              <a:tabLst>
                <a:tab pos="588645" algn="l"/>
              </a:tabLst>
            </a:pPr>
            <a:r>
              <a:rPr dirty="0" sz="2200" spc="-10">
                <a:latin typeface="Arial MT"/>
                <a:cs typeface="Arial MT"/>
              </a:rPr>
              <a:t>usually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considered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good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idea</a:t>
            </a:r>
            <a:endParaRPr sz="2200">
              <a:latin typeface="Arial MT"/>
              <a:cs typeface="Arial MT"/>
            </a:endParaRPr>
          </a:p>
          <a:p>
            <a:pPr marL="518795">
              <a:lnSpc>
                <a:spcPct val="100000"/>
              </a:lnSpc>
              <a:spcBef>
                <a:spcPts val="1545"/>
              </a:spcBef>
            </a:pP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https://scikit-</a:t>
            </a:r>
            <a:r>
              <a:rPr dirty="0" u="heavy" sz="19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learn.org/stable/modules/preprocessing.html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380" rIns="0" bIns="0" rtlCol="0" vert="horz">
            <a:spAutoFit/>
          </a:bodyPr>
          <a:lstStyle/>
          <a:p>
            <a:pPr marL="225806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Algorithms</a:t>
            </a:r>
            <a:r>
              <a:rPr dirty="0" sz="2800" spc="-7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and</a:t>
            </a:r>
            <a:r>
              <a:rPr dirty="0" sz="2800" spc="-7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452" rIns="0" bIns="0" rtlCol="0" vert="horz">
            <a:spAutoFit/>
          </a:bodyPr>
          <a:lstStyle/>
          <a:p>
            <a:pPr marL="286893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Missing</a:t>
            </a:r>
            <a:r>
              <a:rPr dirty="0" sz="2800" spc="-1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279" y="2051304"/>
            <a:ext cx="6995159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257302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Missing</a:t>
            </a:r>
            <a:r>
              <a:rPr dirty="0" sz="2800" spc="-1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81301" y="1715892"/>
            <a:ext cx="8189595" cy="493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41910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There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may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many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reasons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values,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but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only </a:t>
            </a:r>
            <a:r>
              <a:rPr dirty="0" sz="2300">
                <a:latin typeface="Arial MT"/>
                <a:cs typeface="Arial MT"/>
              </a:rPr>
              <a:t>three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ways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handle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them: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deletion,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direct</a:t>
            </a:r>
            <a:r>
              <a:rPr dirty="0" u="heavy" sz="23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estimation,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and </a:t>
            </a:r>
            <a:r>
              <a:rPr dirty="0" u="heavy" sz="23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imputation</a:t>
            </a:r>
            <a:endParaRPr sz="2300">
              <a:latin typeface="Arial MT"/>
              <a:cs typeface="Arial MT"/>
            </a:endParaRPr>
          </a:p>
          <a:p>
            <a:pPr marL="278765" marR="5080" indent="-266700">
              <a:lnSpc>
                <a:spcPct val="99100"/>
              </a:lnSpc>
              <a:spcBef>
                <a:spcPts val="1945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Deleting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all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instances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(rows)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with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would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delete </a:t>
            </a:r>
            <a:r>
              <a:rPr dirty="0" sz="2300">
                <a:latin typeface="Arial MT"/>
                <a:cs typeface="Arial MT"/>
              </a:rPr>
              <a:t>a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lot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potentially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useful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information;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as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basic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guideline,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any </a:t>
            </a:r>
            <a:r>
              <a:rPr dirty="0" sz="2300">
                <a:latin typeface="Arial MT"/>
                <a:cs typeface="Arial MT"/>
              </a:rPr>
              <a:t>feature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(column)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with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more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than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30%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should </a:t>
            </a:r>
            <a:r>
              <a:rPr dirty="0" sz="2300">
                <a:latin typeface="Arial MT"/>
                <a:cs typeface="Arial MT"/>
              </a:rPr>
              <a:t>be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discarded</a:t>
            </a:r>
            <a:endParaRPr sz="2300">
              <a:latin typeface="Arial MT"/>
              <a:cs typeface="Arial MT"/>
            </a:endParaRPr>
          </a:p>
          <a:p>
            <a:pPr marL="278765" marR="288925" indent="-266700">
              <a:lnSpc>
                <a:spcPct val="101699"/>
              </a:lnSpc>
              <a:spcBef>
                <a:spcPts val="1800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Direct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estimation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requires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enough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prior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knowledge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the </a:t>
            </a:r>
            <a:r>
              <a:rPr dirty="0" sz="2300">
                <a:latin typeface="Arial MT"/>
                <a:cs typeface="Arial MT"/>
              </a:rPr>
              <a:t>dataset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give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accurate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estimate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values.</a:t>
            </a:r>
            <a:endParaRPr sz="2300">
              <a:latin typeface="Arial MT"/>
              <a:cs typeface="Arial MT"/>
            </a:endParaRPr>
          </a:p>
          <a:p>
            <a:pPr algn="just" marL="277495" marR="113664" indent="-265430">
              <a:lnSpc>
                <a:spcPct val="100000"/>
              </a:lnSpc>
              <a:spcBef>
                <a:spcPts val="1825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most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frequently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used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imputation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techniques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are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filling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in </a:t>
            </a:r>
            <a:r>
              <a:rPr dirty="0" sz="2300" spc="-25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mean</a:t>
            </a:r>
            <a:r>
              <a:rPr dirty="0" u="heavy" sz="2300" spc="-6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median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numeric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features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filling </a:t>
            </a:r>
            <a:r>
              <a:rPr dirty="0" sz="2300" spc="-10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in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most</a:t>
            </a:r>
            <a:r>
              <a:rPr dirty="0" u="heavy" sz="2300" spc="-6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frequent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nominal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features.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Categorical</a:t>
            </a:r>
            <a:r>
              <a:rPr dirty="0" sz="2800" spc="-10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9871" y="2159609"/>
            <a:ext cx="5983262" cy="4279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2459" y="1972952"/>
            <a:ext cx="8301990" cy="4443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indent="-265430">
              <a:lnSpc>
                <a:spcPts val="251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spc="-10" b="1" i="1">
                <a:latin typeface="Arial"/>
                <a:cs typeface="Arial"/>
              </a:rPr>
              <a:t>Label</a:t>
            </a:r>
            <a:r>
              <a:rPr dirty="0" sz="2100" spc="-95" b="1" i="1">
                <a:latin typeface="Arial"/>
                <a:cs typeface="Arial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Encoding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converts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categorical</a:t>
            </a:r>
            <a:r>
              <a:rPr dirty="0" sz="2100" spc="-70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feature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continuous</a:t>
            </a:r>
            <a:endParaRPr sz="2100">
              <a:latin typeface="Arial"/>
              <a:cs typeface="Arial"/>
            </a:endParaRPr>
          </a:p>
          <a:p>
            <a:pPr algn="just" marL="278765">
              <a:lnSpc>
                <a:spcPts val="2510"/>
              </a:lnSpc>
            </a:pPr>
            <a:r>
              <a:rPr dirty="0" sz="2100">
                <a:latin typeface="Arial MT"/>
                <a:cs typeface="Arial MT"/>
              </a:rPr>
              <a:t>feature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assigning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integer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alphabetical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order.</a:t>
            </a:r>
            <a:endParaRPr sz="2100">
              <a:latin typeface="Arial MT"/>
              <a:cs typeface="Arial MT"/>
            </a:endParaRPr>
          </a:p>
          <a:p>
            <a:pPr lvl="1" marL="589280" marR="443865" indent="-222250">
              <a:lnSpc>
                <a:spcPct val="100000"/>
              </a:lnSpc>
              <a:spcBef>
                <a:spcPts val="48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probability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captures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relationship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countries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such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China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&lt;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India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&lt;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Russia</a:t>
            </a:r>
            <a:endParaRPr sz="21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99500"/>
              </a:lnSpc>
              <a:spcBef>
                <a:spcPts val="18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100" spc="-35" b="1" i="1">
                <a:latin typeface="Arial"/>
                <a:cs typeface="Arial"/>
              </a:rPr>
              <a:t>One-</a:t>
            </a:r>
            <a:r>
              <a:rPr dirty="0" sz="2100" b="1" i="1">
                <a:latin typeface="Arial"/>
                <a:cs typeface="Arial"/>
              </a:rPr>
              <a:t>Hot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Encoding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creates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additional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categorical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feature.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Every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category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added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discrete</a:t>
            </a:r>
            <a:r>
              <a:rPr dirty="0" sz="2100" spc="-75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feature.</a:t>
            </a:r>
            <a:endParaRPr sz="21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575"/>
              </a:spcBef>
              <a:buChar char="–"/>
              <a:tabLst>
                <a:tab pos="588645" algn="l"/>
              </a:tabLst>
            </a:pPr>
            <a:r>
              <a:rPr dirty="0" sz="2100" spc="-30">
                <a:latin typeface="Arial MT"/>
                <a:cs typeface="Arial MT"/>
              </a:rPr>
              <a:t>One-</a:t>
            </a:r>
            <a:r>
              <a:rPr dirty="0" sz="2100">
                <a:latin typeface="Arial MT"/>
                <a:cs typeface="Arial MT"/>
              </a:rPr>
              <a:t>Hot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Encoding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process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creating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0" b="1">
                <a:solidFill>
                  <a:srgbClr val="FF0000"/>
                </a:solidFill>
                <a:latin typeface="Arial"/>
                <a:cs typeface="Arial"/>
              </a:rPr>
              <a:t>dummy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670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separate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required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steps</a:t>
            </a:r>
            <a:endParaRPr sz="2100">
              <a:latin typeface="Arial MT"/>
              <a:cs typeface="Arial MT"/>
            </a:endParaRPr>
          </a:p>
          <a:p>
            <a:pPr algn="just" lvl="2" marL="898525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898525" algn="l"/>
              </a:tabLst>
            </a:pPr>
            <a:r>
              <a:rPr dirty="0" sz="1800" spc="-20">
                <a:latin typeface="Arial MT"/>
                <a:cs typeface="Arial MT"/>
              </a:rPr>
              <a:t>labelEncoder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::&gt;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onehotEncoder</a:t>
            </a:r>
            <a:endParaRPr sz="18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540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anymore,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now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just</a:t>
            </a:r>
            <a:endParaRPr sz="2100">
              <a:latin typeface="Arial MT"/>
              <a:cs typeface="Arial MT"/>
            </a:endParaRPr>
          </a:p>
          <a:p>
            <a:pPr algn="just" lvl="2" marL="898525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898525" algn="l"/>
              </a:tabLst>
            </a:pPr>
            <a:r>
              <a:rPr dirty="0" sz="1800" spc="-10">
                <a:latin typeface="Arial MT"/>
                <a:cs typeface="Arial MT"/>
              </a:rPr>
              <a:t>pandas.getdummies()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7228" rIns="0" bIns="0" rtlCol="0" vert="horz">
            <a:spAutoFit/>
          </a:bodyPr>
          <a:lstStyle/>
          <a:p>
            <a:pPr marL="1644014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Encoding</a:t>
            </a:r>
            <a:r>
              <a:rPr dirty="0" sz="2800" spc="-11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Categorical</a:t>
            </a:r>
            <a:r>
              <a:rPr dirty="0" sz="2800" spc="-10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678602" y="1244781"/>
          <a:ext cx="2766695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195"/>
                <a:gridCol w="629285"/>
                <a:gridCol w="688340"/>
                <a:gridCol w="688339"/>
              </a:tblGrid>
              <a:tr h="38354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imap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smtp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http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63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7089" y="814711"/>
            <a:ext cx="1061720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35">
                <a:solidFill>
                  <a:srgbClr val="000000"/>
                </a:solidFill>
                <a:latin typeface="Arial"/>
                <a:cs typeface="Arial"/>
              </a:rPr>
              <a:t>One-</a:t>
            </a:r>
            <a:r>
              <a:rPr dirty="0" sz="2100" spc="-25">
                <a:solidFill>
                  <a:srgbClr val="000000"/>
                </a:solidFill>
                <a:latin typeface="Arial"/>
                <a:cs typeface="Arial"/>
              </a:rPr>
              <a:t>Hot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67089" y="3448184"/>
            <a:ext cx="17653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 b="1">
                <a:latin typeface="Arial"/>
                <a:cs typeface="Arial"/>
              </a:rPr>
              <a:t>LabelEncoder</a:t>
            </a:r>
            <a:endParaRPr sz="2100">
              <a:latin typeface="Arial"/>
              <a:cs typeface="Arial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678603" y="3968386"/>
          <a:ext cx="2413000" cy="184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215"/>
                <a:gridCol w="1365885"/>
              </a:tblGrid>
              <a:tr h="30734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Protocol_val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dns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http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imap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smtp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691171" y="3923747"/>
            <a:ext cx="4373245" cy="2326005"/>
          </a:xfrm>
          <a:prstGeom prst="rect">
            <a:avLst/>
          </a:prstGeom>
          <a:ln w="32863">
            <a:solidFill>
              <a:srgbClr val="C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algn="just" marL="93980" marR="361315">
              <a:lnSpc>
                <a:spcPct val="99500"/>
              </a:lnSpc>
              <a:spcBef>
                <a:spcPts val="280"/>
              </a:spcBef>
            </a:pPr>
            <a:r>
              <a:rPr dirty="0" sz="2100" spc="-10">
                <a:latin typeface="Arial MT"/>
                <a:cs typeface="Arial MT"/>
              </a:rPr>
              <a:t>LabelEncoder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often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used </a:t>
            </a:r>
            <a:r>
              <a:rPr dirty="0" sz="2100">
                <a:latin typeface="Arial MT"/>
                <a:cs typeface="Arial MT"/>
              </a:rPr>
              <a:t>(and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useful!)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converting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target </a:t>
            </a:r>
            <a:r>
              <a:rPr dirty="0" sz="2100">
                <a:latin typeface="Arial MT"/>
                <a:cs typeface="Arial MT"/>
              </a:rPr>
              <a:t>labels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text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numeric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values</a:t>
            </a:r>
            <a:endParaRPr sz="2100">
              <a:latin typeface="Arial MT"/>
              <a:cs typeface="Arial MT"/>
            </a:endParaRPr>
          </a:p>
          <a:p>
            <a:pPr marL="93980">
              <a:lnSpc>
                <a:spcPct val="100000"/>
              </a:lnSpc>
              <a:spcBef>
                <a:spcPts val="1270"/>
              </a:spcBef>
            </a:pPr>
            <a:r>
              <a:rPr dirty="0" sz="2100" spc="-10">
                <a:latin typeface="Arial MT"/>
                <a:cs typeface="Arial MT"/>
              </a:rPr>
              <a:t>Required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some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SciKit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functions</a:t>
            </a:r>
            <a:endParaRPr sz="2100">
              <a:latin typeface="Arial MT"/>
              <a:cs typeface="Arial MT"/>
            </a:endParaRPr>
          </a:p>
          <a:p>
            <a:pPr marL="93980" marR="416559">
              <a:lnSpc>
                <a:spcPct val="100000"/>
              </a:lnSpc>
              <a:spcBef>
                <a:spcPts val="1175"/>
              </a:spcBef>
            </a:pPr>
            <a:r>
              <a:rPr dirty="0" sz="2100">
                <a:latin typeface="Arial MT"/>
                <a:cs typeface="Arial MT"/>
              </a:rPr>
              <a:t>Order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does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matter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target </a:t>
            </a:r>
            <a:r>
              <a:rPr dirty="0" sz="2100">
                <a:latin typeface="Arial MT"/>
                <a:cs typeface="Arial MT"/>
              </a:rPr>
              <a:t>labels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matching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91171" y="1306931"/>
            <a:ext cx="4373245" cy="2326005"/>
          </a:xfrm>
          <a:prstGeom prst="rect">
            <a:avLst/>
          </a:prstGeom>
          <a:ln w="32863">
            <a:solidFill>
              <a:srgbClr val="C0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4"/>
              </a:spcBef>
            </a:pPr>
            <a:r>
              <a:rPr dirty="0" sz="2100" spc="-30">
                <a:solidFill>
                  <a:srgbClr val="FF0000"/>
                </a:solidFill>
                <a:latin typeface="Arial MT"/>
                <a:cs typeface="Arial MT"/>
              </a:rPr>
              <a:t>One-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Hot</a:t>
            </a:r>
            <a:r>
              <a:rPr dirty="0" sz="21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encoding</a:t>
            </a:r>
            <a:r>
              <a:rPr dirty="0" sz="21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dirty="0" sz="21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recommended</a:t>
            </a:r>
            <a:endParaRPr sz="2100">
              <a:latin typeface="Arial MT"/>
              <a:cs typeface="Arial MT"/>
            </a:endParaRPr>
          </a:p>
          <a:p>
            <a:pPr marL="93980" marR="718820">
              <a:lnSpc>
                <a:spcPct val="99500"/>
              </a:lnSpc>
              <a:spcBef>
                <a:spcPts val="1285"/>
              </a:spcBef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big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advantage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individual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fields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show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up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correlation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matrix</a:t>
            </a:r>
            <a:endParaRPr sz="2100">
              <a:latin typeface="Arial MT"/>
              <a:cs typeface="Arial MT"/>
            </a:endParaRPr>
          </a:p>
          <a:p>
            <a:pPr marL="93980" marR="429895">
              <a:lnSpc>
                <a:spcPct val="100000"/>
              </a:lnSpc>
              <a:spcBef>
                <a:spcPts val="1175"/>
              </a:spcBef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columns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 spc="-10">
                <a:latin typeface="Arial MT"/>
                <a:cs typeface="Arial MT"/>
              </a:rPr>
              <a:t>drawback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though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28" rIns="0" bIns="0" rtlCol="0" vert="horz">
            <a:spAutoFit/>
          </a:bodyPr>
          <a:lstStyle/>
          <a:p>
            <a:pPr marL="2277110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One-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Hot</a:t>
            </a:r>
            <a:r>
              <a:rPr dirty="0" sz="2800" spc="-4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Encoding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08888" y="1575816"/>
            <a:ext cx="8662670" cy="5102860"/>
            <a:chOff x="1008888" y="1575816"/>
            <a:chExt cx="8662670" cy="51028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888" y="1575816"/>
              <a:ext cx="4471416" cy="28041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9096" y="3398519"/>
              <a:ext cx="4712208" cy="32796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157734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Encoding</a:t>
            </a:r>
            <a:r>
              <a:rPr dirty="0" sz="2800" spc="-11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Categorical</a:t>
            </a:r>
            <a:r>
              <a:rPr dirty="0" sz="2800" spc="-10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19483" y="1717913"/>
            <a:ext cx="7218680" cy="4777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7335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“dummy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variables”: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row,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zero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except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single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column, </a:t>
            </a:r>
            <a:r>
              <a:rPr dirty="0" sz="2500">
                <a:latin typeface="Arial MT"/>
                <a:cs typeface="Arial MT"/>
              </a:rPr>
              <a:t>following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programming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convention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“non-</a:t>
            </a:r>
            <a:r>
              <a:rPr dirty="0" sz="2500" spc="-20">
                <a:latin typeface="Arial MT"/>
                <a:cs typeface="Arial MT"/>
              </a:rPr>
              <a:t>zero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True”.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Adding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column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unique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 </a:t>
            </a:r>
            <a:r>
              <a:rPr dirty="0" sz="2500">
                <a:latin typeface="Arial MT"/>
                <a:cs typeface="Arial MT"/>
              </a:rPr>
              <a:t>means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size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dataframe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grows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quickly, </a:t>
            </a:r>
            <a:r>
              <a:rPr dirty="0" sz="2500">
                <a:latin typeface="Arial MT"/>
                <a:cs typeface="Arial MT"/>
              </a:rPr>
              <a:t>requiring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memory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CPU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analysis.</a:t>
            </a:r>
            <a:endParaRPr sz="2500">
              <a:latin typeface="Arial MT"/>
              <a:cs typeface="Arial MT"/>
            </a:endParaRPr>
          </a:p>
          <a:p>
            <a:pPr marL="36703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3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known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“the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curse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dimensionality”</a:t>
            </a:r>
            <a:endParaRPr sz="2500">
              <a:latin typeface="Arial MT"/>
              <a:cs typeface="Arial MT"/>
            </a:endParaRPr>
          </a:p>
          <a:p>
            <a:pPr marL="278765" marR="475615" indent="-266700">
              <a:lnSpc>
                <a:spcPct val="1004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Another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consideration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colourful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name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is </a:t>
            </a:r>
            <a:r>
              <a:rPr dirty="0" sz="2500">
                <a:latin typeface="Arial MT"/>
                <a:cs typeface="Arial MT"/>
              </a:rPr>
              <a:t>“the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dummy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trap”,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formally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known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as </a:t>
            </a:r>
            <a:r>
              <a:rPr dirty="0" sz="2500" spc="-10">
                <a:latin typeface="Arial MT"/>
                <a:cs typeface="Arial MT"/>
              </a:rPr>
              <a:t>“multicollinearity”,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157734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Encoding</a:t>
            </a:r>
            <a:r>
              <a:rPr dirty="0" sz="2800" spc="-110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Categorical</a:t>
            </a:r>
            <a:r>
              <a:rPr dirty="0" sz="2800" spc="-105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4589" y="1859662"/>
            <a:ext cx="8328025" cy="44272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271145" indent="-266700">
              <a:lnSpc>
                <a:spcPct val="100499"/>
              </a:lnSpc>
              <a:spcBef>
                <a:spcPts val="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200" spc="-20" b="1">
                <a:solidFill>
                  <a:srgbClr val="FF0000"/>
                </a:solidFill>
                <a:latin typeface="Arial"/>
                <a:cs typeface="Arial"/>
              </a:rPr>
              <a:t>Multicollinearity</a:t>
            </a:r>
            <a:r>
              <a:rPr dirty="0" sz="2200" spc="-1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>
                <a:latin typeface="Arial MT"/>
                <a:cs typeface="Arial MT"/>
              </a:rPr>
              <a:t>means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variable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easily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be </a:t>
            </a:r>
            <a:r>
              <a:rPr dirty="0" sz="2200" spc="-20">
                <a:latin typeface="Arial MT"/>
                <a:cs typeface="Arial MT"/>
              </a:rPr>
              <a:t>predicted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other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variables,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which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serious </a:t>
            </a:r>
            <a:r>
              <a:rPr dirty="0" sz="2200">
                <a:latin typeface="Arial MT"/>
                <a:cs typeface="Arial MT"/>
              </a:rPr>
              <a:t>issue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some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b="1">
                <a:latin typeface="Arial"/>
                <a:cs typeface="Arial"/>
              </a:rPr>
              <a:t>linear</a:t>
            </a:r>
            <a:r>
              <a:rPr dirty="0" sz="2200" spc="-110" b="1">
                <a:latin typeface="Arial"/>
                <a:cs typeface="Arial"/>
              </a:rPr>
              <a:t> </a:t>
            </a:r>
            <a:r>
              <a:rPr dirty="0" sz="2200" spc="-20" b="1">
                <a:latin typeface="Arial"/>
                <a:cs typeface="Arial"/>
              </a:rPr>
              <a:t>forecasting</a:t>
            </a:r>
            <a:r>
              <a:rPr dirty="0" sz="2200" spc="-10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models</a:t>
            </a:r>
            <a:endParaRPr sz="2200">
              <a:latin typeface="Arial"/>
              <a:cs typeface="Arial"/>
            </a:endParaRPr>
          </a:p>
          <a:p>
            <a:pPr marL="278765" marR="5080" indent="-266700">
              <a:lnSpc>
                <a:spcPts val="2620"/>
              </a:lnSpc>
              <a:spcBef>
                <a:spcPts val="19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regression,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generalized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estimated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by </a:t>
            </a:r>
            <a:r>
              <a:rPr dirty="0" sz="2200" spc="-20">
                <a:latin typeface="Arial MT"/>
                <a:cs typeface="Arial MT"/>
              </a:rPr>
              <a:t>maximum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likelihood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(ordinary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least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squares)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regularization </a:t>
            </a:r>
            <a:r>
              <a:rPr dirty="0" sz="2200">
                <a:latin typeface="Arial MT"/>
                <a:cs typeface="Arial MT"/>
              </a:rPr>
              <a:t>(e.g.,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ridge,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lasso)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you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need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leave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out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column.</a:t>
            </a:r>
            <a:endParaRPr sz="2200">
              <a:latin typeface="Arial MT"/>
              <a:cs typeface="Arial MT"/>
            </a:endParaRPr>
          </a:p>
          <a:p>
            <a:pPr lvl="1" marL="588010" marR="212090" indent="-220979">
              <a:lnSpc>
                <a:spcPts val="2180"/>
              </a:lnSpc>
              <a:spcBef>
                <a:spcPts val="720"/>
              </a:spcBef>
              <a:buChar char="–"/>
              <a:tabLst>
                <a:tab pos="589280" algn="l"/>
              </a:tabLst>
            </a:pPr>
            <a:r>
              <a:rPr dirty="0" sz="1900" spc="-10">
                <a:latin typeface="Arial MT"/>
                <a:cs typeface="Arial MT"/>
              </a:rPr>
              <a:t>Often,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people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will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aside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category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most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populated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one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acts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natural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reference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point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other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categories.</a:t>
            </a:r>
            <a:endParaRPr sz="1900">
              <a:latin typeface="Arial MT"/>
              <a:cs typeface="Arial MT"/>
            </a:endParaRPr>
          </a:p>
          <a:p>
            <a:pPr lvl="1" marL="588010" indent="-220979">
              <a:lnSpc>
                <a:spcPts val="2245"/>
              </a:lnSpc>
              <a:spcBef>
                <a:spcPts val="575"/>
              </a:spcBef>
              <a:buChar char="–"/>
              <a:tabLst>
                <a:tab pos="588010" algn="l"/>
              </a:tabLst>
            </a:pPr>
            <a:r>
              <a:rPr dirty="0" sz="1900" spc="-20">
                <a:latin typeface="Arial MT"/>
                <a:cs typeface="Arial MT"/>
              </a:rPr>
              <a:t>Excellent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explanation:</a:t>
            </a:r>
            <a:endParaRPr sz="1900">
              <a:latin typeface="Arial MT"/>
              <a:cs typeface="Arial MT"/>
            </a:endParaRPr>
          </a:p>
          <a:p>
            <a:pPr marL="589280" marR="290830">
              <a:lnSpc>
                <a:spcPts val="2300"/>
              </a:lnSpc>
              <a:spcBef>
                <a:spcPts val="25"/>
              </a:spcBef>
            </a:pPr>
            <a:r>
              <a:rPr dirty="0" u="heavy" sz="19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https://towardsdatascience.com/drop-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first-</a:t>
            </a:r>
            <a:r>
              <a:rPr dirty="0" u="heavy" sz="1900" spc="-4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can-</a:t>
            </a:r>
            <a:r>
              <a:rPr dirty="0" u="heavy" sz="19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hurt-your-ols-</a:t>
            </a:r>
            <a:r>
              <a:rPr dirty="0" u="heavy" sz="19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regression-</a:t>
            </a:r>
            <a:r>
              <a:rPr dirty="0" sz="1900" spc="-1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1900" spc="-4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models-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interpretability-</a:t>
            </a:r>
            <a:r>
              <a:rPr dirty="0" u="heavy" sz="19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4ca529cfb707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73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b="1">
                <a:latin typeface="Arial"/>
                <a:cs typeface="Arial"/>
              </a:rPr>
              <a:t>In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every</a:t>
            </a:r>
            <a:r>
              <a:rPr dirty="0" sz="2200" spc="-10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other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case,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keep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all</a:t>
            </a:r>
            <a:r>
              <a:rPr dirty="0" sz="2200" spc="-8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-10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new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columns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11636" y="1329966"/>
            <a:ext cx="8270875" cy="551497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58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Reduce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predefined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range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48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Limit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absolute</a:t>
            </a:r>
            <a:r>
              <a:rPr dirty="0" sz="2100" spc="-1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magnitude,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Preserve</a:t>
            </a:r>
            <a:r>
              <a:rPr dirty="0" sz="2100" spc="-1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relative</a:t>
            </a:r>
            <a:r>
              <a:rPr dirty="0" sz="2100" spc="-1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magnitude</a:t>
            </a:r>
            <a:endParaRPr sz="2100">
              <a:latin typeface="Arial MT"/>
              <a:cs typeface="Arial MT"/>
            </a:endParaRPr>
          </a:p>
          <a:p>
            <a:pPr marL="367030">
              <a:lnSpc>
                <a:spcPct val="100000"/>
              </a:lnSpc>
              <a:spcBef>
                <a:spcPts val="1870"/>
              </a:spcBef>
            </a:pPr>
            <a:r>
              <a:rPr dirty="0" sz="2100" spc="-10" b="1">
                <a:latin typeface="Arial"/>
                <a:cs typeface="Arial"/>
              </a:rPr>
              <a:t>Require</a:t>
            </a:r>
            <a:r>
              <a:rPr dirty="0" sz="2100" spc="-10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data</a:t>
            </a:r>
            <a:r>
              <a:rPr dirty="0" sz="2100" spc="-95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to</a:t>
            </a:r>
            <a:r>
              <a:rPr dirty="0" sz="2100" spc="-10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be</a:t>
            </a:r>
            <a:r>
              <a:rPr dirty="0" sz="2100" spc="-95" b="1">
                <a:latin typeface="Arial"/>
                <a:cs typeface="Arial"/>
              </a:rPr>
              <a:t> </a:t>
            </a:r>
            <a:r>
              <a:rPr dirty="0" sz="2100" spc="-10" b="1">
                <a:latin typeface="Arial"/>
                <a:cs typeface="Arial"/>
              </a:rPr>
              <a:t>scaled</a:t>
            </a:r>
            <a:r>
              <a:rPr dirty="0" sz="2100" spc="-10">
                <a:latin typeface="Arial MT"/>
                <a:cs typeface="Arial MT"/>
              </a:rPr>
              <a:t>:</a:t>
            </a:r>
            <a:endParaRPr sz="2100">
              <a:latin typeface="Arial MT"/>
              <a:cs typeface="Arial MT"/>
            </a:endParaRPr>
          </a:p>
          <a:p>
            <a:pPr marL="367030" marR="5080" indent="-354965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67030" algn="l"/>
              </a:tabLst>
            </a:pPr>
            <a:r>
              <a:rPr dirty="0" sz="2100" spc="-10">
                <a:latin typeface="Arial MT"/>
                <a:cs typeface="Arial MT"/>
              </a:rPr>
              <a:t>algorithms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linear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regression,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logistic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regression,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neural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network, </a:t>
            </a:r>
            <a:r>
              <a:rPr dirty="0" sz="2100">
                <a:latin typeface="Arial MT"/>
                <a:cs typeface="Arial MT"/>
              </a:rPr>
              <a:t>etc.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gradient</a:t>
            </a:r>
            <a:r>
              <a:rPr dirty="0" sz="2100" spc="-85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descent</a:t>
            </a:r>
            <a:r>
              <a:rPr dirty="0" sz="2100" spc="-90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optimization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technique</a:t>
            </a:r>
            <a:endParaRPr sz="2100">
              <a:latin typeface="Arial MT"/>
              <a:cs typeface="Arial MT"/>
            </a:endParaRPr>
          </a:p>
          <a:p>
            <a:pPr marL="367030" marR="636270" indent="-354965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367030" algn="l"/>
              </a:tabLst>
            </a:pPr>
            <a:r>
              <a:rPr dirty="0" sz="2100" spc="-10">
                <a:latin typeface="Arial MT"/>
                <a:cs typeface="Arial MT"/>
              </a:rPr>
              <a:t>algorithms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KNN,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K-</a:t>
            </a:r>
            <a:r>
              <a:rPr dirty="0" sz="2100" spc="-10">
                <a:latin typeface="Arial MT"/>
                <a:cs typeface="Arial MT"/>
              </a:rPr>
              <a:t>means,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SVM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exploit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distances between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points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determine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their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similarity</a:t>
            </a:r>
            <a:endParaRPr sz="2100">
              <a:latin typeface="Arial MT"/>
              <a:cs typeface="Arial MT"/>
            </a:endParaRPr>
          </a:p>
          <a:p>
            <a:pPr marL="12700" marR="589280">
              <a:lnSpc>
                <a:spcPts val="2500"/>
              </a:lnSpc>
              <a:spcBef>
                <a:spcPts val="580"/>
              </a:spcBef>
            </a:pP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work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better</a:t>
            </a:r>
            <a:r>
              <a:rPr dirty="0" sz="21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when</a:t>
            </a:r>
            <a:r>
              <a:rPr dirty="0" sz="21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values</a:t>
            </a:r>
            <a:r>
              <a:rPr dirty="0" sz="21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feature</a:t>
            </a:r>
            <a:r>
              <a:rPr dirty="0" sz="21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1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similar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range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close</a:t>
            </a:r>
            <a:r>
              <a:rPr dirty="0" sz="21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normally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distributed.</a:t>
            </a:r>
            <a:endParaRPr sz="2100">
              <a:latin typeface="Arial MT"/>
              <a:cs typeface="Arial MT"/>
            </a:endParaRPr>
          </a:p>
          <a:p>
            <a:pPr algn="just" marL="12700" marR="538480">
              <a:lnSpc>
                <a:spcPct val="99500"/>
              </a:lnSpc>
              <a:spcBef>
                <a:spcPts val="1800"/>
              </a:spcBef>
            </a:pPr>
            <a:r>
              <a:rPr dirty="0" sz="2100" spc="-30">
                <a:latin typeface="Arial MT"/>
                <a:cs typeface="Arial MT"/>
              </a:rPr>
              <a:t>Graphical-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(e.g.,Fisher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LDA,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Naive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Bayes), </a:t>
            </a:r>
            <a:r>
              <a:rPr dirty="0" sz="2100">
                <a:latin typeface="Arial MT"/>
                <a:cs typeface="Arial MT"/>
              </a:rPr>
              <a:t>Decision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trees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30">
                <a:latin typeface="Arial MT"/>
                <a:cs typeface="Arial MT"/>
              </a:rPr>
              <a:t>Tree-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ensemble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methods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(RF,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XGB)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are </a:t>
            </a:r>
            <a:r>
              <a:rPr dirty="0" sz="2100" spc="-10">
                <a:latin typeface="Arial MT"/>
                <a:cs typeface="Arial MT"/>
              </a:rPr>
              <a:t>invariant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scaling</a:t>
            </a:r>
            <a:endParaRPr sz="2100">
              <a:latin typeface="Arial MT"/>
              <a:cs typeface="Arial MT"/>
            </a:endParaRPr>
          </a:p>
          <a:p>
            <a:pPr marL="12700" marR="1096010">
              <a:lnSpc>
                <a:spcPct val="100000"/>
              </a:lnSpc>
              <a:spcBef>
                <a:spcPts val="1875"/>
              </a:spcBef>
            </a:pP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scaling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strictly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required,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usually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does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cause complications.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01705" y="591659"/>
            <a:ext cx="422592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Scaling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Continuous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164" rIns="0" bIns="0" rtlCol="0" vert="horz">
            <a:spAutoFit/>
          </a:bodyPr>
          <a:lstStyle/>
          <a:p>
            <a:pPr marL="173545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Scaling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Continuous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716406"/>
            <a:ext cx="8143875" cy="46678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200" spc="-10">
                <a:latin typeface="Arial MT"/>
                <a:cs typeface="Arial MT"/>
              </a:rPr>
              <a:t>Scalers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(or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more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precisely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 i="1">
                <a:latin typeface="Arial"/>
                <a:cs typeface="Arial"/>
              </a:rPr>
              <a:t>affine</a:t>
            </a:r>
            <a:r>
              <a:rPr dirty="0" sz="2200" spc="-10">
                <a:latin typeface="Arial MT"/>
                <a:cs typeface="Arial MT"/>
              </a:rPr>
              <a:t>)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transformers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differ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each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other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estimate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parameters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used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shift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scale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each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feature.</a:t>
            </a:r>
            <a:endParaRPr sz="2200">
              <a:latin typeface="Arial MT"/>
              <a:cs typeface="Arial MT"/>
            </a:endParaRPr>
          </a:p>
          <a:p>
            <a:pPr marL="278765" marR="13716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200" spc="-25">
                <a:solidFill>
                  <a:srgbClr val="FF0000"/>
                </a:solidFill>
                <a:latin typeface="Arial MT"/>
                <a:cs typeface="Arial MT"/>
              </a:rPr>
              <a:t>StandardScaler</a:t>
            </a:r>
            <a:r>
              <a:rPr dirty="0" sz="22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standardizes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subtracting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mean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standard</a:t>
            </a:r>
            <a:r>
              <a:rPr dirty="0" sz="22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deviation</a:t>
            </a:r>
            <a:r>
              <a:rPr dirty="0" sz="2200" spc="-20">
                <a:latin typeface="Arial MT"/>
                <a:cs typeface="Arial MT"/>
              </a:rPr>
              <a:t>.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result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distribution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mean=0</a:t>
            </a:r>
            <a:r>
              <a:rPr dirty="0" sz="22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standard</a:t>
            </a:r>
            <a:r>
              <a:rPr dirty="0" sz="22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Arial MT"/>
                <a:cs typeface="Arial MT"/>
              </a:rPr>
              <a:t>deviation=1</a:t>
            </a:r>
            <a:endParaRPr sz="2200">
              <a:latin typeface="Arial MT"/>
              <a:cs typeface="Arial MT"/>
            </a:endParaRPr>
          </a:p>
          <a:p>
            <a:pPr marL="278765" marR="81915" indent="-266700">
              <a:lnSpc>
                <a:spcPct val="99700"/>
              </a:lnSpc>
              <a:spcBef>
                <a:spcPts val="1280"/>
              </a:spcBef>
              <a:buChar char="•"/>
              <a:tabLst>
                <a:tab pos="278765" algn="l"/>
              </a:tabLst>
            </a:pPr>
            <a:r>
              <a:rPr dirty="0" sz="2200" spc="-25">
                <a:solidFill>
                  <a:srgbClr val="FF0000"/>
                </a:solidFill>
                <a:latin typeface="Arial MT"/>
                <a:cs typeface="Arial MT"/>
              </a:rPr>
              <a:t>MinMaxScaler</a:t>
            </a:r>
            <a:r>
              <a:rPr dirty="0" sz="22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finds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original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minimum</a:t>
            </a:r>
            <a:r>
              <a:rPr dirty="0" sz="22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maximum</a:t>
            </a:r>
            <a:r>
              <a:rPr dirty="0" sz="2200" spc="-10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values,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subtracts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minimum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range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each </a:t>
            </a:r>
            <a:r>
              <a:rPr dirty="0" sz="2200" spc="-10">
                <a:latin typeface="Arial MT"/>
                <a:cs typeface="Arial MT"/>
              </a:rPr>
              <a:t>value.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original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distribution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preserved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 </a:t>
            </a:r>
            <a:r>
              <a:rPr dirty="0" sz="2200" spc="-20">
                <a:latin typeface="Arial MT"/>
                <a:cs typeface="Arial MT"/>
              </a:rPr>
              <a:t>between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0000"/>
                </a:solidFill>
                <a:latin typeface="Arial MT"/>
                <a:cs typeface="Arial MT"/>
              </a:rPr>
              <a:t>0</a:t>
            </a:r>
            <a:r>
              <a:rPr dirty="0" sz="22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22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2200">
              <a:latin typeface="Arial MT"/>
              <a:cs typeface="Arial MT"/>
            </a:endParaRPr>
          </a:p>
          <a:p>
            <a:pPr marL="12700" marR="51435" indent="265430">
              <a:lnSpc>
                <a:spcPts val="3910"/>
              </a:lnSpc>
              <a:spcBef>
                <a:spcPts val="25"/>
              </a:spcBef>
              <a:buChar char="•"/>
              <a:tabLst>
                <a:tab pos="278130" algn="l"/>
              </a:tabLst>
            </a:pPr>
            <a:r>
              <a:rPr dirty="0" sz="2200" spc="-10">
                <a:latin typeface="Arial MT"/>
                <a:cs typeface="Arial MT"/>
              </a:rPr>
              <a:t>There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several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others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available,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suitable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special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purposes </a:t>
            </a:r>
            <a:r>
              <a:rPr dirty="0" u="heavy" sz="22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https://scikit-</a:t>
            </a:r>
            <a:r>
              <a:rPr dirty="0" u="heavy" sz="22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learn.org/stable/modules/preprocessing.html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08268" y="862931"/>
            <a:ext cx="34956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r>
              <a:rPr dirty="0" sz="2800" spc="-70" b="1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62673"/>
                </a:solidFill>
                <a:latin typeface="Arial"/>
                <a:cs typeface="Arial"/>
              </a:rPr>
              <a:t>Splitting</a:t>
            </a:r>
            <a:r>
              <a:rPr dirty="0" sz="2800" spc="-70" b="1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62673"/>
                </a:solidFill>
                <a:latin typeface="Arial"/>
                <a:cs typeface="Arial"/>
              </a:rPr>
              <a:t>for</a:t>
            </a:r>
            <a:r>
              <a:rPr dirty="0" sz="2800" spc="-65" b="1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35" b="1">
                <a:solidFill>
                  <a:srgbClr val="262673"/>
                </a:solidFill>
                <a:latin typeface="Arial"/>
                <a:cs typeface="Arial"/>
              </a:rPr>
              <a:t>ML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812700" y="2780377"/>
            <a:ext cx="6701790" cy="890269"/>
          </a:xfrm>
          <a:custGeom>
            <a:avLst/>
            <a:gdLst/>
            <a:ahLst/>
            <a:cxnLst/>
            <a:rect l="l" t="t" r="r" b="b"/>
            <a:pathLst>
              <a:path w="6701790" h="890270">
                <a:moveTo>
                  <a:pt x="6612342" y="0"/>
                </a:moveTo>
                <a:lnTo>
                  <a:pt x="88933" y="0"/>
                </a:lnTo>
                <a:lnTo>
                  <a:pt x="54316" y="6991"/>
                </a:lnTo>
                <a:lnTo>
                  <a:pt x="26048" y="26059"/>
                </a:lnTo>
                <a:lnTo>
                  <a:pt x="6988" y="54340"/>
                </a:lnTo>
                <a:lnTo>
                  <a:pt x="0" y="88972"/>
                </a:lnTo>
                <a:lnTo>
                  <a:pt x="0" y="800769"/>
                </a:lnTo>
                <a:lnTo>
                  <a:pt x="6988" y="835401"/>
                </a:lnTo>
                <a:lnTo>
                  <a:pt x="26048" y="863682"/>
                </a:lnTo>
                <a:lnTo>
                  <a:pt x="54316" y="882749"/>
                </a:lnTo>
                <a:lnTo>
                  <a:pt x="88933" y="889741"/>
                </a:lnTo>
                <a:lnTo>
                  <a:pt x="6612342" y="889741"/>
                </a:lnTo>
                <a:lnTo>
                  <a:pt x="6646959" y="882749"/>
                </a:lnTo>
                <a:lnTo>
                  <a:pt x="6675227" y="863682"/>
                </a:lnTo>
                <a:lnTo>
                  <a:pt x="6694286" y="835401"/>
                </a:lnTo>
                <a:lnTo>
                  <a:pt x="6701275" y="800769"/>
                </a:lnTo>
                <a:lnTo>
                  <a:pt x="6701275" y="88972"/>
                </a:lnTo>
                <a:lnTo>
                  <a:pt x="6694286" y="54340"/>
                </a:lnTo>
                <a:lnTo>
                  <a:pt x="6675227" y="26059"/>
                </a:lnTo>
                <a:lnTo>
                  <a:pt x="6646959" y="6991"/>
                </a:lnTo>
                <a:lnTo>
                  <a:pt x="6612342" y="0"/>
                </a:lnTo>
                <a:close/>
              </a:path>
            </a:pathLst>
          </a:custGeom>
          <a:solidFill>
            <a:srgbClr val="599B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97374" y="2167763"/>
            <a:ext cx="1372870" cy="1428115"/>
          </a:xfrm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marL="305435">
              <a:lnSpc>
                <a:spcPct val="100000"/>
              </a:lnSpc>
              <a:spcBef>
                <a:spcPts val="620"/>
              </a:spcBef>
            </a:pPr>
            <a:r>
              <a:rPr dirty="0" sz="2900" spc="-20" b="0">
                <a:solidFill>
                  <a:srgbClr val="000000"/>
                </a:solidFill>
                <a:latin typeface="Arial MT"/>
                <a:cs typeface="Arial MT"/>
              </a:rPr>
              <a:t>100%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5100" spc="-225" b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51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38745" y="3937206"/>
            <a:ext cx="4759325" cy="890269"/>
          </a:xfrm>
          <a:custGeom>
            <a:avLst/>
            <a:gdLst/>
            <a:ahLst/>
            <a:cxnLst/>
            <a:rect l="l" t="t" r="r" b="b"/>
            <a:pathLst>
              <a:path w="4759325" h="890270">
                <a:moveTo>
                  <a:pt x="4610742" y="0"/>
                </a:moveTo>
                <a:lnTo>
                  <a:pt x="148255" y="0"/>
                </a:lnTo>
                <a:lnTo>
                  <a:pt x="101395" y="7561"/>
                </a:lnTo>
                <a:lnTo>
                  <a:pt x="60697" y="28617"/>
                </a:lnTo>
                <a:lnTo>
                  <a:pt x="28604" y="60724"/>
                </a:lnTo>
                <a:lnTo>
                  <a:pt x="7558" y="101440"/>
                </a:lnTo>
                <a:lnTo>
                  <a:pt x="0" y="148322"/>
                </a:lnTo>
                <a:lnTo>
                  <a:pt x="0" y="741418"/>
                </a:lnTo>
                <a:lnTo>
                  <a:pt x="7558" y="788299"/>
                </a:lnTo>
                <a:lnTo>
                  <a:pt x="28604" y="829016"/>
                </a:lnTo>
                <a:lnTo>
                  <a:pt x="60697" y="861123"/>
                </a:lnTo>
                <a:lnTo>
                  <a:pt x="101395" y="882180"/>
                </a:lnTo>
                <a:lnTo>
                  <a:pt x="148255" y="889741"/>
                </a:lnTo>
                <a:lnTo>
                  <a:pt x="4610742" y="889741"/>
                </a:lnTo>
                <a:lnTo>
                  <a:pt x="4657602" y="882180"/>
                </a:lnTo>
                <a:lnTo>
                  <a:pt x="4698300" y="861123"/>
                </a:lnTo>
                <a:lnTo>
                  <a:pt x="4730392" y="829016"/>
                </a:lnTo>
                <a:lnTo>
                  <a:pt x="4751439" y="788299"/>
                </a:lnTo>
                <a:lnTo>
                  <a:pt x="4758997" y="741418"/>
                </a:lnTo>
                <a:lnTo>
                  <a:pt x="4758997" y="148322"/>
                </a:lnTo>
                <a:lnTo>
                  <a:pt x="4751439" y="101440"/>
                </a:lnTo>
                <a:lnTo>
                  <a:pt x="4730392" y="60724"/>
                </a:lnTo>
                <a:lnTo>
                  <a:pt x="4698300" y="28617"/>
                </a:lnTo>
                <a:lnTo>
                  <a:pt x="4657602" y="7561"/>
                </a:lnTo>
                <a:lnTo>
                  <a:pt x="4610742" y="0"/>
                </a:lnTo>
                <a:close/>
              </a:path>
            </a:pathLst>
          </a:custGeom>
          <a:solidFill>
            <a:srgbClr val="599B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308833" y="4115148"/>
            <a:ext cx="204088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dirty="0" sz="2800" spc="-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591172" y="4820375"/>
            <a:ext cx="1929764" cy="902969"/>
            <a:chOff x="6591172" y="4820375"/>
            <a:chExt cx="1929764" cy="902969"/>
          </a:xfrm>
        </p:grpSpPr>
        <p:sp>
          <p:nvSpPr>
            <p:cNvPr id="8" name="object 8" descr=""/>
            <p:cNvSpPr/>
            <p:nvPr/>
          </p:nvSpPr>
          <p:spPr>
            <a:xfrm>
              <a:off x="6597745" y="4826948"/>
              <a:ext cx="1916430" cy="890269"/>
            </a:xfrm>
            <a:custGeom>
              <a:avLst/>
              <a:gdLst/>
              <a:ahLst/>
              <a:cxnLst/>
              <a:rect l="l" t="t" r="r" b="b"/>
              <a:pathLst>
                <a:path w="1916429" h="890270">
                  <a:moveTo>
                    <a:pt x="1767947" y="0"/>
                  </a:moveTo>
                  <a:lnTo>
                    <a:pt x="148254" y="0"/>
                  </a:lnTo>
                  <a:lnTo>
                    <a:pt x="101394" y="7561"/>
                  </a:lnTo>
                  <a:lnTo>
                    <a:pt x="60697" y="28617"/>
                  </a:lnTo>
                  <a:lnTo>
                    <a:pt x="28604" y="60724"/>
                  </a:lnTo>
                  <a:lnTo>
                    <a:pt x="7558" y="101440"/>
                  </a:lnTo>
                  <a:lnTo>
                    <a:pt x="0" y="148320"/>
                  </a:lnTo>
                  <a:lnTo>
                    <a:pt x="0" y="741420"/>
                  </a:lnTo>
                  <a:lnTo>
                    <a:pt x="7558" y="788301"/>
                  </a:lnTo>
                  <a:lnTo>
                    <a:pt x="28604" y="829017"/>
                  </a:lnTo>
                  <a:lnTo>
                    <a:pt x="60697" y="861124"/>
                  </a:lnTo>
                  <a:lnTo>
                    <a:pt x="101394" y="882180"/>
                  </a:lnTo>
                  <a:lnTo>
                    <a:pt x="148254" y="889741"/>
                  </a:lnTo>
                  <a:lnTo>
                    <a:pt x="1767947" y="889741"/>
                  </a:lnTo>
                  <a:lnTo>
                    <a:pt x="1814807" y="882180"/>
                  </a:lnTo>
                  <a:lnTo>
                    <a:pt x="1855504" y="861124"/>
                  </a:lnTo>
                  <a:lnTo>
                    <a:pt x="1887597" y="829017"/>
                  </a:lnTo>
                  <a:lnTo>
                    <a:pt x="1908643" y="788301"/>
                  </a:lnTo>
                  <a:lnTo>
                    <a:pt x="1916201" y="741420"/>
                  </a:lnTo>
                  <a:lnTo>
                    <a:pt x="1916201" y="148320"/>
                  </a:lnTo>
                  <a:lnTo>
                    <a:pt x="1908643" y="101440"/>
                  </a:lnTo>
                  <a:lnTo>
                    <a:pt x="1887597" y="60724"/>
                  </a:lnTo>
                  <a:lnTo>
                    <a:pt x="1855504" y="28617"/>
                  </a:lnTo>
                  <a:lnTo>
                    <a:pt x="1814807" y="7561"/>
                  </a:lnTo>
                  <a:lnTo>
                    <a:pt x="1767947" y="0"/>
                  </a:lnTo>
                  <a:close/>
                </a:path>
              </a:pathLst>
            </a:custGeom>
            <a:solidFill>
              <a:srgbClr val="599B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97745" y="4826948"/>
              <a:ext cx="1916430" cy="890269"/>
            </a:xfrm>
            <a:custGeom>
              <a:avLst/>
              <a:gdLst/>
              <a:ahLst/>
              <a:cxnLst/>
              <a:rect l="l" t="t" r="r" b="b"/>
              <a:pathLst>
                <a:path w="1916429" h="890270">
                  <a:moveTo>
                    <a:pt x="0" y="148320"/>
                  </a:moveTo>
                  <a:lnTo>
                    <a:pt x="7558" y="101439"/>
                  </a:lnTo>
                  <a:lnTo>
                    <a:pt x="28604" y="60724"/>
                  </a:lnTo>
                  <a:lnTo>
                    <a:pt x="60697" y="28617"/>
                  </a:lnTo>
                  <a:lnTo>
                    <a:pt x="101394" y="7561"/>
                  </a:lnTo>
                  <a:lnTo>
                    <a:pt x="148254" y="0"/>
                  </a:lnTo>
                  <a:lnTo>
                    <a:pt x="1767948" y="0"/>
                  </a:lnTo>
                  <a:lnTo>
                    <a:pt x="1814807" y="7561"/>
                  </a:lnTo>
                  <a:lnTo>
                    <a:pt x="1855504" y="28617"/>
                  </a:lnTo>
                  <a:lnTo>
                    <a:pt x="1887597" y="60724"/>
                  </a:lnTo>
                  <a:lnTo>
                    <a:pt x="1908643" y="101439"/>
                  </a:lnTo>
                  <a:lnTo>
                    <a:pt x="1916201" y="148320"/>
                  </a:lnTo>
                  <a:lnTo>
                    <a:pt x="1916201" y="741420"/>
                  </a:lnTo>
                  <a:lnTo>
                    <a:pt x="1908643" y="788301"/>
                  </a:lnTo>
                  <a:lnTo>
                    <a:pt x="1887597" y="829017"/>
                  </a:lnTo>
                  <a:lnTo>
                    <a:pt x="1855504" y="861124"/>
                  </a:lnTo>
                  <a:lnTo>
                    <a:pt x="1814807" y="882180"/>
                  </a:lnTo>
                  <a:lnTo>
                    <a:pt x="1767948" y="889741"/>
                  </a:lnTo>
                  <a:lnTo>
                    <a:pt x="148254" y="889741"/>
                  </a:lnTo>
                  <a:lnTo>
                    <a:pt x="101394" y="882180"/>
                  </a:lnTo>
                  <a:lnTo>
                    <a:pt x="60697" y="861124"/>
                  </a:lnTo>
                  <a:lnTo>
                    <a:pt x="28604" y="829017"/>
                  </a:lnTo>
                  <a:lnTo>
                    <a:pt x="7558" y="788301"/>
                  </a:lnTo>
                  <a:lnTo>
                    <a:pt x="0" y="741420"/>
                  </a:lnTo>
                  <a:lnTo>
                    <a:pt x="0" y="148320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12038" y="5005164"/>
            <a:ext cx="12884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2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90540" y="4901019"/>
            <a:ext cx="180721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Arial MT"/>
                <a:cs typeface="Arial MT"/>
              </a:rPr>
              <a:t>70%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/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80%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59946" y="5824563"/>
            <a:ext cx="180721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Arial MT"/>
                <a:cs typeface="Arial MT"/>
              </a:rPr>
              <a:t>30%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/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20%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606" y="1100675"/>
            <a:ext cx="422592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Scaling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62673"/>
                </a:solidFill>
                <a:latin typeface="Arial"/>
                <a:cs typeface="Arial"/>
              </a:rPr>
              <a:t>Continuous</a:t>
            </a:r>
            <a:r>
              <a:rPr dirty="0" sz="2800" spc="-114">
                <a:solidFill>
                  <a:srgbClr val="262673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62673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23361" y="2178161"/>
            <a:ext cx="7919720" cy="355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300" marR="910590" indent="-1496695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latin typeface="Arial"/>
                <a:cs typeface="Arial"/>
              </a:rPr>
              <a:t>One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important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special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consideration</a:t>
            </a:r>
            <a:r>
              <a:rPr dirty="0" sz="2500" spc="-110" b="1">
                <a:latin typeface="Arial"/>
                <a:cs typeface="Arial"/>
              </a:rPr>
              <a:t> </a:t>
            </a:r>
            <a:r>
              <a:rPr dirty="0" sz="2500" spc="-25" b="1">
                <a:latin typeface="Arial"/>
                <a:cs typeface="Arial"/>
              </a:rPr>
              <a:t>for </a:t>
            </a:r>
            <a:r>
              <a:rPr dirty="0" sz="2500" b="1">
                <a:latin typeface="Arial"/>
                <a:cs typeface="Arial"/>
              </a:rPr>
              <a:t>supervised</a:t>
            </a:r>
            <a:r>
              <a:rPr dirty="0" sz="2500" spc="-14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learning</a:t>
            </a:r>
            <a:endParaRPr sz="2500">
              <a:latin typeface="Arial"/>
              <a:cs typeface="Arial"/>
            </a:endParaRPr>
          </a:p>
          <a:p>
            <a:pPr marL="278765" marR="5080" indent="-266700">
              <a:lnSpc>
                <a:spcPct val="100299"/>
              </a:lnSpc>
              <a:spcBef>
                <a:spcPts val="186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If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scaling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applied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before</a:t>
            </a:r>
            <a:r>
              <a:rPr dirty="0" sz="2500" spc="-5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split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train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sets,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information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about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distribution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</a:t>
            </a:r>
            <a:r>
              <a:rPr dirty="0" sz="2500" i="1">
                <a:latin typeface="Arial"/>
                <a:cs typeface="Arial"/>
              </a:rPr>
              <a:t>leaks</a:t>
            </a:r>
            <a:r>
              <a:rPr dirty="0" sz="2500">
                <a:latin typeface="Arial MT"/>
                <a:cs typeface="Arial MT"/>
              </a:rPr>
              <a:t>”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set, </a:t>
            </a:r>
            <a:r>
              <a:rPr dirty="0" sz="2500">
                <a:latin typeface="Arial MT"/>
                <a:cs typeface="Arial MT"/>
              </a:rPr>
              <a:t>which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predictions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artificially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accurate.</a:t>
            </a:r>
            <a:endParaRPr sz="2500">
              <a:latin typeface="Arial MT"/>
              <a:cs typeface="Arial MT"/>
            </a:endParaRPr>
          </a:p>
          <a:p>
            <a:pPr marL="278765" marR="13335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So,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rule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is: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fit</a:t>
            </a:r>
            <a:r>
              <a:rPr dirty="0" sz="2500" spc="-5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only</a:t>
            </a:r>
            <a:r>
              <a:rPr dirty="0" sz="2500" spc="-5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on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-55" b="1"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train</a:t>
            </a:r>
            <a:r>
              <a:rPr dirty="0" sz="25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set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transform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both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b="1">
                <a:solidFill>
                  <a:srgbClr val="00B050"/>
                </a:solidFill>
                <a:latin typeface="Arial"/>
                <a:cs typeface="Arial"/>
              </a:rPr>
              <a:t>test</a:t>
            </a:r>
            <a:r>
              <a:rPr dirty="0" sz="25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train</a:t>
            </a:r>
            <a:r>
              <a:rPr dirty="0" sz="25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sets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2740" rIns="0" bIns="0" rtlCol="0" vert="horz">
            <a:spAutoFit/>
          </a:bodyPr>
          <a:lstStyle/>
          <a:p>
            <a:pPr marL="140462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3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262673"/>
                </a:solidFill>
                <a:latin typeface="Arial"/>
                <a:cs typeface="Arial"/>
              </a:rPr>
              <a:t>Process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dirty="0" sz="33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dirty="0" sz="33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Preparation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54340" y="1946513"/>
            <a:ext cx="7128509" cy="355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8763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scaling</a:t>
            </a:r>
            <a:r>
              <a:rPr dirty="0" sz="2500" spc="-6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redundant</a:t>
            </a:r>
            <a:r>
              <a:rPr dirty="0" sz="2500" spc="-6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data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 i="1">
                <a:latin typeface="Arial"/>
                <a:cs typeface="Arial"/>
              </a:rPr>
              <a:t>algorithm </a:t>
            </a:r>
            <a:r>
              <a:rPr dirty="0" sz="2500" i="1">
                <a:latin typeface="Arial"/>
                <a:cs typeface="Arial"/>
              </a:rPr>
              <a:t>problem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because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different </a:t>
            </a:r>
            <a:r>
              <a:rPr dirty="0" sz="2500">
                <a:latin typeface="Arial MT"/>
                <a:cs typeface="Arial MT"/>
              </a:rPr>
              <a:t>sensitivity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these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characteristics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 spc="-10">
                <a:latin typeface="Arial MT"/>
                <a:cs typeface="Arial MT"/>
              </a:rPr>
              <a:t>distribution.</a:t>
            </a:r>
            <a:endParaRPr sz="2500">
              <a:latin typeface="Arial MT"/>
              <a:cs typeface="Arial MT"/>
            </a:endParaRPr>
          </a:p>
          <a:p>
            <a:pPr marL="278765" marR="14478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means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scaler.fit()</a:t>
            </a:r>
            <a:r>
              <a:rPr dirty="0" sz="25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dirty="0" sz="2500" spc="-9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feature</a:t>
            </a:r>
            <a:r>
              <a:rPr dirty="0" sz="25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selection</a:t>
            </a:r>
            <a:r>
              <a:rPr dirty="0" sz="2500" spc="-9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C00000"/>
                </a:solidFill>
                <a:latin typeface="Arial MT"/>
                <a:cs typeface="Arial MT"/>
              </a:rPr>
              <a:t>are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only</a:t>
            </a:r>
            <a:r>
              <a:rPr dirty="0" sz="25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applied</a:t>
            </a:r>
            <a:r>
              <a:rPr dirty="0" sz="2500" spc="-5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dirty="0" sz="2500" spc="-5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500" spc="-5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training</a:t>
            </a:r>
            <a:r>
              <a:rPr dirty="0" sz="2500" spc="-5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set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800"/>
              </a:lnSpc>
              <a:spcBef>
                <a:spcPts val="1875"/>
              </a:spcBef>
              <a:buChar char="•"/>
              <a:tabLst>
                <a:tab pos="278765" algn="l"/>
              </a:tabLst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IF</a:t>
            </a:r>
            <a:r>
              <a:rPr dirty="0" sz="25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we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do</a:t>
            </a:r>
            <a:r>
              <a:rPr dirty="0" sz="2500" spc="-4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scaler.transform()</a:t>
            </a:r>
            <a:r>
              <a:rPr dirty="0" sz="2500" spc="-4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on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train</a:t>
            </a:r>
            <a:r>
              <a:rPr dirty="0" sz="2500" spc="-5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we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also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Arial MT"/>
                <a:cs typeface="Arial MT"/>
              </a:rPr>
              <a:t>must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scaler.transform()</a:t>
            </a:r>
            <a:r>
              <a:rPr dirty="0" sz="25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on</a:t>
            </a:r>
            <a:r>
              <a:rPr dirty="0" sz="2500" spc="-6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test</a:t>
            </a:r>
            <a:r>
              <a:rPr dirty="0" sz="2500" spc="-6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for</a:t>
            </a:r>
            <a:r>
              <a:rPr dirty="0" sz="2500" spc="-6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compatibility.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524" rIns="0" bIns="0" rtlCol="0" vert="horz">
            <a:spAutoFit/>
          </a:bodyPr>
          <a:lstStyle/>
          <a:p>
            <a:pPr marL="110807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Classifying</a:t>
            </a:r>
            <a:r>
              <a:rPr dirty="0" sz="33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by</a:t>
            </a:r>
            <a:r>
              <a:rPr dirty="0" sz="330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44800" y="1619527"/>
            <a:ext cx="6658609" cy="440563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100">
                <a:latin typeface="Arial MT"/>
                <a:cs typeface="Arial MT"/>
              </a:rPr>
              <a:t>Possible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shapes:</a:t>
            </a:r>
            <a:endParaRPr sz="2100">
              <a:latin typeface="Arial MT"/>
              <a:cs typeface="Arial MT"/>
            </a:endParaRPr>
          </a:p>
          <a:p>
            <a:pPr marL="12700" marR="2547620">
              <a:lnSpc>
                <a:spcPct val="122900"/>
              </a:lnSpc>
              <a:spcBef>
                <a:spcPts val="95"/>
              </a:spcBef>
            </a:pPr>
            <a:r>
              <a:rPr dirty="0" sz="2100">
                <a:latin typeface="Arial MT"/>
                <a:cs typeface="Arial MT"/>
              </a:rPr>
              <a:t>Color: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Blue,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Green,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Orange,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Yellow </a:t>
            </a:r>
            <a:r>
              <a:rPr dirty="0" sz="2100">
                <a:latin typeface="Arial MT"/>
                <a:cs typeface="Arial MT"/>
              </a:rPr>
              <a:t>Size: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Large,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Small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(area)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ts val="3120"/>
              </a:lnSpc>
              <a:spcBef>
                <a:spcPts val="180"/>
              </a:spcBef>
            </a:pPr>
            <a:r>
              <a:rPr dirty="0" sz="2100" spc="-20">
                <a:latin typeface="Arial MT"/>
                <a:cs typeface="Arial MT"/>
              </a:rPr>
              <a:t>Geometric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shape: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Square,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Rectangle,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Triangle,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Circle,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… </a:t>
            </a:r>
            <a:r>
              <a:rPr dirty="0" sz="2100" spc="-10">
                <a:latin typeface="Arial MT"/>
                <a:cs typeface="Arial MT"/>
              </a:rPr>
              <a:t>Curvature: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Straight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sides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30">
                <a:latin typeface="Arial MT"/>
                <a:cs typeface="Arial MT"/>
              </a:rPr>
              <a:t>only,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least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curved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side</a:t>
            </a:r>
            <a:endParaRPr sz="2100">
              <a:latin typeface="Arial MT"/>
              <a:cs typeface="Arial MT"/>
            </a:endParaRPr>
          </a:p>
          <a:p>
            <a:pPr marL="12700" marR="3455035">
              <a:lnSpc>
                <a:spcPts val="3100"/>
              </a:lnSpc>
              <a:spcBef>
                <a:spcPts val="90"/>
              </a:spcBef>
            </a:pP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edges: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2,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3,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4 </a:t>
            </a:r>
            <a:r>
              <a:rPr dirty="0" sz="2100" spc="-25">
                <a:latin typeface="Arial MT"/>
                <a:cs typeface="Arial MT"/>
              </a:rPr>
              <a:t>“Triangleness”: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55">
                <a:latin typeface="Arial MT"/>
                <a:cs typeface="Arial MT"/>
              </a:rPr>
              <a:t>Yes,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No </a:t>
            </a:r>
            <a:r>
              <a:rPr dirty="0" sz="2100" spc="-10">
                <a:latin typeface="Arial MT"/>
                <a:cs typeface="Arial MT"/>
              </a:rPr>
              <a:t>Thickness?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100" spc="-10">
                <a:latin typeface="Arial MT"/>
                <a:cs typeface="Arial MT"/>
              </a:rPr>
              <a:t>Material?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100" spc="-10">
                <a:latin typeface="Arial MT"/>
                <a:cs typeface="Arial MT"/>
              </a:rPr>
              <a:t>Weight?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100">
                <a:latin typeface="Arial MT"/>
                <a:cs typeface="Arial MT"/>
              </a:rPr>
              <a:t>Floats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water?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7808" y="4001874"/>
            <a:ext cx="4686409" cy="277618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50936" y="7086055"/>
            <a:ext cx="3759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36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8404225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264795" algn="l"/>
              </a:tabLst>
            </a:pPr>
            <a:r>
              <a:rPr dirty="0" sz="1900" spc="-80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are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0">
                <a:solidFill>
                  <a:srgbClr val="082F50"/>
                </a:solidFill>
                <a:latin typeface="Lucida Sans Unicode"/>
                <a:cs typeface="Lucida Sans Unicode"/>
              </a:rPr>
              <a:t>some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feature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selection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techniques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5">
                <a:solidFill>
                  <a:srgbClr val="082F50"/>
                </a:solidFill>
                <a:latin typeface="Lucida Sans Unicode"/>
                <a:cs typeface="Lucida Sans Unicode"/>
              </a:rPr>
              <a:t>used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0">
                <a:solidFill>
                  <a:srgbClr val="082F50"/>
                </a:solidFill>
                <a:latin typeface="Lucida Sans Unicode"/>
                <a:cs typeface="Lucida Sans Unicode"/>
              </a:rPr>
              <a:t>in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learning?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4795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is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exploratory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Lucida Sans Unicode"/>
                <a:cs typeface="Lucida Sans Unicode"/>
              </a:rPr>
              <a:t>analysis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tasks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involved?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264795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are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0">
                <a:solidFill>
                  <a:srgbClr val="082F50"/>
                </a:solidFill>
                <a:latin typeface="Lucida Sans Unicode"/>
                <a:cs typeface="Lucida Sans Unicode"/>
              </a:rPr>
              <a:t>some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preparation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techniques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5">
                <a:solidFill>
                  <a:srgbClr val="082F50"/>
                </a:solidFill>
                <a:latin typeface="Lucida Sans Unicode"/>
                <a:cs typeface="Lucida Sans Unicode"/>
              </a:rPr>
              <a:t>used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0">
                <a:solidFill>
                  <a:srgbClr val="082F50"/>
                </a:solidFill>
                <a:latin typeface="Lucida Sans Unicode"/>
                <a:cs typeface="Lucida Sans Unicode"/>
              </a:rPr>
              <a:t>in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learning?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226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Review</a:t>
            </a:r>
            <a:r>
              <a:rPr dirty="0" spc="-80"/>
              <a:t> </a:t>
            </a:r>
            <a:r>
              <a:rPr dirty="0" spc="-55"/>
              <a:t>Questions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51757" y="7086055"/>
            <a:ext cx="37401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37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4451985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264795" algn="l"/>
              </a:tabLst>
            </a:pP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Feature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selection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techniques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4795" algn="l"/>
              </a:tabLst>
            </a:pP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Importance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exploratory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0">
                <a:solidFill>
                  <a:srgbClr val="082F50"/>
                </a:solidFill>
                <a:latin typeface="Lucida Sans Unicode"/>
                <a:cs typeface="Lucida Sans Unicode"/>
              </a:rPr>
              <a:t>analysis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264795" algn="l"/>
              </a:tabLst>
            </a:pP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preparation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 techniques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226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Summary</a:t>
            </a:r>
            <a:r>
              <a:rPr dirty="0" spc="-100"/>
              <a:t> </a:t>
            </a:r>
            <a:r>
              <a:rPr dirty="0" spc="-700"/>
              <a:t>/</a:t>
            </a:r>
            <a:r>
              <a:rPr dirty="0" spc="-105"/>
              <a:t> </a:t>
            </a:r>
            <a:r>
              <a:rPr dirty="0" spc="-60"/>
              <a:t>Recap</a:t>
            </a:r>
            <a:r>
              <a:rPr dirty="0" spc="-100"/>
              <a:t> </a:t>
            </a:r>
            <a:r>
              <a:rPr dirty="0" spc="-85"/>
              <a:t>of</a:t>
            </a:r>
            <a:r>
              <a:rPr dirty="0" spc="-110"/>
              <a:t> </a:t>
            </a:r>
            <a:r>
              <a:rPr dirty="0" spc="-55"/>
              <a:t>Main</a:t>
            </a:r>
            <a:r>
              <a:rPr dirty="0" spc="-110"/>
              <a:t> </a:t>
            </a:r>
            <a:r>
              <a:rPr dirty="0" spc="-20"/>
              <a:t>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03_Data Preprocessing</dc:title>
  <dcterms:created xsi:type="dcterms:W3CDTF">2025-12-26T00:24:12Z</dcterms:created>
  <dcterms:modified xsi:type="dcterms:W3CDTF">2025-12-26T00:24:12Z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2025-12-26T00:00:00Z</vt:filetime>
  </property>
  <property fmtid="{D5CDD505-2E9C-101B-9397-08002B2CF9AE}" pid="5" name="Producer">
    <vt:lpwstr>macOS Version 26.0.1 (Build 25A362) Quartz PDFContext</vt:lpwstr>
  </property>
</Properties>
</file>