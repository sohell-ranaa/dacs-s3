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8" y="228601"/>
            <a:ext cx="9461498" cy="70992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73143" y="465736"/>
            <a:ext cx="973698" cy="130433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611592" y="2944236"/>
            <a:ext cx="5154295" cy="626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0070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0F9F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Module</a:t>
            </a:r>
            <a:r>
              <a:rPr dirty="0" spc="90"/>
              <a:t> </a:t>
            </a:r>
            <a:r>
              <a:rPr dirty="0"/>
              <a:t>Code</a:t>
            </a:r>
            <a:r>
              <a:rPr dirty="0" spc="90"/>
              <a:t> </a:t>
            </a:r>
            <a:r>
              <a:rPr dirty="0" spc="-45"/>
              <a:t>&amp;</a:t>
            </a:r>
            <a:r>
              <a:rPr dirty="0" spc="90"/>
              <a:t> </a:t>
            </a:r>
            <a:r>
              <a:rPr dirty="0"/>
              <a:t>Module</a:t>
            </a:r>
            <a:r>
              <a:rPr dirty="0" spc="90"/>
              <a:t> </a:t>
            </a:r>
            <a:r>
              <a:rPr dirty="0" spc="-20"/>
              <a:t>Title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0F9F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15"/>
              <a:t> </a:t>
            </a:r>
            <a:r>
              <a:rPr dirty="0" spc="-10"/>
              <a:t>Title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0F9F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5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0070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0F9F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Module</a:t>
            </a:r>
            <a:r>
              <a:rPr dirty="0" spc="90"/>
              <a:t> </a:t>
            </a:r>
            <a:r>
              <a:rPr dirty="0"/>
              <a:t>Code</a:t>
            </a:r>
            <a:r>
              <a:rPr dirty="0" spc="90"/>
              <a:t> </a:t>
            </a:r>
            <a:r>
              <a:rPr dirty="0" spc="-45"/>
              <a:t>&amp;</a:t>
            </a:r>
            <a:r>
              <a:rPr dirty="0" spc="90"/>
              <a:t> </a:t>
            </a:r>
            <a:r>
              <a:rPr dirty="0"/>
              <a:t>Module</a:t>
            </a:r>
            <a:r>
              <a:rPr dirty="0" spc="90"/>
              <a:t> </a:t>
            </a:r>
            <a:r>
              <a:rPr dirty="0" spc="-20"/>
              <a:t>Title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0F9F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15"/>
              <a:t> </a:t>
            </a:r>
            <a:r>
              <a:rPr dirty="0" spc="-10"/>
              <a:t>Title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0F9F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5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0070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0F9F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Module</a:t>
            </a:r>
            <a:r>
              <a:rPr dirty="0" spc="90"/>
              <a:t> </a:t>
            </a:r>
            <a:r>
              <a:rPr dirty="0"/>
              <a:t>Code</a:t>
            </a:r>
            <a:r>
              <a:rPr dirty="0" spc="90"/>
              <a:t> </a:t>
            </a:r>
            <a:r>
              <a:rPr dirty="0" spc="-45"/>
              <a:t>&amp;</a:t>
            </a:r>
            <a:r>
              <a:rPr dirty="0" spc="90"/>
              <a:t> </a:t>
            </a:r>
            <a:r>
              <a:rPr dirty="0"/>
              <a:t>Module</a:t>
            </a:r>
            <a:r>
              <a:rPr dirty="0" spc="90"/>
              <a:t> </a:t>
            </a:r>
            <a:r>
              <a:rPr dirty="0" spc="-20"/>
              <a:t>Title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0F9F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15"/>
              <a:t> </a:t>
            </a:r>
            <a:r>
              <a:rPr dirty="0" spc="-10"/>
              <a:t>Title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0F9F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5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0070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0F9F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Module</a:t>
            </a:r>
            <a:r>
              <a:rPr dirty="0" spc="90"/>
              <a:t> </a:t>
            </a:r>
            <a:r>
              <a:rPr dirty="0"/>
              <a:t>Code</a:t>
            </a:r>
            <a:r>
              <a:rPr dirty="0" spc="90"/>
              <a:t> </a:t>
            </a:r>
            <a:r>
              <a:rPr dirty="0" spc="-45"/>
              <a:t>&amp;</a:t>
            </a:r>
            <a:r>
              <a:rPr dirty="0" spc="90"/>
              <a:t> </a:t>
            </a:r>
            <a:r>
              <a:rPr dirty="0"/>
              <a:t>Module</a:t>
            </a:r>
            <a:r>
              <a:rPr dirty="0" spc="90"/>
              <a:t> </a:t>
            </a:r>
            <a:r>
              <a:rPr dirty="0" spc="-20"/>
              <a:t>Title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0F9F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15"/>
              <a:t> </a:t>
            </a:r>
            <a:r>
              <a:rPr dirty="0" spc="-10"/>
              <a:t>Title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0F9F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5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0F9F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Module</a:t>
            </a:r>
            <a:r>
              <a:rPr dirty="0" spc="90"/>
              <a:t> </a:t>
            </a:r>
            <a:r>
              <a:rPr dirty="0"/>
              <a:t>Code</a:t>
            </a:r>
            <a:r>
              <a:rPr dirty="0" spc="90"/>
              <a:t> </a:t>
            </a:r>
            <a:r>
              <a:rPr dirty="0" spc="-45"/>
              <a:t>&amp;</a:t>
            </a:r>
            <a:r>
              <a:rPr dirty="0" spc="90"/>
              <a:t> </a:t>
            </a:r>
            <a:r>
              <a:rPr dirty="0"/>
              <a:t>Module</a:t>
            </a:r>
            <a:r>
              <a:rPr dirty="0" spc="90"/>
              <a:t> </a:t>
            </a:r>
            <a:r>
              <a:rPr dirty="0" spc="-20"/>
              <a:t>Title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0F9F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15"/>
              <a:t> </a:t>
            </a:r>
            <a:r>
              <a:rPr dirty="0" spc="-10"/>
              <a:t>Title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0F9F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5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9600" y="6959786"/>
            <a:ext cx="9461500" cy="36811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69815" y="323814"/>
            <a:ext cx="773653" cy="9122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0720" y="758820"/>
            <a:ext cx="7611745" cy="6711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0070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72796" y="2518377"/>
            <a:ext cx="7393305" cy="32397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721916" y="7088496"/>
            <a:ext cx="1139825" cy="118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C0F9F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Module</a:t>
            </a:r>
            <a:r>
              <a:rPr dirty="0" spc="90"/>
              <a:t> </a:t>
            </a:r>
            <a:r>
              <a:rPr dirty="0"/>
              <a:t>Code</a:t>
            </a:r>
            <a:r>
              <a:rPr dirty="0" spc="90"/>
              <a:t> </a:t>
            </a:r>
            <a:r>
              <a:rPr dirty="0" spc="-45"/>
              <a:t>&amp;</a:t>
            </a:r>
            <a:r>
              <a:rPr dirty="0" spc="90"/>
              <a:t> </a:t>
            </a:r>
            <a:r>
              <a:rPr dirty="0"/>
              <a:t>Module</a:t>
            </a:r>
            <a:r>
              <a:rPr dirty="0" spc="90"/>
              <a:t> </a:t>
            </a:r>
            <a:r>
              <a:rPr dirty="0" spc="-20"/>
              <a:t>Title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200487" y="7073255"/>
            <a:ext cx="406400" cy="118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C0F9F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15"/>
              <a:t> </a:t>
            </a:r>
            <a:r>
              <a:rPr dirty="0" spc="-10"/>
              <a:t>Title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456685" y="7088496"/>
            <a:ext cx="400684" cy="118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C0F9F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5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ka.fei@apu.edu.my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>
                <a:solidFill>
                  <a:srgbClr val="FAC41B"/>
                </a:solidFill>
              </a:rPr>
              <a:t>Data</a:t>
            </a:r>
            <a:r>
              <a:rPr dirty="0" spc="-100">
                <a:solidFill>
                  <a:srgbClr val="FAC41B"/>
                </a:solidFill>
              </a:rPr>
              <a:t> </a:t>
            </a:r>
            <a:r>
              <a:rPr dirty="0" spc="-80">
                <a:solidFill>
                  <a:srgbClr val="FAC41B"/>
                </a:solidFill>
              </a:rPr>
              <a:t>Analytics</a:t>
            </a:r>
            <a:r>
              <a:rPr dirty="0" spc="-90">
                <a:solidFill>
                  <a:srgbClr val="FAC41B"/>
                </a:solidFill>
              </a:rPr>
              <a:t> </a:t>
            </a:r>
            <a:r>
              <a:rPr dirty="0" spc="-100">
                <a:solidFill>
                  <a:srgbClr val="FAC41B"/>
                </a:solidFill>
              </a:rPr>
              <a:t>for</a:t>
            </a:r>
            <a:r>
              <a:rPr dirty="0" spc="-95">
                <a:solidFill>
                  <a:srgbClr val="FAC41B"/>
                </a:solidFill>
              </a:rPr>
              <a:t> </a:t>
            </a:r>
            <a:r>
              <a:rPr dirty="0" spc="-60">
                <a:solidFill>
                  <a:srgbClr val="FAC41B"/>
                </a:solidFill>
              </a:rPr>
              <a:t>Cyber</a:t>
            </a:r>
            <a:r>
              <a:rPr dirty="0" spc="-90">
                <a:solidFill>
                  <a:srgbClr val="FAC41B"/>
                </a:solidFill>
              </a:rPr>
              <a:t> </a:t>
            </a:r>
            <a:r>
              <a:rPr dirty="0" spc="-50">
                <a:solidFill>
                  <a:srgbClr val="FAC41B"/>
                </a:solidFill>
              </a:rPr>
              <a:t>Security</a:t>
            </a:r>
          </a:p>
          <a:p>
            <a:pPr marL="2970530">
              <a:lnSpc>
                <a:spcPct val="100000"/>
              </a:lnSpc>
              <a:spcBef>
                <a:spcPts val="50"/>
              </a:spcBef>
            </a:pPr>
            <a:r>
              <a:rPr dirty="0" sz="1600" spc="-275">
                <a:solidFill>
                  <a:srgbClr val="FDE7A4"/>
                </a:solidFill>
              </a:rPr>
              <a:t>CT115-</a:t>
            </a:r>
            <a:r>
              <a:rPr dirty="0" sz="1600" spc="-210">
                <a:solidFill>
                  <a:srgbClr val="FDE7A4"/>
                </a:solidFill>
              </a:rPr>
              <a:t>3-</a:t>
            </a:r>
            <a:r>
              <a:rPr dirty="0" sz="1600">
                <a:solidFill>
                  <a:srgbClr val="FDE7A4"/>
                </a:solidFill>
              </a:rPr>
              <a:t>M</a:t>
            </a:r>
            <a:r>
              <a:rPr dirty="0" sz="1600" spc="-110">
                <a:solidFill>
                  <a:srgbClr val="FDE7A4"/>
                </a:solidFill>
              </a:rPr>
              <a:t> </a:t>
            </a:r>
            <a:r>
              <a:rPr dirty="0" sz="1600" spc="-125">
                <a:solidFill>
                  <a:srgbClr val="FDE7A4"/>
                </a:solidFill>
              </a:rPr>
              <a:t>(Version</a:t>
            </a:r>
            <a:r>
              <a:rPr dirty="0" sz="1600" spc="-105">
                <a:solidFill>
                  <a:srgbClr val="FDE7A4"/>
                </a:solidFill>
              </a:rPr>
              <a:t> </a:t>
            </a:r>
            <a:r>
              <a:rPr dirty="0" sz="1600" spc="-95">
                <a:solidFill>
                  <a:srgbClr val="FDE7A4"/>
                </a:solidFill>
              </a:rPr>
              <a:t>E)</a:t>
            </a:r>
            <a:endParaRPr sz="1600"/>
          </a:p>
        </p:txBody>
      </p:sp>
      <p:sp>
        <p:nvSpPr>
          <p:cNvPr id="3" name="object 3" descr=""/>
          <p:cNvSpPr txBox="1"/>
          <p:nvPr/>
        </p:nvSpPr>
        <p:spPr>
          <a:xfrm>
            <a:off x="5634375" y="4267582"/>
            <a:ext cx="4119245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14" b="1">
                <a:solidFill>
                  <a:srgbClr val="FFFFFF"/>
                </a:solidFill>
                <a:latin typeface="Trebuchet MS"/>
                <a:cs typeface="Trebuchet MS"/>
              </a:rPr>
              <a:t>Introduction</a:t>
            </a:r>
            <a:r>
              <a:rPr dirty="0" sz="2200" spc="-1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-110" b="1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200" spc="-1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-75" b="1">
                <a:solidFill>
                  <a:srgbClr val="FFFFFF"/>
                </a:solidFill>
                <a:latin typeface="Trebuchet MS"/>
                <a:cs typeface="Trebuchet MS"/>
              </a:rPr>
              <a:t>Module</a:t>
            </a:r>
            <a:r>
              <a:rPr dirty="0" sz="2200" spc="-1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200" spc="-105" b="1">
                <a:solidFill>
                  <a:srgbClr val="FFFFFF"/>
                </a:solidFill>
                <a:latin typeface="Trebuchet MS"/>
                <a:cs typeface="Trebuchet MS"/>
              </a:rPr>
              <a:t>Overview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8629" y="1931436"/>
            <a:ext cx="5714365" cy="111379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700"/>
              </a:spcBef>
              <a:buChar char="•"/>
              <a:tabLst>
                <a:tab pos="278130" algn="l"/>
              </a:tabLst>
            </a:pPr>
            <a:r>
              <a:rPr dirty="0" sz="1900" spc="-50">
                <a:solidFill>
                  <a:srgbClr val="082F50"/>
                </a:solidFill>
                <a:latin typeface="Trebuchet MS"/>
                <a:cs typeface="Trebuchet MS"/>
              </a:rPr>
              <a:t>Lecturer</a:t>
            </a:r>
            <a:r>
              <a:rPr dirty="0" sz="1900" spc="-4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65">
                <a:solidFill>
                  <a:srgbClr val="082F50"/>
                </a:solidFill>
                <a:latin typeface="Trebuchet MS"/>
                <a:cs typeface="Trebuchet MS"/>
              </a:rPr>
              <a:t>Name:</a:t>
            </a:r>
            <a:r>
              <a:rPr dirty="0" sz="1900" spc="-40">
                <a:solidFill>
                  <a:srgbClr val="082F50"/>
                </a:solidFill>
                <a:latin typeface="Trebuchet MS"/>
                <a:cs typeface="Trebuchet MS"/>
              </a:rPr>
              <a:t> Assoc.</a:t>
            </a:r>
            <a:r>
              <a:rPr dirty="0" sz="1900" spc="-4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95">
                <a:solidFill>
                  <a:srgbClr val="082F50"/>
                </a:solidFill>
                <a:latin typeface="Trebuchet MS"/>
                <a:cs typeface="Trebuchet MS"/>
              </a:rPr>
              <a:t>Prof.</a:t>
            </a:r>
            <a:r>
              <a:rPr dirty="0" sz="1900" spc="-4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5">
                <a:solidFill>
                  <a:srgbClr val="082F50"/>
                </a:solidFill>
                <a:latin typeface="Trebuchet MS"/>
                <a:cs typeface="Trebuchet MS"/>
              </a:rPr>
              <a:t>Dr.</a:t>
            </a:r>
            <a:r>
              <a:rPr dirty="0" sz="1900" spc="-4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Thang</a:t>
            </a:r>
            <a:r>
              <a:rPr dirty="0" sz="1900" spc="-3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Ka</a:t>
            </a:r>
            <a:r>
              <a:rPr dirty="0" sz="1900" spc="-4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5">
                <a:solidFill>
                  <a:srgbClr val="082F50"/>
                </a:solidFill>
                <a:latin typeface="Trebuchet MS"/>
                <a:cs typeface="Trebuchet MS"/>
              </a:rPr>
              <a:t>Fei</a:t>
            </a:r>
            <a:endParaRPr sz="1900">
              <a:latin typeface="Trebuchet MS"/>
              <a:cs typeface="Trebuchet MS"/>
            </a:endParaRPr>
          </a:p>
          <a:p>
            <a:pPr marL="278130" indent="-265430">
              <a:lnSpc>
                <a:spcPct val="100000"/>
              </a:lnSpc>
              <a:spcBef>
                <a:spcPts val="600"/>
              </a:spcBef>
              <a:buChar char="•"/>
              <a:tabLst>
                <a:tab pos="278130" algn="l"/>
              </a:tabLst>
            </a:pPr>
            <a:r>
              <a:rPr dirty="0" sz="1900" spc="-60">
                <a:solidFill>
                  <a:srgbClr val="082F50"/>
                </a:solidFill>
                <a:latin typeface="Trebuchet MS"/>
                <a:cs typeface="Trebuchet MS"/>
              </a:rPr>
              <a:t>Email:</a:t>
            </a:r>
            <a:r>
              <a:rPr dirty="0" sz="19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u="sng" sz="1900" spc="-10">
                <a:solidFill>
                  <a:srgbClr val="9AB1D0"/>
                </a:solidFill>
                <a:uFill>
                  <a:solidFill>
                    <a:srgbClr val="9AB1D0"/>
                  </a:solidFill>
                </a:uFill>
                <a:latin typeface="Trebuchet MS"/>
                <a:cs typeface="Trebuchet MS"/>
                <a:hlinkClick r:id="rId2"/>
              </a:rPr>
              <a:t>ka.fei@apu.edu.my</a:t>
            </a:r>
            <a:endParaRPr sz="1900">
              <a:latin typeface="Trebuchet MS"/>
              <a:cs typeface="Trebuchet MS"/>
            </a:endParaRPr>
          </a:p>
          <a:p>
            <a:pPr marL="278130" indent="-265430">
              <a:lnSpc>
                <a:spcPct val="100000"/>
              </a:lnSpc>
              <a:spcBef>
                <a:spcPts val="525"/>
              </a:spcBef>
              <a:buChar char="•"/>
              <a:tabLst>
                <a:tab pos="278130" algn="l"/>
              </a:tabLst>
            </a:pPr>
            <a:r>
              <a:rPr dirty="0" sz="1900" spc="-20">
                <a:solidFill>
                  <a:srgbClr val="082F50"/>
                </a:solidFill>
                <a:latin typeface="Trebuchet MS"/>
                <a:cs typeface="Trebuchet MS"/>
              </a:rPr>
              <a:t>Consultation</a:t>
            </a:r>
            <a:r>
              <a:rPr dirty="0" sz="1900" spc="-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35">
                <a:solidFill>
                  <a:srgbClr val="082F50"/>
                </a:solidFill>
                <a:latin typeface="Trebuchet MS"/>
                <a:cs typeface="Trebuchet MS"/>
              </a:rPr>
              <a:t>Hours:</a:t>
            </a:r>
            <a:r>
              <a:rPr dirty="0" sz="19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Book</a:t>
            </a:r>
            <a:r>
              <a:rPr dirty="0" sz="19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via</a:t>
            </a:r>
            <a:r>
              <a:rPr dirty="0" sz="1900" spc="-8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135">
                <a:solidFill>
                  <a:srgbClr val="082F50"/>
                </a:solidFill>
                <a:latin typeface="Trebuchet MS"/>
                <a:cs typeface="Trebuchet MS"/>
              </a:rPr>
              <a:t>MS</a:t>
            </a:r>
            <a:r>
              <a:rPr dirty="0" sz="1900" spc="-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0">
                <a:solidFill>
                  <a:srgbClr val="082F50"/>
                </a:solidFill>
                <a:latin typeface="Trebuchet MS"/>
                <a:cs typeface="Trebuchet MS"/>
              </a:rPr>
              <a:t>Teams</a:t>
            </a:r>
            <a:r>
              <a:rPr dirty="0" sz="19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messaging.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15"/>
              <a:t> </a:t>
            </a:r>
            <a:r>
              <a:rPr dirty="0" spc="-10"/>
              <a:t>Title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Module</a:t>
            </a:r>
            <a:r>
              <a:rPr dirty="0" spc="90"/>
              <a:t> </a:t>
            </a:r>
            <a:r>
              <a:rPr dirty="0"/>
              <a:t>Code</a:t>
            </a:r>
            <a:r>
              <a:rPr dirty="0" spc="90"/>
              <a:t> </a:t>
            </a:r>
            <a:r>
              <a:rPr dirty="0" spc="-45"/>
              <a:t>&amp;</a:t>
            </a:r>
            <a:r>
              <a:rPr dirty="0" spc="90"/>
              <a:t> </a:t>
            </a:r>
            <a:r>
              <a:rPr dirty="0"/>
              <a:t>Module</a:t>
            </a:r>
            <a:r>
              <a:rPr dirty="0" spc="90"/>
              <a:t> </a:t>
            </a:r>
            <a:r>
              <a:rPr dirty="0" spc="-20"/>
              <a:t>Title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5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90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Lecturer</a:t>
            </a:r>
            <a:r>
              <a:rPr dirty="0" spc="-120"/>
              <a:t> </a:t>
            </a:r>
            <a:r>
              <a:rPr dirty="0" spc="-95"/>
              <a:t>Information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8629" y="2007507"/>
            <a:ext cx="64706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100"/>
              </a:spcBef>
              <a:buChar char="•"/>
              <a:tabLst>
                <a:tab pos="278130" algn="l"/>
              </a:tabLst>
            </a:pPr>
            <a:r>
              <a:rPr dirty="0" sz="1900" spc="-45">
                <a:solidFill>
                  <a:srgbClr val="082F50"/>
                </a:solidFill>
                <a:latin typeface="Trebuchet MS"/>
                <a:cs typeface="Trebuchet MS"/>
              </a:rPr>
              <a:t>Nil.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15"/>
              <a:t> </a:t>
            </a:r>
            <a:r>
              <a:rPr dirty="0" spc="-10"/>
              <a:t>Title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Module</a:t>
            </a:r>
            <a:r>
              <a:rPr dirty="0" spc="90"/>
              <a:t> </a:t>
            </a:r>
            <a:r>
              <a:rPr dirty="0"/>
              <a:t>Code</a:t>
            </a:r>
            <a:r>
              <a:rPr dirty="0" spc="90"/>
              <a:t> </a:t>
            </a:r>
            <a:r>
              <a:rPr dirty="0" spc="-45"/>
              <a:t>&amp;</a:t>
            </a:r>
            <a:r>
              <a:rPr dirty="0" spc="90"/>
              <a:t> </a:t>
            </a:r>
            <a:r>
              <a:rPr dirty="0"/>
              <a:t>Module</a:t>
            </a:r>
            <a:r>
              <a:rPr dirty="0" spc="90"/>
              <a:t> </a:t>
            </a:r>
            <a:r>
              <a:rPr dirty="0" spc="-20"/>
              <a:t>Title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5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90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0"/>
              <a:t>Pre-</a:t>
            </a:r>
            <a:r>
              <a:rPr dirty="0" spc="-80"/>
              <a:t>Requisites</a:t>
            </a:r>
            <a:r>
              <a:rPr dirty="0" spc="-90"/>
              <a:t> </a:t>
            </a:r>
            <a:r>
              <a:rPr dirty="0" spc="-85"/>
              <a:t>For</a:t>
            </a:r>
            <a:r>
              <a:rPr dirty="0" spc="-95"/>
              <a:t> </a:t>
            </a:r>
            <a:r>
              <a:rPr dirty="0" spc="-114"/>
              <a:t>This</a:t>
            </a:r>
            <a:r>
              <a:rPr dirty="0" spc="-85"/>
              <a:t> </a:t>
            </a:r>
            <a:r>
              <a:rPr dirty="0" spc="-10"/>
              <a:t>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8629" y="1944299"/>
            <a:ext cx="8532495" cy="233553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595"/>
              </a:spcBef>
              <a:buChar char="•"/>
              <a:tabLst>
                <a:tab pos="278130" algn="l"/>
              </a:tabLst>
            </a:pP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OBE</a:t>
            </a:r>
            <a:r>
              <a:rPr dirty="0" sz="1900" spc="-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is</a:t>
            </a:r>
            <a:r>
              <a:rPr dirty="0" sz="1900" spc="-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30">
                <a:solidFill>
                  <a:srgbClr val="082F50"/>
                </a:solidFill>
                <a:latin typeface="Trebuchet MS"/>
                <a:cs typeface="Trebuchet MS"/>
              </a:rPr>
              <a:t>education</a:t>
            </a:r>
            <a:r>
              <a:rPr dirty="0" sz="19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based</a:t>
            </a:r>
            <a:r>
              <a:rPr dirty="0" sz="19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on</a:t>
            </a:r>
            <a:r>
              <a:rPr dirty="0" sz="19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producing</a:t>
            </a:r>
            <a:r>
              <a:rPr dirty="0" sz="1900" spc="-50">
                <a:solidFill>
                  <a:srgbClr val="082F50"/>
                </a:solidFill>
                <a:latin typeface="Trebuchet MS"/>
                <a:cs typeface="Trebuchet MS"/>
              </a:rPr>
              <a:t> particular</a:t>
            </a:r>
            <a:r>
              <a:rPr dirty="0" sz="1900" spc="-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30">
                <a:solidFill>
                  <a:srgbClr val="082F50"/>
                </a:solidFill>
                <a:latin typeface="Trebuchet MS"/>
                <a:cs typeface="Trebuchet MS"/>
              </a:rPr>
              <a:t>educational</a:t>
            </a:r>
            <a:r>
              <a:rPr dirty="0" sz="19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0">
                <a:solidFill>
                  <a:srgbClr val="082F50"/>
                </a:solidFill>
                <a:latin typeface="Trebuchet MS"/>
                <a:cs typeface="Trebuchet MS"/>
              </a:rPr>
              <a:t>outcomes</a:t>
            </a:r>
            <a:r>
              <a:rPr dirty="0" sz="1900" spc="-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that:</a:t>
            </a:r>
            <a:endParaRPr sz="1900">
              <a:latin typeface="Trebuchet MS"/>
              <a:cs typeface="Trebuchet MS"/>
            </a:endParaRPr>
          </a:p>
          <a:p>
            <a:pPr lvl="1" marL="588645" indent="-221615">
              <a:lnSpc>
                <a:spcPct val="100000"/>
              </a:lnSpc>
              <a:spcBef>
                <a:spcPts val="420"/>
              </a:spcBef>
              <a:buFont typeface="Wingdings"/>
              <a:buChar char=""/>
              <a:tabLst>
                <a:tab pos="588645" algn="l"/>
              </a:tabLst>
            </a:pPr>
            <a:r>
              <a:rPr dirty="0" sz="1600" spc="-50">
                <a:solidFill>
                  <a:srgbClr val="082F50"/>
                </a:solidFill>
                <a:latin typeface="Trebuchet MS"/>
                <a:cs typeface="Trebuchet MS"/>
              </a:rPr>
              <a:t>Focus</a:t>
            </a:r>
            <a:r>
              <a:rPr dirty="0" sz="1600" spc="-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30">
                <a:solidFill>
                  <a:srgbClr val="082F50"/>
                </a:solidFill>
                <a:latin typeface="Trebuchet MS"/>
                <a:cs typeface="Trebuchet MS"/>
              </a:rPr>
              <a:t>on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what</a:t>
            </a:r>
            <a:r>
              <a:rPr dirty="0" sz="1600" spc="-55">
                <a:solidFill>
                  <a:srgbClr val="082F50"/>
                </a:solidFill>
                <a:latin typeface="Trebuchet MS"/>
                <a:cs typeface="Trebuchet MS"/>
              </a:rPr>
              <a:t> students 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can actually </a:t>
            </a:r>
            <a:r>
              <a:rPr dirty="0" sz="1600" spc="-40">
                <a:solidFill>
                  <a:srgbClr val="082F50"/>
                </a:solidFill>
                <a:latin typeface="Trebuchet MS"/>
                <a:cs typeface="Trebuchet MS"/>
              </a:rPr>
              <a:t>do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100">
                <a:solidFill>
                  <a:srgbClr val="082F50"/>
                </a:solidFill>
                <a:latin typeface="Trebuchet MS"/>
                <a:cs typeface="Trebuchet MS"/>
              </a:rPr>
              <a:t>after</a:t>
            </a:r>
            <a:r>
              <a:rPr dirty="0" sz="16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80">
                <a:solidFill>
                  <a:srgbClr val="082F50"/>
                </a:solidFill>
                <a:latin typeface="Trebuchet MS"/>
                <a:cs typeface="Trebuchet MS"/>
              </a:rPr>
              <a:t>they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85">
                <a:solidFill>
                  <a:srgbClr val="082F50"/>
                </a:solidFill>
                <a:latin typeface="Trebuchet MS"/>
                <a:cs typeface="Trebuchet MS"/>
              </a:rPr>
              <a:t>are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082F50"/>
                </a:solidFill>
                <a:latin typeface="Trebuchet MS"/>
                <a:cs typeface="Trebuchet MS"/>
              </a:rPr>
              <a:t>taught.</a:t>
            </a:r>
            <a:endParaRPr sz="1600">
              <a:latin typeface="Trebuchet MS"/>
              <a:cs typeface="Trebuchet MS"/>
            </a:endParaRPr>
          </a:p>
          <a:p>
            <a:pPr lvl="1" marL="589280" marR="5080" indent="-222250">
              <a:lnSpc>
                <a:spcPct val="100000"/>
              </a:lnSpc>
              <a:spcBef>
                <a:spcPts val="265"/>
              </a:spcBef>
              <a:buFont typeface="Wingdings"/>
              <a:buChar char=""/>
              <a:tabLst>
                <a:tab pos="589280" algn="l"/>
              </a:tabLst>
            </a:pP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Expect </a:t>
            </a:r>
            <a:r>
              <a:rPr dirty="0" sz="1600" spc="-40">
                <a:solidFill>
                  <a:srgbClr val="082F50"/>
                </a:solidFill>
                <a:latin typeface="Trebuchet MS"/>
                <a:cs typeface="Trebuchet MS"/>
              </a:rPr>
              <a:t>all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learners </a:t>
            </a:r>
            <a:r>
              <a:rPr dirty="0" sz="1600" spc="-280">
                <a:solidFill>
                  <a:srgbClr val="082F50"/>
                </a:solidFill>
                <a:latin typeface="Trebuchet MS"/>
                <a:cs typeface="Trebuchet MS"/>
              </a:rPr>
              <a:t>/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55">
                <a:solidFill>
                  <a:srgbClr val="082F50"/>
                </a:solidFill>
                <a:latin typeface="Trebuchet MS"/>
                <a:cs typeface="Trebuchet MS"/>
              </a:rPr>
              <a:t>students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 to</a:t>
            </a:r>
            <a:r>
              <a:rPr dirty="0" sz="1600" spc="-8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50">
                <a:solidFill>
                  <a:srgbClr val="082F50"/>
                </a:solidFill>
                <a:latin typeface="Trebuchet MS"/>
                <a:cs typeface="Trebuchet MS"/>
              </a:rPr>
              <a:t>successfully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achieve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 particular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(sometimes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minimum)</a:t>
            </a:r>
            <a:r>
              <a:rPr dirty="0" sz="1600" spc="-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55">
                <a:solidFill>
                  <a:srgbClr val="082F50"/>
                </a:solidFill>
                <a:latin typeface="Trebuchet MS"/>
                <a:cs typeface="Trebuchet MS"/>
              </a:rPr>
              <a:t>level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25">
                <a:solidFill>
                  <a:srgbClr val="082F50"/>
                </a:solidFill>
                <a:latin typeface="Trebuchet MS"/>
                <a:cs typeface="Trebuchet MS"/>
              </a:rPr>
              <a:t>of </a:t>
            </a:r>
            <a:r>
              <a:rPr dirty="0" sz="1600" spc="-50">
                <a:solidFill>
                  <a:srgbClr val="082F50"/>
                </a:solidFill>
                <a:latin typeface="Trebuchet MS"/>
                <a:cs typeface="Trebuchet MS"/>
              </a:rPr>
              <a:t>knowledge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55">
                <a:solidFill>
                  <a:srgbClr val="082F50"/>
                </a:solidFill>
                <a:latin typeface="Trebuchet MS"/>
                <a:cs typeface="Trebuchet MS"/>
              </a:rPr>
              <a:t>and</a:t>
            </a:r>
            <a:r>
              <a:rPr dirty="0" sz="1600" spc="-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082F50"/>
                </a:solidFill>
                <a:latin typeface="Trebuchet MS"/>
                <a:cs typeface="Trebuchet MS"/>
              </a:rPr>
              <a:t>abilities.</a:t>
            </a:r>
            <a:endParaRPr sz="16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buClr>
                <a:srgbClr val="082F50"/>
              </a:buClr>
              <a:buFont typeface="Wingdings"/>
              <a:buChar char=""/>
            </a:pPr>
            <a:endParaRPr sz="16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60"/>
              </a:spcBef>
              <a:buClr>
                <a:srgbClr val="082F50"/>
              </a:buClr>
              <a:buFont typeface="Wingdings"/>
              <a:buChar char=""/>
            </a:pPr>
            <a:endParaRPr sz="1600">
              <a:latin typeface="Trebuchet MS"/>
              <a:cs typeface="Trebuchet MS"/>
            </a:endParaRPr>
          </a:p>
          <a:p>
            <a:pPr marL="278130" indent="-265430">
              <a:lnSpc>
                <a:spcPct val="100000"/>
              </a:lnSpc>
              <a:buChar char="•"/>
              <a:tabLst>
                <a:tab pos="278130" algn="l"/>
              </a:tabLst>
            </a:pPr>
            <a:r>
              <a:rPr dirty="0" sz="1900" spc="-95">
                <a:solidFill>
                  <a:srgbClr val="082F50"/>
                </a:solidFill>
                <a:latin typeface="Trebuchet MS"/>
                <a:cs typeface="Trebuchet MS"/>
              </a:rPr>
              <a:t>It’s</a:t>
            </a:r>
            <a:r>
              <a:rPr dirty="0" sz="1900" spc="-5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NOT</a:t>
            </a:r>
            <a:r>
              <a:rPr dirty="0" sz="1900" spc="-10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0">
                <a:solidFill>
                  <a:srgbClr val="082F50"/>
                </a:solidFill>
                <a:latin typeface="Trebuchet MS"/>
                <a:cs typeface="Trebuchet MS"/>
              </a:rPr>
              <a:t>what</a:t>
            </a:r>
            <a:r>
              <a:rPr dirty="0" sz="19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0">
                <a:solidFill>
                  <a:srgbClr val="082F50"/>
                </a:solidFill>
                <a:latin typeface="Trebuchet MS"/>
                <a:cs typeface="Trebuchet MS"/>
              </a:rPr>
              <a:t>We</a:t>
            </a:r>
            <a:r>
              <a:rPr dirty="0" sz="1900" spc="-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0">
                <a:solidFill>
                  <a:srgbClr val="082F50"/>
                </a:solidFill>
                <a:latin typeface="Trebuchet MS"/>
                <a:cs typeface="Trebuchet MS"/>
              </a:rPr>
              <a:t>want</a:t>
            </a:r>
            <a:r>
              <a:rPr dirty="0" sz="19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to</a:t>
            </a:r>
            <a:r>
              <a:rPr dirty="0" sz="19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teach.</a:t>
            </a:r>
            <a:endParaRPr sz="1900">
              <a:latin typeface="Trebuchet MS"/>
              <a:cs typeface="Trebuchet MS"/>
            </a:endParaRPr>
          </a:p>
          <a:p>
            <a:pPr marL="278130" indent="-265430">
              <a:lnSpc>
                <a:spcPct val="100000"/>
              </a:lnSpc>
              <a:spcBef>
                <a:spcPts val="530"/>
              </a:spcBef>
              <a:buChar char="•"/>
              <a:tabLst>
                <a:tab pos="278130" algn="l"/>
              </a:tabLst>
            </a:pPr>
            <a:r>
              <a:rPr dirty="0" sz="1900" spc="-95">
                <a:solidFill>
                  <a:srgbClr val="082F50"/>
                </a:solidFill>
                <a:latin typeface="Trebuchet MS"/>
                <a:cs typeface="Trebuchet MS"/>
              </a:rPr>
              <a:t>It’s</a:t>
            </a:r>
            <a:r>
              <a:rPr dirty="0" sz="1900" spc="-5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WHAT</a:t>
            </a:r>
            <a:r>
              <a:rPr dirty="0" sz="1900" spc="-5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You</a:t>
            </a:r>
            <a:r>
              <a:rPr dirty="0" sz="1900" spc="-4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should</a:t>
            </a:r>
            <a:r>
              <a:rPr dirty="0" sz="1900" spc="-4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learn.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15"/>
              <a:t> </a:t>
            </a:r>
            <a:r>
              <a:rPr dirty="0" spc="-10"/>
              <a:t>Title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Module</a:t>
            </a:r>
            <a:r>
              <a:rPr dirty="0" spc="90"/>
              <a:t> </a:t>
            </a:r>
            <a:r>
              <a:rPr dirty="0"/>
              <a:t>Code</a:t>
            </a:r>
            <a:r>
              <a:rPr dirty="0" spc="90"/>
              <a:t> </a:t>
            </a:r>
            <a:r>
              <a:rPr dirty="0" spc="-45"/>
              <a:t>&amp;</a:t>
            </a:r>
            <a:r>
              <a:rPr dirty="0" spc="90"/>
              <a:t> </a:t>
            </a:r>
            <a:r>
              <a:rPr dirty="0"/>
              <a:t>Module</a:t>
            </a:r>
            <a:r>
              <a:rPr dirty="0" spc="90"/>
              <a:t> </a:t>
            </a:r>
            <a:r>
              <a:rPr dirty="0" spc="-20"/>
              <a:t>Title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5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90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Outcomes</a:t>
            </a:r>
            <a:r>
              <a:rPr dirty="0" spc="-135"/>
              <a:t> </a:t>
            </a:r>
            <a:r>
              <a:rPr dirty="0" spc="-60"/>
              <a:t>Based</a:t>
            </a:r>
            <a:r>
              <a:rPr dirty="0" spc="-130"/>
              <a:t> </a:t>
            </a:r>
            <a:r>
              <a:rPr dirty="0" spc="-25"/>
              <a:t>Education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8629" y="1992396"/>
            <a:ext cx="8950325" cy="325056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algn="just" marL="367030" marR="5080" indent="-354965">
              <a:lnSpc>
                <a:spcPct val="103200"/>
              </a:lnSpc>
              <a:spcBef>
                <a:spcPts val="145"/>
              </a:spcBef>
              <a:buAutoNum type="arabicPeriod"/>
              <a:tabLst>
                <a:tab pos="367030" algn="l"/>
              </a:tabLst>
            </a:pP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This</a:t>
            </a:r>
            <a:r>
              <a:rPr dirty="0" sz="1900" spc="10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module</a:t>
            </a:r>
            <a:r>
              <a:rPr dirty="0" sz="1900" spc="11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will</a:t>
            </a:r>
            <a:r>
              <a:rPr dirty="0" sz="1900" spc="10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familiarise</a:t>
            </a:r>
            <a:r>
              <a:rPr dirty="0" sz="1900" spc="11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students</a:t>
            </a:r>
            <a:r>
              <a:rPr dirty="0" sz="1900" spc="10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with</a:t>
            </a:r>
            <a:r>
              <a:rPr dirty="0" sz="1900" spc="114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models</a:t>
            </a:r>
            <a:r>
              <a:rPr dirty="0" sz="1900" spc="11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and</a:t>
            </a:r>
            <a:r>
              <a:rPr dirty="0" sz="1900" spc="11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algorithms</a:t>
            </a:r>
            <a:r>
              <a:rPr dirty="0" sz="1900" spc="11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for</a:t>
            </a:r>
            <a:r>
              <a:rPr dirty="0" sz="1900" spc="10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machine </a:t>
            </a:r>
            <a:r>
              <a:rPr dirty="0" sz="1900" spc="-45">
                <a:solidFill>
                  <a:srgbClr val="082F50"/>
                </a:solidFill>
                <a:latin typeface="Trebuchet MS"/>
                <a:cs typeface="Trebuchet MS"/>
              </a:rPr>
              <a:t>learning,</a:t>
            </a:r>
            <a:r>
              <a:rPr dirty="0" sz="1900" spc="-10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5">
                <a:solidFill>
                  <a:srgbClr val="082F50"/>
                </a:solidFill>
                <a:latin typeface="Trebuchet MS"/>
                <a:cs typeface="Trebuchet MS"/>
              </a:rPr>
              <a:t>reinforcing</a:t>
            </a:r>
            <a:r>
              <a:rPr dirty="0" sz="1900" spc="-11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0">
                <a:solidFill>
                  <a:srgbClr val="082F50"/>
                </a:solidFill>
                <a:latin typeface="Trebuchet MS"/>
                <a:cs typeface="Trebuchet MS"/>
              </a:rPr>
              <a:t>the</a:t>
            </a:r>
            <a:r>
              <a:rPr dirty="0" sz="1900" spc="-10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thesis</a:t>
            </a:r>
            <a:r>
              <a:rPr dirty="0" sz="1900" spc="-10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of</a:t>
            </a:r>
            <a:r>
              <a:rPr dirty="0" sz="1900" spc="-10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35">
                <a:solidFill>
                  <a:srgbClr val="082F50"/>
                </a:solidFill>
                <a:latin typeface="Trebuchet MS"/>
                <a:cs typeface="Trebuchet MS"/>
              </a:rPr>
              <a:t>injecting</a:t>
            </a:r>
            <a:r>
              <a:rPr dirty="0" sz="1900" spc="-9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45">
                <a:solidFill>
                  <a:srgbClr val="082F50"/>
                </a:solidFill>
                <a:latin typeface="Trebuchet MS"/>
                <a:cs typeface="Trebuchet MS"/>
              </a:rPr>
              <a:t>data</a:t>
            </a:r>
            <a:r>
              <a:rPr dirty="0" sz="1900" spc="-10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5">
                <a:solidFill>
                  <a:srgbClr val="082F50"/>
                </a:solidFill>
                <a:latin typeface="Trebuchet MS"/>
                <a:cs typeface="Trebuchet MS"/>
              </a:rPr>
              <a:t>analytics</a:t>
            </a:r>
            <a:r>
              <a:rPr dirty="0" sz="1900" spc="-10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into</a:t>
            </a:r>
            <a:r>
              <a:rPr dirty="0" sz="1900" spc="-9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35">
                <a:solidFill>
                  <a:srgbClr val="082F50"/>
                </a:solidFill>
                <a:latin typeface="Trebuchet MS"/>
                <a:cs typeface="Trebuchet MS"/>
              </a:rPr>
              <a:t>security</a:t>
            </a:r>
            <a:r>
              <a:rPr dirty="0" sz="1900" spc="-10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operations to</a:t>
            </a:r>
            <a:r>
              <a:rPr dirty="0" sz="1900" spc="-9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50">
                <a:solidFill>
                  <a:srgbClr val="082F50"/>
                </a:solidFill>
                <a:latin typeface="Trebuchet MS"/>
                <a:cs typeface="Trebuchet MS"/>
              </a:rPr>
              <a:t>efficiently</a:t>
            </a:r>
            <a:r>
              <a:rPr dirty="0" sz="1900" spc="-8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5">
                <a:solidFill>
                  <a:srgbClr val="082F50"/>
                </a:solidFill>
                <a:latin typeface="Trebuchet MS"/>
                <a:cs typeface="Trebuchet MS"/>
              </a:rPr>
              <a:t>uncover</a:t>
            </a:r>
            <a:r>
              <a:rPr dirty="0" sz="1900" spc="-9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45">
                <a:solidFill>
                  <a:srgbClr val="082F50"/>
                </a:solidFill>
                <a:latin typeface="Trebuchet MS"/>
                <a:cs typeface="Trebuchet MS"/>
              </a:rPr>
              <a:t>patterns</a:t>
            </a:r>
            <a:r>
              <a:rPr dirty="0" sz="1900" spc="-9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and</a:t>
            </a:r>
            <a:r>
              <a:rPr dirty="0" sz="19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40">
                <a:solidFill>
                  <a:srgbClr val="082F50"/>
                </a:solidFill>
                <a:latin typeface="Trebuchet MS"/>
                <a:cs typeface="Trebuchet MS"/>
              </a:rPr>
              <a:t>identify</a:t>
            </a:r>
            <a:r>
              <a:rPr dirty="0" sz="1900" spc="-9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30">
                <a:solidFill>
                  <a:srgbClr val="082F50"/>
                </a:solidFill>
                <a:latin typeface="Trebuchet MS"/>
                <a:cs typeface="Trebuchet MS"/>
              </a:rPr>
              <a:t>indicators</a:t>
            </a:r>
            <a:r>
              <a:rPr dirty="0" sz="1900" spc="-8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of</a:t>
            </a:r>
            <a:r>
              <a:rPr dirty="0" sz="1900" spc="-9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compromise.</a:t>
            </a:r>
            <a:endParaRPr sz="1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75"/>
              </a:spcBef>
              <a:buClr>
                <a:srgbClr val="082F50"/>
              </a:buClr>
              <a:buFont typeface="Trebuchet MS"/>
              <a:buAutoNum type="arabicPeriod"/>
            </a:pPr>
            <a:endParaRPr sz="1900">
              <a:latin typeface="Trebuchet MS"/>
              <a:cs typeface="Trebuchet MS"/>
            </a:endParaRPr>
          </a:p>
          <a:p>
            <a:pPr algn="just" marL="386715" marR="5080" indent="-374650">
              <a:lnSpc>
                <a:spcPct val="101099"/>
              </a:lnSpc>
              <a:buAutoNum type="arabicPeriod"/>
              <a:tabLst>
                <a:tab pos="386715" algn="l"/>
              </a:tabLst>
            </a:pP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The</a:t>
            </a:r>
            <a:r>
              <a:rPr dirty="0" sz="1900" spc="-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5">
                <a:solidFill>
                  <a:srgbClr val="082F50"/>
                </a:solidFill>
                <a:latin typeface="Trebuchet MS"/>
                <a:cs typeface="Trebuchet MS"/>
              </a:rPr>
              <a:t>theory</a:t>
            </a:r>
            <a:r>
              <a:rPr dirty="0" sz="19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and</a:t>
            </a:r>
            <a:r>
              <a:rPr dirty="0" sz="1900" spc="-5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0">
                <a:solidFill>
                  <a:srgbClr val="082F50"/>
                </a:solidFill>
                <a:latin typeface="Trebuchet MS"/>
                <a:cs typeface="Trebuchet MS"/>
              </a:rPr>
              <a:t>principles</a:t>
            </a:r>
            <a:r>
              <a:rPr dirty="0" sz="19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will</a:t>
            </a:r>
            <a:r>
              <a:rPr dirty="0" sz="1900" spc="-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be</a:t>
            </a:r>
            <a:r>
              <a:rPr dirty="0" sz="19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35">
                <a:solidFill>
                  <a:srgbClr val="082F50"/>
                </a:solidFill>
                <a:latin typeface="Trebuchet MS"/>
                <a:cs typeface="Trebuchet MS"/>
              </a:rPr>
              <a:t>presented</a:t>
            </a:r>
            <a:r>
              <a:rPr dirty="0" sz="1900" spc="-5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with</a:t>
            </a:r>
            <a:r>
              <a:rPr dirty="0" sz="1900" spc="-5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a</a:t>
            </a:r>
            <a:r>
              <a:rPr dirty="0" sz="1900" spc="-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focus</a:t>
            </a:r>
            <a:r>
              <a:rPr dirty="0" sz="1900" spc="-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on</a:t>
            </a:r>
            <a:r>
              <a:rPr dirty="0" sz="19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40">
                <a:solidFill>
                  <a:srgbClr val="082F50"/>
                </a:solidFill>
                <a:latin typeface="Trebuchet MS"/>
                <a:cs typeface="Trebuchet MS"/>
              </a:rPr>
              <a:t>practical</a:t>
            </a:r>
            <a:r>
              <a:rPr dirty="0" sz="1900" spc="-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experience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with</a:t>
            </a:r>
            <a:r>
              <a:rPr dirty="0" sz="1900" spc="2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using</a:t>
            </a:r>
            <a:r>
              <a:rPr dirty="0" sz="1900" spc="2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industry</a:t>
            </a:r>
            <a:r>
              <a:rPr dirty="0" sz="1900" spc="2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standard</a:t>
            </a:r>
            <a:r>
              <a:rPr dirty="0" sz="1900" spc="2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frameworks</a:t>
            </a:r>
            <a:r>
              <a:rPr dirty="0" sz="1900" spc="2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for</a:t>
            </a:r>
            <a:r>
              <a:rPr dirty="0" sz="1900" spc="2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implementation</a:t>
            </a:r>
            <a:r>
              <a:rPr dirty="0" sz="1900" spc="2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and</a:t>
            </a:r>
            <a:r>
              <a:rPr dirty="0" sz="1900" spc="2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using</a:t>
            </a:r>
            <a:r>
              <a:rPr dirty="0" sz="1900" spc="2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0">
                <a:solidFill>
                  <a:srgbClr val="082F50"/>
                </a:solidFill>
                <a:latin typeface="Trebuchet MS"/>
                <a:cs typeface="Trebuchet MS"/>
              </a:rPr>
              <a:t>data visualization</a:t>
            </a:r>
            <a:r>
              <a:rPr dirty="0" sz="1900" spc="-8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5">
                <a:solidFill>
                  <a:srgbClr val="082F50"/>
                </a:solidFill>
                <a:latin typeface="Trebuchet MS"/>
                <a:cs typeface="Trebuchet MS"/>
              </a:rPr>
              <a:t>techniques</a:t>
            </a:r>
            <a:r>
              <a:rPr dirty="0" sz="1900" spc="-8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and</a:t>
            </a:r>
            <a:r>
              <a:rPr dirty="0" sz="1900" spc="-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30">
                <a:solidFill>
                  <a:srgbClr val="082F50"/>
                </a:solidFill>
                <a:latin typeface="Trebuchet MS"/>
                <a:cs typeface="Trebuchet MS"/>
              </a:rPr>
              <a:t>strategies</a:t>
            </a:r>
            <a:r>
              <a:rPr dirty="0" sz="1900" spc="-9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to</a:t>
            </a:r>
            <a:r>
              <a:rPr dirty="0" sz="1900" spc="-8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35">
                <a:solidFill>
                  <a:srgbClr val="082F50"/>
                </a:solidFill>
                <a:latin typeface="Trebuchet MS"/>
                <a:cs typeface="Trebuchet MS"/>
              </a:rPr>
              <a:t>communicate</a:t>
            </a:r>
            <a:r>
              <a:rPr dirty="0" sz="1900" spc="-8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information.</a:t>
            </a:r>
            <a:endParaRPr sz="1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80"/>
              </a:spcBef>
              <a:buClr>
                <a:srgbClr val="082F50"/>
              </a:buClr>
              <a:buFont typeface="Trebuchet MS"/>
              <a:buAutoNum type="arabicPeriod"/>
            </a:pPr>
            <a:endParaRPr sz="1900">
              <a:latin typeface="Trebuchet MS"/>
              <a:cs typeface="Trebuchet MS"/>
            </a:endParaRPr>
          </a:p>
          <a:p>
            <a:pPr algn="just" marL="386715" marR="6985" indent="-374650">
              <a:lnSpc>
                <a:spcPct val="101099"/>
              </a:lnSpc>
              <a:buAutoNum type="arabicPeriod"/>
              <a:tabLst>
                <a:tab pos="386715" algn="l"/>
              </a:tabLst>
            </a:pP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This</a:t>
            </a:r>
            <a:r>
              <a:rPr dirty="0" sz="1900" spc="-3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will</a:t>
            </a:r>
            <a:r>
              <a:rPr dirty="0" sz="1900" spc="-3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50">
                <a:solidFill>
                  <a:srgbClr val="082F50"/>
                </a:solidFill>
                <a:latin typeface="Trebuchet MS"/>
                <a:cs typeface="Trebuchet MS"/>
              </a:rPr>
              <a:t>prepare</a:t>
            </a:r>
            <a:r>
              <a:rPr dirty="0" sz="1900" spc="-3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them</a:t>
            </a:r>
            <a:r>
              <a:rPr dirty="0" sz="1900" spc="-2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to</a:t>
            </a:r>
            <a:r>
              <a:rPr dirty="0" sz="1900" spc="-3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35">
                <a:solidFill>
                  <a:srgbClr val="082F50"/>
                </a:solidFill>
                <a:latin typeface="Trebuchet MS"/>
                <a:cs typeface="Trebuchet MS"/>
              </a:rPr>
              <a:t>critically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assess</a:t>
            </a:r>
            <a:r>
              <a:rPr dirty="0" sz="1900" spc="-3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and</a:t>
            </a:r>
            <a:r>
              <a:rPr dirty="0" sz="1900" spc="-3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5">
                <a:solidFill>
                  <a:srgbClr val="082F50"/>
                </a:solidFill>
                <a:latin typeface="Trebuchet MS"/>
                <a:cs typeface="Trebuchet MS"/>
              </a:rPr>
              <a:t>evaluate</a:t>
            </a:r>
            <a:r>
              <a:rPr dirty="0" sz="1900" spc="-3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business</a:t>
            </a:r>
            <a:r>
              <a:rPr dirty="0" sz="1900" spc="-3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problems</a:t>
            </a:r>
            <a:r>
              <a:rPr dirty="0" sz="1900" spc="-3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using </a:t>
            </a:r>
            <a:r>
              <a:rPr dirty="0" sz="1900" spc="-55">
                <a:solidFill>
                  <a:srgbClr val="082F50"/>
                </a:solidFill>
                <a:latin typeface="Trebuchet MS"/>
                <a:cs typeface="Trebuchet MS"/>
              </a:rPr>
              <a:t>pattern</a:t>
            </a:r>
            <a:r>
              <a:rPr dirty="0" sz="1900" spc="-8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30">
                <a:solidFill>
                  <a:srgbClr val="082F50"/>
                </a:solidFill>
                <a:latin typeface="Trebuchet MS"/>
                <a:cs typeface="Trebuchet MS"/>
              </a:rPr>
              <a:t>discovery</a:t>
            </a:r>
            <a:r>
              <a:rPr dirty="0" sz="19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and</a:t>
            </a:r>
            <a:r>
              <a:rPr dirty="0" sz="19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50">
                <a:solidFill>
                  <a:srgbClr val="082F50"/>
                </a:solidFill>
                <a:latin typeface="Trebuchet MS"/>
                <a:cs typeface="Trebuchet MS"/>
              </a:rPr>
              <a:t>predictive</a:t>
            </a:r>
            <a:r>
              <a:rPr dirty="0" sz="1900" spc="-8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modelling</a:t>
            </a:r>
            <a:r>
              <a:rPr dirty="0" sz="19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in</a:t>
            </a:r>
            <a:r>
              <a:rPr dirty="0" sz="19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40">
                <a:solidFill>
                  <a:srgbClr val="082F50"/>
                </a:solidFill>
                <a:latin typeface="Trebuchet MS"/>
                <a:cs typeface="Trebuchet MS"/>
              </a:rPr>
              <a:t>research</a:t>
            </a:r>
            <a:r>
              <a:rPr dirty="0" sz="1900" spc="-8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or</a:t>
            </a:r>
            <a:r>
              <a:rPr dirty="0" sz="1900" spc="-8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5">
                <a:solidFill>
                  <a:srgbClr val="082F50"/>
                </a:solidFill>
                <a:latin typeface="Trebuchet MS"/>
                <a:cs typeface="Trebuchet MS"/>
              </a:rPr>
              <a:t>industry</a:t>
            </a:r>
            <a:r>
              <a:rPr dirty="0" sz="1900" spc="-8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applications.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15"/>
              <a:t> </a:t>
            </a:r>
            <a:r>
              <a:rPr dirty="0" spc="-10"/>
              <a:t>Title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Module</a:t>
            </a:r>
            <a:r>
              <a:rPr dirty="0" spc="90"/>
              <a:t> </a:t>
            </a:r>
            <a:r>
              <a:rPr dirty="0"/>
              <a:t>Code</a:t>
            </a:r>
            <a:r>
              <a:rPr dirty="0" spc="90"/>
              <a:t> </a:t>
            </a:r>
            <a:r>
              <a:rPr dirty="0" spc="-45"/>
              <a:t>&amp;</a:t>
            </a:r>
            <a:r>
              <a:rPr dirty="0" spc="90"/>
              <a:t> </a:t>
            </a:r>
            <a:r>
              <a:rPr dirty="0"/>
              <a:t>Module</a:t>
            </a:r>
            <a:r>
              <a:rPr dirty="0" spc="90"/>
              <a:t> </a:t>
            </a:r>
            <a:r>
              <a:rPr dirty="0" spc="-20"/>
              <a:t>Title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5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0720" y="899028"/>
            <a:ext cx="3107055" cy="376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Aims</a:t>
            </a:r>
            <a:r>
              <a:rPr dirty="0" spc="-130"/>
              <a:t> </a:t>
            </a:r>
            <a:r>
              <a:rPr dirty="0" spc="-60"/>
              <a:t>of</a:t>
            </a:r>
            <a:r>
              <a:rPr dirty="0" spc="-125"/>
              <a:t> </a:t>
            </a:r>
            <a:r>
              <a:rPr dirty="0" spc="-85"/>
              <a:t>this</a:t>
            </a:r>
            <a:r>
              <a:rPr dirty="0" spc="-110"/>
              <a:t> </a:t>
            </a:r>
            <a:r>
              <a:rPr dirty="0" spc="-10"/>
              <a:t>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800145" y="2427000"/>
          <a:ext cx="9206230" cy="2628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2160"/>
                <a:gridCol w="5305425"/>
                <a:gridCol w="3039110"/>
              </a:tblGrid>
              <a:tr h="2876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 spc="-25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CLO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3619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 spc="-25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Learning</a:t>
                      </a:r>
                      <a:r>
                        <a:rPr dirty="0" sz="1000" spc="-3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Outcomes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3619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 spc="-1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Assessment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3619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</a:tr>
              <a:tr h="780415">
                <a:tc>
                  <a:txBody>
                    <a:bodyPr/>
                    <a:lstStyle/>
                    <a:p>
                      <a:pPr algn="r" marR="3206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600" spc="-5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70485" marR="88900">
                        <a:lnSpc>
                          <a:spcPct val="96300"/>
                        </a:lnSpc>
                        <a:spcBef>
                          <a:spcPts val="250"/>
                        </a:spcBef>
                      </a:pPr>
                      <a:r>
                        <a:rPr dirty="0" sz="1600" spc="-4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Explain</a:t>
                      </a:r>
                      <a:r>
                        <a:rPr dirty="0" sz="1600" spc="-7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8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1600" spc="-6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7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procedures</a:t>
                      </a:r>
                      <a:r>
                        <a:rPr dirty="0" sz="1600" spc="-6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6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1600" spc="-6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8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dirty="0" sz="1600" spc="-6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4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analysis</a:t>
                      </a:r>
                      <a:r>
                        <a:rPr dirty="0" sz="1600" spc="-6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7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with</a:t>
                      </a:r>
                      <a:r>
                        <a:rPr dirty="0" sz="1600" spc="-6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appropriate </a:t>
                      </a:r>
                      <a:r>
                        <a:rPr dirty="0" sz="1600" spc="-6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machine</a:t>
                      </a:r>
                      <a:r>
                        <a:rPr dirty="0" sz="1600" spc="-7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5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learning</a:t>
                      </a:r>
                      <a:r>
                        <a:rPr dirty="0" sz="1600" spc="-8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7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technique</a:t>
                      </a:r>
                      <a:r>
                        <a:rPr dirty="0" sz="1600" spc="-7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5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based</a:t>
                      </a:r>
                      <a:r>
                        <a:rPr dirty="0" sz="1600" spc="-7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3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dirty="0" sz="1600" spc="-7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8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1600" spc="-7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6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scenario</a:t>
                      </a:r>
                      <a:r>
                        <a:rPr dirty="0" sz="1600" spc="-8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7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1600" spc="-6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6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600" spc="-6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cyber </a:t>
                      </a:r>
                      <a:r>
                        <a:rPr dirty="0" sz="1600" spc="-8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attack</a:t>
                      </a:r>
                      <a:r>
                        <a:rPr dirty="0" sz="1600" spc="-9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(C5,PLO2)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B="0" marT="3175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600" spc="-3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Class</a:t>
                      </a:r>
                      <a:r>
                        <a:rPr dirty="0" sz="1600" spc="-8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2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Test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</a:tr>
              <a:tr h="780415">
                <a:tc>
                  <a:txBody>
                    <a:bodyPr/>
                    <a:lstStyle/>
                    <a:p>
                      <a:pPr algn="r" marR="320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600" spc="-5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B="0" marT="2159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70485" marR="204470">
                        <a:lnSpc>
                          <a:spcPct val="96900"/>
                        </a:lnSpc>
                        <a:spcBef>
                          <a:spcPts val="229"/>
                        </a:spcBef>
                      </a:pPr>
                      <a:r>
                        <a:rPr dirty="0" sz="1600" spc="-6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Appraise</a:t>
                      </a:r>
                      <a:r>
                        <a:rPr dirty="0" sz="1600" spc="-7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8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1600" spc="-7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5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most</a:t>
                      </a:r>
                      <a:r>
                        <a:rPr dirty="0" sz="1600" spc="-6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5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suitable</a:t>
                      </a:r>
                      <a:r>
                        <a:rPr dirty="0" sz="1600" spc="-7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7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technique</a:t>
                      </a:r>
                      <a:r>
                        <a:rPr dirty="0" sz="1600" spc="-7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6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dirty="0" sz="1600" spc="-6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6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method</a:t>
                      </a:r>
                      <a:r>
                        <a:rPr dirty="0" sz="1600" spc="-7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6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1600" spc="-8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3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uncover </a:t>
                      </a:r>
                      <a:r>
                        <a:rPr dirty="0" sz="1600" spc="-7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patterns</a:t>
                      </a:r>
                      <a:r>
                        <a:rPr dirty="0" sz="1600" spc="-6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5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1600" spc="-7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8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extract</a:t>
                      </a:r>
                      <a:r>
                        <a:rPr dirty="0" sz="1600" spc="-6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5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valuable</a:t>
                      </a:r>
                      <a:r>
                        <a:rPr dirty="0" sz="1600" spc="-7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3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insights</a:t>
                      </a:r>
                      <a:r>
                        <a:rPr dirty="0" sz="1600" spc="-6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7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1600" spc="-6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5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600" spc="-6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4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possible</a:t>
                      </a:r>
                      <a:r>
                        <a:rPr dirty="0" sz="1600" spc="-7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cyber </a:t>
                      </a:r>
                      <a:r>
                        <a:rPr dirty="0" sz="1600" spc="-8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attack</a:t>
                      </a:r>
                      <a:r>
                        <a:rPr dirty="0" sz="1600" spc="-8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13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(C4,</a:t>
                      </a:r>
                      <a:r>
                        <a:rPr dirty="0" sz="1600" spc="-19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2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PLO7)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B="0" marT="29209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600" spc="-4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Assignment </a:t>
                      </a:r>
                      <a:r>
                        <a:rPr dirty="0" sz="16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dirty="0" sz="1600" spc="-6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(Individual)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B="0" marT="2159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</a:tr>
              <a:tr h="780415">
                <a:tc>
                  <a:txBody>
                    <a:bodyPr/>
                    <a:lstStyle/>
                    <a:p>
                      <a:pPr algn="r" marR="3206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600" spc="-5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70485" marR="193675">
                        <a:lnSpc>
                          <a:spcPct val="96200"/>
                        </a:lnSpc>
                        <a:spcBef>
                          <a:spcPts val="265"/>
                        </a:spcBef>
                      </a:pPr>
                      <a:r>
                        <a:rPr dirty="0" sz="1600" spc="-7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Perform</a:t>
                      </a:r>
                      <a:r>
                        <a:rPr dirty="0" sz="1600" spc="-9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8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dirty="0" sz="1600" spc="-6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4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analysis</a:t>
                      </a:r>
                      <a:r>
                        <a:rPr dirty="0" sz="1600" spc="-5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2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using</a:t>
                      </a:r>
                      <a:r>
                        <a:rPr dirty="0" sz="1600" spc="-7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5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suitable</a:t>
                      </a:r>
                      <a:r>
                        <a:rPr dirty="0" sz="1600" spc="-6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machine </a:t>
                      </a:r>
                      <a:r>
                        <a:rPr dirty="0" sz="16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learning </a:t>
                      </a:r>
                      <a:r>
                        <a:rPr dirty="0" sz="1600" spc="-6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techniques </a:t>
                      </a:r>
                      <a:r>
                        <a:rPr dirty="0" sz="1600" spc="-6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1600" spc="-7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9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detect</a:t>
                      </a:r>
                      <a:r>
                        <a:rPr dirty="0" sz="1600" spc="-6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9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attack</a:t>
                      </a:r>
                      <a:r>
                        <a:rPr dirty="0" sz="1600" spc="-7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5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signatures</a:t>
                      </a:r>
                      <a:r>
                        <a:rPr dirty="0" sz="1600" spc="-6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5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1600" spc="-6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7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identify</a:t>
                      </a:r>
                      <a:r>
                        <a:rPr dirty="0" sz="1600" spc="-7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relevant </a:t>
                      </a:r>
                      <a:r>
                        <a:rPr dirty="0" sz="1600" spc="-7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evidence</a:t>
                      </a:r>
                      <a:r>
                        <a:rPr dirty="0" sz="1600" spc="-5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13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(A5,</a:t>
                      </a:r>
                      <a:r>
                        <a:rPr dirty="0" sz="1600" spc="-17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PLO6)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B="0" marT="3365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600" spc="-4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Assignment </a:t>
                      </a:r>
                      <a:r>
                        <a:rPr dirty="0" sz="16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r>
                        <a:rPr dirty="0" sz="1600" spc="-6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6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(Group)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15"/>
              <a:t> </a:t>
            </a:r>
            <a:r>
              <a:rPr dirty="0" spc="-10"/>
              <a:t>Title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Module</a:t>
            </a:r>
            <a:r>
              <a:rPr dirty="0" spc="90"/>
              <a:t> </a:t>
            </a:r>
            <a:r>
              <a:rPr dirty="0"/>
              <a:t>Code</a:t>
            </a:r>
            <a:r>
              <a:rPr dirty="0" spc="90"/>
              <a:t> </a:t>
            </a:r>
            <a:r>
              <a:rPr dirty="0" spc="-45"/>
              <a:t>&amp;</a:t>
            </a:r>
            <a:r>
              <a:rPr dirty="0" spc="90"/>
              <a:t> </a:t>
            </a:r>
            <a:r>
              <a:rPr dirty="0"/>
              <a:t>Module</a:t>
            </a:r>
            <a:r>
              <a:rPr dirty="0" spc="90"/>
              <a:t> </a:t>
            </a:r>
            <a:r>
              <a:rPr dirty="0" spc="-20"/>
              <a:t>Title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5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90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Module</a:t>
            </a:r>
            <a:r>
              <a:rPr dirty="0" spc="-110"/>
              <a:t> </a:t>
            </a:r>
            <a:r>
              <a:rPr dirty="0" spc="-75"/>
              <a:t>Learning</a:t>
            </a:r>
            <a:r>
              <a:rPr dirty="0" spc="-114"/>
              <a:t> </a:t>
            </a:r>
            <a:r>
              <a:rPr dirty="0" spc="-20"/>
              <a:t>Outcomes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800144" y="2427000"/>
          <a:ext cx="9128125" cy="1150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325"/>
                <a:gridCol w="695325"/>
                <a:gridCol w="695325"/>
                <a:gridCol w="695325"/>
                <a:gridCol w="695325"/>
                <a:gridCol w="695325"/>
                <a:gridCol w="695325"/>
                <a:gridCol w="695325"/>
                <a:gridCol w="695325"/>
                <a:gridCol w="695325"/>
                <a:gridCol w="695325"/>
                <a:gridCol w="695325"/>
                <a:gridCol w="695325"/>
              </a:tblGrid>
              <a:tr h="287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100" spc="-2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PLO</a:t>
                      </a:r>
                      <a:r>
                        <a:rPr dirty="0" sz="1100" spc="-5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1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100" spc="-2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PLO</a:t>
                      </a:r>
                      <a:r>
                        <a:rPr dirty="0" sz="1100" spc="-5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2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100" spc="-2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PLO</a:t>
                      </a:r>
                      <a:r>
                        <a:rPr dirty="0" sz="1100" spc="-5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3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100" spc="-2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PLO</a:t>
                      </a:r>
                      <a:r>
                        <a:rPr dirty="0" sz="1100" spc="-5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4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100" spc="-2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PLO</a:t>
                      </a:r>
                      <a:r>
                        <a:rPr dirty="0" sz="1100" spc="-5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5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100" spc="-2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PLO</a:t>
                      </a:r>
                      <a:r>
                        <a:rPr dirty="0" sz="1100" spc="-5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6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100" spc="-2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PLO</a:t>
                      </a:r>
                      <a:r>
                        <a:rPr dirty="0" sz="1100" spc="-5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7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100" spc="-2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PLO</a:t>
                      </a:r>
                      <a:r>
                        <a:rPr dirty="0" sz="1100" spc="-5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8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100" spc="-2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PLO</a:t>
                      </a:r>
                      <a:r>
                        <a:rPr dirty="0" sz="1100" spc="-5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9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100" spc="-2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PLO</a:t>
                      </a:r>
                      <a:r>
                        <a:rPr dirty="0" sz="1100" spc="-5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10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100" spc="-2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PLO</a:t>
                      </a:r>
                      <a:r>
                        <a:rPr dirty="0" sz="1100" spc="-5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11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100" spc="-1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PLO12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</a:tr>
              <a:tr h="2876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00" spc="-2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CLO1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342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000" spc="-50">
                          <a:solidFill>
                            <a:srgbClr val="082F50"/>
                          </a:solidFill>
                          <a:latin typeface="Wingdings"/>
                          <a:cs typeface="Wingdings"/>
                        </a:rPr>
                        <a:t></a:t>
                      </a:r>
                      <a:endParaRPr sz="1000">
                        <a:latin typeface="Wingdings"/>
                        <a:cs typeface="Wingdings"/>
                      </a:endParaRPr>
                    </a:p>
                  </a:txBody>
                  <a:tcPr marL="0" marR="0" marB="0" marT="6540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</a:tr>
              <a:tr h="2876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100" spc="-2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CLO2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 spc="-50">
                          <a:solidFill>
                            <a:srgbClr val="082F50"/>
                          </a:solidFill>
                          <a:latin typeface="Wingdings"/>
                          <a:cs typeface="Wingdings"/>
                        </a:rPr>
                        <a:t></a:t>
                      </a:r>
                      <a:endParaRPr sz="1000">
                        <a:latin typeface="Wingdings"/>
                        <a:cs typeface="Wingdings"/>
                      </a:endParaRPr>
                    </a:p>
                  </a:txBody>
                  <a:tcPr marL="0" marR="0" marB="0" marT="666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</a:tr>
              <a:tr h="2876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00" spc="-2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CLO3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342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000" spc="-50">
                          <a:solidFill>
                            <a:srgbClr val="082F50"/>
                          </a:solidFill>
                          <a:latin typeface="Wingdings"/>
                          <a:cs typeface="Wingdings"/>
                        </a:rPr>
                        <a:t></a:t>
                      </a:r>
                      <a:endParaRPr sz="1000">
                        <a:latin typeface="Wingdings"/>
                        <a:cs typeface="Wingdings"/>
                      </a:endParaRPr>
                    </a:p>
                  </a:txBody>
                  <a:tcPr marL="0" marR="0" marB="0" marT="654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15"/>
              <a:t> </a:t>
            </a:r>
            <a:r>
              <a:rPr dirty="0" spc="-10"/>
              <a:t>Title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Module</a:t>
            </a:r>
            <a:r>
              <a:rPr dirty="0" spc="90"/>
              <a:t> </a:t>
            </a:r>
            <a:r>
              <a:rPr dirty="0"/>
              <a:t>Code</a:t>
            </a:r>
            <a:r>
              <a:rPr dirty="0" spc="90"/>
              <a:t> </a:t>
            </a:r>
            <a:r>
              <a:rPr dirty="0" spc="-45"/>
              <a:t>&amp;</a:t>
            </a:r>
            <a:r>
              <a:rPr dirty="0" spc="90"/>
              <a:t> </a:t>
            </a:r>
            <a:r>
              <a:rPr dirty="0"/>
              <a:t>Module</a:t>
            </a:r>
            <a:r>
              <a:rPr dirty="0" spc="90"/>
              <a:t> </a:t>
            </a:r>
            <a:r>
              <a:rPr dirty="0" spc="-20"/>
              <a:t>Title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5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90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Mapping</a:t>
            </a:r>
            <a:r>
              <a:rPr dirty="0" spc="-170"/>
              <a:t> </a:t>
            </a:r>
            <a:r>
              <a:rPr dirty="0" spc="-75"/>
              <a:t>of</a:t>
            </a:r>
            <a:r>
              <a:rPr dirty="0" spc="-120"/>
              <a:t> </a:t>
            </a:r>
            <a:r>
              <a:rPr dirty="0"/>
              <a:t>CLO</a:t>
            </a:r>
            <a:r>
              <a:rPr dirty="0" spc="-140"/>
              <a:t> </a:t>
            </a:r>
            <a:r>
              <a:rPr dirty="0" spc="-65"/>
              <a:t>with</a:t>
            </a:r>
            <a:r>
              <a:rPr dirty="0" spc="-130"/>
              <a:t> </a:t>
            </a:r>
            <a:r>
              <a:rPr dirty="0" spc="-25"/>
              <a:t>PLO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997193" y="4242239"/>
            <a:ext cx="1847214" cy="78168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5080">
              <a:lnSpc>
                <a:spcPct val="104400"/>
              </a:lnSpc>
              <a:spcBef>
                <a:spcPts val="35"/>
              </a:spcBef>
            </a:pPr>
            <a:r>
              <a:rPr dirty="0" sz="1200">
                <a:solidFill>
                  <a:srgbClr val="082F50"/>
                </a:solidFill>
                <a:latin typeface="Arial MT"/>
                <a:cs typeface="Arial MT"/>
              </a:rPr>
              <a:t>The</a:t>
            </a:r>
            <a:r>
              <a:rPr dirty="0" sz="1200" spc="85">
                <a:solidFill>
                  <a:srgbClr val="082F5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082F50"/>
                </a:solidFill>
                <a:latin typeface="Arial MT"/>
                <a:cs typeface="Arial MT"/>
              </a:rPr>
              <a:t>learning</a:t>
            </a:r>
            <a:r>
              <a:rPr dirty="0" sz="1200" spc="90">
                <a:solidFill>
                  <a:srgbClr val="082F5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082F50"/>
                </a:solidFill>
                <a:latin typeface="Arial MT"/>
                <a:cs typeface="Arial MT"/>
              </a:rPr>
              <a:t>domains</a:t>
            </a:r>
            <a:r>
              <a:rPr dirty="0" sz="1200" spc="90">
                <a:solidFill>
                  <a:srgbClr val="082F50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082F50"/>
                </a:solidFill>
                <a:latin typeface="Arial MT"/>
                <a:cs typeface="Arial MT"/>
              </a:rPr>
              <a:t>are: </a:t>
            </a:r>
            <a:r>
              <a:rPr dirty="0" sz="1200" b="1">
                <a:solidFill>
                  <a:srgbClr val="082F50"/>
                </a:solidFill>
                <a:latin typeface="Arial"/>
                <a:cs typeface="Arial"/>
              </a:rPr>
              <a:t>PLO2:</a:t>
            </a:r>
            <a:r>
              <a:rPr dirty="0" sz="1200" spc="120" b="1">
                <a:solidFill>
                  <a:srgbClr val="082F5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82F50"/>
                </a:solidFill>
                <a:latin typeface="Arial MT"/>
                <a:cs typeface="Arial MT"/>
              </a:rPr>
              <a:t>Cognitive</a:t>
            </a:r>
            <a:r>
              <a:rPr dirty="0" sz="1200" spc="120">
                <a:solidFill>
                  <a:srgbClr val="082F50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082F50"/>
                </a:solidFill>
                <a:latin typeface="Arial MT"/>
                <a:cs typeface="Arial MT"/>
              </a:rPr>
              <a:t>Skills </a:t>
            </a:r>
            <a:r>
              <a:rPr dirty="0" sz="1200" b="1">
                <a:solidFill>
                  <a:srgbClr val="082F50"/>
                </a:solidFill>
                <a:latin typeface="Arial"/>
                <a:cs typeface="Arial"/>
              </a:rPr>
              <a:t>PLO6:</a:t>
            </a:r>
            <a:r>
              <a:rPr dirty="0" sz="1200" spc="105" b="1">
                <a:solidFill>
                  <a:srgbClr val="082F5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82F50"/>
                </a:solidFill>
                <a:latin typeface="Arial MT"/>
                <a:cs typeface="Arial MT"/>
              </a:rPr>
              <a:t>Digital</a:t>
            </a:r>
            <a:r>
              <a:rPr dirty="0" sz="1200" spc="95">
                <a:solidFill>
                  <a:srgbClr val="082F50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082F50"/>
                </a:solidFill>
                <a:latin typeface="Arial MT"/>
                <a:cs typeface="Arial MT"/>
              </a:rPr>
              <a:t>Skills</a:t>
            </a:r>
            <a:r>
              <a:rPr dirty="0" sz="1200" spc="500">
                <a:solidFill>
                  <a:srgbClr val="082F50"/>
                </a:solidFill>
                <a:latin typeface="Arial MT"/>
                <a:cs typeface="Arial MT"/>
              </a:rPr>
              <a:t> </a:t>
            </a:r>
            <a:r>
              <a:rPr dirty="0" sz="1200" b="1">
                <a:solidFill>
                  <a:srgbClr val="082F50"/>
                </a:solidFill>
                <a:latin typeface="Arial"/>
                <a:cs typeface="Arial"/>
              </a:rPr>
              <a:t>PLO7</a:t>
            </a:r>
            <a:r>
              <a:rPr dirty="0" sz="1200">
                <a:solidFill>
                  <a:srgbClr val="082F50"/>
                </a:solidFill>
                <a:latin typeface="Arial MT"/>
                <a:cs typeface="Arial MT"/>
              </a:rPr>
              <a:t>:</a:t>
            </a:r>
            <a:r>
              <a:rPr dirty="0" sz="1200" spc="114">
                <a:solidFill>
                  <a:srgbClr val="082F5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082F50"/>
                </a:solidFill>
                <a:latin typeface="Arial MT"/>
                <a:cs typeface="Arial MT"/>
              </a:rPr>
              <a:t>Numeracy</a:t>
            </a:r>
            <a:r>
              <a:rPr dirty="0" sz="1200" spc="125">
                <a:solidFill>
                  <a:srgbClr val="082F50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082F50"/>
                </a:solidFill>
                <a:latin typeface="Arial MT"/>
                <a:cs typeface="Arial MT"/>
              </a:rPr>
              <a:t>Skills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8629" y="1931436"/>
            <a:ext cx="4456430" cy="75692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700"/>
              </a:spcBef>
              <a:buChar char="•"/>
              <a:tabLst>
                <a:tab pos="278130" algn="l"/>
              </a:tabLst>
            </a:pP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Module</a:t>
            </a:r>
            <a:r>
              <a:rPr dirty="0" sz="1900" spc="-2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50">
                <a:solidFill>
                  <a:srgbClr val="082F50"/>
                </a:solidFill>
                <a:latin typeface="Trebuchet MS"/>
                <a:cs typeface="Trebuchet MS"/>
              </a:rPr>
              <a:t>Credit</a:t>
            </a:r>
            <a:r>
              <a:rPr dirty="0" sz="1900" spc="-2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75">
                <a:solidFill>
                  <a:srgbClr val="082F50"/>
                </a:solidFill>
                <a:latin typeface="Trebuchet MS"/>
                <a:cs typeface="Trebuchet MS"/>
              </a:rPr>
              <a:t>Value:</a:t>
            </a:r>
            <a:r>
              <a:rPr dirty="0" sz="1900" spc="-3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50">
                <a:solidFill>
                  <a:srgbClr val="082F50"/>
                </a:solidFill>
                <a:latin typeface="Trebuchet MS"/>
                <a:cs typeface="Trebuchet MS"/>
              </a:rPr>
              <a:t>3</a:t>
            </a:r>
            <a:endParaRPr sz="1900">
              <a:latin typeface="Trebuchet MS"/>
              <a:cs typeface="Trebuchet MS"/>
            </a:endParaRPr>
          </a:p>
          <a:p>
            <a:pPr marL="278130" indent="-265430">
              <a:lnSpc>
                <a:spcPct val="100000"/>
              </a:lnSpc>
              <a:spcBef>
                <a:spcPts val="600"/>
              </a:spcBef>
              <a:buChar char="•"/>
              <a:tabLst>
                <a:tab pos="278130" algn="l"/>
              </a:tabLst>
            </a:pPr>
            <a:r>
              <a:rPr dirty="0" sz="1900" spc="-25">
                <a:solidFill>
                  <a:srgbClr val="082F50"/>
                </a:solidFill>
                <a:latin typeface="Trebuchet MS"/>
                <a:cs typeface="Trebuchet MS"/>
              </a:rPr>
              <a:t>Total</a:t>
            </a:r>
            <a:r>
              <a:rPr dirty="0" sz="1900" spc="-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Learning</a:t>
            </a:r>
            <a:r>
              <a:rPr dirty="0" sz="1900" spc="-5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35">
                <a:solidFill>
                  <a:srgbClr val="082F50"/>
                </a:solidFill>
                <a:latin typeface="Trebuchet MS"/>
                <a:cs typeface="Trebuchet MS"/>
              </a:rPr>
              <a:t>Hours:</a:t>
            </a:r>
            <a:r>
              <a:rPr dirty="0" sz="19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120</a:t>
            </a:r>
            <a:r>
              <a:rPr dirty="0" sz="19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50">
                <a:solidFill>
                  <a:srgbClr val="082F50"/>
                </a:solidFill>
                <a:latin typeface="Trebuchet MS"/>
                <a:cs typeface="Trebuchet MS"/>
              </a:rPr>
              <a:t>per</a:t>
            </a:r>
            <a:r>
              <a:rPr dirty="0" sz="19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semester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15"/>
              <a:t> </a:t>
            </a:r>
            <a:r>
              <a:rPr dirty="0" spc="-10"/>
              <a:t>Title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Module</a:t>
            </a:r>
            <a:r>
              <a:rPr dirty="0" spc="90"/>
              <a:t> </a:t>
            </a:r>
            <a:r>
              <a:rPr dirty="0"/>
              <a:t>Code</a:t>
            </a:r>
            <a:r>
              <a:rPr dirty="0" spc="90"/>
              <a:t> </a:t>
            </a:r>
            <a:r>
              <a:rPr dirty="0" spc="-45"/>
              <a:t>&amp;</a:t>
            </a:r>
            <a:r>
              <a:rPr dirty="0" spc="90"/>
              <a:t> </a:t>
            </a:r>
            <a:r>
              <a:rPr dirty="0"/>
              <a:t>Module</a:t>
            </a:r>
            <a:r>
              <a:rPr dirty="0" spc="90"/>
              <a:t> </a:t>
            </a:r>
            <a:r>
              <a:rPr dirty="0" spc="-20"/>
              <a:t>Title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5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0720" y="899028"/>
            <a:ext cx="3584575" cy="376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Student</a:t>
            </a:r>
            <a:r>
              <a:rPr dirty="0" spc="-110"/>
              <a:t> </a:t>
            </a:r>
            <a:r>
              <a:rPr dirty="0" spc="-65"/>
              <a:t>Learning</a:t>
            </a:r>
            <a:r>
              <a:rPr dirty="0" spc="-95"/>
              <a:t> </a:t>
            </a:r>
            <a:r>
              <a:rPr dirty="0" spc="-40"/>
              <a:t>Time</a:t>
            </a: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2206227" y="3464163"/>
          <a:ext cx="4820285" cy="2013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5375"/>
                <a:gridCol w="2365375"/>
              </a:tblGrid>
              <a:tr h="2876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Lecture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18</a:t>
                      </a:r>
                      <a:r>
                        <a:rPr dirty="0" sz="1000" spc="4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hours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</a:tr>
              <a:tr h="2876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0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Tutorial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0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r>
                        <a:rPr dirty="0" sz="1000" spc="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hours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</a:tr>
              <a:tr h="2876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Practical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24</a:t>
                      </a:r>
                      <a:r>
                        <a:rPr dirty="0" sz="1000" spc="4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hours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</a:tr>
              <a:tr h="2876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Others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r>
                        <a:rPr dirty="0" sz="1000" spc="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hours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</a:tr>
              <a:tr h="2876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Independent</a:t>
                      </a:r>
                      <a:r>
                        <a:rPr dirty="0" sz="1000" spc="-3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Learning</a:t>
                      </a:r>
                      <a:r>
                        <a:rPr dirty="0" sz="10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2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Time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76</a:t>
                      </a:r>
                      <a:r>
                        <a:rPr dirty="0" sz="1000" spc="4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hours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</a:tr>
              <a:tr h="2876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Assessment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r>
                        <a:rPr dirty="0" sz="1000" spc="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hours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</a:tr>
              <a:tr h="287655">
                <a:tc>
                  <a:txBody>
                    <a:bodyPr/>
                    <a:lstStyle/>
                    <a:p>
                      <a:pPr marL="1108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Total</a:t>
                      </a:r>
                      <a:r>
                        <a:rPr dirty="0" sz="1000" spc="-5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Learning</a:t>
                      </a:r>
                      <a:r>
                        <a:rPr dirty="0" sz="1000" spc="-3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2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Hours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3619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120</a:t>
                      </a:r>
                      <a:r>
                        <a:rPr dirty="0" sz="1000" spc="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hours</a:t>
                      </a:r>
                      <a:r>
                        <a:rPr dirty="0" sz="1000" spc="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2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per</a:t>
                      </a:r>
                      <a:r>
                        <a:rPr dirty="0" sz="1000" spc="-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semester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3619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8545" y="1401948"/>
            <a:ext cx="3762375" cy="376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Module</a:t>
            </a:r>
            <a:r>
              <a:rPr dirty="0" spc="-140"/>
              <a:t> </a:t>
            </a:r>
            <a:r>
              <a:rPr dirty="0" spc="-35"/>
              <a:t>Content</a:t>
            </a:r>
            <a:r>
              <a:rPr dirty="0" spc="-155"/>
              <a:t> </a:t>
            </a:r>
            <a:r>
              <a:rPr dirty="0" spc="-35"/>
              <a:t>Outline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15"/>
              <a:t> </a:t>
            </a:r>
            <a:r>
              <a:rPr dirty="0" spc="-10"/>
              <a:t>Title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Module</a:t>
            </a:r>
            <a:r>
              <a:rPr dirty="0" spc="90"/>
              <a:t> </a:t>
            </a:r>
            <a:r>
              <a:rPr dirty="0"/>
              <a:t>Code</a:t>
            </a:r>
            <a:r>
              <a:rPr dirty="0" spc="90"/>
              <a:t> </a:t>
            </a:r>
            <a:r>
              <a:rPr dirty="0" spc="-45"/>
              <a:t>&amp;</a:t>
            </a:r>
            <a:r>
              <a:rPr dirty="0" spc="90"/>
              <a:t> </a:t>
            </a:r>
            <a:r>
              <a:rPr dirty="0"/>
              <a:t>Module</a:t>
            </a:r>
            <a:r>
              <a:rPr dirty="0" spc="90"/>
              <a:t> </a:t>
            </a:r>
            <a:r>
              <a:rPr dirty="0" spc="-20"/>
              <a:t>Title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5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485116" y="1885924"/>
          <a:ext cx="7402830" cy="4267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8745"/>
                <a:gridCol w="5923914"/>
              </a:tblGrid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400" spc="-2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Week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95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400" spc="-1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Topic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400" spc="-5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619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Machine</a:t>
                      </a: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Learning</a:t>
                      </a: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Methods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619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400" spc="-5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Machine</a:t>
                      </a:r>
                      <a:r>
                        <a:rPr dirty="0" sz="1400" spc="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Learning</a:t>
                      </a:r>
                      <a:r>
                        <a:rPr dirty="0" sz="1400" spc="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Model</a:t>
                      </a:r>
                      <a:r>
                        <a:rPr dirty="0" sz="1400" spc="1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Logic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5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429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Machine</a:t>
                      </a: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Learning</a:t>
                      </a: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Pipeline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429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Preprocessing</a:t>
                      </a:r>
                      <a:r>
                        <a:rPr dirty="0" sz="1400" spc="-3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dirty="0" sz="1400" spc="-4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Machine</a:t>
                      </a:r>
                      <a:r>
                        <a:rPr dirty="0" sz="1400" spc="-3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Learning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Machine</a:t>
                      </a: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Learning</a:t>
                      </a: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Performance</a:t>
                      </a: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Evaluation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400" spc="-5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6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Machine</a:t>
                      </a:r>
                      <a:r>
                        <a:rPr dirty="0" sz="1400" spc="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3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Learning:</a:t>
                      </a:r>
                      <a:r>
                        <a:rPr dirty="0" sz="1400" spc="-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Algorithms</a:t>
                      </a:r>
                      <a:r>
                        <a:rPr dirty="0" sz="1400" spc="-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in </a:t>
                      </a:r>
                      <a:r>
                        <a:rPr dirty="0" sz="14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Practice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400" spc="-5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619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Model</a:t>
                      </a:r>
                      <a:r>
                        <a:rPr dirty="0" sz="1400" spc="1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Optimisation</a:t>
                      </a:r>
                      <a:r>
                        <a:rPr dirty="0" sz="1400" spc="2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Strategies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619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400" spc="-5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8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Assignment</a:t>
                      </a:r>
                      <a:r>
                        <a:rPr dirty="0" sz="1400" spc="6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Briefing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400" spc="-5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9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Model</a:t>
                      </a:r>
                      <a:r>
                        <a:rPr dirty="0" sz="1400" spc="1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Selection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10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Machine</a:t>
                      </a:r>
                      <a:r>
                        <a:rPr dirty="0" sz="14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3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Learning:</a:t>
                      </a:r>
                      <a:r>
                        <a:rPr dirty="0" sz="1400" spc="-1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Review</a:t>
                      </a: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14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&amp;</a:t>
                      </a: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Revision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11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Deep</a:t>
                      </a:r>
                      <a:r>
                        <a:rPr dirty="0" sz="14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Learning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12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Natural</a:t>
                      </a:r>
                      <a:r>
                        <a:rPr dirty="0" sz="1400" spc="-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Language</a:t>
                      </a:r>
                      <a:r>
                        <a:rPr dirty="0" sz="1400" spc="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Processing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00B0F0"/>
                      </a:solidFill>
                      <a:prstDash val="solid"/>
                    </a:lnL>
                    <a:lnR w="19050">
                      <a:solidFill>
                        <a:srgbClr val="00B0F0"/>
                      </a:solidFill>
                      <a:prstDash val="solid"/>
                    </a:lnR>
                    <a:lnT w="19050">
                      <a:solidFill>
                        <a:srgbClr val="00B0F0"/>
                      </a:solidFill>
                      <a:prstDash val="solid"/>
                    </a:lnT>
                    <a:lnB w="19050">
                      <a:solidFill>
                        <a:srgbClr val="00B0F0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90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5"/>
              <a:t>Assessment</a:t>
            </a:r>
            <a:r>
              <a:rPr dirty="0" spc="-45"/>
              <a:t> </a:t>
            </a:r>
            <a:r>
              <a:rPr dirty="0" spc="-95"/>
              <a:t>Summary</a:t>
            </a:r>
            <a:r>
              <a:rPr dirty="0" spc="-30"/>
              <a:t> </a:t>
            </a:r>
            <a:r>
              <a:rPr dirty="0" sz="1200" spc="-30" b="0">
                <a:latin typeface="Verdana"/>
                <a:cs typeface="Verdana"/>
              </a:rPr>
              <a:t>(refer</a:t>
            </a:r>
            <a:r>
              <a:rPr dirty="0" sz="1200" spc="-50" b="0">
                <a:latin typeface="Verdana"/>
                <a:cs typeface="Verdana"/>
              </a:rPr>
              <a:t> </a:t>
            </a:r>
            <a:r>
              <a:rPr dirty="0" sz="1200" b="0">
                <a:latin typeface="Verdana"/>
                <a:cs typeface="Verdana"/>
              </a:rPr>
              <a:t>to</a:t>
            </a:r>
            <a:r>
              <a:rPr dirty="0" sz="1200" spc="-35" b="0">
                <a:latin typeface="Verdana"/>
                <a:cs typeface="Verdana"/>
              </a:rPr>
              <a:t> </a:t>
            </a:r>
            <a:r>
              <a:rPr dirty="0" sz="1200" spc="55" b="0">
                <a:latin typeface="Verdana"/>
                <a:cs typeface="Verdana"/>
              </a:rPr>
              <a:t>module</a:t>
            </a:r>
            <a:r>
              <a:rPr dirty="0" sz="1200" spc="-35" b="0">
                <a:latin typeface="Verdana"/>
                <a:cs typeface="Verdana"/>
              </a:rPr>
              <a:t> </a:t>
            </a:r>
            <a:r>
              <a:rPr dirty="0" sz="1200" spc="50" b="0">
                <a:latin typeface="Verdana"/>
                <a:cs typeface="Verdana"/>
              </a:rPr>
              <a:t>handbook</a:t>
            </a:r>
            <a:r>
              <a:rPr dirty="0" sz="1200" spc="-25" b="0">
                <a:latin typeface="Verdana"/>
                <a:cs typeface="Verdana"/>
              </a:rPr>
              <a:t> </a:t>
            </a:r>
            <a:r>
              <a:rPr dirty="0" sz="1200" b="0">
                <a:latin typeface="Verdana"/>
                <a:cs typeface="Verdana"/>
              </a:rPr>
              <a:t>and</a:t>
            </a:r>
            <a:r>
              <a:rPr dirty="0" sz="1200" spc="-35" b="0">
                <a:latin typeface="Verdana"/>
                <a:cs typeface="Verdana"/>
              </a:rPr>
              <a:t> </a:t>
            </a:r>
            <a:r>
              <a:rPr dirty="0" sz="1200" spc="55" b="0">
                <a:latin typeface="Verdana"/>
                <a:cs typeface="Verdana"/>
              </a:rPr>
              <a:t>module</a:t>
            </a:r>
            <a:r>
              <a:rPr dirty="0" sz="1200" spc="-35" b="0">
                <a:latin typeface="Verdana"/>
                <a:cs typeface="Verdana"/>
              </a:rPr>
              <a:t> </a:t>
            </a:r>
            <a:r>
              <a:rPr dirty="0" sz="1200" spc="-10" b="0">
                <a:latin typeface="Verdana"/>
                <a:cs typeface="Verdana"/>
              </a:rPr>
              <a:t>descriptor)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15"/>
              <a:t> </a:t>
            </a:r>
            <a:r>
              <a:rPr dirty="0" spc="-10"/>
              <a:t>Title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Module</a:t>
            </a:r>
            <a:r>
              <a:rPr dirty="0" spc="90"/>
              <a:t> </a:t>
            </a:r>
            <a:r>
              <a:rPr dirty="0"/>
              <a:t>Code</a:t>
            </a:r>
            <a:r>
              <a:rPr dirty="0" spc="90"/>
              <a:t> </a:t>
            </a:r>
            <a:r>
              <a:rPr dirty="0" spc="-45"/>
              <a:t>&amp;</a:t>
            </a:r>
            <a:r>
              <a:rPr dirty="0" spc="90"/>
              <a:t> </a:t>
            </a:r>
            <a:r>
              <a:rPr dirty="0"/>
              <a:t>Module</a:t>
            </a:r>
            <a:r>
              <a:rPr dirty="0" spc="90"/>
              <a:t> </a:t>
            </a:r>
            <a:r>
              <a:rPr dirty="0" spc="-20"/>
              <a:t>Title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5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065819" y="2035059"/>
          <a:ext cx="7360920" cy="1775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8405"/>
                <a:gridCol w="2261870"/>
                <a:gridCol w="1448435"/>
                <a:gridCol w="1546860"/>
                <a:gridCol w="805815"/>
              </a:tblGrid>
              <a:tr h="524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400" spc="-7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Form</a:t>
                      </a:r>
                      <a:r>
                        <a:rPr dirty="0" sz="1400" spc="-35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1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Assessment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619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400" spc="-3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Assessment</a:t>
                      </a:r>
                      <a:r>
                        <a:rPr dirty="0" sz="1400" spc="-5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Methods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619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400" spc="-4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Hand</a:t>
                      </a:r>
                      <a:r>
                        <a:rPr dirty="0" sz="1400" spc="-55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45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Out</a:t>
                      </a:r>
                      <a:r>
                        <a:rPr dirty="0" sz="1400" spc="-55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Date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619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400" spc="-4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Hand</a:t>
                      </a:r>
                      <a:r>
                        <a:rPr dirty="0" sz="1400" spc="-7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dirty="0" sz="1400" spc="-6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Date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619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400" spc="16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%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3619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</a:tr>
              <a:tr h="638810">
                <a:tc>
                  <a:txBody>
                    <a:bodyPr/>
                    <a:lstStyle/>
                    <a:p>
                      <a:pPr marL="211454" marR="206375" indent="9525">
                        <a:lnSpc>
                          <a:spcPct val="103299"/>
                        </a:lnSpc>
                        <a:spcBef>
                          <a:spcPts val="240"/>
                        </a:spcBef>
                      </a:pPr>
                      <a:r>
                        <a:rPr dirty="0" sz="12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Continuous Assessment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3048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2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Assignment: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  <a:p>
                      <a:pPr marL="42545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2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Individual</a:t>
                      </a:r>
                      <a:r>
                        <a:rPr dirty="0" sz="1200" spc="-9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35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dirty="0" sz="1200" spc="-7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7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50%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  <a:p>
                      <a:pPr marL="4254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2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Group</a:t>
                      </a:r>
                      <a:r>
                        <a:rPr dirty="0" sz="1200" spc="-9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35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dirty="0" sz="1200" spc="-9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7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20%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361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2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8</a:t>
                      </a:r>
                      <a:r>
                        <a:rPr dirty="0" baseline="27777" sz="12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th</a:t>
                      </a:r>
                      <a:r>
                        <a:rPr dirty="0" baseline="27777" sz="1200" spc="157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Week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361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2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12</a:t>
                      </a:r>
                      <a:r>
                        <a:rPr dirty="0" baseline="27777" sz="12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th</a:t>
                      </a:r>
                      <a:r>
                        <a:rPr dirty="0" baseline="27777" sz="1200" spc="232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Week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361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200" spc="7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70%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361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 marL="211454" marR="206375" indent="224154">
                        <a:lnSpc>
                          <a:spcPct val="105000"/>
                        </a:lnSpc>
                        <a:spcBef>
                          <a:spcPts val="200"/>
                        </a:spcBef>
                      </a:pPr>
                      <a:r>
                        <a:rPr dirty="0" sz="12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Final Assessment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2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Class</a:t>
                      </a:r>
                      <a:r>
                        <a:rPr dirty="0" sz="1200" spc="1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Test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342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2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11</a:t>
                      </a:r>
                      <a:r>
                        <a:rPr dirty="0" baseline="27777" sz="12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th</a:t>
                      </a:r>
                      <a:r>
                        <a:rPr dirty="0" baseline="27777" sz="1200" spc="232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week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342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2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11</a:t>
                      </a:r>
                      <a:r>
                        <a:rPr dirty="0" baseline="27777" sz="12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th</a:t>
                      </a:r>
                      <a:r>
                        <a:rPr dirty="0" baseline="27777" sz="1200" spc="232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week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342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200" spc="7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30%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342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1054432" y="4256547"/>
            <a:ext cx="8851900" cy="56197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400" spc="-55" b="1">
                <a:solidFill>
                  <a:srgbClr val="082F50"/>
                </a:solidFill>
                <a:latin typeface="Trebuchet MS"/>
                <a:cs typeface="Trebuchet MS"/>
              </a:rPr>
              <a:t>Assessment</a:t>
            </a:r>
            <a:r>
              <a:rPr dirty="0" sz="1400" spc="-40" b="1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082F50"/>
                </a:solidFill>
                <a:latin typeface="Trebuchet MS"/>
                <a:cs typeface="Trebuchet MS"/>
              </a:rPr>
              <a:t>requirement</a:t>
            </a:r>
            <a:r>
              <a:rPr dirty="0" sz="1400" spc="-10">
                <a:solidFill>
                  <a:srgbClr val="082F50"/>
                </a:solidFill>
                <a:latin typeface="Trebuchet MS"/>
                <a:cs typeface="Trebuchet MS"/>
              </a:rPr>
              <a:t>: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400">
                <a:solidFill>
                  <a:srgbClr val="082F50"/>
                </a:solidFill>
                <a:latin typeface="Trebuchet MS"/>
                <a:cs typeface="Trebuchet MS"/>
              </a:rPr>
              <a:t>To</a:t>
            </a:r>
            <a:r>
              <a:rPr dirty="0" sz="14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082F50"/>
                </a:solidFill>
                <a:latin typeface="Trebuchet MS"/>
                <a:cs typeface="Trebuchet MS"/>
              </a:rPr>
              <a:t>pass</a:t>
            </a:r>
            <a:r>
              <a:rPr dirty="0" sz="14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400" spc="-45">
                <a:solidFill>
                  <a:srgbClr val="082F50"/>
                </a:solidFill>
                <a:latin typeface="Trebuchet MS"/>
                <a:cs typeface="Trebuchet MS"/>
              </a:rPr>
              <a:t>the</a:t>
            </a:r>
            <a:r>
              <a:rPr dirty="0" sz="14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400" spc="-65">
                <a:solidFill>
                  <a:srgbClr val="082F50"/>
                </a:solidFill>
                <a:latin typeface="Trebuchet MS"/>
                <a:cs typeface="Trebuchet MS"/>
              </a:rPr>
              <a:t>module,</a:t>
            </a:r>
            <a:r>
              <a:rPr dirty="0" sz="1400" spc="-5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082F50"/>
                </a:solidFill>
                <a:latin typeface="Trebuchet MS"/>
                <a:cs typeface="Trebuchet MS"/>
              </a:rPr>
              <a:t>you</a:t>
            </a:r>
            <a:r>
              <a:rPr dirty="0" sz="1400" spc="-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082F50"/>
                </a:solidFill>
                <a:latin typeface="Trebuchet MS"/>
                <a:cs typeface="Trebuchet MS"/>
              </a:rPr>
              <a:t>must</a:t>
            </a:r>
            <a:r>
              <a:rPr dirty="0" sz="1400" spc="-5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400" spc="-65">
                <a:solidFill>
                  <a:srgbClr val="082F50"/>
                </a:solidFill>
                <a:latin typeface="Trebuchet MS"/>
                <a:cs typeface="Trebuchet MS"/>
              </a:rPr>
              <a:t>attempt</a:t>
            </a:r>
            <a:r>
              <a:rPr dirty="0" sz="1400" spc="-4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400" spc="-55">
                <a:solidFill>
                  <a:srgbClr val="082F50"/>
                </a:solidFill>
                <a:latin typeface="Trebuchet MS"/>
                <a:cs typeface="Trebuchet MS"/>
              </a:rPr>
              <a:t>every </a:t>
            </a:r>
            <a:r>
              <a:rPr dirty="0" sz="1400" spc="-40">
                <a:solidFill>
                  <a:srgbClr val="082F50"/>
                </a:solidFill>
                <a:latin typeface="Trebuchet MS"/>
                <a:cs typeface="Trebuchet MS"/>
              </a:rPr>
              <a:t>element</a:t>
            </a:r>
            <a:r>
              <a:rPr dirty="0" sz="1400" spc="-5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400" spc="-30">
                <a:solidFill>
                  <a:srgbClr val="082F50"/>
                </a:solidFill>
                <a:latin typeface="Trebuchet MS"/>
                <a:cs typeface="Trebuchet MS"/>
              </a:rPr>
              <a:t>of</a:t>
            </a:r>
            <a:r>
              <a:rPr dirty="0" sz="1400" spc="-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082F50"/>
                </a:solidFill>
                <a:latin typeface="Trebuchet MS"/>
                <a:cs typeface="Trebuchet MS"/>
              </a:rPr>
              <a:t>assessment</a:t>
            </a:r>
            <a:r>
              <a:rPr dirty="0" sz="1400" spc="-4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082F50"/>
                </a:solidFill>
                <a:latin typeface="Trebuchet MS"/>
                <a:cs typeface="Trebuchet MS"/>
              </a:rPr>
              <a:t>and</a:t>
            </a:r>
            <a:r>
              <a:rPr dirty="0" sz="14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400" spc="-35">
                <a:solidFill>
                  <a:srgbClr val="082F50"/>
                </a:solidFill>
                <a:latin typeface="Trebuchet MS"/>
                <a:cs typeface="Trebuchet MS"/>
              </a:rPr>
              <a:t>achieve</a:t>
            </a:r>
            <a:r>
              <a:rPr dirty="0" sz="14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400" spc="-65">
                <a:solidFill>
                  <a:srgbClr val="082F50"/>
                </a:solidFill>
                <a:latin typeface="Trebuchet MS"/>
                <a:cs typeface="Trebuchet MS"/>
              </a:rPr>
              <a:t>at</a:t>
            </a:r>
            <a:r>
              <a:rPr dirty="0" sz="1400" spc="-4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400" spc="-30">
                <a:solidFill>
                  <a:srgbClr val="082F50"/>
                </a:solidFill>
                <a:latin typeface="Trebuchet MS"/>
                <a:cs typeface="Trebuchet MS"/>
              </a:rPr>
              <a:t>least</a:t>
            </a:r>
            <a:r>
              <a:rPr dirty="0" sz="1400" spc="-5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400" spc="95">
                <a:solidFill>
                  <a:srgbClr val="082F50"/>
                </a:solidFill>
                <a:latin typeface="Trebuchet MS"/>
                <a:cs typeface="Trebuchet MS"/>
              </a:rPr>
              <a:t>50%</a:t>
            </a:r>
            <a:r>
              <a:rPr dirty="0" sz="14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082F50"/>
                </a:solidFill>
                <a:latin typeface="Trebuchet MS"/>
                <a:cs typeface="Trebuchet MS"/>
              </a:rPr>
              <a:t>in</a:t>
            </a:r>
            <a:r>
              <a:rPr dirty="0" sz="14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400" spc="-45">
                <a:solidFill>
                  <a:srgbClr val="082F50"/>
                </a:solidFill>
                <a:latin typeface="Trebuchet MS"/>
                <a:cs typeface="Trebuchet MS"/>
              </a:rPr>
              <a:t>the</a:t>
            </a:r>
            <a:r>
              <a:rPr dirty="0" sz="1400" spc="-5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082F50"/>
                </a:solidFill>
                <a:latin typeface="Trebuchet MS"/>
                <a:cs typeface="Trebuchet MS"/>
              </a:rPr>
              <a:t>module</a:t>
            </a:r>
            <a:r>
              <a:rPr dirty="0" sz="14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082F50"/>
                </a:solidFill>
                <a:latin typeface="Trebuchet MS"/>
                <a:cs typeface="Trebuchet MS"/>
              </a:rPr>
              <a:t>overall.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8629" y="1969533"/>
            <a:ext cx="8816340" cy="302514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385"/>
              </a:spcBef>
              <a:buAutoNum type="arabicPeriod"/>
              <a:tabLst>
                <a:tab pos="367030" algn="l"/>
              </a:tabLst>
            </a:pPr>
            <a:r>
              <a:rPr dirty="0" sz="1600" spc="-60">
                <a:solidFill>
                  <a:srgbClr val="082F50"/>
                </a:solidFill>
                <a:latin typeface="Trebuchet MS"/>
                <a:cs typeface="Trebuchet MS"/>
              </a:rPr>
              <a:t>Abide</a:t>
            </a:r>
            <a:r>
              <a:rPr dirty="0" sz="1600" spc="-8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55">
                <a:solidFill>
                  <a:srgbClr val="082F50"/>
                </a:solidFill>
                <a:latin typeface="Trebuchet MS"/>
                <a:cs typeface="Trebuchet MS"/>
              </a:rPr>
              <a:t>by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082F50"/>
                </a:solidFill>
                <a:latin typeface="Trebuchet MS"/>
                <a:cs typeface="Trebuchet MS"/>
              </a:rPr>
              <a:t>ALL</a:t>
            </a:r>
            <a:r>
              <a:rPr dirty="0" sz="1600" spc="-8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50">
                <a:solidFill>
                  <a:srgbClr val="082F50"/>
                </a:solidFill>
                <a:latin typeface="Trebuchet MS"/>
                <a:cs typeface="Trebuchet MS"/>
              </a:rPr>
              <a:t>rules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55">
                <a:solidFill>
                  <a:srgbClr val="082F50"/>
                </a:solidFill>
                <a:latin typeface="Trebuchet MS"/>
                <a:cs typeface="Trebuchet MS"/>
              </a:rPr>
              <a:t>and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50">
                <a:solidFill>
                  <a:srgbClr val="082F50"/>
                </a:solidFill>
                <a:latin typeface="Trebuchet MS"/>
                <a:cs typeface="Trebuchet MS"/>
              </a:rPr>
              <a:t>regulations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 of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082F50"/>
                </a:solidFill>
                <a:latin typeface="Trebuchet MS"/>
                <a:cs typeface="Trebuchet MS"/>
              </a:rPr>
              <a:t>APU.</a:t>
            </a:r>
            <a:endParaRPr sz="1600">
              <a:latin typeface="Trebuchet MS"/>
              <a:cs typeface="Trebuchet MS"/>
            </a:endParaRPr>
          </a:p>
          <a:p>
            <a:pPr marL="367030" indent="-354330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367030" algn="l"/>
              </a:tabLst>
            </a:pP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Proper</a:t>
            </a:r>
            <a:r>
              <a:rPr dirty="0" sz="1600" spc="-8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082F50"/>
                </a:solidFill>
                <a:latin typeface="Trebuchet MS"/>
                <a:cs typeface="Trebuchet MS"/>
              </a:rPr>
              <a:t>attire.</a:t>
            </a:r>
            <a:endParaRPr sz="1600">
              <a:latin typeface="Trebuchet MS"/>
              <a:cs typeface="Trebuchet MS"/>
            </a:endParaRPr>
          </a:p>
          <a:p>
            <a:pPr marL="367030" indent="-354330">
              <a:lnSpc>
                <a:spcPct val="100000"/>
              </a:lnSpc>
              <a:spcBef>
                <a:spcPts val="384"/>
              </a:spcBef>
              <a:buAutoNum type="arabicPeriod"/>
              <a:tabLst>
                <a:tab pos="367030" algn="l"/>
              </a:tabLst>
            </a:pPr>
            <a:r>
              <a:rPr dirty="0" sz="1600">
                <a:solidFill>
                  <a:srgbClr val="082F50"/>
                </a:solidFill>
                <a:latin typeface="Trebuchet MS"/>
                <a:cs typeface="Trebuchet MS"/>
              </a:rPr>
              <a:t>No</a:t>
            </a:r>
            <a:r>
              <a:rPr dirty="0" sz="1600" spc="-8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45">
                <a:solidFill>
                  <a:srgbClr val="082F50"/>
                </a:solidFill>
                <a:latin typeface="Trebuchet MS"/>
                <a:cs typeface="Trebuchet MS"/>
              </a:rPr>
              <a:t>speaking</a:t>
            </a:r>
            <a:r>
              <a:rPr dirty="0" sz="1600" spc="-8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of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dialects</a:t>
            </a:r>
            <a:r>
              <a:rPr dirty="0" sz="1600" spc="-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40">
                <a:solidFill>
                  <a:srgbClr val="082F50"/>
                </a:solidFill>
                <a:latin typeface="Trebuchet MS"/>
                <a:cs typeface="Trebuchet MS"/>
              </a:rPr>
              <a:t>during</a:t>
            </a:r>
            <a:r>
              <a:rPr dirty="0" sz="1600" spc="-8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082F50"/>
                </a:solidFill>
                <a:latin typeface="Trebuchet MS"/>
                <a:cs typeface="Trebuchet MS"/>
              </a:rPr>
              <a:t>class.</a:t>
            </a:r>
            <a:endParaRPr sz="1600">
              <a:latin typeface="Trebuchet MS"/>
              <a:cs typeface="Trebuchet MS"/>
            </a:endParaRPr>
          </a:p>
          <a:p>
            <a:pPr marL="367030" indent="-354330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367030" algn="l"/>
              </a:tabLst>
            </a:pP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Attendance</a:t>
            </a:r>
            <a:r>
              <a:rPr dirty="0" sz="1600" spc="-8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082F50"/>
                </a:solidFill>
                <a:latin typeface="Trebuchet MS"/>
                <a:cs typeface="Trebuchet MS"/>
              </a:rPr>
              <a:t>is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compulsory.</a:t>
            </a:r>
            <a:r>
              <a:rPr dirty="0" sz="16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50">
                <a:solidFill>
                  <a:srgbClr val="082F50"/>
                </a:solidFill>
                <a:latin typeface="Trebuchet MS"/>
                <a:cs typeface="Trebuchet MS"/>
              </a:rPr>
              <a:t>Valid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45">
                <a:solidFill>
                  <a:srgbClr val="082F50"/>
                </a:solidFill>
                <a:latin typeface="Trebuchet MS"/>
                <a:cs typeface="Trebuchet MS"/>
              </a:rPr>
              <a:t>Medical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Certs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60">
                <a:solidFill>
                  <a:srgbClr val="082F50"/>
                </a:solidFill>
                <a:latin typeface="Trebuchet MS"/>
                <a:cs typeface="Trebuchet MS"/>
              </a:rPr>
              <a:t>must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be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60">
                <a:solidFill>
                  <a:srgbClr val="082F50"/>
                </a:solidFill>
                <a:latin typeface="Trebuchet MS"/>
                <a:cs typeface="Trebuchet MS"/>
              </a:rPr>
              <a:t>supported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30">
                <a:solidFill>
                  <a:srgbClr val="082F50"/>
                </a:solidFill>
                <a:latin typeface="Trebuchet MS"/>
                <a:cs typeface="Trebuchet MS"/>
              </a:rPr>
              <a:t>in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60">
                <a:solidFill>
                  <a:srgbClr val="082F50"/>
                </a:solidFill>
                <a:latin typeface="Trebuchet MS"/>
                <a:cs typeface="Trebuchet MS"/>
              </a:rPr>
              <a:t>any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absence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from</a:t>
            </a:r>
            <a:r>
              <a:rPr dirty="0" sz="1600" spc="-10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082F50"/>
                </a:solidFill>
                <a:latin typeface="Trebuchet MS"/>
                <a:cs typeface="Trebuchet MS"/>
              </a:rPr>
              <a:t>class.</a:t>
            </a:r>
            <a:endParaRPr sz="1600">
              <a:latin typeface="Trebuchet MS"/>
              <a:cs typeface="Trebuchet MS"/>
            </a:endParaRPr>
          </a:p>
          <a:p>
            <a:pPr marL="367030" indent="-354330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367030" algn="l"/>
              </a:tabLst>
            </a:pPr>
            <a:r>
              <a:rPr dirty="0" sz="1600" spc="-80">
                <a:solidFill>
                  <a:srgbClr val="082F50"/>
                </a:solidFill>
                <a:latin typeface="Trebuchet MS"/>
                <a:cs typeface="Trebuchet MS"/>
              </a:rPr>
              <a:t>Three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50">
                <a:solidFill>
                  <a:srgbClr val="082F50"/>
                </a:solidFill>
                <a:latin typeface="Trebuchet MS"/>
                <a:cs typeface="Trebuchet MS"/>
              </a:rPr>
              <a:t>cases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of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Late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45">
                <a:solidFill>
                  <a:srgbClr val="082F50"/>
                </a:solidFill>
                <a:latin typeface="Trebuchet MS"/>
                <a:cs typeface="Trebuchet MS"/>
              </a:rPr>
              <a:t>will</a:t>
            </a:r>
            <a:r>
              <a:rPr dirty="0" sz="1600" spc="-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be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60">
                <a:solidFill>
                  <a:srgbClr val="082F50"/>
                </a:solidFill>
                <a:latin typeface="Trebuchet MS"/>
                <a:cs typeface="Trebuchet MS"/>
              </a:rPr>
              <a:t>equal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 to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082F50"/>
                </a:solidFill>
                <a:latin typeface="Trebuchet MS"/>
                <a:cs typeface="Trebuchet MS"/>
              </a:rPr>
              <a:t>1</a:t>
            </a:r>
            <a:r>
              <a:rPr dirty="0" sz="1600" spc="-8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082F50"/>
                </a:solidFill>
                <a:latin typeface="Trebuchet MS"/>
                <a:cs typeface="Trebuchet MS"/>
              </a:rPr>
              <a:t>absence.</a:t>
            </a:r>
            <a:endParaRPr sz="1600">
              <a:latin typeface="Trebuchet MS"/>
              <a:cs typeface="Trebuchet MS"/>
            </a:endParaRPr>
          </a:p>
          <a:p>
            <a:pPr marL="367030" indent="-354330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367030" algn="l"/>
              </a:tabLst>
            </a:pPr>
            <a:r>
              <a:rPr dirty="0" sz="1600" spc="-35">
                <a:solidFill>
                  <a:srgbClr val="082F50"/>
                </a:solidFill>
                <a:latin typeface="Trebuchet MS"/>
                <a:cs typeface="Trebuchet MS"/>
              </a:rPr>
              <a:t>Use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proper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academic </a:t>
            </a:r>
            <a:r>
              <a:rPr dirty="0" sz="1600" spc="-85">
                <a:solidFill>
                  <a:srgbClr val="082F50"/>
                </a:solidFill>
                <a:latin typeface="Trebuchet MS"/>
                <a:cs typeface="Trebuchet MS"/>
              </a:rPr>
              <a:t>references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459">
                <a:solidFill>
                  <a:srgbClr val="082F50"/>
                </a:solidFill>
                <a:latin typeface="Trebuchet MS"/>
                <a:cs typeface="Trebuchet MS"/>
              </a:rPr>
              <a:t>–</a:t>
            </a:r>
            <a:r>
              <a:rPr dirty="0" sz="1600" spc="-8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35">
                <a:solidFill>
                  <a:srgbClr val="082F50"/>
                </a:solidFill>
                <a:latin typeface="Trebuchet MS"/>
                <a:cs typeface="Trebuchet MS"/>
              </a:rPr>
              <a:t>APA</a:t>
            </a:r>
            <a:r>
              <a:rPr dirty="0" sz="1600" spc="-8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Referencing</a:t>
            </a:r>
            <a:r>
              <a:rPr dirty="0" sz="1600" spc="-8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082F50"/>
                </a:solidFill>
                <a:latin typeface="Trebuchet MS"/>
                <a:cs typeface="Trebuchet MS"/>
              </a:rPr>
              <a:t>only.</a:t>
            </a:r>
            <a:endParaRPr sz="1600">
              <a:latin typeface="Trebuchet MS"/>
              <a:cs typeface="Trebuchet MS"/>
            </a:endParaRPr>
          </a:p>
          <a:p>
            <a:pPr marL="367030" marR="673735" indent="-354965">
              <a:lnSpc>
                <a:spcPts val="1900"/>
              </a:lnSpc>
              <a:spcBef>
                <a:spcPts val="464"/>
              </a:spcBef>
              <a:buAutoNum type="arabicPeriod"/>
              <a:tabLst>
                <a:tab pos="367030" algn="l"/>
              </a:tabLst>
            </a:pP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Academic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45">
                <a:solidFill>
                  <a:srgbClr val="082F50"/>
                </a:solidFill>
                <a:latin typeface="Trebuchet MS"/>
                <a:cs typeface="Trebuchet MS"/>
              </a:rPr>
              <a:t>Dishonesty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280">
                <a:solidFill>
                  <a:srgbClr val="082F50"/>
                </a:solidFill>
                <a:latin typeface="Trebuchet MS"/>
                <a:cs typeface="Trebuchet MS"/>
              </a:rPr>
              <a:t>/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45">
                <a:solidFill>
                  <a:srgbClr val="082F50"/>
                </a:solidFill>
                <a:latin typeface="Trebuchet MS"/>
                <a:cs typeface="Trebuchet MS"/>
              </a:rPr>
              <a:t>Plagiarism</a:t>
            </a:r>
            <a:r>
              <a:rPr dirty="0" sz="1600" spc="-9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082F50"/>
                </a:solidFill>
                <a:latin typeface="Trebuchet MS"/>
                <a:cs typeface="Trebuchet MS"/>
              </a:rPr>
              <a:t>is</a:t>
            </a:r>
            <a:r>
              <a:rPr dirty="0" sz="1600" spc="-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55">
                <a:solidFill>
                  <a:srgbClr val="082F50"/>
                </a:solidFill>
                <a:latin typeface="Trebuchet MS"/>
                <a:cs typeface="Trebuchet MS"/>
              </a:rPr>
              <a:t>a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45">
                <a:solidFill>
                  <a:srgbClr val="082F50"/>
                </a:solidFill>
                <a:latin typeface="Trebuchet MS"/>
                <a:cs typeface="Trebuchet MS"/>
              </a:rPr>
              <a:t>serious</a:t>
            </a:r>
            <a:r>
              <a:rPr dirty="0" sz="16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105">
                <a:solidFill>
                  <a:srgbClr val="082F50"/>
                </a:solidFill>
                <a:latin typeface="Trebuchet MS"/>
                <a:cs typeface="Trebuchet MS"/>
              </a:rPr>
              <a:t>offence.</a:t>
            </a:r>
            <a:r>
              <a:rPr dirty="0" sz="1600" spc="-50">
                <a:solidFill>
                  <a:srgbClr val="082F50"/>
                </a:solidFill>
                <a:latin typeface="Trebuchet MS"/>
                <a:cs typeface="Trebuchet MS"/>
              </a:rPr>
              <a:t> Any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40">
                <a:solidFill>
                  <a:srgbClr val="082F50"/>
                </a:solidFill>
                <a:latin typeface="Trebuchet MS"/>
                <a:cs typeface="Trebuchet MS"/>
              </a:rPr>
              <a:t>suspicions</a:t>
            </a:r>
            <a:r>
              <a:rPr dirty="0" sz="16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45">
                <a:solidFill>
                  <a:srgbClr val="082F50"/>
                </a:solidFill>
                <a:latin typeface="Trebuchet MS"/>
                <a:cs typeface="Trebuchet MS"/>
              </a:rPr>
              <a:t>will</a:t>
            </a:r>
            <a:r>
              <a:rPr dirty="0" sz="1600" spc="-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be </a:t>
            </a:r>
            <a:r>
              <a:rPr dirty="0" sz="1600" spc="-95">
                <a:solidFill>
                  <a:srgbClr val="082F50"/>
                </a:solidFill>
                <a:latin typeface="Trebuchet MS"/>
                <a:cs typeface="Trebuchet MS"/>
              </a:rPr>
              <a:t>referred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 to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25">
                <a:solidFill>
                  <a:srgbClr val="082F50"/>
                </a:solidFill>
                <a:latin typeface="Trebuchet MS"/>
                <a:cs typeface="Trebuchet MS"/>
              </a:rPr>
              <a:t>the 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University’s</a:t>
            </a:r>
            <a:r>
              <a:rPr dirty="0" sz="1600" spc="-5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Academic</a:t>
            </a:r>
            <a:r>
              <a:rPr dirty="0" sz="16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45">
                <a:solidFill>
                  <a:srgbClr val="082F50"/>
                </a:solidFill>
                <a:latin typeface="Trebuchet MS"/>
                <a:cs typeface="Trebuchet MS"/>
              </a:rPr>
              <a:t>Dishonesty</a:t>
            </a:r>
            <a:r>
              <a:rPr dirty="0" sz="16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082F50"/>
                </a:solidFill>
                <a:latin typeface="Trebuchet MS"/>
                <a:cs typeface="Trebuchet MS"/>
              </a:rPr>
              <a:t>Board.</a:t>
            </a:r>
            <a:endParaRPr sz="1600">
              <a:latin typeface="Trebuchet MS"/>
              <a:cs typeface="Trebuchet MS"/>
            </a:endParaRPr>
          </a:p>
          <a:p>
            <a:pPr marL="367030" marR="5080" indent="-354965">
              <a:lnSpc>
                <a:spcPts val="1900"/>
              </a:lnSpc>
              <a:spcBef>
                <a:spcPts val="300"/>
              </a:spcBef>
              <a:buAutoNum type="arabicPeriod"/>
              <a:tabLst>
                <a:tab pos="367030" algn="l"/>
              </a:tabLst>
            </a:pPr>
            <a:r>
              <a:rPr dirty="0" sz="1600" spc="-55">
                <a:solidFill>
                  <a:srgbClr val="082F50"/>
                </a:solidFill>
                <a:latin typeface="Trebuchet MS"/>
                <a:cs typeface="Trebuchet MS"/>
              </a:rPr>
              <a:t>Formal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45">
                <a:solidFill>
                  <a:srgbClr val="082F50"/>
                </a:solidFill>
                <a:latin typeface="Trebuchet MS"/>
                <a:cs typeface="Trebuchet MS"/>
              </a:rPr>
              <a:t>assessments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60">
                <a:solidFill>
                  <a:srgbClr val="082F50"/>
                </a:solidFill>
                <a:latin typeface="Trebuchet MS"/>
                <a:cs typeface="Trebuchet MS"/>
              </a:rPr>
              <a:t>must 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be 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submitted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30">
                <a:solidFill>
                  <a:srgbClr val="082F50"/>
                </a:solidFill>
                <a:latin typeface="Trebuchet MS"/>
                <a:cs typeface="Trebuchet MS"/>
              </a:rPr>
              <a:t>on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85">
                <a:solidFill>
                  <a:srgbClr val="082F50"/>
                </a:solidFill>
                <a:latin typeface="Trebuchet MS"/>
                <a:cs typeface="Trebuchet MS"/>
              </a:rPr>
              <a:t>time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30">
                <a:solidFill>
                  <a:srgbClr val="082F50"/>
                </a:solidFill>
                <a:latin typeface="Trebuchet MS"/>
                <a:cs typeface="Trebuchet MS"/>
              </a:rPr>
              <a:t>in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80">
                <a:solidFill>
                  <a:srgbClr val="082F50"/>
                </a:solidFill>
                <a:latin typeface="Trebuchet MS"/>
                <a:cs typeface="Trebuchet MS"/>
              </a:rPr>
              <a:t>the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specified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80">
                <a:solidFill>
                  <a:srgbClr val="082F50"/>
                </a:solidFill>
                <a:latin typeface="Trebuchet MS"/>
                <a:cs typeface="Trebuchet MS"/>
              </a:rPr>
              <a:t>format</a:t>
            </a:r>
            <a:r>
              <a:rPr dirty="0" sz="1600" spc="-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85">
                <a:solidFill>
                  <a:srgbClr val="082F50"/>
                </a:solidFill>
                <a:latin typeface="Trebuchet MS"/>
                <a:cs typeface="Trebuchet MS"/>
              </a:rPr>
              <a:t>given.</a:t>
            </a:r>
            <a:r>
              <a:rPr dirty="0" sz="16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60">
                <a:solidFill>
                  <a:srgbClr val="082F50"/>
                </a:solidFill>
                <a:latin typeface="Trebuchet MS"/>
                <a:cs typeface="Trebuchet MS"/>
              </a:rPr>
              <a:t>Failure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to</a:t>
            </a:r>
            <a:r>
              <a:rPr dirty="0" sz="1600" spc="-8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082F50"/>
                </a:solidFill>
                <a:latin typeface="Trebuchet MS"/>
                <a:cs typeface="Trebuchet MS"/>
              </a:rPr>
              <a:t>meet </a:t>
            </a:r>
            <a:r>
              <a:rPr dirty="0" sz="1600" spc="-55">
                <a:solidFill>
                  <a:srgbClr val="082F50"/>
                </a:solidFill>
                <a:latin typeface="Trebuchet MS"/>
                <a:cs typeface="Trebuchet MS"/>
              </a:rPr>
              <a:t>deadlines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45">
                <a:solidFill>
                  <a:srgbClr val="082F50"/>
                </a:solidFill>
                <a:latin typeface="Trebuchet MS"/>
                <a:cs typeface="Trebuchet MS"/>
              </a:rPr>
              <a:t>will</a:t>
            </a:r>
            <a:r>
              <a:rPr dirty="0" sz="1600" spc="-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be </a:t>
            </a:r>
            <a:r>
              <a:rPr dirty="0" sz="1600" spc="-90">
                <a:solidFill>
                  <a:srgbClr val="082F50"/>
                </a:solidFill>
                <a:latin typeface="Trebuchet MS"/>
                <a:cs typeface="Trebuchet MS"/>
              </a:rPr>
              <a:t>treated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082F50"/>
                </a:solidFill>
                <a:latin typeface="Trebuchet MS"/>
                <a:cs typeface="Trebuchet MS"/>
              </a:rPr>
              <a:t>as</a:t>
            </a:r>
            <a:r>
              <a:rPr dirty="0" sz="1600" spc="-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45">
                <a:solidFill>
                  <a:srgbClr val="082F50"/>
                </a:solidFill>
                <a:latin typeface="Trebuchet MS"/>
                <a:cs typeface="Trebuchet MS"/>
              </a:rPr>
              <a:t>non-</a:t>
            </a:r>
            <a:r>
              <a:rPr dirty="0" sz="1600" spc="-35">
                <a:solidFill>
                  <a:srgbClr val="082F50"/>
                </a:solidFill>
                <a:latin typeface="Trebuchet MS"/>
                <a:cs typeface="Trebuchet MS"/>
              </a:rPr>
              <a:t>submission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55">
                <a:solidFill>
                  <a:srgbClr val="082F50"/>
                </a:solidFill>
                <a:latin typeface="Trebuchet MS"/>
                <a:cs typeface="Trebuchet MS"/>
              </a:rPr>
              <a:t>and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30">
                <a:solidFill>
                  <a:srgbClr val="082F50"/>
                </a:solidFill>
                <a:latin typeface="Trebuchet MS"/>
                <a:cs typeface="Trebuchet MS"/>
              </a:rPr>
              <a:t>no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60">
                <a:solidFill>
                  <a:srgbClr val="082F50"/>
                </a:solidFill>
                <a:latin typeface="Trebuchet MS"/>
                <a:cs typeface="Trebuchet MS"/>
              </a:rPr>
              <a:t>marks </a:t>
            </a:r>
            <a:r>
              <a:rPr dirty="0" sz="1600" spc="-45">
                <a:solidFill>
                  <a:srgbClr val="082F50"/>
                </a:solidFill>
                <a:latin typeface="Trebuchet MS"/>
                <a:cs typeface="Trebuchet MS"/>
              </a:rPr>
              <a:t>will</a:t>
            </a:r>
            <a:r>
              <a:rPr dirty="0" sz="1600" spc="-6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be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100">
                <a:solidFill>
                  <a:srgbClr val="082F50"/>
                </a:solidFill>
                <a:latin typeface="Trebuchet MS"/>
                <a:cs typeface="Trebuchet MS"/>
              </a:rPr>
              <a:t>awarded.</a:t>
            </a:r>
            <a:r>
              <a:rPr dirty="0" sz="1600" spc="-5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Incomplete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082F50"/>
                </a:solidFill>
                <a:latin typeface="Trebuchet MS"/>
                <a:cs typeface="Trebuchet MS"/>
              </a:rPr>
              <a:t>submissions </a:t>
            </a:r>
            <a:r>
              <a:rPr dirty="0" sz="1600" spc="-45">
                <a:solidFill>
                  <a:srgbClr val="082F50"/>
                </a:solidFill>
                <a:latin typeface="Trebuchet MS"/>
                <a:cs typeface="Trebuchet MS"/>
              </a:rPr>
              <a:t>will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 be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80">
                <a:solidFill>
                  <a:srgbClr val="082F50"/>
                </a:solidFill>
                <a:latin typeface="Trebuchet MS"/>
                <a:cs typeface="Trebuchet MS"/>
              </a:rPr>
              <a:t>subjected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to</a:t>
            </a:r>
            <a:r>
              <a:rPr dirty="0" sz="1600" spc="-8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penalty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70">
                <a:solidFill>
                  <a:srgbClr val="082F50"/>
                </a:solidFill>
                <a:latin typeface="Trebuchet MS"/>
                <a:cs typeface="Trebuchet MS"/>
              </a:rPr>
              <a:t>of </a:t>
            </a:r>
            <a:r>
              <a:rPr dirty="0" sz="1600" spc="-75">
                <a:solidFill>
                  <a:srgbClr val="082F50"/>
                </a:solidFill>
                <a:latin typeface="Trebuchet MS"/>
                <a:cs typeface="Trebuchet MS"/>
              </a:rPr>
              <a:t>mark</a:t>
            </a:r>
            <a:r>
              <a:rPr dirty="0" sz="1600" spc="-8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600" spc="-60">
                <a:solidFill>
                  <a:srgbClr val="082F50"/>
                </a:solidFill>
                <a:latin typeface="Trebuchet MS"/>
                <a:cs typeface="Trebuchet MS"/>
              </a:rPr>
              <a:t>deductions</a:t>
            </a:r>
            <a:r>
              <a:rPr dirty="0" sz="1600" spc="-65">
                <a:solidFill>
                  <a:srgbClr val="082F50"/>
                </a:solidFill>
                <a:latin typeface="Trebuchet MS"/>
                <a:cs typeface="Trebuchet MS"/>
              </a:rPr>
              <a:t> or </a:t>
            </a:r>
            <a:r>
              <a:rPr dirty="0" sz="1600" spc="-10">
                <a:solidFill>
                  <a:srgbClr val="082F50"/>
                </a:solidFill>
                <a:latin typeface="Trebuchet MS"/>
                <a:cs typeface="Trebuchet MS"/>
              </a:rPr>
              <a:t>forfeit.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15"/>
              <a:t> </a:t>
            </a:r>
            <a:r>
              <a:rPr dirty="0" spc="-10"/>
              <a:t>Title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Module</a:t>
            </a:r>
            <a:r>
              <a:rPr dirty="0" spc="90"/>
              <a:t> </a:t>
            </a:r>
            <a:r>
              <a:rPr dirty="0"/>
              <a:t>Code</a:t>
            </a:r>
            <a:r>
              <a:rPr dirty="0" spc="90"/>
              <a:t> </a:t>
            </a:r>
            <a:r>
              <a:rPr dirty="0" spc="-45"/>
              <a:t>&amp;</a:t>
            </a:r>
            <a:r>
              <a:rPr dirty="0" spc="90"/>
              <a:t> </a:t>
            </a:r>
            <a:r>
              <a:rPr dirty="0"/>
              <a:t>Module</a:t>
            </a:r>
            <a:r>
              <a:rPr dirty="0" spc="90"/>
              <a:t> </a:t>
            </a:r>
            <a:r>
              <a:rPr dirty="0" spc="-20"/>
              <a:t>Title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5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90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Expectations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Achievement</a:t>
            </a:r>
            <a:r>
              <a:rPr dirty="0" spc="-100"/>
              <a:t> </a:t>
            </a:r>
            <a:r>
              <a:rPr dirty="0" spc="-75"/>
              <a:t>Requirements:</a:t>
            </a: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900" spc="-95"/>
              <a:t>Postgraduate</a:t>
            </a:r>
            <a:r>
              <a:rPr dirty="0" sz="1900" spc="-50"/>
              <a:t> </a:t>
            </a:r>
            <a:r>
              <a:rPr dirty="0" sz="1900" spc="-10"/>
              <a:t>Programmes</a:t>
            </a:r>
            <a:endParaRPr sz="1900"/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15"/>
              <a:t> </a:t>
            </a:r>
            <a:r>
              <a:rPr dirty="0" spc="-10"/>
              <a:t>Title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Module</a:t>
            </a:r>
            <a:r>
              <a:rPr dirty="0" spc="90"/>
              <a:t> </a:t>
            </a:r>
            <a:r>
              <a:rPr dirty="0"/>
              <a:t>Code</a:t>
            </a:r>
            <a:r>
              <a:rPr dirty="0" spc="90"/>
              <a:t> </a:t>
            </a:r>
            <a:r>
              <a:rPr dirty="0" spc="-45"/>
              <a:t>&amp;</a:t>
            </a:r>
            <a:r>
              <a:rPr dirty="0" spc="90"/>
              <a:t> </a:t>
            </a:r>
            <a:r>
              <a:rPr dirty="0"/>
              <a:t>Module</a:t>
            </a:r>
            <a:r>
              <a:rPr dirty="0" spc="90"/>
              <a:t> </a:t>
            </a:r>
            <a:r>
              <a:rPr dirty="0" spc="-20"/>
              <a:t>Title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5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410896" y="2518377"/>
          <a:ext cx="7393305" cy="32397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4630"/>
                <a:gridCol w="1712595"/>
                <a:gridCol w="1370329"/>
                <a:gridCol w="2736214"/>
              </a:tblGrid>
              <a:tr h="24701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Marks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6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4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Alphabetical</a:t>
                      </a:r>
                      <a:r>
                        <a:rPr dirty="0" sz="1400" spc="-15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Grade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6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35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Grading</a:t>
                      </a:r>
                      <a:r>
                        <a:rPr dirty="0" sz="1400" spc="-55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Point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6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Classification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6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</a:tr>
              <a:tr h="24701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</a:pPr>
                      <a:r>
                        <a:rPr dirty="0" sz="1400" spc="-1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80-</a:t>
                      </a:r>
                      <a:r>
                        <a:rPr dirty="0" sz="1400" spc="-25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100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</a:pP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A+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</a:pP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4.0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dirty="0" sz="14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Distinction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371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2705">
                        <a:lnSpc>
                          <a:spcPts val="1675"/>
                        </a:lnSpc>
                      </a:pPr>
                      <a:r>
                        <a:rPr dirty="0" sz="1400" spc="-1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75-</a:t>
                      </a:r>
                      <a:r>
                        <a:rPr dirty="0" sz="1400" spc="-25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79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675"/>
                        </a:lnSpc>
                      </a:pPr>
                      <a:r>
                        <a:rPr dirty="0" sz="1400" spc="-5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675"/>
                        </a:lnSpc>
                      </a:pP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3.8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71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2705">
                        <a:lnSpc>
                          <a:spcPts val="1680"/>
                        </a:lnSpc>
                      </a:pPr>
                      <a:r>
                        <a:rPr dirty="0" sz="1400" spc="-1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70-</a:t>
                      </a:r>
                      <a:r>
                        <a:rPr dirty="0" sz="1400" spc="-25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74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680"/>
                        </a:lnSpc>
                      </a:pP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B+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680"/>
                        </a:lnSpc>
                      </a:pP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3.6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14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Merit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397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</a:pPr>
                      <a:r>
                        <a:rPr dirty="0" sz="1400" spc="-1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65-</a:t>
                      </a:r>
                      <a:r>
                        <a:rPr dirty="0" sz="1400" spc="-25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69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</a:pPr>
                      <a:r>
                        <a:rPr dirty="0" sz="1400" spc="-5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B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</a:pP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3.5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</a:pPr>
                      <a:r>
                        <a:rPr dirty="0" sz="1400" spc="-1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60-</a:t>
                      </a:r>
                      <a:r>
                        <a:rPr dirty="0" sz="1400" spc="-25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64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</a:pP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C+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</a:pP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3.3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ct val="100000"/>
                        </a:lnSpc>
                      </a:pPr>
                      <a:r>
                        <a:rPr dirty="0" sz="1400" spc="-2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Pass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609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</a:pPr>
                      <a:r>
                        <a:rPr dirty="0" sz="1400" spc="-1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55-</a:t>
                      </a:r>
                      <a:r>
                        <a:rPr dirty="0" sz="1400" spc="-25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59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</a:pPr>
                      <a:r>
                        <a:rPr dirty="0" sz="1400" spc="-5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C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</a:pP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3.2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09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</a:tr>
              <a:tr h="24701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50-</a:t>
                      </a:r>
                      <a:r>
                        <a:rPr dirty="0" sz="1400" spc="-25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54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6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C-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6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3.0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6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09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</a:tr>
              <a:tr h="24701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</a:pPr>
                      <a:r>
                        <a:rPr dirty="0" sz="1400" spc="-1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40-</a:t>
                      </a:r>
                      <a:r>
                        <a:rPr dirty="0" sz="1400" spc="-25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49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</a:pP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2.5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Fail</a:t>
                      </a:r>
                      <a:r>
                        <a:rPr dirty="0" sz="1400" spc="-5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(marginal)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</a:tr>
              <a:tr h="247015">
                <a:tc>
                  <a:txBody>
                    <a:bodyPr/>
                    <a:lstStyle/>
                    <a:p>
                      <a:pPr marL="52705">
                        <a:lnSpc>
                          <a:spcPts val="1675"/>
                        </a:lnSpc>
                      </a:pPr>
                      <a:r>
                        <a:rPr dirty="0" sz="1400" spc="-1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30-</a:t>
                      </a:r>
                      <a:r>
                        <a:rPr dirty="0" sz="1400" spc="-25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39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675"/>
                        </a:lnSpc>
                      </a:pP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F+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675"/>
                        </a:lnSpc>
                      </a:pP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2.0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675"/>
                        </a:lnSpc>
                      </a:pPr>
                      <a:r>
                        <a:rPr dirty="0" sz="1400" spc="-2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Fail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</a:tr>
              <a:tr h="24701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1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20-</a:t>
                      </a:r>
                      <a:r>
                        <a:rPr dirty="0" sz="1400" spc="-25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29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9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5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F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9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1.5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9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Fail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9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</a:tr>
              <a:tr h="24701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400" spc="-1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10-</a:t>
                      </a:r>
                      <a:r>
                        <a:rPr dirty="0" sz="1400" spc="-25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19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2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F-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2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400" spc="-25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1.0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2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400" spc="-2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Fail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2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BE4F9"/>
                    </a:solidFill>
                  </a:tcPr>
                </a:tc>
              </a:tr>
              <a:tr h="24701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0-</a:t>
                      </a:r>
                      <a:r>
                        <a:rPr dirty="0" sz="1400" spc="-50" b="1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9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6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U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6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6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solidFill>
                            <a:srgbClr val="082F50"/>
                          </a:solidFill>
                          <a:latin typeface="Trebuchet MS"/>
                          <a:cs typeface="Trebuchet MS"/>
                        </a:rPr>
                        <a:t>Unclassified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6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2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20720" y="2035068"/>
            <a:ext cx="4138929" cy="249745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900" spc="-114" b="1">
                <a:solidFill>
                  <a:srgbClr val="0070C0"/>
                </a:solidFill>
                <a:latin typeface="Trebuchet MS"/>
                <a:cs typeface="Trebuchet MS"/>
              </a:rPr>
              <a:t>Course</a:t>
            </a:r>
            <a:r>
              <a:rPr dirty="0" sz="1900" spc="-100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900" spc="-80" b="1">
                <a:solidFill>
                  <a:srgbClr val="0070C0"/>
                </a:solidFill>
                <a:latin typeface="Trebuchet MS"/>
                <a:cs typeface="Trebuchet MS"/>
              </a:rPr>
              <a:t>Materials</a:t>
            </a:r>
            <a:r>
              <a:rPr dirty="0" sz="1900" spc="-85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900" spc="-90" b="1">
                <a:solidFill>
                  <a:srgbClr val="0070C0"/>
                </a:solidFill>
                <a:latin typeface="Trebuchet MS"/>
                <a:cs typeface="Trebuchet MS"/>
              </a:rPr>
              <a:t>available</a:t>
            </a:r>
            <a:r>
              <a:rPr dirty="0" sz="1900" spc="-100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900" spc="-80" b="1">
                <a:solidFill>
                  <a:srgbClr val="0070C0"/>
                </a:solidFill>
                <a:latin typeface="Trebuchet MS"/>
                <a:cs typeface="Trebuchet MS"/>
              </a:rPr>
              <a:t>in</a:t>
            </a:r>
            <a:r>
              <a:rPr dirty="0" sz="1900" spc="-100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900" spc="-10" b="1">
                <a:solidFill>
                  <a:srgbClr val="0070C0"/>
                </a:solidFill>
                <a:latin typeface="Trebuchet MS"/>
                <a:cs typeface="Trebuchet MS"/>
              </a:rPr>
              <a:t>Moodle</a:t>
            </a:r>
            <a:endParaRPr sz="1900">
              <a:latin typeface="Trebuchet MS"/>
              <a:cs typeface="Trebuchet MS"/>
            </a:endParaRPr>
          </a:p>
          <a:p>
            <a:pPr marL="278130" indent="-265430">
              <a:lnSpc>
                <a:spcPct val="100000"/>
              </a:lnSpc>
              <a:spcBef>
                <a:spcPts val="695"/>
              </a:spcBef>
              <a:buChar char="•"/>
              <a:tabLst>
                <a:tab pos="278130" algn="l"/>
              </a:tabLst>
            </a:pPr>
            <a:r>
              <a:rPr dirty="0" sz="1900" spc="-25">
                <a:solidFill>
                  <a:srgbClr val="082F50"/>
                </a:solidFill>
                <a:latin typeface="Trebuchet MS"/>
                <a:cs typeface="Trebuchet MS"/>
              </a:rPr>
              <a:t>Module</a:t>
            </a:r>
            <a:r>
              <a:rPr dirty="0" sz="1900" spc="-9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handbook</a:t>
            </a:r>
            <a:endParaRPr sz="1900">
              <a:latin typeface="Trebuchet MS"/>
              <a:cs typeface="Trebuchet MS"/>
            </a:endParaRPr>
          </a:p>
          <a:p>
            <a:pPr marL="278130" indent="-265430">
              <a:lnSpc>
                <a:spcPct val="100000"/>
              </a:lnSpc>
              <a:spcBef>
                <a:spcPts val="430"/>
              </a:spcBef>
              <a:buChar char="•"/>
              <a:tabLst>
                <a:tab pos="278130" algn="l"/>
              </a:tabLst>
            </a:pPr>
            <a:r>
              <a:rPr dirty="0" sz="1900" spc="-25">
                <a:solidFill>
                  <a:srgbClr val="082F50"/>
                </a:solidFill>
                <a:latin typeface="Trebuchet MS"/>
                <a:cs typeface="Trebuchet MS"/>
              </a:rPr>
              <a:t>Module</a:t>
            </a:r>
            <a:r>
              <a:rPr dirty="0" sz="1900" spc="-9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descriptor</a:t>
            </a:r>
            <a:endParaRPr sz="1900">
              <a:latin typeface="Trebuchet MS"/>
              <a:cs typeface="Trebuchet MS"/>
            </a:endParaRPr>
          </a:p>
          <a:p>
            <a:pPr marL="278130" indent="-265430">
              <a:lnSpc>
                <a:spcPct val="100000"/>
              </a:lnSpc>
              <a:spcBef>
                <a:spcPts val="409"/>
              </a:spcBef>
              <a:buChar char="•"/>
              <a:tabLst>
                <a:tab pos="278130" algn="l"/>
              </a:tabLst>
            </a:pPr>
            <a:r>
              <a:rPr dirty="0" sz="1900" spc="-85">
                <a:solidFill>
                  <a:srgbClr val="082F50"/>
                </a:solidFill>
                <a:latin typeface="Trebuchet MS"/>
                <a:cs typeface="Trebuchet MS"/>
              </a:rPr>
              <a:t>Lecture</a:t>
            </a:r>
            <a:r>
              <a:rPr dirty="0" sz="1900" spc="-9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slides</a:t>
            </a:r>
            <a:endParaRPr sz="1900">
              <a:latin typeface="Trebuchet MS"/>
              <a:cs typeface="Trebuchet MS"/>
            </a:endParaRPr>
          </a:p>
          <a:p>
            <a:pPr marL="278130" indent="-265430">
              <a:lnSpc>
                <a:spcPct val="100000"/>
              </a:lnSpc>
              <a:spcBef>
                <a:spcPts val="430"/>
              </a:spcBef>
              <a:buChar char="•"/>
              <a:tabLst>
                <a:tab pos="278130" algn="l"/>
              </a:tabLst>
            </a:pPr>
            <a:r>
              <a:rPr dirty="0" sz="1900" spc="-90">
                <a:solidFill>
                  <a:srgbClr val="082F50"/>
                </a:solidFill>
                <a:latin typeface="Trebuchet MS"/>
                <a:cs typeface="Trebuchet MS"/>
              </a:rPr>
              <a:t>Tutorial/Lab</a:t>
            </a:r>
            <a:r>
              <a:rPr dirty="0" sz="1900" spc="-3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materials</a:t>
            </a:r>
            <a:endParaRPr sz="1900">
              <a:latin typeface="Trebuchet MS"/>
              <a:cs typeface="Trebuchet MS"/>
            </a:endParaRPr>
          </a:p>
          <a:p>
            <a:pPr marL="278130" indent="-265430">
              <a:lnSpc>
                <a:spcPct val="100000"/>
              </a:lnSpc>
              <a:spcBef>
                <a:spcPts val="409"/>
              </a:spcBef>
              <a:buChar char="•"/>
              <a:tabLst>
                <a:tab pos="278130" algn="l"/>
              </a:tabLst>
            </a:pPr>
            <a:r>
              <a:rPr dirty="0" sz="1900" spc="-50">
                <a:solidFill>
                  <a:srgbClr val="082F50"/>
                </a:solidFill>
                <a:latin typeface="Trebuchet MS"/>
                <a:cs typeface="Trebuchet MS"/>
              </a:rPr>
              <a:t>Sample</a:t>
            </a:r>
            <a:r>
              <a:rPr dirty="0" sz="1900" spc="-10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55">
                <a:solidFill>
                  <a:srgbClr val="082F50"/>
                </a:solidFill>
                <a:latin typeface="Trebuchet MS"/>
                <a:cs typeface="Trebuchet MS"/>
              </a:rPr>
              <a:t>incourse</a:t>
            </a:r>
            <a:r>
              <a:rPr dirty="0" sz="1900" spc="-9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45">
                <a:solidFill>
                  <a:srgbClr val="082F50"/>
                </a:solidFill>
                <a:latin typeface="Trebuchet MS"/>
                <a:cs typeface="Trebuchet MS"/>
              </a:rPr>
              <a:t>questions</a:t>
            </a:r>
            <a:r>
              <a:rPr dirty="0" sz="1900" spc="-8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200">
                <a:solidFill>
                  <a:srgbClr val="082F50"/>
                </a:solidFill>
                <a:latin typeface="Trebuchet MS"/>
                <a:cs typeface="Trebuchet MS"/>
              </a:rPr>
              <a:t>&amp;</a:t>
            </a:r>
            <a:r>
              <a:rPr dirty="0" sz="1900" spc="-11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answers</a:t>
            </a:r>
            <a:endParaRPr sz="1900">
              <a:latin typeface="Trebuchet MS"/>
              <a:cs typeface="Trebuchet MS"/>
            </a:endParaRPr>
          </a:p>
          <a:p>
            <a:pPr marL="278130" indent="-265430">
              <a:lnSpc>
                <a:spcPct val="100000"/>
              </a:lnSpc>
              <a:spcBef>
                <a:spcPts val="430"/>
              </a:spcBef>
              <a:buChar char="•"/>
              <a:tabLst>
                <a:tab pos="278130" algn="l"/>
              </a:tabLst>
            </a:pPr>
            <a:r>
              <a:rPr dirty="0" sz="1900" spc="-50">
                <a:solidFill>
                  <a:srgbClr val="082F50"/>
                </a:solidFill>
                <a:latin typeface="Trebuchet MS"/>
                <a:cs typeface="Trebuchet MS"/>
              </a:rPr>
              <a:t>Sample</a:t>
            </a:r>
            <a:r>
              <a:rPr dirty="0" sz="1900" spc="-8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70">
                <a:solidFill>
                  <a:srgbClr val="082F50"/>
                </a:solidFill>
                <a:latin typeface="Trebuchet MS"/>
                <a:cs typeface="Trebuchet MS"/>
              </a:rPr>
              <a:t>exam</a:t>
            </a:r>
            <a:r>
              <a:rPr dirty="0" sz="1900" spc="-9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50">
                <a:solidFill>
                  <a:srgbClr val="082F50"/>
                </a:solidFill>
                <a:latin typeface="Trebuchet MS"/>
                <a:cs typeface="Trebuchet MS"/>
              </a:rPr>
              <a:t>questions</a:t>
            </a:r>
            <a:r>
              <a:rPr dirty="0" sz="1900" spc="-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200">
                <a:solidFill>
                  <a:srgbClr val="082F50"/>
                </a:solidFill>
                <a:latin typeface="Trebuchet MS"/>
                <a:cs typeface="Trebuchet MS"/>
              </a:rPr>
              <a:t>&amp;</a:t>
            </a:r>
            <a:r>
              <a:rPr dirty="0" sz="1900" spc="-9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answers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15"/>
              <a:t> </a:t>
            </a:r>
            <a:r>
              <a:rPr dirty="0" spc="-10"/>
              <a:t>Title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Module</a:t>
            </a:r>
            <a:r>
              <a:rPr dirty="0" spc="90"/>
              <a:t> </a:t>
            </a:r>
            <a:r>
              <a:rPr dirty="0"/>
              <a:t>Code</a:t>
            </a:r>
            <a:r>
              <a:rPr dirty="0" spc="90"/>
              <a:t> </a:t>
            </a:r>
            <a:r>
              <a:rPr dirty="0" spc="-45"/>
              <a:t>&amp;</a:t>
            </a:r>
            <a:r>
              <a:rPr dirty="0" spc="90"/>
              <a:t> </a:t>
            </a:r>
            <a:r>
              <a:rPr dirty="0"/>
              <a:t>Module</a:t>
            </a:r>
            <a:r>
              <a:rPr dirty="0" spc="90"/>
              <a:t> </a:t>
            </a:r>
            <a:r>
              <a:rPr dirty="0" spc="-20"/>
              <a:t>Title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5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497826" y="2123331"/>
            <a:ext cx="314960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90" b="1">
                <a:solidFill>
                  <a:srgbClr val="0070C0"/>
                </a:solidFill>
                <a:latin typeface="Trebuchet MS"/>
                <a:cs typeface="Trebuchet MS"/>
              </a:rPr>
              <a:t>Essential </a:t>
            </a:r>
            <a:r>
              <a:rPr dirty="0" sz="1900" spc="-100" b="1">
                <a:solidFill>
                  <a:srgbClr val="0070C0"/>
                </a:solidFill>
                <a:latin typeface="Trebuchet MS"/>
                <a:cs typeface="Trebuchet MS"/>
              </a:rPr>
              <a:t>and</a:t>
            </a:r>
            <a:r>
              <a:rPr dirty="0" sz="1900" spc="-90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900" spc="-150" b="1">
                <a:solidFill>
                  <a:srgbClr val="0070C0"/>
                </a:solidFill>
                <a:latin typeface="Trebuchet MS"/>
                <a:cs typeface="Trebuchet MS"/>
              </a:rPr>
              <a:t>Further</a:t>
            </a:r>
            <a:r>
              <a:rPr dirty="0" sz="1900" spc="-80" b="1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dirty="0" sz="1900" spc="-50" b="1">
                <a:solidFill>
                  <a:srgbClr val="0070C0"/>
                </a:solidFill>
                <a:latin typeface="Trebuchet MS"/>
                <a:cs typeface="Trebuchet MS"/>
              </a:rPr>
              <a:t>Readings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447026" y="2514023"/>
            <a:ext cx="4098925" cy="201295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329565" marR="269240" indent="-266700">
              <a:lnSpc>
                <a:spcPct val="105000"/>
              </a:lnSpc>
              <a:spcBef>
                <a:spcPts val="25"/>
              </a:spcBef>
              <a:buChar char="•"/>
              <a:tabLst>
                <a:tab pos="329565" algn="l"/>
              </a:tabLst>
            </a:pP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Aurélien</a:t>
            </a:r>
            <a:r>
              <a:rPr dirty="0" sz="1200" spc="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082F50"/>
                </a:solidFill>
                <a:latin typeface="Trebuchet MS"/>
                <a:cs typeface="Trebuchet MS"/>
              </a:rPr>
              <a:t>Géron</a:t>
            </a:r>
            <a:r>
              <a:rPr dirty="0" sz="1200" spc="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082F50"/>
                </a:solidFill>
                <a:latin typeface="Trebuchet MS"/>
                <a:cs typeface="Trebuchet MS"/>
              </a:rPr>
              <a:t>(2022).</a:t>
            </a:r>
            <a:r>
              <a:rPr dirty="0" sz="1200" spc="-1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Hands-On</a:t>
            </a:r>
            <a:r>
              <a:rPr dirty="0" sz="1200" spc="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Machine </a:t>
            </a:r>
            <a:r>
              <a:rPr dirty="0" sz="1200" spc="-10">
                <a:solidFill>
                  <a:srgbClr val="082F50"/>
                </a:solidFill>
                <a:latin typeface="Trebuchet MS"/>
                <a:cs typeface="Trebuchet MS"/>
              </a:rPr>
              <a:t>Learning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with</a:t>
            </a:r>
            <a:r>
              <a:rPr dirty="0" sz="1200" spc="-2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082F50"/>
                </a:solidFill>
                <a:latin typeface="Trebuchet MS"/>
                <a:cs typeface="Trebuchet MS"/>
              </a:rPr>
              <a:t>Scikit-</a:t>
            </a:r>
            <a:r>
              <a:rPr dirty="0" sz="1200" spc="-30">
                <a:solidFill>
                  <a:srgbClr val="082F50"/>
                </a:solidFill>
                <a:latin typeface="Trebuchet MS"/>
                <a:cs typeface="Trebuchet MS"/>
              </a:rPr>
              <a:t>Learn,</a:t>
            </a:r>
            <a:r>
              <a:rPr dirty="0" sz="1200" spc="-4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082F50"/>
                </a:solidFill>
                <a:latin typeface="Trebuchet MS"/>
                <a:cs typeface="Trebuchet MS"/>
              </a:rPr>
              <a:t>Keras,</a:t>
            </a:r>
            <a:r>
              <a:rPr dirty="0" sz="1200" spc="-3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and</a:t>
            </a:r>
            <a:r>
              <a:rPr dirty="0" sz="1200" spc="-2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082F50"/>
                </a:solidFill>
                <a:latin typeface="Trebuchet MS"/>
                <a:cs typeface="Trebuchet MS"/>
              </a:rPr>
              <a:t>TensorFlow:</a:t>
            </a:r>
            <a:r>
              <a:rPr dirty="0" sz="1200" spc="-4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082F50"/>
                </a:solidFill>
                <a:latin typeface="Trebuchet MS"/>
                <a:cs typeface="Trebuchet MS"/>
              </a:rPr>
              <a:t>Concepts,</a:t>
            </a:r>
            <a:endParaRPr sz="1200">
              <a:latin typeface="Trebuchet MS"/>
              <a:cs typeface="Trebuchet MS"/>
            </a:endParaRPr>
          </a:p>
          <a:p>
            <a:pPr marL="329565" marR="68580">
              <a:lnSpc>
                <a:spcPts val="1510"/>
              </a:lnSpc>
              <a:spcBef>
                <a:spcPts val="40"/>
              </a:spcBef>
            </a:pPr>
            <a:r>
              <a:rPr dirty="0" sz="1200" spc="-25">
                <a:solidFill>
                  <a:srgbClr val="082F50"/>
                </a:solidFill>
                <a:latin typeface="Trebuchet MS"/>
                <a:cs typeface="Trebuchet MS"/>
              </a:rPr>
              <a:t>Tools,</a:t>
            </a:r>
            <a:r>
              <a:rPr dirty="0" sz="1200" spc="-3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and</a:t>
            </a:r>
            <a:r>
              <a:rPr dirty="0" sz="1200" spc="-1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Techniques</a:t>
            </a:r>
            <a:r>
              <a:rPr dirty="0" sz="1200" spc="-3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to</a:t>
            </a:r>
            <a:r>
              <a:rPr dirty="0" sz="1200" spc="-2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Build</a:t>
            </a:r>
            <a:r>
              <a:rPr dirty="0" sz="1200" spc="-1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Intelligent</a:t>
            </a:r>
            <a:r>
              <a:rPr dirty="0" sz="1200" spc="-2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Systems</a:t>
            </a:r>
            <a:r>
              <a:rPr dirty="0" sz="1200" spc="-3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082F50"/>
                </a:solidFill>
                <a:latin typeface="Trebuchet MS"/>
                <a:cs typeface="Trebuchet MS"/>
              </a:rPr>
              <a:t>(3</a:t>
            </a:r>
            <a:r>
              <a:rPr dirty="0" baseline="27777" sz="1200" spc="-30">
                <a:solidFill>
                  <a:srgbClr val="082F50"/>
                </a:solidFill>
                <a:latin typeface="Trebuchet MS"/>
                <a:cs typeface="Trebuchet MS"/>
              </a:rPr>
              <a:t>rd </a:t>
            </a:r>
            <a:r>
              <a:rPr dirty="0" sz="1200" spc="-30">
                <a:solidFill>
                  <a:srgbClr val="082F50"/>
                </a:solidFill>
                <a:latin typeface="Trebuchet MS"/>
                <a:cs typeface="Trebuchet MS"/>
              </a:rPr>
              <a:t>Edition).</a:t>
            </a:r>
            <a:r>
              <a:rPr dirty="0" sz="1200" spc="3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O'Reilly</a:t>
            </a:r>
            <a:r>
              <a:rPr dirty="0" sz="1200" spc="4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Media;</a:t>
            </a:r>
            <a:r>
              <a:rPr dirty="0" sz="1200" spc="4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ISBN:</a:t>
            </a:r>
            <a:r>
              <a:rPr dirty="0" sz="1200" spc="3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978-</a:t>
            </a:r>
            <a:r>
              <a:rPr dirty="0" sz="1200" spc="-10">
                <a:solidFill>
                  <a:srgbClr val="082F50"/>
                </a:solidFill>
                <a:latin typeface="Trebuchet MS"/>
                <a:cs typeface="Trebuchet MS"/>
              </a:rPr>
              <a:t>1098125974</a:t>
            </a:r>
            <a:endParaRPr sz="1200">
              <a:latin typeface="Trebuchet MS"/>
              <a:cs typeface="Trebuchet MS"/>
            </a:endParaRPr>
          </a:p>
          <a:p>
            <a:pPr marL="329565" marR="219075" indent="-266700">
              <a:lnSpc>
                <a:spcPct val="103299"/>
              </a:lnSpc>
              <a:spcBef>
                <a:spcPts val="254"/>
              </a:spcBef>
              <a:buChar char="•"/>
              <a:tabLst>
                <a:tab pos="329565" algn="l"/>
              </a:tabLst>
            </a:pPr>
            <a:r>
              <a:rPr dirty="0" sz="1200" spc="-30">
                <a:solidFill>
                  <a:srgbClr val="082F50"/>
                </a:solidFill>
                <a:latin typeface="Trebuchet MS"/>
                <a:cs typeface="Trebuchet MS"/>
              </a:rPr>
              <a:t>Jason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 Brownlee </a:t>
            </a:r>
            <a:r>
              <a:rPr dirty="0" sz="1200" spc="-25">
                <a:solidFill>
                  <a:srgbClr val="082F50"/>
                </a:solidFill>
                <a:latin typeface="Trebuchet MS"/>
                <a:cs typeface="Trebuchet MS"/>
              </a:rPr>
              <a:t>(2021).</a:t>
            </a:r>
            <a:r>
              <a:rPr dirty="0" sz="1200" spc="-1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Machine Learning</a:t>
            </a:r>
            <a:r>
              <a:rPr dirty="0" sz="1200" spc="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082F50"/>
                </a:solidFill>
                <a:latin typeface="Trebuchet MS"/>
                <a:cs typeface="Trebuchet MS"/>
              </a:rPr>
              <a:t>Mastery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With</a:t>
            </a:r>
            <a:r>
              <a:rPr dirty="0" sz="1200" spc="-3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082F50"/>
                </a:solidFill>
                <a:latin typeface="Trebuchet MS"/>
                <a:cs typeface="Trebuchet MS"/>
              </a:rPr>
              <a:t>Python:</a:t>
            </a:r>
            <a:r>
              <a:rPr dirty="0" sz="12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Understand</a:t>
            </a:r>
            <a:r>
              <a:rPr dirty="0" sz="1200" spc="-3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Your</a:t>
            </a:r>
            <a:r>
              <a:rPr dirty="0" sz="1200" spc="-4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 spc="-40">
                <a:solidFill>
                  <a:srgbClr val="082F50"/>
                </a:solidFill>
                <a:latin typeface="Trebuchet MS"/>
                <a:cs typeface="Trebuchet MS"/>
              </a:rPr>
              <a:t>Data,</a:t>
            </a:r>
            <a:r>
              <a:rPr dirty="0" sz="1200" spc="-4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082F50"/>
                </a:solidFill>
                <a:latin typeface="Trebuchet MS"/>
                <a:cs typeface="Trebuchet MS"/>
              </a:rPr>
              <a:t>Create</a:t>
            </a:r>
            <a:r>
              <a:rPr dirty="0" sz="1200" spc="-4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082F50"/>
                </a:solidFill>
                <a:latin typeface="Trebuchet MS"/>
                <a:cs typeface="Trebuchet MS"/>
              </a:rPr>
              <a:t>Accurate</a:t>
            </a:r>
            <a:endParaRPr sz="1200">
              <a:latin typeface="Trebuchet MS"/>
              <a:cs typeface="Trebuchet MS"/>
            </a:endParaRPr>
          </a:p>
          <a:p>
            <a:pPr marL="329565" marR="117475">
              <a:lnSpc>
                <a:spcPct val="103299"/>
              </a:lnSpc>
              <a:spcBef>
                <a:spcPts val="25"/>
              </a:spcBef>
            </a:pP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Models and</a:t>
            </a:r>
            <a:r>
              <a:rPr dirty="0" sz="1200" spc="2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Work</a:t>
            </a:r>
            <a:r>
              <a:rPr dirty="0" sz="1200" spc="1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 spc="-30">
                <a:solidFill>
                  <a:srgbClr val="082F50"/>
                </a:solidFill>
                <a:latin typeface="Trebuchet MS"/>
                <a:cs typeface="Trebuchet MS"/>
              </a:rPr>
              <a:t>Projects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 End-</a:t>
            </a:r>
            <a:r>
              <a:rPr dirty="0" sz="1200" spc="-10">
                <a:solidFill>
                  <a:srgbClr val="082F50"/>
                </a:solidFill>
                <a:latin typeface="Trebuchet MS"/>
                <a:cs typeface="Trebuchet MS"/>
              </a:rPr>
              <a:t>To-</a:t>
            </a:r>
            <a:r>
              <a:rPr dirty="0" sz="1200" spc="-25">
                <a:solidFill>
                  <a:srgbClr val="082F50"/>
                </a:solidFill>
                <a:latin typeface="Trebuchet MS"/>
                <a:cs typeface="Trebuchet MS"/>
              </a:rPr>
              <a:t>End.</a:t>
            </a:r>
            <a:r>
              <a:rPr dirty="0" sz="1200" spc="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082F50"/>
                </a:solidFill>
                <a:latin typeface="Trebuchet MS"/>
                <a:cs typeface="Trebuchet MS"/>
              </a:rPr>
              <a:t>Independently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published;</a:t>
            </a:r>
            <a:r>
              <a:rPr dirty="0" sz="1200" spc="3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ISBN:</a:t>
            </a:r>
            <a:r>
              <a:rPr dirty="0" sz="1200" spc="2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979-</a:t>
            </a:r>
            <a:r>
              <a:rPr dirty="0" sz="1200" spc="-10">
                <a:solidFill>
                  <a:srgbClr val="082F50"/>
                </a:solidFill>
                <a:latin typeface="Trebuchet MS"/>
                <a:cs typeface="Trebuchet MS"/>
              </a:rPr>
              <a:t>8540446273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200">
              <a:latin typeface="Trebuchet MS"/>
              <a:cs typeface="Trebuchet MS"/>
            </a:endParaRPr>
          </a:p>
          <a:p>
            <a:pPr marL="63500">
              <a:lnSpc>
                <a:spcPct val="100000"/>
              </a:lnSpc>
            </a:pPr>
            <a:r>
              <a:rPr dirty="0" sz="1200" spc="-10">
                <a:solidFill>
                  <a:srgbClr val="082F50"/>
                </a:solidFill>
                <a:latin typeface="Trebuchet MS"/>
                <a:cs typeface="Trebuchet MS"/>
              </a:rPr>
              <a:t>*Further</a:t>
            </a:r>
            <a:r>
              <a:rPr dirty="0" sz="1200" spc="-3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readings</a:t>
            </a:r>
            <a:r>
              <a:rPr dirty="0" sz="1200" spc="-3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will</a:t>
            </a:r>
            <a:r>
              <a:rPr dirty="0" sz="1200" spc="-3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be</a:t>
            </a:r>
            <a:r>
              <a:rPr dirty="0" sz="1200" spc="-2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assigned</a:t>
            </a:r>
            <a:r>
              <a:rPr dirty="0" sz="1200" spc="-2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082F50"/>
                </a:solidFill>
                <a:latin typeface="Trebuchet MS"/>
                <a:cs typeface="Trebuchet MS"/>
              </a:rPr>
              <a:t>from time</a:t>
            </a:r>
            <a:r>
              <a:rPr dirty="0" sz="1200" spc="-2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082F50"/>
                </a:solidFill>
                <a:latin typeface="Trebuchet MS"/>
                <a:cs typeface="Trebuchet MS"/>
              </a:rPr>
              <a:t>to</a:t>
            </a:r>
            <a:r>
              <a:rPr dirty="0" sz="1200" spc="-2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082F50"/>
                </a:solidFill>
                <a:latin typeface="Trebuchet MS"/>
                <a:cs typeface="Trebuchet MS"/>
              </a:rPr>
              <a:t>time.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90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Reference</a:t>
            </a:r>
            <a:r>
              <a:rPr dirty="0" spc="-130"/>
              <a:t> </a:t>
            </a:r>
            <a:r>
              <a:rPr dirty="0" spc="-70"/>
              <a:t>Materials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8629" y="1931436"/>
            <a:ext cx="8763635" cy="171132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700"/>
              </a:spcBef>
              <a:buChar char="•"/>
              <a:tabLst>
                <a:tab pos="278130" algn="l"/>
              </a:tabLst>
            </a:pP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You</a:t>
            </a:r>
            <a:r>
              <a:rPr dirty="0" sz="1900" spc="-13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60">
                <a:solidFill>
                  <a:srgbClr val="082F50"/>
                </a:solidFill>
                <a:latin typeface="Trebuchet MS"/>
                <a:cs typeface="Trebuchet MS"/>
              </a:rPr>
              <a:t>are</a:t>
            </a:r>
            <a:r>
              <a:rPr dirty="0" sz="1900" spc="-8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5">
                <a:solidFill>
                  <a:srgbClr val="082F50"/>
                </a:solidFill>
                <a:latin typeface="Trebuchet MS"/>
                <a:cs typeface="Trebuchet MS"/>
              </a:rPr>
              <a:t>welcome</a:t>
            </a:r>
            <a:r>
              <a:rPr dirty="0" sz="1900" spc="-10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to</a:t>
            </a:r>
            <a:r>
              <a:rPr dirty="0" sz="1900" spc="-9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discuss</a:t>
            </a:r>
            <a:r>
              <a:rPr dirty="0" sz="1900" spc="-10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your</a:t>
            </a:r>
            <a:r>
              <a:rPr dirty="0" sz="1900" spc="-10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views</a:t>
            </a:r>
            <a:r>
              <a:rPr dirty="0" sz="1900" spc="-10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on</a:t>
            </a:r>
            <a:r>
              <a:rPr dirty="0" sz="1900" spc="-10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this</a:t>
            </a:r>
            <a:r>
              <a:rPr dirty="0" sz="1900" spc="-10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module</a:t>
            </a:r>
            <a:r>
              <a:rPr dirty="0" sz="1900" spc="-10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65">
                <a:solidFill>
                  <a:srgbClr val="082F50"/>
                </a:solidFill>
                <a:latin typeface="Trebuchet MS"/>
                <a:cs typeface="Trebuchet MS"/>
              </a:rPr>
              <a:t>at</a:t>
            </a:r>
            <a:r>
              <a:rPr dirty="0" sz="1900" spc="-8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any</a:t>
            </a:r>
            <a:r>
              <a:rPr dirty="0" sz="1900" spc="-10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point</a:t>
            </a:r>
            <a:r>
              <a:rPr dirty="0" sz="1900" spc="-10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of</a:t>
            </a:r>
            <a:r>
              <a:rPr dirty="0" sz="1900" spc="-10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time.</a:t>
            </a:r>
            <a:endParaRPr sz="1900">
              <a:latin typeface="Trebuchet MS"/>
              <a:cs typeface="Trebuchet MS"/>
            </a:endParaRPr>
          </a:p>
          <a:p>
            <a:pPr marL="278765" marR="351155" indent="-266700">
              <a:lnSpc>
                <a:spcPct val="101099"/>
              </a:lnSpc>
              <a:spcBef>
                <a:spcPts val="575"/>
              </a:spcBef>
              <a:buChar char="•"/>
              <a:tabLst>
                <a:tab pos="278765" algn="l"/>
                <a:tab pos="2743835" algn="l"/>
              </a:tabLst>
            </a:pP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Do</a:t>
            </a:r>
            <a:r>
              <a:rPr dirty="0" sz="19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fill</a:t>
            </a:r>
            <a:r>
              <a:rPr dirty="0" sz="1900" spc="-7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in</a:t>
            </a:r>
            <a:r>
              <a:rPr dirty="0" sz="19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anonymous</a:t>
            </a:r>
            <a:r>
              <a:rPr dirty="0" sz="19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5">
                <a:solidFill>
                  <a:srgbClr val="082F50"/>
                </a:solidFill>
                <a:latin typeface="Trebuchet MS"/>
                <a:cs typeface="Trebuchet MS"/>
              </a:rPr>
              <a:t>evaluation</a:t>
            </a:r>
            <a:r>
              <a:rPr dirty="0" sz="19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5">
                <a:solidFill>
                  <a:srgbClr val="082F50"/>
                </a:solidFill>
                <a:latin typeface="Trebuchet MS"/>
                <a:cs typeface="Trebuchet MS"/>
              </a:rPr>
              <a:t>questionnaires</a:t>
            </a:r>
            <a:r>
              <a:rPr dirty="0" sz="19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in</a:t>
            </a:r>
            <a:r>
              <a:rPr dirty="0" sz="19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35">
                <a:solidFill>
                  <a:srgbClr val="082F50"/>
                </a:solidFill>
                <a:latin typeface="Trebuchet MS"/>
                <a:cs typeface="Trebuchet MS"/>
              </a:rPr>
              <a:t>the</a:t>
            </a:r>
            <a:r>
              <a:rPr dirty="0" sz="19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30">
                <a:solidFill>
                  <a:srgbClr val="082F50"/>
                </a:solidFill>
                <a:latin typeface="Trebuchet MS"/>
                <a:cs typeface="Trebuchet MS"/>
              </a:rPr>
              <a:t>student</a:t>
            </a:r>
            <a:r>
              <a:rPr dirty="0" sz="1900" spc="-6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50">
                <a:solidFill>
                  <a:srgbClr val="082F50"/>
                </a:solidFill>
                <a:latin typeface="Trebuchet MS"/>
                <a:cs typeface="Trebuchet MS"/>
              </a:rPr>
              <a:t>feedback</a:t>
            </a:r>
            <a:r>
              <a:rPr dirty="0" sz="1900" spc="-5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5">
                <a:solidFill>
                  <a:srgbClr val="082F50"/>
                </a:solidFill>
                <a:latin typeface="Trebuchet MS"/>
                <a:cs typeface="Trebuchet MS"/>
              </a:rPr>
              <a:t>form. </a:t>
            </a:r>
            <a:r>
              <a:rPr dirty="0" sz="1900" spc="-50">
                <a:solidFill>
                  <a:srgbClr val="082F50"/>
                </a:solidFill>
                <a:latin typeface="Trebuchet MS"/>
                <a:cs typeface="Trebuchet MS"/>
              </a:rPr>
              <a:t>There</a:t>
            </a:r>
            <a:r>
              <a:rPr dirty="0" sz="1900" spc="-9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65">
                <a:solidFill>
                  <a:srgbClr val="082F50"/>
                </a:solidFill>
                <a:latin typeface="Trebuchet MS"/>
                <a:cs typeface="Trebuchet MS"/>
              </a:rPr>
              <a:t>are</a:t>
            </a:r>
            <a:r>
              <a:rPr dirty="0" sz="1900" spc="-7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two</a:t>
            </a:r>
            <a:r>
              <a:rPr dirty="0" sz="1900" spc="-8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points</a:t>
            </a:r>
            <a:r>
              <a:rPr dirty="0" sz="1900" spc="-8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50">
                <a:solidFill>
                  <a:srgbClr val="082F50"/>
                </a:solidFill>
                <a:latin typeface="Trebuchet MS"/>
                <a:cs typeface="Trebuchet MS"/>
              </a:rPr>
              <a:t>-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	mid</a:t>
            </a:r>
            <a:r>
              <a:rPr dirty="0" sz="1900" spc="-10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and</a:t>
            </a:r>
            <a:r>
              <a:rPr dirty="0" sz="1900" spc="-10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end</a:t>
            </a:r>
            <a:r>
              <a:rPr dirty="0" sz="1900" spc="-10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of</a:t>
            </a:r>
            <a:r>
              <a:rPr dirty="0" sz="1900" spc="-11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35">
                <a:solidFill>
                  <a:srgbClr val="082F50"/>
                </a:solidFill>
                <a:latin typeface="Trebuchet MS"/>
                <a:cs typeface="Trebuchet MS"/>
              </a:rPr>
              <a:t>the</a:t>
            </a:r>
            <a:r>
              <a:rPr dirty="0" sz="1900" spc="-11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0">
                <a:solidFill>
                  <a:srgbClr val="082F50"/>
                </a:solidFill>
                <a:latin typeface="Trebuchet MS"/>
                <a:cs typeface="Trebuchet MS"/>
              </a:rPr>
              <a:t>teaching</a:t>
            </a:r>
            <a:r>
              <a:rPr dirty="0" sz="1900" spc="-10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semester.</a:t>
            </a:r>
            <a:endParaRPr sz="1900">
              <a:latin typeface="Trebuchet MS"/>
              <a:cs typeface="Trebuchet MS"/>
            </a:endParaRPr>
          </a:p>
          <a:p>
            <a:pPr marL="278765" marR="5080" indent="-266700">
              <a:lnSpc>
                <a:spcPct val="105300"/>
              </a:lnSpc>
              <a:spcBef>
                <a:spcPts val="405"/>
              </a:spcBef>
              <a:buChar char="•"/>
              <a:tabLst>
                <a:tab pos="278765" algn="l"/>
              </a:tabLst>
            </a:pP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The</a:t>
            </a:r>
            <a:r>
              <a:rPr dirty="0" sz="1900" spc="-9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40">
                <a:solidFill>
                  <a:srgbClr val="082F50"/>
                </a:solidFill>
                <a:latin typeface="Trebuchet MS"/>
                <a:cs typeface="Trebuchet MS"/>
              </a:rPr>
              <a:t>feedbacks</a:t>
            </a:r>
            <a:r>
              <a:rPr dirty="0" sz="1900" spc="-9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you</a:t>
            </a:r>
            <a:r>
              <a:rPr dirty="0" sz="1900" spc="-8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30">
                <a:solidFill>
                  <a:srgbClr val="082F50"/>
                </a:solidFill>
                <a:latin typeface="Trebuchet MS"/>
                <a:cs typeface="Trebuchet MS"/>
              </a:rPr>
              <a:t>provide</a:t>
            </a:r>
            <a:r>
              <a:rPr dirty="0" sz="1900" spc="-9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will</a:t>
            </a:r>
            <a:r>
              <a:rPr dirty="0" sz="1900" spc="-9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be</a:t>
            </a:r>
            <a:r>
              <a:rPr dirty="0" sz="1900" spc="-9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35">
                <a:solidFill>
                  <a:srgbClr val="082F50"/>
                </a:solidFill>
                <a:latin typeface="Trebuchet MS"/>
                <a:cs typeface="Trebuchet MS"/>
              </a:rPr>
              <a:t>constructive</a:t>
            </a:r>
            <a:r>
              <a:rPr dirty="0" sz="1900" spc="-9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45">
                <a:solidFill>
                  <a:srgbClr val="082F50"/>
                </a:solidFill>
                <a:latin typeface="Trebuchet MS"/>
                <a:cs typeface="Trebuchet MS"/>
              </a:rPr>
              <a:t>for</a:t>
            </a:r>
            <a:r>
              <a:rPr dirty="0" sz="1900" spc="-9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35">
                <a:solidFill>
                  <a:srgbClr val="082F50"/>
                </a:solidFill>
                <a:latin typeface="Trebuchet MS"/>
                <a:cs typeface="Trebuchet MS"/>
              </a:rPr>
              <a:t>improvement</a:t>
            </a:r>
            <a:r>
              <a:rPr dirty="0" sz="1900" spc="-9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082F50"/>
                </a:solidFill>
                <a:latin typeface="Trebuchet MS"/>
                <a:cs typeface="Trebuchet MS"/>
              </a:rPr>
              <a:t>of</a:t>
            </a:r>
            <a:r>
              <a:rPr dirty="0" sz="1900" spc="-95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0">
                <a:solidFill>
                  <a:srgbClr val="082F50"/>
                </a:solidFill>
                <a:latin typeface="Trebuchet MS"/>
                <a:cs typeface="Trebuchet MS"/>
              </a:rPr>
              <a:t>teaching</a:t>
            </a:r>
            <a:r>
              <a:rPr dirty="0" sz="1900" spc="-8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5">
                <a:solidFill>
                  <a:srgbClr val="082F50"/>
                </a:solidFill>
                <a:latin typeface="Trebuchet MS"/>
                <a:cs typeface="Trebuchet MS"/>
              </a:rPr>
              <a:t>and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module</a:t>
            </a:r>
            <a:r>
              <a:rPr dirty="0" sz="1900" spc="-9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35">
                <a:solidFill>
                  <a:srgbClr val="082F50"/>
                </a:solidFill>
                <a:latin typeface="Trebuchet MS"/>
                <a:cs typeface="Trebuchet MS"/>
              </a:rPr>
              <a:t>content</a:t>
            </a:r>
            <a:r>
              <a:rPr dirty="0" sz="1900" spc="-90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Trebuchet MS"/>
                <a:cs typeface="Trebuchet MS"/>
              </a:rPr>
              <a:t>development.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15"/>
              <a:t> </a:t>
            </a:r>
            <a:r>
              <a:rPr dirty="0" spc="-10"/>
              <a:t>Title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Module</a:t>
            </a:r>
            <a:r>
              <a:rPr dirty="0" spc="90"/>
              <a:t> </a:t>
            </a:r>
            <a:r>
              <a:rPr dirty="0"/>
              <a:t>Code</a:t>
            </a:r>
            <a:r>
              <a:rPr dirty="0" spc="90"/>
              <a:t> </a:t>
            </a:r>
            <a:r>
              <a:rPr dirty="0" spc="-45"/>
              <a:t>&amp;</a:t>
            </a:r>
            <a:r>
              <a:rPr dirty="0" spc="90"/>
              <a:t> </a:t>
            </a:r>
            <a:r>
              <a:rPr dirty="0"/>
              <a:t>Module</a:t>
            </a:r>
            <a:r>
              <a:rPr dirty="0" spc="90"/>
              <a:t> </a:t>
            </a:r>
            <a:r>
              <a:rPr dirty="0" spc="-20"/>
              <a:t>Title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SLIDE</a:t>
            </a:r>
            <a:r>
              <a:rPr dirty="0" spc="-5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7763" y="1569588"/>
            <a:ext cx="3797935" cy="376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5"/>
              <a:t>Your</a:t>
            </a:r>
            <a:r>
              <a:rPr dirty="0" spc="-75"/>
              <a:t> </a:t>
            </a:r>
            <a:r>
              <a:rPr dirty="0" spc="-80"/>
              <a:t>Valuable</a:t>
            </a:r>
            <a:r>
              <a:rPr dirty="0" spc="-70"/>
              <a:t> </a:t>
            </a:r>
            <a:r>
              <a:rPr dirty="0" spc="-10"/>
              <a:t>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9AB1D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 Fei Thang</dc:creator>
  <dc:title>0_Introduction and Module Overview</dc:title>
  <dcterms:created xsi:type="dcterms:W3CDTF">2025-12-26T00:21:44Z</dcterms:created>
  <dcterms:modified xsi:type="dcterms:W3CDTF">2025-12-26T00:21:44Z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2025-06-17T00:00:00Z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2025-12-26T00:00:00Z</vt:filetime>
  </property>
  <property fmtid="{D5CDD505-2E9C-101B-9397-08002B2CF9AE}" pid="5" name="Producer">
    <vt:lpwstr>macOS Version 15.5 (Build 24F74) Quartz PDFContext</vt:lpwstr>
  </property>
</Properties>
</file>