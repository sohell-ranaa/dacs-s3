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</p:sldIdLst>
  <p:sldSz cx="10693400" cy="7556500"/>
  <p:notesSz cx="10693400" cy="7556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Relationship Id="rId84" Type="http://schemas.openxmlformats.org/officeDocument/2006/relationships/slide" Target="slides/slide7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414459" y="381347"/>
            <a:ext cx="5367655" cy="8826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0070C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rgbClr val="0070C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1842" y="2033005"/>
            <a:ext cx="4581525" cy="41516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839706" y="2392901"/>
            <a:ext cx="3929379" cy="4325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6959786"/>
            <a:ext cx="9461500" cy="36811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786501" y="228602"/>
            <a:ext cx="1284598" cy="134426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09601" y="7043598"/>
            <a:ext cx="9461500" cy="27608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86158" y="346792"/>
            <a:ext cx="6269136" cy="134392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60684" y="1934491"/>
            <a:ext cx="8372030" cy="45459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0070C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8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jp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jp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jp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jp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jpg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jp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jp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jp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jpg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jpg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jpg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jpg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4.jpg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jpg"/><Relationship Id="rId3" Type="http://schemas.openxmlformats.org/officeDocument/2006/relationships/image" Target="../media/image26.jpg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v7labs.com/blog/confusion-matrix-guide" TargetMode="External"/></Relationships>
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jpg"/></Relationships>
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8.jpg"/><Relationship Id="rId3" Type="http://schemas.openxmlformats.org/officeDocument/2006/relationships/image" Target="../media/image29.jpg"/></Relationships>
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jpg"/><Relationship Id="rId3" Type="http://schemas.openxmlformats.org/officeDocument/2006/relationships/image" Target="../media/image2.jpg"/></Relationships>
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jpg"/></Relationships>
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jpg"/></Relationships>
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/Relationships>
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/Relationships>
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png"/></Relationships>

</file>

<file path=ppt/slides/_rels/slide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rasbt.github/" TargetMode="External"/><Relationship Id="rId3" Type="http://schemas.openxmlformats.org/officeDocument/2006/relationships/image" Target="../media/image36.jpg"/></Relationships>

</file>

<file path=ppt/slides/_rels/slide7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jpg"/><Relationship Id="rId3" Type="http://schemas.openxmlformats.org/officeDocument/2006/relationships/hyperlink" Target="http://www.kaggle.com/code/rafjaa/resampling-strategies-for-imbalanced-datasets" TargetMode="External"/></Relationships>

</file>

<file path=ppt/slides/_rels/slide7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/Relationships>

</file>

<file path=ppt/slides/_rels/slide7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482966" y="7086055"/>
            <a:ext cx="31115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solidFill>
                  <a:srgbClr val="C0F9FC"/>
                </a:solidFill>
                <a:latin typeface="Verdana"/>
                <a:cs typeface="Verdana"/>
              </a:rPr>
              <a:t>SLIDE</a:t>
            </a:r>
            <a:r>
              <a:rPr dirty="0" sz="600" spc="-50">
                <a:solidFill>
                  <a:srgbClr val="C0F9FC"/>
                </a:solidFill>
                <a:latin typeface="Verdana"/>
                <a:cs typeface="Verdana"/>
              </a:rPr>
              <a:t> </a:t>
            </a:r>
            <a:r>
              <a:rPr dirty="0" sz="600" spc="-100">
                <a:solidFill>
                  <a:srgbClr val="C0F9FC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21916" y="7086055"/>
            <a:ext cx="113982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solidFill>
                  <a:srgbClr val="C0F9FC"/>
                </a:solidFill>
                <a:latin typeface="Verdana"/>
                <a:cs typeface="Verdana"/>
              </a:rPr>
              <a:t>Module</a:t>
            </a:r>
            <a:r>
              <a:rPr dirty="0" sz="600" spc="90">
                <a:solidFill>
                  <a:srgbClr val="C0F9FC"/>
                </a:solidFill>
                <a:latin typeface="Verdana"/>
                <a:cs typeface="Verdana"/>
              </a:rPr>
              <a:t> </a:t>
            </a:r>
            <a:r>
              <a:rPr dirty="0" sz="600">
                <a:solidFill>
                  <a:srgbClr val="C0F9FC"/>
                </a:solidFill>
                <a:latin typeface="Verdana"/>
                <a:cs typeface="Verdana"/>
              </a:rPr>
              <a:t>Code</a:t>
            </a:r>
            <a:r>
              <a:rPr dirty="0" sz="600" spc="90">
                <a:solidFill>
                  <a:srgbClr val="C0F9FC"/>
                </a:solidFill>
                <a:latin typeface="Verdana"/>
                <a:cs typeface="Verdana"/>
              </a:rPr>
              <a:t> </a:t>
            </a:r>
            <a:r>
              <a:rPr dirty="0" sz="600" spc="-45">
                <a:solidFill>
                  <a:srgbClr val="C0F9FC"/>
                </a:solidFill>
                <a:latin typeface="Verdana"/>
                <a:cs typeface="Verdana"/>
              </a:rPr>
              <a:t>&amp;</a:t>
            </a:r>
            <a:r>
              <a:rPr dirty="0" sz="600" spc="90">
                <a:solidFill>
                  <a:srgbClr val="C0F9FC"/>
                </a:solidFill>
                <a:latin typeface="Verdana"/>
                <a:cs typeface="Verdana"/>
              </a:rPr>
              <a:t> </a:t>
            </a:r>
            <a:r>
              <a:rPr dirty="0" sz="600">
                <a:solidFill>
                  <a:srgbClr val="C0F9FC"/>
                </a:solidFill>
                <a:latin typeface="Verdana"/>
                <a:cs typeface="Verdana"/>
              </a:rPr>
              <a:t>Module</a:t>
            </a:r>
            <a:r>
              <a:rPr dirty="0" sz="600" spc="90">
                <a:solidFill>
                  <a:srgbClr val="C0F9FC"/>
                </a:solidFill>
                <a:latin typeface="Verdana"/>
                <a:cs typeface="Verdana"/>
              </a:rPr>
              <a:t> </a:t>
            </a:r>
            <a:r>
              <a:rPr dirty="0" sz="600" spc="-20">
                <a:solidFill>
                  <a:srgbClr val="C0F9FC"/>
                </a:solidFill>
                <a:latin typeface="Verdana"/>
                <a:cs typeface="Verdana"/>
              </a:rPr>
              <a:t>Title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200487" y="7070816"/>
            <a:ext cx="40640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solidFill>
                  <a:srgbClr val="C0F9FC"/>
                </a:solidFill>
                <a:latin typeface="Verdana"/>
                <a:cs typeface="Verdana"/>
              </a:rPr>
              <a:t>Slide</a:t>
            </a:r>
            <a:r>
              <a:rPr dirty="0" sz="600" spc="-15">
                <a:solidFill>
                  <a:srgbClr val="C0F9FC"/>
                </a:solidFill>
                <a:latin typeface="Verdana"/>
                <a:cs typeface="Verdana"/>
              </a:rPr>
              <a:t> </a:t>
            </a:r>
            <a:r>
              <a:rPr dirty="0" sz="600" spc="-10">
                <a:solidFill>
                  <a:srgbClr val="C0F9FC"/>
                </a:solidFill>
                <a:latin typeface="Verdana"/>
                <a:cs typeface="Verdana"/>
              </a:rPr>
              <a:t>Title</a:t>
            </a:r>
            <a:endParaRPr sz="600">
              <a:latin typeface="Verdana"/>
              <a:cs typeface="Verdan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69815" y="323814"/>
            <a:ext cx="773653" cy="912214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659065" y="3418183"/>
            <a:ext cx="4641850" cy="1771014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marL="36195" marR="5080">
              <a:lnSpc>
                <a:spcPts val="3100"/>
              </a:lnSpc>
              <a:spcBef>
                <a:spcPts val="220"/>
              </a:spcBef>
            </a:pPr>
            <a:r>
              <a:rPr dirty="0" sz="2600" spc="-270">
                <a:solidFill>
                  <a:srgbClr val="082F50"/>
                </a:solidFill>
                <a:latin typeface="Verdana"/>
                <a:cs typeface="Verdana"/>
              </a:rPr>
              <a:t>Data</a:t>
            </a:r>
            <a:r>
              <a:rPr dirty="0" sz="2600" spc="-210">
                <a:solidFill>
                  <a:srgbClr val="082F50"/>
                </a:solidFill>
                <a:latin typeface="Verdana"/>
                <a:cs typeface="Verdana"/>
              </a:rPr>
              <a:t> </a:t>
            </a:r>
            <a:r>
              <a:rPr dirty="0" sz="2600" spc="-204">
                <a:solidFill>
                  <a:srgbClr val="082F50"/>
                </a:solidFill>
                <a:latin typeface="Verdana"/>
                <a:cs typeface="Verdana"/>
              </a:rPr>
              <a:t>Analytics </a:t>
            </a:r>
            <a:r>
              <a:rPr dirty="0" sz="2600" spc="-185">
                <a:solidFill>
                  <a:srgbClr val="082F50"/>
                </a:solidFill>
                <a:latin typeface="Verdana"/>
                <a:cs typeface="Verdana"/>
              </a:rPr>
              <a:t>for</a:t>
            </a:r>
            <a:r>
              <a:rPr dirty="0" sz="2600" spc="-200">
                <a:solidFill>
                  <a:srgbClr val="082F50"/>
                </a:solidFill>
                <a:latin typeface="Verdana"/>
                <a:cs typeface="Verdana"/>
              </a:rPr>
              <a:t> </a:t>
            </a:r>
            <a:r>
              <a:rPr dirty="0" sz="2600" spc="-290">
                <a:solidFill>
                  <a:srgbClr val="082F50"/>
                </a:solidFill>
                <a:latin typeface="Verdana"/>
                <a:cs typeface="Verdana"/>
              </a:rPr>
              <a:t>Cyber</a:t>
            </a:r>
            <a:r>
              <a:rPr dirty="0" sz="2600" spc="-200">
                <a:solidFill>
                  <a:srgbClr val="082F50"/>
                </a:solidFill>
                <a:latin typeface="Verdana"/>
                <a:cs typeface="Verdana"/>
              </a:rPr>
              <a:t> Security </a:t>
            </a:r>
            <a:r>
              <a:rPr dirty="0" sz="2600" spc="-265">
                <a:solidFill>
                  <a:srgbClr val="082F50"/>
                </a:solidFill>
                <a:latin typeface="Verdana"/>
                <a:cs typeface="Verdana"/>
              </a:rPr>
              <a:t>CT115-</a:t>
            </a:r>
            <a:r>
              <a:rPr dirty="0" sz="2600" spc="-254">
                <a:solidFill>
                  <a:srgbClr val="082F50"/>
                </a:solidFill>
                <a:latin typeface="Verdana"/>
                <a:cs typeface="Verdana"/>
              </a:rPr>
              <a:t>3-</a:t>
            </a:r>
            <a:r>
              <a:rPr dirty="0" sz="2600" spc="-140">
                <a:solidFill>
                  <a:srgbClr val="082F50"/>
                </a:solidFill>
                <a:latin typeface="Verdana"/>
                <a:cs typeface="Verdana"/>
              </a:rPr>
              <a:t>M</a:t>
            </a:r>
            <a:r>
              <a:rPr dirty="0" sz="2600" spc="-195">
                <a:solidFill>
                  <a:srgbClr val="082F50"/>
                </a:solidFill>
                <a:latin typeface="Verdana"/>
                <a:cs typeface="Verdana"/>
              </a:rPr>
              <a:t> </a:t>
            </a:r>
            <a:r>
              <a:rPr dirty="0" sz="2600" spc="-254">
                <a:solidFill>
                  <a:srgbClr val="082F50"/>
                </a:solidFill>
                <a:latin typeface="Verdana"/>
                <a:cs typeface="Verdana"/>
              </a:rPr>
              <a:t>(Version</a:t>
            </a:r>
            <a:r>
              <a:rPr dirty="0" sz="2600" spc="-195">
                <a:solidFill>
                  <a:srgbClr val="082F50"/>
                </a:solidFill>
                <a:latin typeface="Verdana"/>
                <a:cs typeface="Verdana"/>
              </a:rPr>
              <a:t> </a:t>
            </a:r>
            <a:r>
              <a:rPr dirty="0" sz="2600" spc="-405">
                <a:solidFill>
                  <a:srgbClr val="082F50"/>
                </a:solidFill>
                <a:latin typeface="Verdana"/>
                <a:cs typeface="Verdana"/>
              </a:rPr>
              <a:t>E)</a:t>
            </a:r>
            <a:endParaRPr sz="2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00"/>
              </a:spcBef>
            </a:pPr>
            <a:endParaRPr sz="26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tabLst>
                <a:tab pos="3042920" algn="l"/>
              </a:tabLst>
            </a:pPr>
            <a:r>
              <a:rPr dirty="0" sz="2300" spc="-40" b="1">
                <a:solidFill>
                  <a:srgbClr val="0070C0"/>
                </a:solidFill>
                <a:latin typeface="Verdana"/>
                <a:cs typeface="Verdana"/>
              </a:rPr>
              <a:t>Machine</a:t>
            </a:r>
            <a:r>
              <a:rPr dirty="0" sz="2300" spc="-140" b="1">
                <a:solidFill>
                  <a:srgbClr val="0070C0"/>
                </a:solidFill>
                <a:latin typeface="Verdana"/>
                <a:cs typeface="Verdana"/>
              </a:rPr>
              <a:t> </a:t>
            </a:r>
            <a:r>
              <a:rPr dirty="0" sz="2300" spc="-10" b="1">
                <a:solidFill>
                  <a:srgbClr val="0070C0"/>
                </a:solidFill>
                <a:latin typeface="Verdana"/>
                <a:cs typeface="Verdana"/>
              </a:rPr>
              <a:t>Learning:</a:t>
            </a:r>
            <a:r>
              <a:rPr dirty="0" sz="2300" b="1">
                <a:solidFill>
                  <a:srgbClr val="0070C0"/>
                </a:solidFill>
                <a:latin typeface="Verdana"/>
                <a:cs typeface="Verdana"/>
              </a:rPr>
              <a:t>	</a:t>
            </a:r>
            <a:r>
              <a:rPr dirty="0" sz="2300" spc="-10" b="1">
                <a:solidFill>
                  <a:srgbClr val="0070C0"/>
                </a:solidFill>
                <a:latin typeface="Verdana"/>
                <a:cs typeface="Verdana"/>
              </a:rPr>
              <a:t>Review</a:t>
            </a:r>
            <a:endParaRPr sz="2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474753" y="7086055"/>
            <a:ext cx="32702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solidFill>
                  <a:srgbClr val="C0F9FC"/>
                </a:solidFill>
                <a:latin typeface="Verdana"/>
                <a:cs typeface="Verdana"/>
              </a:rPr>
              <a:t>SLIDE</a:t>
            </a:r>
            <a:r>
              <a:rPr dirty="0" sz="600" spc="-50">
                <a:solidFill>
                  <a:srgbClr val="C0F9FC"/>
                </a:solidFill>
                <a:latin typeface="Verdana"/>
                <a:cs typeface="Verdana"/>
              </a:rPr>
              <a:t> 2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21916" y="7086055"/>
            <a:ext cx="113982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solidFill>
                  <a:srgbClr val="C0F9FC"/>
                </a:solidFill>
                <a:latin typeface="Verdana"/>
                <a:cs typeface="Verdana"/>
              </a:rPr>
              <a:t>Module</a:t>
            </a:r>
            <a:r>
              <a:rPr dirty="0" sz="600" spc="90">
                <a:solidFill>
                  <a:srgbClr val="C0F9FC"/>
                </a:solidFill>
                <a:latin typeface="Verdana"/>
                <a:cs typeface="Verdana"/>
              </a:rPr>
              <a:t> </a:t>
            </a:r>
            <a:r>
              <a:rPr dirty="0" sz="600">
                <a:solidFill>
                  <a:srgbClr val="C0F9FC"/>
                </a:solidFill>
                <a:latin typeface="Verdana"/>
                <a:cs typeface="Verdana"/>
              </a:rPr>
              <a:t>Code</a:t>
            </a:r>
            <a:r>
              <a:rPr dirty="0" sz="600" spc="90">
                <a:solidFill>
                  <a:srgbClr val="C0F9FC"/>
                </a:solidFill>
                <a:latin typeface="Verdana"/>
                <a:cs typeface="Verdana"/>
              </a:rPr>
              <a:t> </a:t>
            </a:r>
            <a:r>
              <a:rPr dirty="0" sz="600" spc="-45">
                <a:solidFill>
                  <a:srgbClr val="C0F9FC"/>
                </a:solidFill>
                <a:latin typeface="Verdana"/>
                <a:cs typeface="Verdana"/>
              </a:rPr>
              <a:t>&amp;</a:t>
            </a:r>
            <a:r>
              <a:rPr dirty="0" sz="600" spc="90">
                <a:solidFill>
                  <a:srgbClr val="C0F9FC"/>
                </a:solidFill>
                <a:latin typeface="Verdana"/>
                <a:cs typeface="Verdana"/>
              </a:rPr>
              <a:t> </a:t>
            </a:r>
            <a:r>
              <a:rPr dirty="0" sz="600">
                <a:solidFill>
                  <a:srgbClr val="C0F9FC"/>
                </a:solidFill>
                <a:latin typeface="Verdana"/>
                <a:cs typeface="Verdana"/>
              </a:rPr>
              <a:t>Module</a:t>
            </a:r>
            <a:r>
              <a:rPr dirty="0" sz="600" spc="90">
                <a:solidFill>
                  <a:srgbClr val="C0F9FC"/>
                </a:solidFill>
                <a:latin typeface="Verdana"/>
                <a:cs typeface="Verdana"/>
              </a:rPr>
              <a:t> </a:t>
            </a:r>
            <a:r>
              <a:rPr dirty="0" sz="600" spc="-20">
                <a:solidFill>
                  <a:srgbClr val="C0F9FC"/>
                </a:solidFill>
                <a:latin typeface="Verdana"/>
                <a:cs typeface="Verdana"/>
              </a:rPr>
              <a:t>Title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200487" y="7070816"/>
            <a:ext cx="40640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solidFill>
                  <a:srgbClr val="C0F9FC"/>
                </a:solidFill>
                <a:latin typeface="Verdana"/>
                <a:cs typeface="Verdana"/>
              </a:rPr>
              <a:t>Slide</a:t>
            </a:r>
            <a:r>
              <a:rPr dirty="0" sz="600" spc="-15">
                <a:solidFill>
                  <a:srgbClr val="C0F9FC"/>
                </a:solidFill>
                <a:latin typeface="Verdana"/>
                <a:cs typeface="Verdana"/>
              </a:rPr>
              <a:t> </a:t>
            </a:r>
            <a:r>
              <a:rPr dirty="0" sz="600" spc="-10">
                <a:solidFill>
                  <a:srgbClr val="C0F9FC"/>
                </a:solidFill>
                <a:latin typeface="Verdana"/>
                <a:cs typeface="Verdana"/>
              </a:rPr>
              <a:t>Title</a:t>
            </a:r>
            <a:endParaRPr sz="600">
              <a:latin typeface="Verdana"/>
              <a:cs typeface="Verdan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8706" y="440467"/>
            <a:ext cx="8659499" cy="6640007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3889183" y="4737435"/>
            <a:ext cx="2617470" cy="152971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4925" rIns="0" bIns="0" rtlCol="0" vert="horz">
            <a:spAutoFit/>
          </a:bodyPr>
          <a:lstStyle/>
          <a:p>
            <a:pPr marL="94615">
              <a:lnSpc>
                <a:spcPts val="2245"/>
              </a:lnSpc>
              <a:spcBef>
                <a:spcPts val="275"/>
              </a:spcBef>
            </a:pPr>
            <a:r>
              <a:rPr dirty="0" sz="1900" spc="-110" b="1">
                <a:solidFill>
                  <a:srgbClr val="082F50"/>
                </a:solidFill>
                <a:latin typeface="Trebuchet MS"/>
                <a:cs typeface="Trebuchet MS"/>
              </a:rPr>
              <a:t>Deep</a:t>
            </a:r>
            <a:r>
              <a:rPr dirty="0" sz="1900" spc="-95" b="1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105" b="1">
                <a:solidFill>
                  <a:srgbClr val="082F50"/>
                </a:solidFill>
                <a:latin typeface="Trebuchet MS"/>
                <a:cs typeface="Trebuchet MS"/>
              </a:rPr>
              <a:t>Learning</a:t>
            </a:r>
            <a:r>
              <a:rPr dirty="0" sz="1900" spc="-95" b="1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20" b="1">
                <a:solidFill>
                  <a:srgbClr val="082F50"/>
                </a:solidFill>
                <a:latin typeface="Trebuchet MS"/>
                <a:cs typeface="Trebuchet MS"/>
              </a:rPr>
              <a:t>(DL)</a:t>
            </a:r>
            <a:r>
              <a:rPr dirty="0" sz="1900" spc="-20">
                <a:solidFill>
                  <a:srgbClr val="082F50"/>
                </a:solidFill>
                <a:latin typeface="Verdana"/>
                <a:cs typeface="Verdana"/>
              </a:rPr>
              <a:t>:</a:t>
            </a:r>
            <a:endParaRPr sz="1900">
              <a:latin typeface="Verdana"/>
              <a:cs typeface="Verdana"/>
            </a:endParaRPr>
          </a:p>
          <a:p>
            <a:pPr marL="94615" marR="170180">
              <a:lnSpc>
                <a:spcPct val="98400"/>
              </a:lnSpc>
            </a:pPr>
            <a:r>
              <a:rPr dirty="0" sz="1900" spc="-195">
                <a:solidFill>
                  <a:srgbClr val="082F50"/>
                </a:solidFill>
                <a:latin typeface="Verdana"/>
                <a:cs typeface="Verdana"/>
              </a:rPr>
              <a:t>A</a:t>
            </a:r>
            <a:r>
              <a:rPr dirty="0" sz="1900" spc="-185">
                <a:solidFill>
                  <a:srgbClr val="082F50"/>
                </a:solidFill>
                <a:latin typeface="Verdana"/>
                <a:cs typeface="Verdana"/>
              </a:rPr>
              <a:t> </a:t>
            </a:r>
            <a:r>
              <a:rPr dirty="0" sz="1900" spc="-170">
                <a:solidFill>
                  <a:srgbClr val="082F50"/>
                </a:solidFill>
                <a:latin typeface="Verdana"/>
                <a:cs typeface="Verdana"/>
              </a:rPr>
              <a:t>technique</a:t>
            </a:r>
            <a:r>
              <a:rPr dirty="0" sz="1900" spc="-175">
                <a:solidFill>
                  <a:srgbClr val="082F50"/>
                </a:solidFill>
                <a:latin typeface="Verdana"/>
                <a:cs typeface="Verdana"/>
              </a:rPr>
              <a:t> </a:t>
            </a:r>
            <a:r>
              <a:rPr dirty="0" sz="1900" spc="-140">
                <a:solidFill>
                  <a:srgbClr val="082F50"/>
                </a:solidFill>
                <a:latin typeface="Verdana"/>
                <a:cs typeface="Verdana"/>
              </a:rPr>
              <a:t>to</a:t>
            </a:r>
            <a:r>
              <a:rPr dirty="0" sz="1900" spc="-180">
                <a:solidFill>
                  <a:srgbClr val="082F50"/>
                </a:solidFill>
                <a:latin typeface="Verdana"/>
                <a:cs typeface="Verdana"/>
              </a:rPr>
              <a:t> </a:t>
            </a:r>
            <a:r>
              <a:rPr dirty="0" sz="1900" spc="-175">
                <a:solidFill>
                  <a:srgbClr val="082F50"/>
                </a:solidFill>
                <a:latin typeface="Verdana"/>
                <a:cs typeface="Verdana"/>
              </a:rPr>
              <a:t>perform </a:t>
            </a:r>
            <a:r>
              <a:rPr dirty="0" sz="1900" spc="-195">
                <a:solidFill>
                  <a:srgbClr val="082F50"/>
                </a:solidFill>
                <a:latin typeface="Verdana"/>
                <a:cs typeface="Verdana"/>
              </a:rPr>
              <a:t>machine</a:t>
            </a:r>
            <a:r>
              <a:rPr dirty="0" sz="1900" spc="-145">
                <a:solidFill>
                  <a:srgbClr val="082F50"/>
                </a:solidFill>
                <a:latin typeface="Verdana"/>
                <a:cs typeface="Verdana"/>
              </a:rPr>
              <a:t> </a:t>
            </a:r>
            <a:r>
              <a:rPr dirty="0" sz="1900" spc="-25">
                <a:solidFill>
                  <a:srgbClr val="082F50"/>
                </a:solidFill>
                <a:latin typeface="Verdana"/>
                <a:cs typeface="Verdana"/>
              </a:rPr>
              <a:t>learning </a:t>
            </a:r>
            <a:r>
              <a:rPr dirty="0" sz="1900" spc="-155">
                <a:solidFill>
                  <a:srgbClr val="082F50"/>
                </a:solidFill>
                <a:latin typeface="Verdana"/>
                <a:cs typeface="Verdana"/>
              </a:rPr>
              <a:t>inspired</a:t>
            </a:r>
            <a:r>
              <a:rPr dirty="0" sz="1900" spc="-180">
                <a:solidFill>
                  <a:srgbClr val="082F50"/>
                </a:solidFill>
                <a:latin typeface="Verdana"/>
                <a:cs typeface="Verdana"/>
              </a:rPr>
              <a:t> </a:t>
            </a:r>
            <a:r>
              <a:rPr dirty="0" sz="1900" spc="-225">
                <a:solidFill>
                  <a:srgbClr val="082F50"/>
                </a:solidFill>
                <a:latin typeface="Verdana"/>
                <a:cs typeface="Verdana"/>
              </a:rPr>
              <a:t>by</a:t>
            </a:r>
            <a:r>
              <a:rPr dirty="0" sz="1900" spc="-165">
                <a:solidFill>
                  <a:srgbClr val="082F50"/>
                </a:solidFill>
                <a:latin typeface="Verdana"/>
                <a:cs typeface="Verdana"/>
              </a:rPr>
              <a:t> </a:t>
            </a:r>
            <a:r>
              <a:rPr dirty="0" sz="1900" spc="-175">
                <a:solidFill>
                  <a:srgbClr val="082F50"/>
                </a:solidFill>
                <a:latin typeface="Verdana"/>
                <a:cs typeface="Verdana"/>
              </a:rPr>
              <a:t>the</a:t>
            </a:r>
            <a:r>
              <a:rPr dirty="0" sz="1900" spc="-170">
                <a:solidFill>
                  <a:srgbClr val="082F50"/>
                </a:solidFill>
                <a:latin typeface="Verdana"/>
                <a:cs typeface="Verdana"/>
              </a:rPr>
              <a:t> </a:t>
            </a:r>
            <a:r>
              <a:rPr dirty="0" sz="1900" spc="-35">
                <a:solidFill>
                  <a:srgbClr val="082F50"/>
                </a:solidFill>
                <a:latin typeface="Verdana"/>
                <a:cs typeface="Verdana"/>
              </a:rPr>
              <a:t>brain's</a:t>
            </a:r>
            <a:endParaRPr sz="1900">
              <a:latin typeface="Verdana"/>
              <a:cs typeface="Verdana"/>
            </a:endParaRPr>
          </a:p>
          <a:p>
            <a:pPr marL="94615">
              <a:lnSpc>
                <a:spcPct val="100000"/>
              </a:lnSpc>
              <a:spcBef>
                <a:spcPts val="25"/>
              </a:spcBef>
            </a:pPr>
            <a:r>
              <a:rPr dirty="0" sz="1900" spc="-190">
                <a:solidFill>
                  <a:srgbClr val="082F50"/>
                </a:solidFill>
                <a:latin typeface="Verdana"/>
                <a:cs typeface="Verdana"/>
              </a:rPr>
              <a:t>network</a:t>
            </a:r>
            <a:r>
              <a:rPr dirty="0" sz="1900" spc="-160">
                <a:solidFill>
                  <a:srgbClr val="082F50"/>
                </a:solidFill>
                <a:latin typeface="Verdana"/>
                <a:cs typeface="Verdana"/>
              </a:rPr>
              <a:t> </a:t>
            </a:r>
            <a:r>
              <a:rPr dirty="0" sz="1900" spc="-120">
                <a:solidFill>
                  <a:srgbClr val="082F50"/>
                </a:solidFill>
                <a:latin typeface="Verdana"/>
                <a:cs typeface="Verdana"/>
              </a:rPr>
              <a:t>of</a:t>
            </a:r>
            <a:r>
              <a:rPr dirty="0" sz="1900" spc="-155">
                <a:solidFill>
                  <a:srgbClr val="082F50"/>
                </a:solidFill>
                <a:latin typeface="Verdana"/>
                <a:cs typeface="Verdana"/>
              </a:rPr>
              <a:t> </a:t>
            </a:r>
            <a:r>
              <a:rPr dirty="0" sz="1900" spc="-80">
                <a:solidFill>
                  <a:srgbClr val="082F50"/>
                </a:solidFill>
                <a:latin typeface="Verdana"/>
                <a:cs typeface="Verdana"/>
              </a:rPr>
              <a:t>neurons.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210620" y="2924924"/>
            <a:ext cx="4284345" cy="124269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4290" rIns="0" bIns="0" rtlCol="0" vert="horz">
            <a:spAutoFit/>
          </a:bodyPr>
          <a:lstStyle/>
          <a:p>
            <a:pPr marL="93980">
              <a:lnSpc>
                <a:spcPts val="2245"/>
              </a:lnSpc>
              <a:spcBef>
                <a:spcPts val="270"/>
              </a:spcBef>
            </a:pPr>
            <a:r>
              <a:rPr dirty="0" sz="1900" spc="-100" b="1">
                <a:solidFill>
                  <a:srgbClr val="082F50"/>
                </a:solidFill>
                <a:latin typeface="Trebuchet MS"/>
                <a:cs typeface="Trebuchet MS"/>
              </a:rPr>
              <a:t>Machine</a:t>
            </a:r>
            <a:r>
              <a:rPr dirty="0" sz="1900" spc="-85" b="1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100" b="1">
                <a:solidFill>
                  <a:srgbClr val="082F50"/>
                </a:solidFill>
                <a:latin typeface="Trebuchet MS"/>
                <a:cs typeface="Trebuchet MS"/>
              </a:rPr>
              <a:t>Learning</a:t>
            </a:r>
            <a:r>
              <a:rPr dirty="0" sz="1900" spc="-85" b="1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20" b="1">
                <a:solidFill>
                  <a:srgbClr val="082F50"/>
                </a:solidFill>
                <a:latin typeface="Trebuchet MS"/>
                <a:cs typeface="Trebuchet MS"/>
              </a:rPr>
              <a:t>(ML)</a:t>
            </a:r>
            <a:r>
              <a:rPr dirty="0" sz="1900" spc="-20">
                <a:solidFill>
                  <a:srgbClr val="082F50"/>
                </a:solidFill>
                <a:latin typeface="Verdana"/>
                <a:cs typeface="Verdana"/>
              </a:rPr>
              <a:t>:</a:t>
            </a:r>
            <a:endParaRPr sz="1900">
              <a:latin typeface="Verdana"/>
              <a:cs typeface="Verdana"/>
            </a:endParaRPr>
          </a:p>
          <a:p>
            <a:pPr marL="93980" marR="386080">
              <a:lnSpc>
                <a:spcPct val="98400"/>
              </a:lnSpc>
            </a:pPr>
            <a:r>
              <a:rPr dirty="0" sz="1900" spc="-195">
                <a:solidFill>
                  <a:srgbClr val="082F50"/>
                </a:solidFill>
                <a:latin typeface="Verdana"/>
                <a:cs typeface="Verdana"/>
              </a:rPr>
              <a:t>A</a:t>
            </a:r>
            <a:r>
              <a:rPr dirty="0" sz="1900" spc="-180">
                <a:solidFill>
                  <a:srgbClr val="082F50"/>
                </a:solidFill>
                <a:latin typeface="Verdana"/>
                <a:cs typeface="Verdana"/>
              </a:rPr>
              <a:t> </a:t>
            </a:r>
            <a:r>
              <a:rPr dirty="0" sz="1900" spc="-170">
                <a:solidFill>
                  <a:srgbClr val="082F50"/>
                </a:solidFill>
                <a:latin typeface="Verdana"/>
                <a:cs typeface="Verdana"/>
              </a:rPr>
              <a:t>technique</a:t>
            </a:r>
            <a:r>
              <a:rPr dirty="0" sz="1900" spc="-175">
                <a:solidFill>
                  <a:srgbClr val="082F50"/>
                </a:solidFill>
                <a:latin typeface="Verdana"/>
                <a:cs typeface="Verdana"/>
              </a:rPr>
              <a:t> </a:t>
            </a:r>
            <a:r>
              <a:rPr dirty="0" sz="1900" spc="-225">
                <a:solidFill>
                  <a:srgbClr val="082F50"/>
                </a:solidFill>
                <a:latin typeface="Verdana"/>
                <a:cs typeface="Verdana"/>
              </a:rPr>
              <a:t>by</a:t>
            </a:r>
            <a:r>
              <a:rPr dirty="0" sz="1900" spc="-170">
                <a:solidFill>
                  <a:srgbClr val="082F50"/>
                </a:solidFill>
                <a:latin typeface="Verdana"/>
                <a:cs typeface="Verdana"/>
              </a:rPr>
              <a:t> </a:t>
            </a:r>
            <a:r>
              <a:rPr dirty="0" sz="1900" spc="-155">
                <a:solidFill>
                  <a:srgbClr val="082F50"/>
                </a:solidFill>
                <a:latin typeface="Verdana"/>
                <a:cs typeface="Verdana"/>
              </a:rPr>
              <a:t>which</a:t>
            </a:r>
            <a:r>
              <a:rPr dirty="0" sz="1900" spc="-170">
                <a:solidFill>
                  <a:srgbClr val="082F50"/>
                </a:solidFill>
                <a:latin typeface="Verdana"/>
                <a:cs typeface="Verdana"/>
              </a:rPr>
              <a:t> </a:t>
            </a:r>
            <a:r>
              <a:rPr dirty="0" sz="1900" spc="-210">
                <a:solidFill>
                  <a:srgbClr val="082F50"/>
                </a:solidFill>
                <a:latin typeface="Verdana"/>
                <a:cs typeface="Verdana"/>
              </a:rPr>
              <a:t>a</a:t>
            </a:r>
            <a:r>
              <a:rPr dirty="0" sz="1900" spc="-175">
                <a:solidFill>
                  <a:srgbClr val="082F50"/>
                </a:solidFill>
                <a:latin typeface="Verdana"/>
                <a:cs typeface="Verdana"/>
              </a:rPr>
              <a:t> </a:t>
            </a:r>
            <a:r>
              <a:rPr dirty="0" sz="1900" spc="-200">
                <a:solidFill>
                  <a:srgbClr val="082F50"/>
                </a:solidFill>
                <a:latin typeface="Verdana"/>
                <a:cs typeface="Verdana"/>
              </a:rPr>
              <a:t>computer</a:t>
            </a:r>
            <a:r>
              <a:rPr dirty="0" sz="1900" spc="-160">
                <a:solidFill>
                  <a:srgbClr val="082F50"/>
                </a:solidFill>
                <a:latin typeface="Verdana"/>
                <a:cs typeface="Verdana"/>
              </a:rPr>
              <a:t> </a:t>
            </a:r>
            <a:r>
              <a:rPr dirty="0" sz="1900" spc="-95">
                <a:solidFill>
                  <a:srgbClr val="082F50"/>
                </a:solidFill>
                <a:latin typeface="Verdana"/>
                <a:cs typeface="Verdana"/>
              </a:rPr>
              <a:t>can </a:t>
            </a:r>
            <a:r>
              <a:rPr dirty="0" sz="1900" spc="-204">
                <a:solidFill>
                  <a:srgbClr val="082F50"/>
                </a:solidFill>
                <a:latin typeface="Verdana"/>
                <a:cs typeface="Verdana"/>
              </a:rPr>
              <a:t>use</a:t>
            </a:r>
            <a:r>
              <a:rPr dirty="0" sz="1900" spc="-140">
                <a:solidFill>
                  <a:srgbClr val="082F50"/>
                </a:solidFill>
                <a:latin typeface="Verdana"/>
                <a:cs typeface="Verdana"/>
              </a:rPr>
              <a:t> statistical</a:t>
            </a:r>
            <a:r>
              <a:rPr dirty="0" sz="1900" spc="-125">
                <a:solidFill>
                  <a:srgbClr val="082F50"/>
                </a:solidFill>
                <a:latin typeface="Verdana"/>
                <a:cs typeface="Verdana"/>
              </a:rPr>
              <a:t> </a:t>
            </a:r>
            <a:r>
              <a:rPr dirty="0" sz="1900" spc="-185">
                <a:solidFill>
                  <a:srgbClr val="082F50"/>
                </a:solidFill>
                <a:latin typeface="Verdana"/>
                <a:cs typeface="Verdana"/>
              </a:rPr>
              <a:t>patterns</a:t>
            </a:r>
            <a:r>
              <a:rPr dirty="0" sz="1900" spc="-130">
                <a:solidFill>
                  <a:srgbClr val="082F50"/>
                </a:solidFill>
                <a:latin typeface="Verdana"/>
                <a:cs typeface="Verdana"/>
              </a:rPr>
              <a:t> </a:t>
            </a:r>
            <a:r>
              <a:rPr dirty="0" sz="1900" spc="-165">
                <a:solidFill>
                  <a:srgbClr val="082F50"/>
                </a:solidFill>
                <a:latin typeface="Verdana"/>
                <a:cs typeface="Verdana"/>
              </a:rPr>
              <a:t>inferred</a:t>
            </a:r>
            <a:r>
              <a:rPr dirty="0" sz="1900" spc="-140">
                <a:solidFill>
                  <a:srgbClr val="082F50"/>
                </a:solidFill>
                <a:latin typeface="Verdana"/>
                <a:cs typeface="Verdana"/>
              </a:rPr>
              <a:t> </a:t>
            </a:r>
            <a:r>
              <a:rPr dirty="0" sz="1900" spc="-20">
                <a:solidFill>
                  <a:srgbClr val="082F50"/>
                </a:solidFill>
                <a:latin typeface="Verdana"/>
                <a:cs typeface="Verdana"/>
              </a:rPr>
              <a:t>from </a:t>
            </a:r>
            <a:r>
              <a:rPr dirty="0" sz="1900" spc="-180">
                <a:solidFill>
                  <a:srgbClr val="082F50"/>
                </a:solidFill>
                <a:latin typeface="Verdana"/>
                <a:cs typeface="Verdana"/>
              </a:rPr>
              <a:t>observation</a:t>
            </a:r>
            <a:r>
              <a:rPr dirty="0" sz="1900" spc="-165">
                <a:solidFill>
                  <a:srgbClr val="082F50"/>
                </a:solidFill>
                <a:latin typeface="Verdana"/>
                <a:cs typeface="Verdana"/>
              </a:rPr>
              <a:t> </a:t>
            </a:r>
            <a:r>
              <a:rPr dirty="0" sz="1900" spc="-195">
                <a:solidFill>
                  <a:srgbClr val="082F50"/>
                </a:solidFill>
                <a:latin typeface="Verdana"/>
                <a:cs typeface="Verdana"/>
              </a:rPr>
              <a:t>data</a:t>
            </a:r>
            <a:r>
              <a:rPr dirty="0" sz="1900" spc="-170">
                <a:solidFill>
                  <a:srgbClr val="082F50"/>
                </a:solidFill>
                <a:latin typeface="Verdana"/>
                <a:cs typeface="Verdana"/>
              </a:rPr>
              <a:t> </a:t>
            </a:r>
            <a:r>
              <a:rPr dirty="0" sz="1900" spc="-140">
                <a:solidFill>
                  <a:srgbClr val="082F50"/>
                </a:solidFill>
                <a:latin typeface="Verdana"/>
                <a:cs typeface="Verdana"/>
              </a:rPr>
              <a:t>to</a:t>
            </a:r>
            <a:r>
              <a:rPr dirty="0" sz="1900" spc="-170">
                <a:solidFill>
                  <a:srgbClr val="082F50"/>
                </a:solidFill>
                <a:latin typeface="Verdana"/>
                <a:cs typeface="Verdana"/>
              </a:rPr>
              <a:t> </a:t>
            </a:r>
            <a:r>
              <a:rPr dirty="0" sz="1900" spc="-254">
                <a:solidFill>
                  <a:srgbClr val="082F50"/>
                </a:solidFill>
                <a:latin typeface="Verdana"/>
                <a:cs typeface="Verdana"/>
              </a:rPr>
              <a:t>make</a:t>
            </a:r>
            <a:r>
              <a:rPr dirty="0" sz="1900" spc="-170">
                <a:solidFill>
                  <a:srgbClr val="082F50"/>
                </a:solidFill>
                <a:latin typeface="Verdana"/>
                <a:cs typeface="Verdana"/>
              </a:rPr>
              <a:t> </a:t>
            </a:r>
            <a:r>
              <a:rPr dirty="0" sz="1900" spc="-100">
                <a:solidFill>
                  <a:srgbClr val="082F50"/>
                </a:solidFill>
                <a:latin typeface="Verdana"/>
                <a:cs typeface="Verdana"/>
              </a:rPr>
              <a:t>predictions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879291" y="1020302"/>
            <a:ext cx="4718685" cy="95631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3655" rIns="0" bIns="0" rtlCol="0" vert="horz">
            <a:spAutoFit/>
          </a:bodyPr>
          <a:lstStyle/>
          <a:p>
            <a:pPr marL="93980">
              <a:lnSpc>
                <a:spcPts val="2245"/>
              </a:lnSpc>
              <a:spcBef>
                <a:spcPts val="265"/>
              </a:spcBef>
            </a:pPr>
            <a:r>
              <a:rPr dirty="0" sz="1900" spc="-100" b="1">
                <a:solidFill>
                  <a:srgbClr val="082F50"/>
                </a:solidFill>
                <a:latin typeface="Trebuchet MS"/>
                <a:cs typeface="Trebuchet MS"/>
              </a:rPr>
              <a:t>Artificial</a:t>
            </a:r>
            <a:r>
              <a:rPr dirty="0" sz="1900" spc="-45" b="1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95" b="1">
                <a:solidFill>
                  <a:srgbClr val="082F50"/>
                </a:solidFill>
                <a:latin typeface="Trebuchet MS"/>
                <a:cs typeface="Trebuchet MS"/>
              </a:rPr>
              <a:t>Intelligence</a:t>
            </a:r>
            <a:r>
              <a:rPr dirty="0" sz="1900" spc="-45" b="1">
                <a:solidFill>
                  <a:srgbClr val="082F50"/>
                </a:solidFill>
                <a:latin typeface="Trebuchet MS"/>
                <a:cs typeface="Trebuchet MS"/>
              </a:rPr>
              <a:t> </a:t>
            </a:r>
            <a:r>
              <a:rPr dirty="0" sz="1900" spc="-20" b="1">
                <a:solidFill>
                  <a:srgbClr val="082F50"/>
                </a:solidFill>
                <a:latin typeface="Trebuchet MS"/>
                <a:cs typeface="Trebuchet MS"/>
              </a:rPr>
              <a:t>(AI)</a:t>
            </a:r>
            <a:r>
              <a:rPr dirty="0" sz="1900" spc="-20">
                <a:solidFill>
                  <a:srgbClr val="082F50"/>
                </a:solidFill>
                <a:latin typeface="Verdana"/>
                <a:cs typeface="Verdana"/>
              </a:rPr>
              <a:t>:</a:t>
            </a:r>
            <a:endParaRPr sz="1900">
              <a:latin typeface="Verdana"/>
              <a:cs typeface="Verdana"/>
            </a:endParaRPr>
          </a:p>
          <a:p>
            <a:pPr marL="93980" marR="155575">
              <a:lnSpc>
                <a:spcPts val="2300"/>
              </a:lnSpc>
              <a:spcBef>
                <a:spcPts val="25"/>
              </a:spcBef>
            </a:pPr>
            <a:r>
              <a:rPr dirty="0" sz="1900" spc="-155">
                <a:solidFill>
                  <a:srgbClr val="082F50"/>
                </a:solidFill>
                <a:latin typeface="Verdana"/>
                <a:cs typeface="Verdana"/>
              </a:rPr>
              <a:t>Mimicking</a:t>
            </a:r>
            <a:r>
              <a:rPr dirty="0" sz="1900" spc="-165">
                <a:solidFill>
                  <a:srgbClr val="082F50"/>
                </a:solidFill>
                <a:latin typeface="Verdana"/>
                <a:cs typeface="Verdana"/>
              </a:rPr>
              <a:t> </a:t>
            </a:r>
            <a:r>
              <a:rPr dirty="0" sz="1900" spc="-170">
                <a:solidFill>
                  <a:srgbClr val="082F50"/>
                </a:solidFill>
                <a:latin typeface="Verdana"/>
                <a:cs typeface="Verdana"/>
              </a:rPr>
              <a:t>the</a:t>
            </a:r>
            <a:r>
              <a:rPr dirty="0" sz="1900" spc="-160">
                <a:solidFill>
                  <a:srgbClr val="082F50"/>
                </a:solidFill>
                <a:latin typeface="Verdana"/>
                <a:cs typeface="Verdana"/>
              </a:rPr>
              <a:t> </a:t>
            </a:r>
            <a:r>
              <a:rPr dirty="0" sz="1900" spc="-130">
                <a:solidFill>
                  <a:srgbClr val="082F50"/>
                </a:solidFill>
                <a:latin typeface="Verdana"/>
                <a:cs typeface="Verdana"/>
              </a:rPr>
              <a:t>intelligence</a:t>
            </a:r>
            <a:r>
              <a:rPr dirty="0" sz="1900" spc="-155">
                <a:solidFill>
                  <a:srgbClr val="082F50"/>
                </a:solidFill>
                <a:latin typeface="Verdana"/>
                <a:cs typeface="Verdana"/>
              </a:rPr>
              <a:t> </a:t>
            </a:r>
            <a:r>
              <a:rPr dirty="0" sz="1900" spc="-175">
                <a:solidFill>
                  <a:srgbClr val="082F50"/>
                </a:solidFill>
                <a:latin typeface="Verdana"/>
                <a:cs typeface="Verdana"/>
              </a:rPr>
              <a:t>or</a:t>
            </a:r>
            <a:r>
              <a:rPr dirty="0" sz="1900" spc="-145">
                <a:solidFill>
                  <a:srgbClr val="082F50"/>
                </a:solidFill>
                <a:latin typeface="Verdana"/>
                <a:cs typeface="Verdana"/>
              </a:rPr>
              <a:t> </a:t>
            </a:r>
            <a:r>
              <a:rPr dirty="0" sz="1900" spc="-65">
                <a:solidFill>
                  <a:srgbClr val="082F50"/>
                </a:solidFill>
                <a:latin typeface="Verdana"/>
                <a:cs typeface="Verdana"/>
              </a:rPr>
              <a:t>behavioural </a:t>
            </a:r>
            <a:r>
              <a:rPr dirty="0" sz="1900" spc="-180">
                <a:solidFill>
                  <a:srgbClr val="082F50"/>
                </a:solidFill>
                <a:latin typeface="Verdana"/>
                <a:cs typeface="Verdana"/>
              </a:rPr>
              <a:t>pattern</a:t>
            </a:r>
            <a:r>
              <a:rPr dirty="0" sz="1900" spc="-160">
                <a:solidFill>
                  <a:srgbClr val="082F50"/>
                </a:solidFill>
                <a:latin typeface="Verdana"/>
                <a:cs typeface="Verdana"/>
              </a:rPr>
              <a:t> </a:t>
            </a:r>
            <a:r>
              <a:rPr dirty="0" sz="1900" spc="-120">
                <a:solidFill>
                  <a:srgbClr val="082F50"/>
                </a:solidFill>
                <a:latin typeface="Verdana"/>
                <a:cs typeface="Verdana"/>
              </a:rPr>
              <a:t>of</a:t>
            </a:r>
            <a:r>
              <a:rPr dirty="0" sz="1900" spc="-155">
                <a:solidFill>
                  <a:srgbClr val="082F50"/>
                </a:solidFill>
                <a:latin typeface="Verdana"/>
                <a:cs typeface="Verdana"/>
              </a:rPr>
              <a:t> </a:t>
            </a:r>
            <a:r>
              <a:rPr dirty="0" sz="1900" spc="-235">
                <a:solidFill>
                  <a:srgbClr val="082F50"/>
                </a:solidFill>
                <a:latin typeface="Verdana"/>
                <a:cs typeface="Verdana"/>
              </a:rPr>
              <a:t>humans</a:t>
            </a:r>
            <a:r>
              <a:rPr dirty="0" sz="1900" spc="-155">
                <a:solidFill>
                  <a:srgbClr val="082F50"/>
                </a:solidFill>
                <a:latin typeface="Verdana"/>
                <a:cs typeface="Verdana"/>
              </a:rPr>
              <a:t> </a:t>
            </a:r>
            <a:r>
              <a:rPr dirty="0" sz="1900" spc="-175">
                <a:solidFill>
                  <a:srgbClr val="082F50"/>
                </a:solidFill>
                <a:latin typeface="Verdana"/>
                <a:cs typeface="Verdana"/>
              </a:rPr>
              <a:t>or</a:t>
            </a:r>
            <a:r>
              <a:rPr dirty="0" sz="1900" spc="-155">
                <a:solidFill>
                  <a:srgbClr val="082F50"/>
                </a:solidFill>
                <a:latin typeface="Verdana"/>
                <a:cs typeface="Verdana"/>
              </a:rPr>
              <a:t> </a:t>
            </a:r>
            <a:r>
              <a:rPr dirty="0" sz="1900" spc="-229">
                <a:solidFill>
                  <a:srgbClr val="082F50"/>
                </a:solidFill>
                <a:latin typeface="Verdana"/>
                <a:cs typeface="Verdana"/>
              </a:rPr>
              <a:t>any</a:t>
            </a:r>
            <a:r>
              <a:rPr dirty="0" sz="1900" spc="-160">
                <a:solidFill>
                  <a:srgbClr val="082F50"/>
                </a:solidFill>
                <a:latin typeface="Verdana"/>
                <a:cs typeface="Verdana"/>
              </a:rPr>
              <a:t> </a:t>
            </a:r>
            <a:r>
              <a:rPr dirty="0" sz="1900" spc="-180">
                <a:solidFill>
                  <a:srgbClr val="082F50"/>
                </a:solidFill>
                <a:latin typeface="Verdana"/>
                <a:cs typeface="Verdana"/>
              </a:rPr>
              <a:t>other</a:t>
            </a:r>
            <a:r>
              <a:rPr dirty="0" sz="1900" spc="-155">
                <a:solidFill>
                  <a:srgbClr val="082F50"/>
                </a:solidFill>
                <a:latin typeface="Verdana"/>
                <a:cs typeface="Verdana"/>
              </a:rPr>
              <a:t> </a:t>
            </a:r>
            <a:r>
              <a:rPr dirty="0" sz="1900" spc="-114">
                <a:solidFill>
                  <a:srgbClr val="082F50"/>
                </a:solidFill>
                <a:latin typeface="Verdana"/>
                <a:cs typeface="Verdana"/>
              </a:rPr>
              <a:t>living</a:t>
            </a:r>
            <a:r>
              <a:rPr dirty="0" sz="1900" spc="-170">
                <a:solidFill>
                  <a:srgbClr val="082F50"/>
                </a:solidFill>
                <a:latin typeface="Verdana"/>
                <a:cs typeface="Verdana"/>
              </a:rPr>
              <a:t> </a:t>
            </a:r>
            <a:r>
              <a:rPr dirty="0" sz="1900" spc="-150">
                <a:solidFill>
                  <a:srgbClr val="082F50"/>
                </a:solidFill>
                <a:latin typeface="Verdana"/>
                <a:cs typeface="Verdana"/>
              </a:rPr>
              <a:t>entity.</a:t>
            </a:r>
            <a:endParaRPr sz="19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60614" rIns="0" bIns="0" rtlCol="0" vert="horz">
            <a:spAutoFit/>
          </a:bodyPr>
          <a:lstStyle/>
          <a:p>
            <a:pPr marL="1038225">
              <a:lnSpc>
                <a:spcPct val="100000"/>
              </a:lnSpc>
              <a:spcBef>
                <a:spcPts val="100"/>
              </a:spcBef>
            </a:pPr>
            <a:r>
              <a:rPr dirty="0" spc="-40">
                <a:solidFill>
                  <a:srgbClr val="262673"/>
                </a:solidFill>
              </a:rPr>
              <a:t>Types</a:t>
            </a:r>
            <a:r>
              <a:rPr dirty="0" spc="-100">
                <a:solidFill>
                  <a:srgbClr val="262673"/>
                </a:solidFill>
              </a:rPr>
              <a:t> </a:t>
            </a:r>
            <a:r>
              <a:rPr dirty="0">
                <a:solidFill>
                  <a:srgbClr val="262673"/>
                </a:solidFill>
              </a:rPr>
              <a:t>of</a:t>
            </a:r>
            <a:r>
              <a:rPr dirty="0" spc="-95">
                <a:solidFill>
                  <a:srgbClr val="262673"/>
                </a:solidFill>
              </a:rPr>
              <a:t> </a:t>
            </a:r>
            <a:r>
              <a:rPr dirty="0">
                <a:solidFill>
                  <a:srgbClr val="262673"/>
                </a:solidFill>
              </a:rPr>
              <a:t>Machine</a:t>
            </a:r>
            <a:r>
              <a:rPr dirty="0" spc="-100">
                <a:solidFill>
                  <a:srgbClr val="262673"/>
                </a:solidFill>
              </a:rPr>
              <a:t> </a:t>
            </a:r>
            <a:r>
              <a:rPr dirty="0" spc="-10">
                <a:solidFill>
                  <a:srgbClr val="262673"/>
                </a:solidFill>
              </a:rPr>
              <a:t>Learning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8058" y="2795912"/>
            <a:ext cx="8676005" cy="3689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9865" marR="52705" indent="-177800">
              <a:lnSpc>
                <a:spcPct val="100000"/>
              </a:lnSpc>
              <a:spcBef>
                <a:spcPts val="100"/>
              </a:spcBef>
              <a:buFont typeface="Arial MT"/>
              <a:buChar char="–"/>
              <a:tabLst>
                <a:tab pos="189865" algn="l"/>
                <a:tab pos="233679" algn="l"/>
              </a:tabLst>
            </a:pPr>
            <a:r>
              <a:rPr dirty="0" sz="210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dirty="0" sz="2100" spc="-10" b="1">
                <a:solidFill>
                  <a:srgbClr val="00B050"/>
                </a:solidFill>
                <a:latin typeface="Arial"/>
                <a:cs typeface="Arial"/>
              </a:rPr>
              <a:t>Supervised</a:t>
            </a:r>
            <a:r>
              <a:rPr dirty="0" sz="2100" spc="-105" b="1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dirty="0" sz="2100" spc="-10" b="1">
                <a:solidFill>
                  <a:srgbClr val="00B050"/>
                </a:solidFill>
                <a:latin typeface="Arial"/>
                <a:cs typeface="Arial"/>
              </a:rPr>
              <a:t>learning:</a:t>
            </a:r>
            <a:r>
              <a:rPr dirty="0" sz="2100" spc="-105" b="1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dirty="0" sz="2100">
                <a:latin typeface="Arial MT"/>
                <a:cs typeface="Arial MT"/>
              </a:rPr>
              <a:t>given</a:t>
            </a:r>
            <a:r>
              <a:rPr dirty="0" sz="2100" spc="-10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correct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answers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for</a:t>
            </a:r>
            <a:r>
              <a:rPr dirty="0" sz="2100" spc="-10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each</a:t>
            </a:r>
            <a:r>
              <a:rPr dirty="0" sz="2100" spc="-10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example</a:t>
            </a:r>
            <a:r>
              <a:rPr dirty="0" sz="2100" spc="-10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(</a:t>
            </a:r>
            <a:r>
              <a:rPr dirty="0" sz="2100" spc="-10">
                <a:solidFill>
                  <a:srgbClr val="0070C0"/>
                </a:solidFill>
                <a:latin typeface="Arial MT"/>
                <a:cs typeface="Arial MT"/>
              </a:rPr>
              <a:t>labelled </a:t>
            </a:r>
            <a:r>
              <a:rPr dirty="0" sz="2100">
                <a:solidFill>
                  <a:srgbClr val="0070C0"/>
                </a:solidFill>
                <a:latin typeface="Arial MT"/>
                <a:cs typeface="Arial MT"/>
              </a:rPr>
              <a:t>data</a:t>
            </a:r>
            <a:r>
              <a:rPr dirty="0" sz="2100">
                <a:latin typeface="Arial MT"/>
                <a:cs typeface="Arial MT"/>
              </a:rPr>
              <a:t>),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construct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model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to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map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input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features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to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labels</a:t>
            </a:r>
            <a:endParaRPr sz="2100">
              <a:latin typeface="Arial MT"/>
              <a:cs typeface="Arial MT"/>
            </a:endParaRPr>
          </a:p>
          <a:p>
            <a:pPr lvl="1" marL="603250" indent="-177165">
              <a:lnSpc>
                <a:spcPts val="2495"/>
              </a:lnSpc>
              <a:buChar char="•"/>
              <a:tabLst>
                <a:tab pos="603250" algn="l"/>
              </a:tabLst>
            </a:pPr>
            <a:r>
              <a:rPr dirty="0" sz="2100">
                <a:latin typeface="Arial MT"/>
                <a:cs typeface="Arial MT"/>
              </a:rPr>
              <a:t>e.g.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learn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to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recognize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cars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by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images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cars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and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35">
                <a:latin typeface="Arial MT"/>
                <a:cs typeface="Arial MT"/>
              </a:rPr>
              <a:t>non-</a:t>
            </a:r>
            <a:r>
              <a:rPr dirty="0" sz="2100" spc="-20">
                <a:latin typeface="Arial MT"/>
                <a:cs typeface="Arial MT"/>
              </a:rPr>
              <a:t>cars</a:t>
            </a:r>
            <a:endParaRPr sz="2100">
              <a:latin typeface="Arial MT"/>
              <a:cs typeface="Arial MT"/>
            </a:endParaRPr>
          </a:p>
          <a:p>
            <a:pPr marL="234315" indent="-221615">
              <a:lnSpc>
                <a:spcPts val="2510"/>
              </a:lnSpc>
              <a:spcBef>
                <a:spcPts val="1870"/>
              </a:spcBef>
              <a:buFont typeface="Arial MT"/>
              <a:buChar char="–"/>
              <a:tabLst>
                <a:tab pos="234315" algn="l"/>
              </a:tabLst>
            </a:pPr>
            <a:r>
              <a:rPr dirty="0" sz="2100" spc="-10" b="1">
                <a:solidFill>
                  <a:srgbClr val="00B050"/>
                </a:solidFill>
                <a:latin typeface="Arial"/>
                <a:cs typeface="Arial"/>
              </a:rPr>
              <a:t>Unsupervised</a:t>
            </a:r>
            <a:r>
              <a:rPr dirty="0" sz="2100" spc="-70" b="1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dirty="0" sz="2100" spc="-20" b="1">
                <a:solidFill>
                  <a:srgbClr val="00B050"/>
                </a:solidFill>
                <a:latin typeface="Arial"/>
                <a:cs typeface="Arial"/>
              </a:rPr>
              <a:t>learning:</a:t>
            </a:r>
            <a:r>
              <a:rPr dirty="0" sz="2100" spc="-80" b="1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dirty="0" sz="2100" spc="-10">
                <a:latin typeface="Arial MT"/>
                <a:cs typeface="Arial MT"/>
              </a:rPr>
              <a:t>discover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patterns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in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solidFill>
                  <a:srgbClr val="0070C0"/>
                </a:solidFill>
                <a:latin typeface="Arial MT"/>
                <a:cs typeface="Arial MT"/>
              </a:rPr>
              <a:t>unlabelled</a:t>
            </a:r>
            <a:r>
              <a:rPr dirty="0" sz="2100" spc="-75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dirty="0" sz="2100" spc="-20">
                <a:solidFill>
                  <a:srgbClr val="0070C0"/>
                </a:solidFill>
                <a:latin typeface="Arial MT"/>
                <a:cs typeface="Arial MT"/>
              </a:rPr>
              <a:t>data</a:t>
            </a:r>
            <a:endParaRPr sz="2100">
              <a:latin typeface="Arial MT"/>
              <a:cs typeface="Arial MT"/>
            </a:endParaRPr>
          </a:p>
          <a:p>
            <a:pPr lvl="1" marL="603250" indent="-177165">
              <a:lnSpc>
                <a:spcPts val="2510"/>
              </a:lnSpc>
              <a:buChar char="•"/>
              <a:tabLst>
                <a:tab pos="603250" algn="l"/>
              </a:tabLst>
            </a:pPr>
            <a:r>
              <a:rPr dirty="0" sz="2100">
                <a:latin typeface="Arial MT"/>
                <a:cs typeface="Arial MT"/>
              </a:rPr>
              <a:t>Group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toys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given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colour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or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shape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from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Lego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set</a:t>
            </a:r>
            <a:endParaRPr sz="2100">
              <a:latin typeface="Arial MT"/>
              <a:cs typeface="Arial MT"/>
            </a:endParaRPr>
          </a:p>
          <a:p>
            <a:pPr lvl="1" marL="603885" marR="5080" indent="-177800">
              <a:lnSpc>
                <a:spcPts val="2500"/>
              </a:lnSpc>
              <a:spcBef>
                <a:spcPts val="100"/>
              </a:spcBef>
              <a:buChar char="•"/>
              <a:tabLst>
                <a:tab pos="603885" algn="l"/>
              </a:tabLst>
            </a:pPr>
            <a:r>
              <a:rPr dirty="0" sz="2100">
                <a:latin typeface="Arial MT"/>
                <a:cs typeface="Arial MT"/>
              </a:rPr>
              <a:t>e.g.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learn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to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categorize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stars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or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genomic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data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when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no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labels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given (clustering,</a:t>
            </a:r>
            <a:r>
              <a:rPr dirty="0" sz="2100" spc="-12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grouping)</a:t>
            </a:r>
            <a:endParaRPr sz="2100">
              <a:latin typeface="Arial MT"/>
              <a:cs typeface="Arial MT"/>
            </a:endParaRPr>
          </a:p>
          <a:p>
            <a:pPr marL="189865" marR="537210" indent="-177800">
              <a:lnSpc>
                <a:spcPts val="2500"/>
              </a:lnSpc>
              <a:spcBef>
                <a:spcPts val="1889"/>
              </a:spcBef>
              <a:buFont typeface="Arial MT"/>
              <a:buChar char="–"/>
              <a:tabLst>
                <a:tab pos="189865" algn="l"/>
                <a:tab pos="233679" algn="l"/>
              </a:tabLst>
            </a:pPr>
            <a:r>
              <a:rPr dirty="0" sz="210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dirty="0" sz="2100" spc="-20" b="1">
                <a:solidFill>
                  <a:srgbClr val="00B050"/>
                </a:solidFill>
                <a:latin typeface="Arial"/>
                <a:cs typeface="Arial"/>
              </a:rPr>
              <a:t>Reinforcement</a:t>
            </a:r>
            <a:r>
              <a:rPr dirty="0" sz="2100" spc="-105" b="1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dirty="0" sz="2100" spc="-10" b="1">
                <a:solidFill>
                  <a:srgbClr val="00B050"/>
                </a:solidFill>
                <a:latin typeface="Arial"/>
                <a:cs typeface="Arial"/>
              </a:rPr>
              <a:t>learning:</a:t>
            </a:r>
            <a:r>
              <a:rPr dirty="0" sz="2100" spc="-105" b="1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dirty="0" sz="2100" spc="-10">
                <a:latin typeface="Arial MT"/>
                <a:cs typeface="Arial MT"/>
              </a:rPr>
              <a:t>continuous</a:t>
            </a:r>
            <a:r>
              <a:rPr dirty="0" sz="2100" spc="-10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reweighting</a:t>
            </a:r>
            <a:r>
              <a:rPr dirty="0" sz="2100" spc="-10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10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decision</a:t>
            </a:r>
            <a:r>
              <a:rPr dirty="0" sz="2100" spc="-10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model elements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after</a:t>
            </a:r>
            <a:r>
              <a:rPr dirty="0" sz="2100" spc="-10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series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decisions</a:t>
            </a:r>
            <a:endParaRPr sz="2100">
              <a:latin typeface="Arial MT"/>
              <a:cs typeface="Arial MT"/>
            </a:endParaRPr>
          </a:p>
          <a:p>
            <a:pPr lvl="1" marL="675640" indent="-249554">
              <a:lnSpc>
                <a:spcPts val="2435"/>
              </a:lnSpc>
              <a:buChar char="•"/>
              <a:tabLst>
                <a:tab pos="675640" algn="l"/>
              </a:tabLst>
            </a:pPr>
            <a:r>
              <a:rPr dirty="0" sz="2100">
                <a:latin typeface="Arial MT"/>
                <a:cs typeface="Arial MT"/>
              </a:rPr>
              <a:t>e.g.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learn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to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play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tennis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/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table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tennis</a:t>
            </a:r>
            <a:endParaRPr sz="21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9953" y="1425148"/>
            <a:ext cx="5289151" cy="13502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10004" y="1955691"/>
            <a:ext cx="8208645" cy="11811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278765" marR="5080" indent="-266700">
              <a:lnSpc>
                <a:spcPct val="99600"/>
              </a:lnSpc>
              <a:spcBef>
                <a:spcPts val="110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1900" spc="-30" b="1">
                <a:solidFill>
                  <a:srgbClr val="00B050"/>
                </a:solidFill>
                <a:latin typeface="Arial"/>
                <a:cs typeface="Arial"/>
              </a:rPr>
              <a:t>Reinforcement</a:t>
            </a:r>
            <a:r>
              <a:rPr dirty="0" sz="1900" spc="-55" b="1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dirty="0" sz="1900" spc="-20" b="1">
                <a:solidFill>
                  <a:srgbClr val="00B050"/>
                </a:solidFill>
                <a:latin typeface="Arial"/>
                <a:cs typeface="Arial"/>
              </a:rPr>
              <a:t>learning</a:t>
            </a:r>
            <a:r>
              <a:rPr dirty="0" sz="1900" spc="-55" b="1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dirty="0" sz="1900">
                <a:latin typeface="Arial MT"/>
                <a:cs typeface="Arial MT"/>
              </a:rPr>
              <a:t>is</a:t>
            </a:r>
            <a:r>
              <a:rPr dirty="0" sz="1900" spc="-5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a</a:t>
            </a:r>
            <a:r>
              <a:rPr dirty="0" sz="1900" spc="-60">
                <a:latin typeface="Arial MT"/>
                <a:cs typeface="Arial MT"/>
              </a:rPr>
              <a:t> </a:t>
            </a:r>
            <a:r>
              <a:rPr dirty="0" sz="1900" spc="-40">
                <a:latin typeface="Arial MT"/>
                <a:cs typeface="Arial MT"/>
              </a:rPr>
              <a:t>machine-</a:t>
            </a:r>
            <a:r>
              <a:rPr dirty="0" sz="1900" spc="-20">
                <a:latin typeface="Arial MT"/>
                <a:cs typeface="Arial MT"/>
              </a:rPr>
              <a:t>learning</a:t>
            </a:r>
            <a:r>
              <a:rPr dirty="0" sz="1900" spc="-6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training</a:t>
            </a:r>
            <a:r>
              <a:rPr dirty="0" sz="1900" spc="-6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method</a:t>
            </a:r>
            <a:r>
              <a:rPr dirty="0" sz="1900" spc="-6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based</a:t>
            </a:r>
            <a:r>
              <a:rPr dirty="0" sz="1900" spc="-60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on rewarding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desired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behaviors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and/or</a:t>
            </a:r>
            <a:r>
              <a:rPr dirty="0" sz="1900" spc="-60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punishing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undesired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ones.</a:t>
            </a:r>
            <a:r>
              <a:rPr dirty="0" sz="1900" spc="-6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In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general,</a:t>
            </a:r>
            <a:r>
              <a:rPr dirty="0" sz="1900" spc="-60">
                <a:latin typeface="Arial MT"/>
                <a:cs typeface="Arial MT"/>
              </a:rPr>
              <a:t> </a:t>
            </a:r>
            <a:r>
              <a:rPr dirty="0" sz="1900" spc="-50">
                <a:latin typeface="Arial MT"/>
                <a:cs typeface="Arial MT"/>
              </a:rPr>
              <a:t>a </a:t>
            </a:r>
            <a:r>
              <a:rPr dirty="0" sz="1900" spc="-25">
                <a:latin typeface="Arial MT"/>
                <a:cs typeface="Arial MT"/>
              </a:rPr>
              <a:t>reinforcement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learning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agent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is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able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to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perceive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and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interpret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its environment,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take</a:t>
            </a:r>
            <a:r>
              <a:rPr dirty="0" sz="1900" spc="-10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actions</a:t>
            </a:r>
            <a:r>
              <a:rPr dirty="0" sz="1900" spc="-9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and</a:t>
            </a:r>
            <a:r>
              <a:rPr dirty="0" sz="1900" spc="-10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learn</a:t>
            </a:r>
            <a:r>
              <a:rPr dirty="0" sz="1900" spc="-10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through</a:t>
            </a:r>
            <a:r>
              <a:rPr dirty="0" sz="1900" spc="-10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trial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and</a:t>
            </a:r>
            <a:r>
              <a:rPr dirty="0" sz="1900" spc="-10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error.</a:t>
            </a:r>
            <a:endParaRPr sz="19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56153" y="3535028"/>
            <a:ext cx="5874207" cy="341468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761875" y="652619"/>
            <a:ext cx="3988435" cy="882650"/>
          </a:xfrm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524510" marR="5080" indent="-512445">
              <a:lnSpc>
                <a:spcPct val="100699"/>
              </a:lnSpc>
              <a:spcBef>
                <a:spcPts val="75"/>
              </a:spcBef>
            </a:pPr>
            <a:r>
              <a:rPr dirty="0" spc="-10" b="0">
                <a:latin typeface="Arial MT"/>
                <a:cs typeface="Arial MT"/>
              </a:rPr>
              <a:t>Reinforcement</a:t>
            </a:r>
            <a:r>
              <a:rPr dirty="0" spc="-135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learning</a:t>
            </a:r>
            <a:r>
              <a:rPr dirty="0" spc="-145" b="0">
                <a:latin typeface="Arial MT"/>
                <a:cs typeface="Arial MT"/>
              </a:rPr>
              <a:t> </a:t>
            </a:r>
            <a:r>
              <a:rPr dirty="0" spc="-50" b="0">
                <a:latin typeface="Arial MT"/>
                <a:cs typeface="Arial MT"/>
              </a:rPr>
              <a:t>– </a:t>
            </a:r>
            <a:r>
              <a:rPr dirty="0" spc="-20" b="0">
                <a:latin typeface="Arial MT"/>
                <a:cs typeface="Arial MT"/>
              </a:rPr>
              <a:t>Types</a:t>
            </a:r>
            <a:r>
              <a:rPr dirty="0" spc="-85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of</a:t>
            </a:r>
            <a:r>
              <a:rPr dirty="0" spc="-85" b="0">
                <a:latin typeface="Arial MT"/>
                <a:cs typeface="Arial MT"/>
              </a:rPr>
              <a:t> </a:t>
            </a:r>
            <a:r>
              <a:rPr dirty="0" spc="-10" b="0">
                <a:latin typeface="Arial MT"/>
                <a:cs typeface="Arial MT"/>
              </a:rPr>
              <a:t>Problems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1110004" y="4119771"/>
            <a:ext cx="2512060" cy="11811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99600"/>
              </a:lnSpc>
              <a:spcBef>
                <a:spcPts val="110"/>
              </a:spcBef>
            </a:pPr>
            <a:r>
              <a:rPr dirty="0" sz="1900" spc="-20" b="1">
                <a:solidFill>
                  <a:srgbClr val="00B050"/>
                </a:solidFill>
                <a:latin typeface="Arial"/>
                <a:cs typeface="Arial"/>
              </a:rPr>
              <a:t>Action</a:t>
            </a:r>
            <a:r>
              <a:rPr dirty="0" sz="1900" spc="-100" b="1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00B050"/>
                </a:solidFill>
                <a:latin typeface="Arial"/>
                <a:cs typeface="Arial"/>
              </a:rPr>
              <a:t>(for</a:t>
            </a:r>
            <a:r>
              <a:rPr dirty="0" sz="1900" spc="-90" b="1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dirty="0" sz="1900" spc="-10" b="1">
                <a:solidFill>
                  <a:srgbClr val="00B050"/>
                </a:solidFill>
                <a:latin typeface="Arial"/>
                <a:cs typeface="Arial"/>
              </a:rPr>
              <a:t>example) </a:t>
            </a:r>
            <a:r>
              <a:rPr dirty="0" sz="1900" spc="-20">
                <a:latin typeface="Arial MT"/>
                <a:cs typeface="Arial MT"/>
              </a:rPr>
              <a:t>Robot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movement </a:t>
            </a:r>
            <a:r>
              <a:rPr dirty="0" sz="1900" spc="-25">
                <a:latin typeface="Arial MT"/>
                <a:cs typeface="Arial MT"/>
              </a:rPr>
              <a:t>Characters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in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games </a:t>
            </a:r>
            <a:r>
              <a:rPr dirty="0" sz="1900" spc="-30">
                <a:latin typeface="Arial MT"/>
                <a:cs typeface="Arial MT"/>
              </a:rPr>
              <a:t>Autonomous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car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driving</a:t>
            </a:r>
            <a:endParaRPr sz="1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9447" rIns="0" bIns="0" rtlCol="0" vert="horz">
            <a:spAutoFit/>
          </a:bodyPr>
          <a:lstStyle/>
          <a:p>
            <a:pPr marL="1795780">
              <a:lnSpc>
                <a:spcPct val="100000"/>
              </a:lnSpc>
              <a:spcBef>
                <a:spcPts val="100"/>
              </a:spcBef>
            </a:pPr>
            <a:r>
              <a:rPr dirty="0" b="0">
                <a:solidFill>
                  <a:srgbClr val="0D0D0D"/>
                </a:solidFill>
                <a:latin typeface="Arial MT"/>
                <a:cs typeface="Arial MT"/>
              </a:rPr>
              <a:t>Machine</a:t>
            </a:r>
            <a:r>
              <a:rPr dirty="0" spc="-150" b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pc="-10" b="0">
                <a:solidFill>
                  <a:srgbClr val="0D0D0D"/>
                </a:solidFill>
                <a:latin typeface="Arial MT"/>
                <a:cs typeface="Arial MT"/>
              </a:rPr>
              <a:t>Learning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0494" y="1292552"/>
            <a:ext cx="7844455" cy="561371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86501" y="228602"/>
            <a:ext cx="1284598" cy="134426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601" y="7043598"/>
            <a:ext cx="9461500" cy="276085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4093" y="476328"/>
            <a:ext cx="9237410" cy="645088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1441450" marR="5080" indent="-1429385">
              <a:lnSpc>
                <a:spcPct val="100699"/>
              </a:lnSpc>
              <a:spcBef>
                <a:spcPts val="75"/>
              </a:spcBef>
            </a:pPr>
            <a:r>
              <a:rPr dirty="0">
                <a:solidFill>
                  <a:srgbClr val="262673"/>
                </a:solidFill>
              </a:rPr>
              <a:t>Supervised</a:t>
            </a:r>
            <a:r>
              <a:rPr dirty="0" spc="-120">
                <a:solidFill>
                  <a:srgbClr val="262673"/>
                </a:solidFill>
              </a:rPr>
              <a:t> </a:t>
            </a:r>
            <a:r>
              <a:rPr dirty="0">
                <a:solidFill>
                  <a:srgbClr val="262673"/>
                </a:solidFill>
              </a:rPr>
              <a:t>vs</a:t>
            </a:r>
            <a:r>
              <a:rPr dirty="0" spc="-120">
                <a:solidFill>
                  <a:srgbClr val="262673"/>
                </a:solidFill>
              </a:rPr>
              <a:t> </a:t>
            </a:r>
            <a:r>
              <a:rPr dirty="0" spc="-10">
                <a:solidFill>
                  <a:srgbClr val="262673"/>
                </a:solidFill>
              </a:rPr>
              <a:t>Unsupervised</a:t>
            </a:r>
            <a:r>
              <a:rPr dirty="0" spc="-125">
                <a:solidFill>
                  <a:srgbClr val="262673"/>
                </a:solidFill>
              </a:rPr>
              <a:t> </a:t>
            </a:r>
            <a:r>
              <a:rPr dirty="0" spc="-25">
                <a:solidFill>
                  <a:srgbClr val="262673"/>
                </a:solidFill>
              </a:rPr>
              <a:t>vs </a:t>
            </a:r>
            <a:r>
              <a:rPr dirty="0" spc="-10">
                <a:solidFill>
                  <a:srgbClr val="262673"/>
                </a:solidFill>
              </a:rPr>
              <a:t>Reinforcement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7995" y="2061405"/>
            <a:ext cx="8761142" cy="4046614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536641" y="1873395"/>
            <a:ext cx="2797175" cy="315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30">
                <a:latin typeface="Arial MT"/>
                <a:cs typeface="Arial MT"/>
              </a:rPr>
              <a:t>FOR</a:t>
            </a:r>
            <a:r>
              <a:rPr dirty="0" sz="1900" spc="-10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THE</a:t>
            </a:r>
            <a:r>
              <a:rPr dirty="0" sz="1900" spc="-114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EXAM</a:t>
            </a:r>
            <a:r>
              <a:rPr dirty="0" sz="1900" spc="-10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REVIEW</a:t>
            </a:r>
            <a:endParaRPr sz="1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65998" y="660188"/>
            <a:ext cx="3125470" cy="5899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700" b="0">
                <a:latin typeface="Arial MT"/>
                <a:cs typeface="Arial MT"/>
              </a:rPr>
              <a:t>Deep</a:t>
            </a:r>
            <a:r>
              <a:rPr dirty="0" sz="3700" spc="-40" b="0">
                <a:latin typeface="Arial MT"/>
                <a:cs typeface="Arial MT"/>
              </a:rPr>
              <a:t> </a:t>
            </a:r>
            <a:r>
              <a:rPr dirty="0" sz="3700" spc="-10" b="0">
                <a:latin typeface="Arial MT"/>
                <a:cs typeface="Arial MT"/>
              </a:rPr>
              <a:t>Learning</a:t>
            </a:r>
            <a:endParaRPr sz="37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28052" y="1673884"/>
            <a:ext cx="7654925" cy="150368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278130" indent="-265430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78130" algn="l"/>
              </a:tabLst>
            </a:pPr>
            <a:r>
              <a:rPr dirty="0" sz="2200" b="1">
                <a:latin typeface="Arial"/>
                <a:cs typeface="Arial"/>
              </a:rPr>
              <a:t>Deep</a:t>
            </a:r>
            <a:r>
              <a:rPr dirty="0" sz="2200" spc="-90" b="1">
                <a:latin typeface="Arial"/>
                <a:cs typeface="Arial"/>
              </a:rPr>
              <a:t> </a:t>
            </a:r>
            <a:r>
              <a:rPr dirty="0" sz="2200" spc="-10" b="1">
                <a:latin typeface="Arial"/>
                <a:cs typeface="Arial"/>
              </a:rPr>
              <a:t>learning</a:t>
            </a:r>
            <a:r>
              <a:rPr dirty="0" sz="2200" spc="-90" b="1">
                <a:latin typeface="Arial"/>
                <a:cs typeface="Arial"/>
              </a:rPr>
              <a:t> </a:t>
            </a:r>
            <a:r>
              <a:rPr dirty="0" sz="2200" b="1">
                <a:latin typeface="Arial"/>
                <a:cs typeface="Arial"/>
              </a:rPr>
              <a:t>is</a:t>
            </a:r>
            <a:r>
              <a:rPr dirty="0" sz="2200" spc="-95" b="1">
                <a:latin typeface="Arial"/>
                <a:cs typeface="Arial"/>
              </a:rPr>
              <a:t> </a:t>
            </a:r>
            <a:r>
              <a:rPr dirty="0" sz="2200" b="1">
                <a:latin typeface="Arial"/>
                <a:cs typeface="Arial"/>
              </a:rPr>
              <a:t>a</a:t>
            </a:r>
            <a:r>
              <a:rPr dirty="0" sz="2200" spc="-95" b="1">
                <a:latin typeface="Arial"/>
                <a:cs typeface="Arial"/>
              </a:rPr>
              <a:t> </a:t>
            </a:r>
            <a:r>
              <a:rPr dirty="0" sz="2200" spc="-10" b="1">
                <a:latin typeface="Arial"/>
                <a:cs typeface="Arial"/>
              </a:rPr>
              <a:t>system</a:t>
            </a:r>
            <a:r>
              <a:rPr dirty="0" sz="2200" spc="-100" b="1">
                <a:latin typeface="Arial"/>
                <a:cs typeface="Arial"/>
              </a:rPr>
              <a:t> </a:t>
            </a:r>
            <a:r>
              <a:rPr dirty="0" sz="2200" spc="-20" b="1">
                <a:latin typeface="Arial"/>
                <a:cs typeface="Arial"/>
              </a:rPr>
              <a:t>architecture,</a:t>
            </a:r>
            <a:r>
              <a:rPr dirty="0" sz="2200" spc="-80" b="1">
                <a:latin typeface="Arial"/>
                <a:cs typeface="Arial"/>
              </a:rPr>
              <a:t> </a:t>
            </a:r>
            <a:r>
              <a:rPr dirty="0" sz="2200" b="1">
                <a:latin typeface="Arial"/>
                <a:cs typeface="Arial"/>
              </a:rPr>
              <a:t>not</a:t>
            </a:r>
            <a:r>
              <a:rPr dirty="0" sz="2200" spc="-85" b="1">
                <a:latin typeface="Arial"/>
                <a:cs typeface="Arial"/>
              </a:rPr>
              <a:t> </a:t>
            </a:r>
            <a:r>
              <a:rPr dirty="0" sz="2200" b="1">
                <a:latin typeface="Arial"/>
                <a:cs typeface="Arial"/>
              </a:rPr>
              <a:t>an</a:t>
            </a:r>
            <a:r>
              <a:rPr dirty="0" sz="2200" spc="-90" b="1">
                <a:latin typeface="Arial"/>
                <a:cs typeface="Arial"/>
              </a:rPr>
              <a:t> </a:t>
            </a:r>
            <a:r>
              <a:rPr dirty="0" sz="2200" spc="-10" b="1">
                <a:latin typeface="Arial"/>
                <a:cs typeface="Arial"/>
              </a:rPr>
              <a:t>algorithm</a:t>
            </a:r>
            <a:endParaRPr sz="2200">
              <a:latin typeface="Arial"/>
              <a:cs typeface="Arial"/>
            </a:endParaRPr>
          </a:p>
          <a:p>
            <a:pPr marL="278765" marR="97155" indent="-266700">
              <a:lnSpc>
                <a:spcPct val="98600"/>
              </a:lnSpc>
              <a:spcBef>
                <a:spcPts val="610"/>
              </a:spcBef>
              <a:buChar char="•"/>
              <a:tabLst>
                <a:tab pos="278765" algn="l"/>
              </a:tabLst>
            </a:pPr>
            <a:r>
              <a:rPr dirty="0" sz="2200">
                <a:latin typeface="Arial MT"/>
                <a:cs typeface="Arial MT"/>
              </a:rPr>
              <a:t>a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style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of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parallel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computation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inspired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by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neurons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and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their adaptive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connections: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It’s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very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different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style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from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 spc="-50">
                <a:latin typeface="Arial MT"/>
                <a:cs typeface="Arial MT"/>
              </a:rPr>
              <a:t>a </a:t>
            </a:r>
            <a:r>
              <a:rPr dirty="0" sz="2200" spc="-20">
                <a:latin typeface="Arial MT"/>
                <a:cs typeface="Arial MT"/>
              </a:rPr>
              <a:t>sequential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computation.</a:t>
            </a:r>
            <a:endParaRPr sz="22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0436" y="4352614"/>
            <a:ext cx="3205544" cy="247095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69776" y="4300041"/>
            <a:ext cx="5234271" cy="26089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62087" rIns="0" bIns="0" rtlCol="0" vert="horz">
            <a:spAutoFit/>
          </a:bodyPr>
          <a:lstStyle/>
          <a:p>
            <a:pPr marL="1621790">
              <a:lnSpc>
                <a:spcPct val="100000"/>
              </a:lnSpc>
              <a:spcBef>
                <a:spcPts val="100"/>
              </a:spcBef>
            </a:pPr>
            <a:r>
              <a:rPr dirty="0" sz="3700" b="0">
                <a:latin typeface="Arial MT"/>
                <a:cs typeface="Arial MT"/>
              </a:rPr>
              <a:t>Deep</a:t>
            </a:r>
            <a:r>
              <a:rPr dirty="0" sz="3700" spc="-40" b="0">
                <a:latin typeface="Arial MT"/>
                <a:cs typeface="Arial MT"/>
              </a:rPr>
              <a:t> </a:t>
            </a:r>
            <a:r>
              <a:rPr dirty="0" sz="3700" spc="-10" b="0">
                <a:latin typeface="Arial MT"/>
                <a:cs typeface="Arial MT"/>
              </a:rPr>
              <a:t>Learning</a:t>
            </a:r>
            <a:endParaRPr sz="37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80746" y="1762126"/>
            <a:ext cx="8839200" cy="164909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278765" marR="5080" indent="-266700">
              <a:lnSpc>
                <a:spcPct val="100499"/>
              </a:lnSpc>
              <a:spcBef>
                <a:spcPts val="85"/>
              </a:spcBef>
              <a:buChar char="•"/>
              <a:tabLst>
                <a:tab pos="278765" algn="l"/>
              </a:tabLst>
            </a:pPr>
            <a:r>
              <a:rPr dirty="0" sz="2200">
                <a:solidFill>
                  <a:srgbClr val="0D0D0D"/>
                </a:solidFill>
                <a:latin typeface="Arial MT"/>
                <a:cs typeface="Arial MT"/>
              </a:rPr>
              <a:t>Deep</a:t>
            </a:r>
            <a:r>
              <a:rPr dirty="0" sz="2200" spc="-9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200" spc="-20">
                <a:solidFill>
                  <a:srgbClr val="0D0D0D"/>
                </a:solidFill>
                <a:latin typeface="Arial MT"/>
                <a:cs typeface="Arial MT"/>
              </a:rPr>
              <a:t>learning</a:t>
            </a:r>
            <a:r>
              <a:rPr dirty="0" sz="2200" spc="-9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200" spc="-20">
                <a:solidFill>
                  <a:srgbClr val="0D0D0D"/>
                </a:solidFill>
                <a:latin typeface="Arial MT"/>
                <a:cs typeface="Arial MT"/>
              </a:rPr>
              <a:t>methods</a:t>
            </a:r>
            <a:r>
              <a:rPr dirty="0" sz="2200" spc="-8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0D0D0D"/>
                </a:solidFill>
                <a:latin typeface="Arial MT"/>
                <a:cs typeface="Arial MT"/>
              </a:rPr>
              <a:t>aim</a:t>
            </a:r>
            <a:r>
              <a:rPr dirty="0" sz="2200" spc="-9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0D0D0D"/>
                </a:solidFill>
                <a:latin typeface="Arial MT"/>
                <a:cs typeface="Arial MT"/>
              </a:rPr>
              <a:t>at</a:t>
            </a:r>
            <a:r>
              <a:rPr dirty="0" sz="2200" spc="-7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200" spc="-20">
                <a:solidFill>
                  <a:srgbClr val="0D0D0D"/>
                </a:solidFill>
                <a:latin typeface="Arial MT"/>
                <a:cs typeface="Arial MT"/>
              </a:rPr>
              <a:t>learning</a:t>
            </a:r>
            <a:r>
              <a:rPr dirty="0" sz="2200" spc="-8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FF0000"/>
                </a:solidFill>
                <a:latin typeface="Arial MT"/>
                <a:cs typeface="Arial MT"/>
              </a:rPr>
              <a:t>feature</a:t>
            </a:r>
            <a:r>
              <a:rPr dirty="0" sz="2200" spc="-9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200" spc="-20">
                <a:solidFill>
                  <a:srgbClr val="FF0000"/>
                </a:solidFill>
                <a:latin typeface="Arial MT"/>
                <a:cs typeface="Arial MT"/>
              </a:rPr>
              <a:t>hierarchies</a:t>
            </a:r>
            <a:r>
              <a:rPr dirty="0" sz="2200" spc="-9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0D0D0D"/>
                </a:solidFill>
                <a:latin typeface="Arial MT"/>
                <a:cs typeface="Arial MT"/>
              </a:rPr>
              <a:t>where features</a:t>
            </a:r>
            <a:r>
              <a:rPr dirty="0" sz="2200" spc="-9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0D0D0D"/>
                </a:solidFill>
                <a:latin typeface="Arial MT"/>
                <a:cs typeface="Arial MT"/>
              </a:rPr>
              <a:t>from</a:t>
            </a:r>
            <a:r>
              <a:rPr dirty="0" sz="2200" spc="-10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0D0D0D"/>
                </a:solidFill>
                <a:latin typeface="Arial MT"/>
                <a:cs typeface="Arial MT"/>
              </a:rPr>
              <a:t>higher</a:t>
            </a:r>
            <a:r>
              <a:rPr dirty="0" sz="2200" spc="-9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0D0D0D"/>
                </a:solidFill>
                <a:latin typeface="Arial MT"/>
                <a:cs typeface="Arial MT"/>
              </a:rPr>
              <a:t>levels</a:t>
            </a:r>
            <a:r>
              <a:rPr dirty="0" sz="2200" spc="-9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0D0D0D"/>
                </a:solidFill>
                <a:latin typeface="Arial MT"/>
                <a:cs typeface="Arial MT"/>
              </a:rPr>
              <a:t>of</a:t>
            </a:r>
            <a:r>
              <a:rPr dirty="0" sz="2200" spc="-8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0D0D0D"/>
                </a:solidFill>
                <a:latin typeface="Arial MT"/>
                <a:cs typeface="Arial MT"/>
              </a:rPr>
              <a:t>the</a:t>
            </a:r>
            <a:r>
              <a:rPr dirty="0" sz="2200" spc="-10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200" spc="-20">
                <a:solidFill>
                  <a:srgbClr val="0D0D0D"/>
                </a:solidFill>
                <a:latin typeface="Arial MT"/>
                <a:cs typeface="Arial MT"/>
              </a:rPr>
              <a:t>hierarchy</a:t>
            </a:r>
            <a:r>
              <a:rPr dirty="0" sz="2200" spc="-9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0D0D0D"/>
                </a:solidFill>
                <a:latin typeface="Arial MT"/>
                <a:cs typeface="Arial MT"/>
              </a:rPr>
              <a:t>are</a:t>
            </a:r>
            <a:r>
              <a:rPr dirty="0" sz="2200" spc="-10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0D0D0D"/>
                </a:solidFill>
                <a:latin typeface="Arial MT"/>
                <a:cs typeface="Arial MT"/>
              </a:rPr>
              <a:t>formed</a:t>
            </a:r>
            <a:r>
              <a:rPr dirty="0" sz="2200" spc="-9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0D0D0D"/>
                </a:solidFill>
                <a:latin typeface="Arial MT"/>
                <a:cs typeface="Arial MT"/>
              </a:rPr>
              <a:t>from</a:t>
            </a:r>
            <a:r>
              <a:rPr dirty="0" sz="2200" spc="-10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0D0D0D"/>
                </a:solidFill>
                <a:latin typeface="Arial MT"/>
                <a:cs typeface="Arial MT"/>
              </a:rPr>
              <a:t>the</a:t>
            </a:r>
            <a:r>
              <a:rPr dirty="0" sz="2200" spc="-10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0D0D0D"/>
                </a:solidFill>
                <a:latin typeface="Arial MT"/>
                <a:cs typeface="Arial MT"/>
              </a:rPr>
              <a:t>lower- </a:t>
            </a:r>
            <a:r>
              <a:rPr dirty="0" sz="2200">
                <a:solidFill>
                  <a:srgbClr val="0D0D0D"/>
                </a:solidFill>
                <a:latin typeface="Arial MT"/>
                <a:cs typeface="Arial MT"/>
              </a:rPr>
              <a:t>level</a:t>
            </a:r>
            <a:r>
              <a:rPr dirty="0" sz="2200" spc="-14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0D0D0D"/>
                </a:solidFill>
                <a:latin typeface="Arial MT"/>
                <a:cs typeface="Arial MT"/>
              </a:rPr>
              <a:t>features.</a:t>
            </a:r>
            <a:endParaRPr sz="2200">
              <a:latin typeface="Arial MT"/>
              <a:cs typeface="Arial MT"/>
            </a:endParaRPr>
          </a:p>
          <a:p>
            <a:pPr lvl="1" marL="899794" indent="-177800">
              <a:lnSpc>
                <a:spcPct val="100000"/>
              </a:lnSpc>
              <a:spcBef>
                <a:spcPts val="1835"/>
              </a:spcBef>
              <a:buFont typeface="Arial MT"/>
              <a:buChar char="•"/>
              <a:tabLst>
                <a:tab pos="899794" algn="l"/>
              </a:tabLst>
            </a:pPr>
            <a:r>
              <a:rPr dirty="0" sz="2500" b="1" i="1">
                <a:solidFill>
                  <a:srgbClr val="C00000"/>
                </a:solidFill>
                <a:latin typeface="Arial"/>
                <a:cs typeface="Arial"/>
              </a:rPr>
              <a:t>The</a:t>
            </a:r>
            <a:r>
              <a:rPr dirty="0" sz="2500" spc="-75" b="1" i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500" b="1" i="1">
                <a:solidFill>
                  <a:srgbClr val="C00000"/>
                </a:solidFill>
                <a:latin typeface="Arial"/>
                <a:cs typeface="Arial"/>
              </a:rPr>
              <a:t>Model</a:t>
            </a:r>
            <a:r>
              <a:rPr dirty="0" sz="2500" spc="-75" b="1" i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500" b="1" i="1">
                <a:solidFill>
                  <a:srgbClr val="C00000"/>
                </a:solidFill>
                <a:latin typeface="Arial"/>
                <a:cs typeface="Arial"/>
              </a:rPr>
              <a:t>Defines</a:t>
            </a:r>
            <a:r>
              <a:rPr dirty="0" sz="2500" spc="-75" b="1" i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500" b="1" i="1">
                <a:solidFill>
                  <a:srgbClr val="C00000"/>
                </a:solidFill>
                <a:latin typeface="Arial"/>
                <a:cs typeface="Arial"/>
              </a:rPr>
              <a:t>the</a:t>
            </a:r>
            <a:r>
              <a:rPr dirty="0" sz="2500" spc="-75" b="1" i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500" spc="-10" b="1" i="1">
                <a:solidFill>
                  <a:srgbClr val="C00000"/>
                </a:solidFill>
                <a:latin typeface="Arial"/>
                <a:cs typeface="Arial"/>
              </a:rPr>
              <a:t>Features</a:t>
            </a:r>
            <a:endParaRPr sz="250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6158" y="3946240"/>
            <a:ext cx="5541173" cy="26718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77022" rIns="0" bIns="0" rtlCol="0" vert="horz">
            <a:spAutoFit/>
          </a:bodyPr>
          <a:lstStyle/>
          <a:p>
            <a:pPr marL="636270">
              <a:lnSpc>
                <a:spcPct val="100000"/>
              </a:lnSpc>
              <a:spcBef>
                <a:spcPts val="100"/>
              </a:spcBef>
            </a:pPr>
            <a:r>
              <a:rPr dirty="0" b="0">
                <a:latin typeface="Arial MT"/>
                <a:cs typeface="Arial MT"/>
              </a:rPr>
              <a:t>Machine</a:t>
            </a:r>
            <a:r>
              <a:rPr dirty="0" spc="-105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Learning</a:t>
            </a:r>
            <a:r>
              <a:rPr dirty="0" spc="-100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v.</a:t>
            </a:r>
            <a:r>
              <a:rPr dirty="0" spc="-100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Deep</a:t>
            </a:r>
            <a:r>
              <a:rPr dirty="0" spc="-100" b="0">
                <a:latin typeface="Arial MT"/>
                <a:cs typeface="Arial MT"/>
              </a:rPr>
              <a:t> </a:t>
            </a:r>
            <a:r>
              <a:rPr dirty="0" spc="-10" b="0">
                <a:latin typeface="Arial MT"/>
                <a:cs typeface="Arial MT"/>
              </a:rPr>
              <a:t>Learning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8206" y="1716073"/>
            <a:ext cx="6807602" cy="52106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89694" rIns="0" bIns="0" rtlCol="0" vert="horz">
            <a:spAutoFit/>
          </a:bodyPr>
          <a:lstStyle/>
          <a:p>
            <a:pPr marL="1183005">
              <a:lnSpc>
                <a:spcPct val="100000"/>
              </a:lnSpc>
              <a:spcBef>
                <a:spcPts val="100"/>
              </a:spcBef>
            </a:pPr>
            <a:r>
              <a:rPr dirty="0" sz="3300" b="0">
                <a:latin typeface="Arial MT"/>
                <a:cs typeface="Arial MT"/>
              </a:rPr>
              <a:t>What</a:t>
            </a:r>
            <a:r>
              <a:rPr dirty="0" sz="3300" spc="-15" b="0">
                <a:latin typeface="Arial MT"/>
                <a:cs typeface="Arial MT"/>
              </a:rPr>
              <a:t> </a:t>
            </a:r>
            <a:r>
              <a:rPr dirty="0" sz="3300" b="0">
                <a:latin typeface="Arial MT"/>
                <a:cs typeface="Arial MT"/>
              </a:rPr>
              <a:t>is</a:t>
            </a:r>
            <a:r>
              <a:rPr dirty="0" sz="3300" spc="-5" b="0">
                <a:latin typeface="Arial MT"/>
                <a:cs typeface="Arial MT"/>
              </a:rPr>
              <a:t> </a:t>
            </a:r>
            <a:r>
              <a:rPr dirty="0" sz="3300" b="0">
                <a:latin typeface="Arial MT"/>
                <a:cs typeface="Arial MT"/>
              </a:rPr>
              <a:t>a</a:t>
            </a:r>
            <a:r>
              <a:rPr dirty="0" sz="3300" spc="-10" b="0">
                <a:latin typeface="Arial MT"/>
                <a:cs typeface="Arial MT"/>
              </a:rPr>
              <a:t> </a:t>
            </a:r>
            <a:r>
              <a:rPr dirty="0" sz="3300" spc="-10" b="0" i="1">
                <a:latin typeface="Arial"/>
                <a:cs typeface="Arial"/>
              </a:rPr>
              <a:t>Statistic</a:t>
            </a:r>
            <a:r>
              <a:rPr dirty="0" sz="3300" spc="-10" b="0">
                <a:latin typeface="Arial MT"/>
                <a:cs typeface="Arial MT"/>
              </a:rPr>
              <a:t>?</a:t>
            </a:r>
            <a:endParaRPr sz="33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195800" y="1934491"/>
            <a:ext cx="8067040" cy="269811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643255" indent="-630555">
              <a:lnSpc>
                <a:spcPct val="100000"/>
              </a:lnSpc>
              <a:spcBef>
                <a:spcPts val="675"/>
              </a:spcBef>
              <a:buChar char="•"/>
              <a:tabLst>
                <a:tab pos="643255" algn="l"/>
              </a:tabLst>
            </a:pPr>
            <a:r>
              <a:rPr dirty="0" sz="2500">
                <a:latin typeface="Arial MT"/>
                <a:cs typeface="Arial MT"/>
              </a:rPr>
              <a:t>“A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u="heavy" sz="250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quantity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that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is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computed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from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sample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[of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data].”</a:t>
            </a:r>
            <a:endParaRPr sz="2500">
              <a:latin typeface="Arial MT"/>
              <a:cs typeface="Arial MT"/>
            </a:endParaRPr>
          </a:p>
          <a:p>
            <a:pPr marL="1037590">
              <a:lnSpc>
                <a:spcPct val="100000"/>
              </a:lnSpc>
              <a:spcBef>
                <a:spcPts val="575"/>
              </a:spcBef>
            </a:pPr>
            <a:r>
              <a:rPr dirty="0" sz="2500" spc="-25" i="1">
                <a:latin typeface="Arial"/>
                <a:cs typeface="Arial"/>
              </a:rPr>
              <a:t>Merriam-</a:t>
            </a:r>
            <a:r>
              <a:rPr dirty="0" sz="2500" spc="-10" i="1">
                <a:latin typeface="Arial"/>
                <a:cs typeface="Arial"/>
              </a:rPr>
              <a:t>Webster</a:t>
            </a:r>
            <a:endParaRPr sz="2500">
              <a:latin typeface="Arial"/>
              <a:cs typeface="Arial"/>
            </a:endParaRPr>
          </a:p>
          <a:p>
            <a:pPr marL="847090" marR="129539" indent="-524510">
              <a:lnSpc>
                <a:spcPct val="101200"/>
              </a:lnSpc>
              <a:spcBef>
                <a:spcPts val="1864"/>
              </a:spcBef>
            </a:pPr>
            <a:r>
              <a:rPr dirty="0" sz="3300" i="1">
                <a:latin typeface="Arial"/>
                <a:cs typeface="Arial"/>
              </a:rPr>
              <a:t>→</a:t>
            </a:r>
            <a:r>
              <a:rPr dirty="0" sz="3300" spc="-35" i="1">
                <a:latin typeface="Arial"/>
                <a:cs typeface="Arial"/>
              </a:rPr>
              <a:t> </a:t>
            </a:r>
            <a:r>
              <a:rPr dirty="0" sz="3300">
                <a:latin typeface="Arial MT"/>
                <a:cs typeface="Arial MT"/>
              </a:rPr>
              <a:t>a</a:t>
            </a:r>
            <a:r>
              <a:rPr dirty="0" sz="3300" spc="-35">
                <a:latin typeface="Arial MT"/>
                <a:cs typeface="Arial MT"/>
              </a:rPr>
              <a:t> </a:t>
            </a:r>
            <a:r>
              <a:rPr dirty="0" sz="3300">
                <a:latin typeface="Arial MT"/>
                <a:cs typeface="Arial MT"/>
              </a:rPr>
              <a:t>fact</a:t>
            </a:r>
            <a:r>
              <a:rPr dirty="0" sz="3300" spc="-35">
                <a:latin typeface="Arial MT"/>
                <a:cs typeface="Arial MT"/>
              </a:rPr>
              <a:t> </a:t>
            </a:r>
            <a:r>
              <a:rPr dirty="0" sz="3300">
                <a:latin typeface="Arial MT"/>
                <a:cs typeface="Arial MT"/>
              </a:rPr>
              <a:t>or</a:t>
            </a:r>
            <a:r>
              <a:rPr dirty="0" sz="3300" spc="-40">
                <a:latin typeface="Arial MT"/>
                <a:cs typeface="Arial MT"/>
              </a:rPr>
              <a:t> </a:t>
            </a:r>
            <a:r>
              <a:rPr dirty="0" sz="3300">
                <a:latin typeface="Arial MT"/>
                <a:cs typeface="Arial MT"/>
              </a:rPr>
              <a:t>piece</a:t>
            </a:r>
            <a:r>
              <a:rPr dirty="0" sz="3300" spc="-40">
                <a:latin typeface="Arial MT"/>
                <a:cs typeface="Arial MT"/>
              </a:rPr>
              <a:t> </a:t>
            </a:r>
            <a:r>
              <a:rPr dirty="0" sz="3300">
                <a:latin typeface="Arial MT"/>
                <a:cs typeface="Arial MT"/>
              </a:rPr>
              <a:t>of</a:t>
            </a:r>
            <a:r>
              <a:rPr dirty="0" sz="3300" spc="-35">
                <a:latin typeface="Arial MT"/>
                <a:cs typeface="Arial MT"/>
              </a:rPr>
              <a:t> </a:t>
            </a:r>
            <a:r>
              <a:rPr dirty="0" sz="3300">
                <a:latin typeface="Arial MT"/>
                <a:cs typeface="Arial MT"/>
              </a:rPr>
              <a:t>data</a:t>
            </a:r>
            <a:r>
              <a:rPr dirty="0" sz="3300" spc="-40">
                <a:latin typeface="Arial MT"/>
                <a:cs typeface="Arial MT"/>
              </a:rPr>
              <a:t> </a:t>
            </a:r>
            <a:r>
              <a:rPr dirty="0" sz="3300">
                <a:latin typeface="Arial MT"/>
                <a:cs typeface="Arial MT"/>
              </a:rPr>
              <a:t>obtained</a:t>
            </a:r>
            <a:r>
              <a:rPr dirty="0" sz="3300" spc="-40">
                <a:latin typeface="Arial MT"/>
                <a:cs typeface="Arial MT"/>
              </a:rPr>
              <a:t> </a:t>
            </a:r>
            <a:r>
              <a:rPr dirty="0" sz="3300">
                <a:latin typeface="Arial MT"/>
                <a:cs typeface="Arial MT"/>
              </a:rPr>
              <a:t>from</a:t>
            </a:r>
            <a:r>
              <a:rPr dirty="0" sz="3300" spc="-35">
                <a:latin typeface="Arial MT"/>
                <a:cs typeface="Arial MT"/>
              </a:rPr>
              <a:t> </a:t>
            </a:r>
            <a:r>
              <a:rPr dirty="0" sz="3300" spc="-50">
                <a:latin typeface="Arial MT"/>
                <a:cs typeface="Arial MT"/>
              </a:rPr>
              <a:t>a </a:t>
            </a:r>
            <a:r>
              <a:rPr dirty="0" sz="3300">
                <a:latin typeface="Arial MT"/>
                <a:cs typeface="Arial MT"/>
              </a:rPr>
              <a:t>study</a:t>
            </a:r>
            <a:r>
              <a:rPr dirty="0" sz="3300" spc="-35">
                <a:latin typeface="Arial MT"/>
                <a:cs typeface="Arial MT"/>
              </a:rPr>
              <a:t> </a:t>
            </a:r>
            <a:r>
              <a:rPr dirty="0" sz="3300">
                <a:latin typeface="Arial MT"/>
                <a:cs typeface="Arial MT"/>
              </a:rPr>
              <a:t>of</a:t>
            </a:r>
            <a:r>
              <a:rPr dirty="0" sz="3300" spc="-35">
                <a:latin typeface="Arial MT"/>
                <a:cs typeface="Arial MT"/>
              </a:rPr>
              <a:t> </a:t>
            </a:r>
            <a:r>
              <a:rPr dirty="0" sz="3300">
                <a:latin typeface="Arial MT"/>
                <a:cs typeface="Arial MT"/>
              </a:rPr>
              <a:t>a</a:t>
            </a:r>
            <a:r>
              <a:rPr dirty="0" sz="3300" spc="-35">
                <a:latin typeface="Arial MT"/>
                <a:cs typeface="Arial MT"/>
              </a:rPr>
              <a:t> </a:t>
            </a:r>
            <a:r>
              <a:rPr dirty="0" sz="3300">
                <a:latin typeface="Arial MT"/>
                <a:cs typeface="Arial MT"/>
              </a:rPr>
              <a:t>large</a:t>
            </a:r>
            <a:r>
              <a:rPr dirty="0" sz="3300" spc="-40">
                <a:latin typeface="Arial MT"/>
                <a:cs typeface="Arial MT"/>
              </a:rPr>
              <a:t> </a:t>
            </a:r>
            <a:r>
              <a:rPr dirty="0" sz="3300">
                <a:latin typeface="Arial MT"/>
                <a:cs typeface="Arial MT"/>
              </a:rPr>
              <a:t>quantity</a:t>
            </a:r>
            <a:r>
              <a:rPr dirty="0" sz="3300" spc="-35">
                <a:latin typeface="Arial MT"/>
                <a:cs typeface="Arial MT"/>
              </a:rPr>
              <a:t> </a:t>
            </a:r>
            <a:r>
              <a:rPr dirty="0" sz="3300">
                <a:latin typeface="Arial MT"/>
                <a:cs typeface="Arial MT"/>
              </a:rPr>
              <a:t>of</a:t>
            </a:r>
            <a:r>
              <a:rPr dirty="0" sz="3300" spc="-30">
                <a:latin typeface="Arial MT"/>
                <a:cs typeface="Arial MT"/>
              </a:rPr>
              <a:t> </a:t>
            </a:r>
            <a:r>
              <a:rPr dirty="0" sz="3300" spc="-10">
                <a:latin typeface="Arial MT"/>
                <a:cs typeface="Arial MT"/>
              </a:rPr>
              <a:t>numerical data.</a:t>
            </a:r>
            <a:endParaRPr sz="33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19579" y="4461885"/>
            <a:ext cx="2217538" cy="22185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99422" rIns="0" bIns="0" rtlCol="0" vert="horz">
            <a:spAutoFit/>
          </a:bodyPr>
          <a:lstStyle/>
          <a:p>
            <a:pPr marL="2430145">
              <a:lnSpc>
                <a:spcPct val="100000"/>
              </a:lnSpc>
              <a:spcBef>
                <a:spcPts val="100"/>
              </a:spcBef>
            </a:pPr>
            <a:r>
              <a:rPr dirty="0" sz="3300" spc="-10" b="0">
                <a:latin typeface="Arial MT"/>
                <a:cs typeface="Arial MT"/>
              </a:rPr>
              <a:t>Basics</a:t>
            </a:r>
            <a:endParaRPr sz="33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401127" y="1836955"/>
            <a:ext cx="7995284" cy="3151505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dirty="0" sz="2500" b="1" i="1">
                <a:latin typeface="Arial"/>
                <a:cs typeface="Arial"/>
              </a:rPr>
              <a:t>Indices</a:t>
            </a:r>
            <a:r>
              <a:rPr dirty="0" sz="2500" spc="-95" b="1" i="1">
                <a:latin typeface="Arial"/>
                <a:cs typeface="Arial"/>
              </a:rPr>
              <a:t> </a:t>
            </a:r>
            <a:r>
              <a:rPr dirty="0" sz="2500" b="1" i="1">
                <a:latin typeface="Arial"/>
                <a:cs typeface="Arial"/>
              </a:rPr>
              <a:t>of</a:t>
            </a:r>
            <a:r>
              <a:rPr dirty="0" sz="2500" spc="-85" b="1" i="1">
                <a:latin typeface="Arial"/>
                <a:cs typeface="Arial"/>
              </a:rPr>
              <a:t> </a:t>
            </a:r>
            <a:r>
              <a:rPr dirty="0" sz="2500" b="1" i="1">
                <a:latin typeface="Arial"/>
                <a:cs typeface="Arial"/>
              </a:rPr>
              <a:t>central</a:t>
            </a:r>
            <a:r>
              <a:rPr dirty="0" sz="2500" spc="-95" b="1" i="1">
                <a:latin typeface="Arial"/>
                <a:cs typeface="Arial"/>
              </a:rPr>
              <a:t> </a:t>
            </a:r>
            <a:r>
              <a:rPr dirty="0" sz="2500" spc="-10" b="1" i="1">
                <a:latin typeface="Arial"/>
                <a:cs typeface="Arial"/>
              </a:rPr>
              <a:t>tendency</a:t>
            </a:r>
            <a:endParaRPr sz="2500">
              <a:latin typeface="Arial"/>
              <a:cs typeface="Arial"/>
            </a:endParaRPr>
          </a:p>
          <a:p>
            <a:pPr marL="633095">
              <a:lnSpc>
                <a:spcPct val="100000"/>
              </a:lnSpc>
              <a:spcBef>
                <a:spcPts val="290"/>
              </a:spcBef>
            </a:pPr>
            <a:r>
              <a:rPr dirty="0" sz="2500">
                <a:latin typeface="Arial MT"/>
                <a:cs typeface="Arial MT"/>
              </a:rPr>
              <a:t>Summarize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Data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by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Single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Number</a:t>
            </a:r>
            <a:endParaRPr sz="2500">
              <a:latin typeface="Arial MT"/>
              <a:cs typeface="Arial MT"/>
            </a:endParaRPr>
          </a:p>
          <a:p>
            <a:pPr marL="278130" indent="-265430">
              <a:lnSpc>
                <a:spcPct val="100000"/>
              </a:lnSpc>
              <a:spcBef>
                <a:spcPts val="1905"/>
              </a:spcBef>
              <a:buChar char="•"/>
              <a:tabLst>
                <a:tab pos="278130" algn="l"/>
              </a:tabLst>
            </a:pPr>
            <a:r>
              <a:rPr dirty="0" sz="2200" spc="-10">
                <a:latin typeface="Arial MT"/>
                <a:cs typeface="Arial MT"/>
              </a:rPr>
              <a:t>Three</a:t>
            </a:r>
            <a:r>
              <a:rPr dirty="0" sz="2200" spc="-12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most</a:t>
            </a:r>
            <a:r>
              <a:rPr dirty="0" sz="2200" spc="-11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popular: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009900"/>
                </a:solidFill>
                <a:latin typeface="Arial MT"/>
                <a:cs typeface="Arial MT"/>
              </a:rPr>
              <a:t>mean,</a:t>
            </a:r>
            <a:r>
              <a:rPr dirty="0" sz="2200" spc="-105">
                <a:solidFill>
                  <a:srgbClr val="009900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009900"/>
                </a:solidFill>
                <a:latin typeface="Arial MT"/>
                <a:cs typeface="Arial MT"/>
              </a:rPr>
              <a:t>median,</a:t>
            </a:r>
            <a:r>
              <a:rPr dirty="0" sz="2200" spc="-105">
                <a:solidFill>
                  <a:srgbClr val="009900"/>
                </a:solidFill>
                <a:latin typeface="Arial MT"/>
                <a:cs typeface="Arial MT"/>
              </a:rPr>
              <a:t> </a:t>
            </a:r>
            <a:r>
              <a:rPr dirty="0" sz="2200" spc="-20">
                <a:solidFill>
                  <a:srgbClr val="009900"/>
                </a:solidFill>
                <a:latin typeface="Arial MT"/>
                <a:cs typeface="Arial MT"/>
              </a:rPr>
              <a:t>mode</a:t>
            </a:r>
            <a:endParaRPr sz="2200">
              <a:latin typeface="Arial MT"/>
              <a:cs typeface="Arial MT"/>
            </a:endParaRPr>
          </a:p>
          <a:p>
            <a:pPr marL="278130" indent="-265430">
              <a:lnSpc>
                <a:spcPct val="100000"/>
              </a:lnSpc>
              <a:spcBef>
                <a:spcPts val="1850"/>
              </a:spcBef>
              <a:buChar char="•"/>
              <a:tabLst>
                <a:tab pos="278130" algn="l"/>
              </a:tabLst>
            </a:pPr>
            <a:r>
              <a:rPr dirty="0" sz="2200">
                <a:solidFill>
                  <a:srgbClr val="009900"/>
                </a:solidFill>
                <a:latin typeface="Arial MT"/>
                <a:cs typeface="Arial MT"/>
              </a:rPr>
              <a:t>Mean</a:t>
            </a:r>
            <a:r>
              <a:rPr dirty="0" sz="2200" spc="-95">
                <a:solidFill>
                  <a:srgbClr val="009900"/>
                </a:solidFill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–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sum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all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observations,</a:t>
            </a:r>
            <a:r>
              <a:rPr dirty="0" sz="2200" spc="-7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divide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by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number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of</a:t>
            </a:r>
            <a:r>
              <a:rPr dirty="0" sz="2200" spc="-7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observations</a:t>
            </a:r>
            <a:endParaRPr sz="2200">
              <a:latin typeface="Arial MT"/>
              <a:cs typeface="Arial MT"/>
            </a:endParaRPr>
          </a:p>
          <a:p>
            <a:pPr marL="278130" indent="-265430">
              <a:lnSpc>
                <a:spcPct val="100000"/>
              </a:lnSpc>
              <a:spcBef>
                <a:spcPts val="1870"/>
              </a:spcBef>
              <a:buChar char="•"/>
              <a:tabLst>
                <a:tab pos="278130" algn="l"/>
              </a:tabLst>
            </a:pPr>
            <a:r>
              <a:rPr dirty="0" sz="2200" spc="-10">
                <a:solidFill>
                  <a:srgbClr val="009900"/>
                </a:solidFill>
                <a:latin typeface="Arial MT"/>
                <a:cs typeface="Arial MT"/>
              </a:rPr>
              <a:t>Median</a:t>
            </a:r>
            <a:r>
              <a:rPr dirty="0" sz="2200" spc="-110">
                <a:solidFill>
                  <a:srgbClr val="009900"/>
                </a:solidFill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–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midpoint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value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when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sorted</a:t>
            </a:r>
            <a:endParaRPr sz="2200">
              <a:latin typeface="Arial MT"/>
              <a:cs typeface="Arial MT"/>
            </a:endParaRPr>
          </a:p>
          <a:p>
            <a:pPr marL="278130" indent="-265430">
              <a:lnSpc>
                <a:spcPct val="100000"/>
              </a:lnSpc>
              <a:spcBef>
                <a:spcPts val="1850"/>
              </a:spcBef>
              <a:buChar char="•"/>
              <a:tabLst>
                <a:tab pos="278130" algn="l"/>
              </a:tabLst>
            </a:pPr>
            <a:r>
              <a:rPr dirty="0" sz="2200">
                <a:solidFill>
                  <a:srgbClr val="009900"/>
                </a:solidFill>
                <a:latin typeface="Arial MT"/>
                <a:cs typeface="Arial MT"/>
              </a:rPr>
              <a:t>Mode</a:t>
            </a:r>
            <a:r>
              <a:rPr dirty="0" sz="2200" spc="-125">
                <a:solidFill>
                  <a:srgbClr val="009900"/>
                </a:solidFill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–</a:t>
            </a:r>
            <a:r>
              <a:rPr dirty="0" sz="2200" spc="-12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most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frequent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value</a:t>
            </a:r>
            <a:r>
              <a:rPr dirty="0" sz="2200" spc="-12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observed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34950" y="652619"/>
            <a:ext cx="3041650" cy="882650"/>
          </a:xfrm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12700" marR="5080" indent="462915">
              <a:lnSpc>
                <a:spcPct val="100699"/>
              </a:lnSpc>
              <a:spcBef>
                <a:spcPts val="75"/>
              </a:spcBef>
            </a:pPr>
            <a:r>
              <a:rPr dirty="0" b="0">
                <a:latin typeface="Arial MT"/>
                <a:cs typeface="Arial MT"/>
              </a:rPr>
              <a:t>Variance</a:t>
            </a:r>
            <a:r>
              <a:rPr dirty="0" spc="-165" b="0">
                <a:latin typeface="Arial MT"/>
                <a:cs typeface="Arial MT"/>
              </a:rPr>
              <a:t> </a:t>
            </a:r>
            <a:r>
              <a:rPr dirty="0" spc="-25" b="0">
                <a:latin typeface="Arial MT"/>
                <a:cs typeface="Arial MT"/>
              </a:rPr>
              <a:t>and </a:t>
            </a:r>
            <a:r>
              <a:rPr dirty="0" b="0">
                <a:latin typeface="Arial MT"/>
                <a:cs typeface="Arial MT"/>
              </a:rPr>
              <a:t>Standard</a:t>
            </a:r>
            <a:r>
              <a:rPr dirty="0" spc="-155" b="0">
                <a:latin typeface="Arial MT"/>
                <a:cs typeface="Arial MT"/>
              </a:rPr>
              <a:t> </a:t>
            </a:r>
            <a:r>
              <a:rPr dirty="0" spc="-10" b="0">
                <a:latin typeface="Arial MT"/>
                <a:cs typeface="Arial MT"/>
              </a:rPr>
              <a:t>Deviation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89297" y="2161414"/>
            <a:ext cx="5917565" cy="4203065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329565" marR="55880" indent="-266700">
              <a:lnSpc>
                <a:spcPts val="2400"/>
              </a:lnSpc>
              <a:spcBef>
                <a:spcPts val="380"/>
              </a:spcBef>
              <a:buFont typeface="Wingdings"/>
              <a:buChar char=""/>
              <a:tabLst>
                <a:tab pos="329565" algn="l"/>
                <a:tab pos="405130" algn="l"/>
                <a:tab pos="2239645" algn="l"/>
              </a:tabLst>
            </a:pPr>
            <a:r>
              <a:rPr dirty="0" sz="2200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dirty="0" sz="2200" spc="-10" i="1">
                <a:solidFill>
                  <a:srgbClr val="FF0000"/>
                </a:solidFill>
                <a:latin typeface="Arial"/>
                <a:cs typeface="Arial"/>
              </a:rPr>
              <a:t>Variance</a:t>
            </a:r>
            <a:r>
              <a:rPr dirty="0" sz="2200" spc="-100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200">
                <a:latin typeface="Arial MT"/>
                <a:cs typeface="Arial MT"/>
              </a:rPr>
              <a:t>=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square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of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distance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between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 spc="-50">
                <a:latin typeface="Arial MT"/>
                <a:cs typeface="Arial MT"/>
              </a:rPr>
              <a:t>x </a:t>
            </a:r>
            <a:r>
              <a:rPr dirty="0" sz="2200">
                <a:latin typeface="Arial MT"/>
                <a:cs typeface="Arial MT"/>
              </a:rPr>
              <a:t>and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mean</a:t>
            </a:r>
            <a:r>
              <a:rPr dirty="0" sz="2200">
                <a:latin typeface="Arial MT"/>
                <a:cs typeface="Arial MT"/>
              </a:rPr>
              <a:t>	</a:t>
            </a:r>
            <a:r>
              <a:rPr dirty="0" sz="2100">
                <a:latin typeface="Symbol"/>
                <a:cs typeface="Symbol"/>
              </a:rPr>
              <a:t></a:t>
            </a:r>
            <a:r>
              <a:rPr dirty="0" baseline="23809" sz="2100">
                <a:latin typeface="Arial MT"/>
                <a:cs typeface="Arial MT"/>
              </a:rPr>
              <a:t>2</a:t>
            </a:r>
            <a:r>
              <a:rPr dirty="0" baseline="23809" sz="2100" spc="209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=</a:t>
            </a:r>
            <a:r>
              <a:rPr dirty="0" sz="2100" spc="-5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(x</a:t>
            </a:r>
            <a:r>
              <a:rPr dirty="0" sz="2100" spc="-4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-</a:t>
            </a:r>
            <a:r>
              <a:rPr dirty="0" sz="2100" spc="-45">
                <a:latin typeface="Arial MT"/>
                <a:cs typeface="Arial MT"/>
              </a:rPr>
              <a:t> </a:t>
            </a:r>
            <a:r>
              <a:rPr dirty="0" sz="2100" spc="-750">
                <a:latin typeface="Cambria Math"/>
                <a:cs typeface="Cambria Math"/>
              </a:rPr>
              <a:t>x</a:t>
            </a:r>
            <a:r>
              <a:rPr dirty="0" sz="2100" spc="250">
                <a:latin typeface="Cambria Math"/>
                <a:cs typeface="Cambria Math"/>
              </a:rPr>
              <a:t>!</a:t>
            </a:r>
            <a:r>
              <a:rPr dirty="0" sz="2100" spc="195">
                <a:latin typeface="Arial MT"/>
                <a:cs typeface="Arial MT"/>
              </a:rPr>
              <a:t>)</a:t>
            </a:r>
            <a:r>
              <a:rPr dirty="0" baseline="23809" sz="2100" spc="322">
                <a:latin typeface="Arial MT"/>
                <a:cs typeface="Arial MT"/>
              </a:rPr>
              <a:t>2</a:t>
            </a:r>
            <a:endParaRPr baseline="23809" sz="2100">
              <a:latin typeface="Arial MT"/>
              <a:cs typeface="Arial MT"/>
            </a:endParaRPr>
          </a:p>
          <a:p>
            <a:pPr lvl="1" marL="638810" indent="-220979">
              <a:lnSpc>
                <a:spcPct val="100000"/>
              </a:lnSpc>
              <a:spcBef>
                <a:spcPts val="140"/>
              </a:spcBef>
              <a:buChar char="–"/>
              <a:tabLst>
                <a:tab pos="638810" algn="l"/>
              </a:tabLst>
            </a:pPr>
            <a:r>
              <a:rPr dirty="0" sz="1900" spc="-20">
                <a:latin typeface="Arial MT"/>
                <a:cs typeface="Arial MT"/>
              </a:rPr>
              <a:t>variance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is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often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denoted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700" spc="-25">
                <a:latin typeface="Symbol"/>
                <a:cs typeface="Symbol"/>
              </a:rPr>
              <a:t></a:t>
            </a:r>
            <a:r>
              <a:rPr dirty="0" baseline="25252" sz="1650" spc="-37">
                <a:latin typeface="Arial MT"/>
                <a:cs typeface="Arial MT"/>
              </a:rPr>
              <a:t>2</a:t>
            </a:r>
            <a:endParaRPr baseline="25252" sz="1650">
              <a:latin typeface="Arial MT"/>
              <a:cs typeface="Arial MT"/>
            </a:endParaRPr>
          </a:p>
          <a:p>
            <a:pPr lvl="1" marL="638810" indent="-220979">
              <a:lnSpc>
                <a:spcPct val="100000"/>
              </a:lnSpc>
              <a:spcBef>
                <a:spcPts val="215"/>
              </a:spcBef>
              <a:buChar char="–"/>
              <a:tabLst>
                <a:tab pos="638810" algn="l"/>
              </a:tabLst>
            </a:pPr>
            <a:r>
              <a:rPr dirty="0" sz="1900">
                <a:latin typeface="Arial MT"/>
                <a:cs typeface="Arial MT"/>
              </a:rPr>
              <a:t>Also</a:t>
            </a:r>
            <a:r>
              <a:rPr dirty="0" sz="1900" spc="-9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called</a:t>
            </a:r>
            <a:r>
              <a:rPr dirty="0" sz="1900" spc="-95">
                <a:latin typeface="Arial MT"/>
                <a:cs typeface="Arial MT"/>
              </a:rPr>
              <a:t> </a:t>
            </a:r>
            <a:r>
              <a:rPr dirty="0" sz="1900" spc="-25" i="1">
                <a:latin typeface="Arial"/>
                <a:cs typeface="Arial"/>
              </a:rPr>
              <a:t>degrees</a:t>
            </a:r>
            <a:r>
              <a:rPr dirty="0" sz="1900" spc="-85" i="1">
                <a:latin typeface="Arial"/>
                <a:cs typeface="Arial"/>
              </a:rPr>
              <a:t> </a:t>
            </a:r>
            <a:r>
              <a:rPr dirty="0" sz="1900" i="1">
                <a:latin typeface="Arial"/>
                <a:cs typeface="Arial"/>
              </a:rPr>
              <a:t>of</a:t>
            </a:r>
            <a:r>
              <a:rPr dirty="0" sz="1900" spc="-80" i="1">
                <a:latin typeface="Arial"/>
                <a:cs typeface="Arial"/>
              </a:rPr>
              <a:t> </a:t>
            </a:r>
            <a:r>
              <a:rPr dirty="0" sz="1900" spc="-10" i="1">
                <a:latin typeface="Arial"/>
                <a:cs typeface="Arial"/>
              </a:rPr>
              <a:t>freedom</a:t>
            </a:r>
            <a:endParaRPr sz="1900">
              <a:latin typeface="Arial"/>
              <a:cs typeface="Arial"/>
            </a:endParaRPr>
          </a:p>
          <a:p>
            <a:pPr marL="406400" indent="-342900">
              <a:lnSpc>
                <a:spcPts val="2620"/>
              </a:lnSpc>
              <a:spcBef>
                <a:spcPts val="1210"/>
              </a:spcBef>
              <a:buChar char="•"/>
              <a:tabLst>
                <a:tab pos="406400" algn="l"/>
              </a:tabLst>
            </a:pPr>
            <a:r>
              <a:rPr dirty="0" sz="2200">
                <a:latin typeface="Arial MT"/>
                <a:cs typeface="Arial MT"/>
              </a:rPr>
              <a:t>Main</a:t>
            </a:r>
            <a:r>
              <a:rPr dirty="0" sz="2200" spc="-114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problem</a:t>
            </a:r>
            <a:r>
              <a:rPr dirty="0" sz="2200" spc="-114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is</a:t>
            </a:r>
            <a:r>
              <a:rPr dirty="0" sz="2200" spc="-110"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7030A0"/>
                </a:solidFill>
                <a:latin typeface="Arial MT"/>
                <a:cs typeface="Arial MT"/>
              </a:rPr>
              <a:t>units</a:t>
            </a:r>
            <a:r>
              <a:rPr dirty="0" sz="2200" spc="-11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squared</a:t>
            </a:r>
            <a:endParaRPr sz="2200">
              <a:latin typeface="Arial MT"/>
              <a:cs typeface="Arial MT"/>
            </a:endParaRPr>
          </a:p>
          <a:p>
            <a:pPr marL="417830">
              <a:lnSpc>
                <a:spcPts val="2260"/>
              </a:lnSpc>
            </a:pPr>
            <a:r>
              <a:rPr dirty="0" sz="1900">
                <a:latin typeface="Arial MT"/>
                <a:cs typeface="Arial MT"/>
              </a:rPr>
              <a:t>–</a:t>
            </a:r>
            <a:r>
              <a:rPr dirty="0" sz="1900" spc="9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changing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the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10">
                <a:solidFill>
                  <a:srgbClr val="7030A0"/>
                </a:solidFill>
                <a:latin typeface="Arial MT"/>
                <a:cs typeface="Arial MT"/>
              </a:rPr>
              <a:t>units</a:t>
            </a:r>
            <a:r>
              <a:rPr dirty="0" sz="1900" spc="-75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changes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the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answer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squared</a:t>
            </a:r>
            <a:endParaRPr sz="1900">
              <a:latin typeface="Arial MT"/>
              <a:cs typeface="Arial MT"/>
            </a:endParaRPr>
          </a:p>
          <a:p>
            <a:pPr marL="405765" indent="-342265">
              <a:lnSpc>
                <a:spcPts val="2620"/>
              </a:lnSpc>
              <a:spcBef>
                <a:spcPts val="1215"/>
              </a:spcBef>
              <a:buFont typeface="Wingdings"/>
              <a:buChar char=""/>
              <a:tabLst>
                <a:tab pos="405765" algn="l"/>
                <a:tab pos="3913504" algn="l"/>
              </a:tabLst>
            </a:pPr>
            <a:r>
              <a:rPr dirty="0" sz="2200">
                <a:latin typeface="Arial MT"/>
                <a:cs typeface="Arial MT"/>
              </a:rPr>
              <a:t>So,</a:t>
            </a:r>
            <a:r>
              <a:rPr dirty="0" sz="2200" spc="-7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use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 spc="-20" i="1">
                <a:solidFill>
                  <a:srgbClr val="FF0000"/>
                </a:solidFill>
                <a:latin typeface="Arial"/>
                <a:cs typeface="Arial"/>
              </a:rPr>
              <a:t>Standard</a:t>
            </a:r>
            <a:r>
              <a:rPr dirty="0" sz="2200" spc="-85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200" spc="-10" i="1">
                <a:solidFill>
                  <a:srgbClr val="FF0000"/>
                </a:solidFill>
                <a:latin typeface="Arial"/>
                <a:cs typeface="Arial"/>
              </a:rPr>
              <a:t>Deviation</a:t>
            </a:r>
            <a:r>
              <a:rPr dirty="0" sz="2200" i="1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dirty="0" sz="2100">
                <a:latin typeface="Symbol"/>
                <a:cs typeface="Symbol"/>
              </a:rPr>
              <a:t></a:t>
            </a:r>
            <a:r>
              <a:rPr dirty="0" sz="2100" spc="45">
                <a:latin typeface="Times New Roman"/>
                <a:cs typeface="Times New Roman"/>
              </a:rPr>
              <a:t> </a:t>
            </a:r>
            <a:r>
              <a:rPr dirty="0" sz="2200">
                <a:latin typeface="Arial MT"/>
                <a:cs typeface="Arial MT"/>
              </a:rPr>
              <a:t>=</a:t>
            </a:r>
            <a:r>
              <a:rPr dirty="0" sz="2200" spc="-3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sqrt</a:t>
            </a:r>
            <a:r>
              <a:rPr dirty="0" sz="2200" spc="-10">
                <a:latin typeface="Arial MT"/>
                <a:cs typeface="Arial MT"/>
              </a:rPr>
              <a:t>(</a:t>
            </a:r>
            <a:r>
              <a:rPr dirty="0" sz="2100" spc="-10">
                <a:latin typeface="Symbol"/>
                <a:cs typeface="Symbol"/>
              </a:rPr>
              <a:t></a:t>
            </a:r>
            <a:r>
              <a:rPr dirty="0" baseline="23809" sz="2100" spc="-15">
                <a:latin typeface="Arial MT"/>
                <a:cs typeface="Arial MT"/>
              </a:rPr>
              <a:t>2</a:t>
            </a:r>
            <a:r>
              <a:rPr dirty="0" sz="2200" spc="-10">
                <a:latin typeface="Arial MT"/>
                <a:cs typeface="Arial MT"/>
              </a:rPr>
              <a:t>)</a:t>
            </a:r>
            <a:endParaRPr sz="2200">
              <a:latin typeface="Arial MT"/>
              <a:cs typeface="Arial MT"/>
            </a:endParaRPr>
          </a:p>
          <a:p>
            <a:pPr marL="417830">
              <a:lnSpc>
                <a:spcPts val="2260"/>
              </a:lnSpc>
            </a:pPr>
            <a:r>
              <a:rPr dirty="0" sz="1900">
                <a:latin typeface="Arial MT"/>
                <a:cs typeface="Arial MT"/>
              </a:rPr>
              <a:t>–</a:t>
            </a:r>
            <a:r>
              <a:rPr dirty="0" sz="1900" spc="9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Same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7030A0"/>
                </a:solidFill>
                <a:latin typeface="Arial MT"/>
                <a:cs typeface="Arial MT"/>
              </a:rPr>
              <a:t>unit</a:t>
            </a:r>
            <a:r>
              <a:rPr dirty="0" sz="1900" spc="-75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as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20" i="1">
                <a:latin typeface="Arial"/>
                <a:cs typeface="Arial"/>
              </a:rPr>
              <a:t>mean</a:t>
            </a:r>
            <a:r>
              <a:rPr dirty="0" sz="1900" spc="-20">
                <a:latin typeface="Arial MT"/>
                <a:cs typeface="Arial MT"/>
              </a:rPr>
              <a:t>,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so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can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compare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to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20" i="1">
                <a:latin typeface="Arial"/>
                <a:cs typeface="Arial"/>
              </a:rPr>
              <a:t>mean</a:t>
            </a:r>
            <a:endParaRPr sz="1900">
              <a:latin typeface="Arial"/>
              <a:cs typeface="Arial"/>
            </a:endParaRPr>
          </a:p>
          <a:p>
            <a:pPr marL="328930" indent="-265430">
              <a:lnSpc>
                <a:spcPts val="2620"/>
              </a:lnSpc>
              <a:spcBef>
                <a:spcPts val="1330"/>
              </a:spcBef>
              <a:buChar char="•"/>
              <a:tabLst>
                <a:tab pos="328930" algn="l"/>
              </a:tabLst>
            </a:pPr>
            <a:r>
              <a:rPr dirty="0" sz="2200">
                <a:latin typeface="Arial MT"/>
                <a:cs typeface="Arial MT"/>
              </a:rPr>
              <a:t>Ratio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of</a:t>
            </a:r>
            <a:r>
              <a:rPr dirty="0" sz="2200" spc="-60">
                <a:latin typeface="Arial MT"/>
                <a:cs typeface="Arial MT"/>
              </a:rPr>
              <a:t> </a:t>
            </a:r>
            <a:r>
              <a:rPr dirty="0" sz="2200" spc="-20" i="1">
                <a:latin typeface="Arial"/>
                <a:cs typeface="Arial"/>
              </a:rPr>
              <a:t>standard</a:t>
            </a:r>
            <a:r>
              <a:rPr dirty="0" sz="2200" spc="-80" i="1">
                <a:latin typeface="Arial"/>
                <a:cs typeface="Arial"/>
              </a:rPr>
              <a:t> </a:t>
            </a:r>
            <a:r>
              <a:rPr dirty="0" sz="2200" spc="-20" i="1">
                <a:latin typeface="Arial"/>
                <a:cs typeface="Arial"/>
              </a:rPr>
              <a:t>deviation</a:t>
            </a:r>
            <a:r>
              <a:rPr dirty="0" sz="2200" spc="-80" i="1">
                <a:latin typeface="Arial"/>
                <a:cs typeface="Arial"/>
              </a:rPr>
              <a:t> </a:t>
            </a:r>
            <a:r>
              <a:rPr dirty="0" sz="2200">
                <a:latin typeface="Arial MT"/>
                <a:cs typeface="Arial MT"/>
              </a:rPr>
              <a:t>to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 spc="-10" i="1">
                <a:latin typeface="Arial"/>
                <a:cs typeface="Arial"/>
              </a:rPr>
              <a:t>mean</a:t>
            </a:r>
            <a:r>
              <a:rPr dirty="0" sz="2200" spc="-10">
                <a:latin typeface="Arial MT"/>
                <a:cs typeface="Arial MT"/>
              </a:rPr>
              <a:t>?</a:t>
            </a:r>
            <a:endParaRPr sz="2200">
              <a:latin typeface="Arial MT"/>
              <a:cs typeface="Arial MT"/>
            </a:endParaRPr>
          </a:p>
          <a:p>
            <a:pPr lvl="1" marL="638810" indent="-220979">
              <a:lnSpc>
                <a:spcPts val="2225"/>
              </a:lnSpc>
              <a:buChar char="–"/>
              <a:tabLst>
                <a:tab pos="638810" algn="l"/>
              </a:tabLst>
            </a:pPr>
            <a:r>
              <a:rPr dirty="0" sz="1900" spc="-20">
                <a:latin typeface="Arial MT"/>
                <a:cs typeface="Arial MT"/>
              </a:rPr>
              <a:t>Called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the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 spc="-25" i="1">
                <a:latin typeface="Arial"/>
                <a:cs typeface="Arial"/>
              </a:rPr>
              <a:t>Coefficient</a:t>
            </a:r>
            <a:r>
              <a:rPr dirty="0" sz="1900" spc="-55" i="1">
                <a:latin typeface="Arial"/>
                <a:cs typeface="Arial"/>
              </a:rPr>
              <a:t> </a:t>
            </a:r>
            <a:r>
              <a:rPr dirty="0" sz="1900" i="1">
                <a:latin typeface="Arial"/>
                <a:cs typeface="Arial"/>
              </a:rPr>
              <a:t>of</a:t>
            </a:r>
            <a:r>
              <a:rPr dirty="0" sz="1900" spc="-60" i="1">
                <a:latin typeface="Arial"/>
                <a:cs typeface="Arial"/>
              </a:rPr>
              <a:t> </a:t>
            </a:r>
            <a:r>
              <a:rPr dirty="0" sz="1900" spc="-20" i="1">
                <a:latin typeface="Arial"/>
                <a:cs typeface="Arial"/>
              </a:rPr>
              <a:t>Variation</a:t>
            </a:r>
            <a:r>
              <a:rPr dirty="0" sz="1900" spc="-70" i="1">
                <a:latin typeface="Arial"/>
                <a:cs typeface="Arial"/>
              </a:rPr>
              <a:t> </a:t>
            </a:r>
            <a:r>
              <a:rPr dirty="0" sz="1900" spc="-10">
                <a:latin typeface="Arial MT"/>
                <a:cs typeface="Arial MT"/>
              </a:rPr>
              <a:t>(C.O.V.)</a:t>
            </a:r>
            <a:endParaRPr sz="1900">
              <a:latin typeface="Arial MT"/>
              <a:cs typeface="Arial MT"/>
            </a:endParaRPr>
          </a:p>
          <a:p>
            <a:pPr lvl="1" marL="638810" indent="-220979">
              <a:lnSpc>
                <a:spcPts val="2245"/>
              </a:lnSpc>
              <a:buChar char="–"/>
              <a:tabLst>
                <a:tab pos="638810" algn="l"/>
              </a:tabLst>
            </a:pPr>
            <a:r>
              <a:rPr dirty="0" sz="1900" spc="-10">
                <a:latin typeface="Arial MT"/>
                <a:cs typeface="Arial MT"/>
              </a:rPr>
              <a:t>C.O.V.</a:t>
            </a:r>
            <a:r>
              <a:rPr dirty="0" sz="1900" spc="-5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=</a:t>
            </a:r>
            <a:r>
              <a:rPr dirty="0" sz="1900" spc="-60">
                <a:latin typeface="Arial MT"/>
                <a:cs typeface="Arial MT"/>
              </a:rPr>
              <a:t> </a:t>
            </a:r>
            <a:r>
              <a:rPr dirty="0" sz="1900">
                <a:latin typeface="Symbol"/>
                <a:cs typeface="Symbol"/>
              </a:rPr>
              <a:t></a:t>
            </a:r>
            <a:r>
              <a:rPr dirty="0" sz="1900" spc="-5">
                <a:latin typeface="Times New Roman"/>
                <a:cs typeface="Times New Roman"/>
              </a:rPr>
              <a:t> </a:t>
            </a:r>
            <a:r>
              <a:rPr dirty="0" sz="1900">
                <a:latin typeface="Arial MT"/>
                <a:cs typeface="Arial MT"/>
              </a:rPr>
              <a:t>/</a:t>
            </a:r>
            <a:r>
              <a:rPr dirty="0" sz="1900" spc="-50">
                <a:latin typeface="Arial MT"/>
                <a:cs typeface="Arial MT"/>
              </a:rPr>
              <a:t> µ</a:t>
            </a:r>
            <a:endParaRPr sz="1900">
              <a:latin typeface="Arial MT"/>
              <a:cs typeface="Arial MT"/>
            </a:endParaRPr>
          </a:p>
          <a:p>
            <a:pPr lvl="1" marL="638810" indent="-220979">
              <a:lnSpc>
                <a:spcPct val="100000"/>
              </a:lnSpc>
              <a:buChar char="–"/>
              <a:tabLst>
                <a:tab pos="638810" algn="l"/>
              </a:tabLst>
            </a:pPr>
            <a:r>
              <a:rPr dirty="0" sz="1900" spc="-20">
                <a:latin typeface="Arial MT"/>
                <a:cs typeface="Arial MT"/>
              </a:rPr>
              <a:t>Takes</a:t>
            </a:r>
            <a:r>
              <a:rPr dirty="0" sz="1900" spc="-95">
                <a:latin typeface="Arial MT"/>
                <a:cs typeface="Arial MT"/>
              </a:rPr>
              <a:t> </a:t>
            </a:r>
            <a:r>
              <a:rPr dirty="0" sz="1900" spc="-10">
                <a:solidFill>
                  <a:srgbClr val="7030A0"/>
                </a:solidFill>
                <a:latin typeface="Arial MT"/>
                <a:cs typeface="Arial MT"/>
              </a:rPr>
              <a:t>units</a:t>
            </a:r>
            <a:r>
              <a:rPr dirty="0" sz="1900" spc="-95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out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and</a:t>
            </a:r>
            <a:r>
              <a:rPr dirty="0" sz="1900" spc="-10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shows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magnitude</a:t>
            </a:r>
            <a:endParaRPr sz="19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33460" y="2624021"/>
            <a:ext cx="2279506" cy="892682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33459" y="4323721"/>
            <a:ext cx="2279506" cy="101356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86492" y="627722"/>
            <a:ext cx="4307840" cy="4679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00" b="0">
                <a:latin typeface="Arial MT"/>
                <a:cs typeface="Arial MT"/>
              </a:rPr>
              <a:t>Population</a:t>
            </a:r>
            <a:r>
              <a:rPr dirty="0" sz="2900" spc="-40" b="0">
                <a:latin typeface="Arial MT"/>
                <a:cs typeface="Arial MT"/>
              </a:rPr>
              <a:t> </a:t>
            </a:r>
            <a:r>
              <a:rPr dirty="0" sz="2900" b="0">
                <a:latin typeface="Arial MT"/>
                <a:cs typeface="Arial MT"/>
              </a:rPr>
              <a:t>versus</a:t>
            </a:r>
            <a:r>
              <a:rPr dirty="0" sz="2900" spc="-45" b="0">
                <a:latin typeface="Arial MT"/>
                <a:cs typeface="Arial MT"/>
              </a:rPr>
              <a:t> </a:t>
            </a:r>
            <a:r>
              <a:rPr dirty="0" sz="2900" spc="-10" b="0">
                <a:latin typeface="Arial MT"/>
                <a:cs typeface="Arial MT"/>
              </a:rPr>
              <a:t>Sample</a:t>
            </a:r>
            <a:endParaRPr sz="29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79483" y="1546232"/>
            <a:ext cx="8697595" cy="30524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278765" marR="5080" indent="-266700">
              <a:lnSpc>
                <a:spcPct val="99500"/>
              </a:lnSpc>
              <a:spcBef>
                <a:spcPts val="110"/>
              </a:spcBef>
              <a:buChar char="•"/>
              <a:tabLst>
                <a:tab pos="278765" algn="l"/>
              </a:tabLst>
            </a:pPr>
            <a:r>
              <a:rPr dirty="0" sz="2100" spc="-10">
                <a:solidFill>
                  <a:srgbClr val="FF0000"/>
                </a:solidFill>
                <a:latin typeface="Arial MT"/>
                <a:cs typeface="Arial MT"/>
              </a:rPr>
              <a:t>Population</a:t>
            </a:r>
            <a:r>
              <a:rPr dirty="0" sz="2100" spc="-9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refers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to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entire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group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or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set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individuals,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objects,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or </a:t>
            </a:r>
            <a:r>
              <a:rPr dirty="0" sz="2100">
                <a:latin typeface="Arial MT"/>
                <a:cs typeface="Arial MT"/>
              </a:rPr>
              <a:t>events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being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studied,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while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FF0000"/>
                </a:solidFill>
                <a:latin typeface="Arial MT"/>
                <a:cs typeface="Arial MT"/>
              </a:rPr>
              <a:t>sample</a:t>
            </a:r>
            <a:r>
              <a:rPr dirty="0" sz="2100" spc="-7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subset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population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that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is </a:t>
            </a:r>
            <a:r>
              <a:rPr dirty="0" sz="2100">
                <a:latin typeface="Arial MT"/>
                <a:cs typeface="Arial MT"/>
              </a:rPr>
              <a:t>used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for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analysis.</a:t>
            </a:r>
            <a:endParaRPr sz="2100">
              <a:latin typeface="Arial MT"/>
              <a:cs typeface="Arial MT"/>
            </a:endParaRPr>
          </a:p>
          <a:p>
            <a:pPr marL="278765" marR="285115" indent="-266700">
              <a:lnSpc>
                <a:spcPts val="2500"/>
              </a:lnSpc>
              <a:spcBef>
                <a:spcPts val="1975"/>
              </a:spcBef>
              <a:buChar char="•"/>
              <a:tabLst>
                <a:tab pos="278765" algn="l"/>
              </a:tabLst>
            </a:pP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word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“sample”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comes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from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same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root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word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as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“example”;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one </a:t>
            </a:r>
            <a:r>
              <a:rPr dirty="0" sz="2100">
                <a:solidFill>
                  <a:srgbClr val="FF0000"/>
                </a:solidFill>
                <a:latin typeface="Arial MT"/>
                <a:cs typeface="Arial MT"/>
              </a:rPr>
              <a:t>sample</a:t>
            </a:r>
            <a:r>
              <a:rPr dirty="0" sz="2100" spc="-8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does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not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prove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theory,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but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rather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an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>
                <a:solidFill>
                  <a:srgbClr val="FF0000"/>
                </a:solidFill>
                <a:latin typeface="Arial MT"/>
                <a:cs typeface="Arial MT"/>
              </a:rPr>
              <a:t>example.</a:t>
            </a:r>
            <a:endParaRPr sz="2100">
              <a:latin typeface="Arial MT"/>
              <a:cs typeface="Arial MT"/>
            </a:endParaRPr>
          </a:p>
          <a:p>
            <a:pPr marL="278765" marR="209550" indent="-266700">
              <a:lnSpc>
                <a:spcPct val="99500"/>
              </a:lnSpc>
              <a:spcBef>
                <a:spcPts val="1800"/>
              </a:spcBef>
              <a:buChar char="•"/>
              <a:tabLst>
                <a:tab pos="278765" algn="l"/>
              </a:tabLst>
            </a:pPr>
            <a:r>
              <a:rPr dirty="0" sz="2100" spc="-10">
                <a:latin typeface="Arial MT"/>
                <a:cs typeface="Arial MT"/>
              </a:rPr>
              <a:t>Basically,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definite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statement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cannot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be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made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about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characteristics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of </a:t>
            </a:r>
            <a:r>
              <a:rPr dirty="0" sz="2100">
                <a:latin typeface="Arial MT"/>
                <a:cs typeface="Arial MT"/>
              </a:rPr>
              <a:t>all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systems.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Instead,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make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probabilistic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statement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about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range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of </a:t>
            </a:r>
            <a:r>
              <a:rPr dirty="0" sz="2100">
                <a:latin typeface="Arial MT"/>
                <a:cs typeface="Arial MT"/>
              </a:rPr>
              <a:t>most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systems,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i.e.,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 spc="-10" i="1">
                <a:latin typeface="Arial"/>
                <a:cs typeface="Arial"/>
              </a:rPr>
              <a:t>Confidence</a:t>
            </a:r>
            <a:r>
              <a:rPr dirty="0" sz="2100" spc="-95" i="1">
                <a:latin typeface="Arial"/>
                <a:cs typeface="Arial"/>
              </a:rPr>
              <a:t> </a:t>
            </a:r>
            <a:r>
              <a:rPr dirty="0" sz="2100" spc="-10" i="1">
                <a:latin typeface="Arial"/>
                <a:cs typeface="Arial"/>
              </a:rPr>
              <a:t>intervals</a:t>
            </a:r>
            <a:endParaRPr sz="210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3294" y="4913995"/>
            <a:ext cx="3877992" cy="204621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59915" y="4704333"/>
            <a:ext cx="3482234" cy="214657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4358" rIns="0" bIns="0" rtlCol="0" vert="horz">
            <a:spAutoFit/>
          </a:bodyPr>
          <a:lstStyle/>
          <a:p>
            <a:pPr marL="2131695" marR="5080" indent="-325755">
              <a:lnSpc>
                <a:spcPct val="100699"/>
              </a:lnSpc>
              <a:spcBef>
                <a:spcPts val="75"/>
              </a:spcBef>
            </a:pPr>
            <a:r>
              <a:rPr dirty="0" sz="2900" b="0">
                <a:latin typeface="Arial MT"/>
                <a:cs typeface="Arial MT"/>
              </a:rPr>
              <a:t>Statistical</a:t>
            </a:r>
            <a:r>
              <a:rPr dirty="0" sz="2900" spc="-40" b="0">
                <a:latin typeface="Arial MT"/>
                <a:cs typeface="Arial MT"/>
              </a:rPr>
              <a:t> </a:t>
            </a:r>
            <a:r>
              <a:rPr dirty="0" sz="2900" b="0">
                <a:latin typeface="Arial MT"/>
                <a:cs typeface="Arial MT"/>
              </a:rPr>
              <a:t>Modelling</a:t>
            </a:r>
            <a:r>
              <a:rPr dirty="0" sz="2900" spc="-35" b="0">
                <a:latin typeface="Arial MT"/>
                <a:cs typeface="Arial MT"/>
              </a:rPr>
              <a:t> </a:t>
            </a:r>
            <a:r>
              <a:rPr dirty="0" sz="2900" spc="-50" b="0">
                <a:latin typeface="Arial MT"/>
                <a:cs typeface="Arial MT"/>
              </a:rPr>
              <a:t>/ </a:t>
            </a:r>
            <a:r>
              <a:rPr dirty="0" sz="2900" b="0">
                <a:latin typeface="Arial MT"/>
                <a:cs typeface="Arial MT"/>
              </a:rPr>
              <a:t>Machine</a:t>
            </a:r>
            <a:r>
              <a:rPr dirty="0" sz="2900" spc="-15" b="0">
                <a:latin typeface="Arial MT"/>
                <a:cs typeface="Arial MT"/>
              </a:rPr>
              <a:t> </a:t>
            </a:r>
            <a:r>
              <a:rPr dirty="0" sz="2900" spc="-10" b="0">
                <a:latin typeface="Arial MT"/>
                <a:cs typeface="Arial MT"/>
              </a:rPr>
              <a:t>learning</a:t>
            </a:r>
            <a:endParaRPr sz="29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159294" y="1966856"/>
            <a:ext cx="8331834" cy="2098675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278765" marR="327025" indent="-266700">
              <a:lnSpc>
                <a:spcPts val="2500"/>
              </a:lnSpc>
              <a:spcBef>
                <a:spcPts val="200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2100" spc="-10" b="1">
                <a:solidFill>
                  <a:srgbClr val="EF1928"/>
                </a:solidFill>
                <a:latin typeface="Arial"/>
                <a:cs typeface="Arial"/>
              </a:rPr>
              <a:t>Statistical</a:t>
            </a:r>
            <a:r>
              <a:rPr dirty="0" sz="2100" spc="-85" b="1">
                <a:solidFill>
                  <a:srgbClr val="EF1928"/>
                </a:solidFill>
                <a:latin typeface="Arial"/>
                <a:cs typeface="Arial"/>
              </a:rPr>
              <a:t> </a:t>
            </a:r>
            <a:r>
              <a:rPr dirty="0" sz="2100" spc="-20" b="1">
                <a:solidFill>
                  <a:srgbClr val="EF1928"/>
                </a:solidFill>
                <a:latin typeface="Arial"/>
                <a:cs typeface="Arial"/>
              </a:rPr>
              <a:t>modelling</a:t>
            </a:r>
            <a:r>
              <a:rPr dirty="0" sz="2100" spc="-90" b="1">
                <a:solidFill>
                  <a:srgbClr val="EF1928"/>
                </a:solidFill>
                <a:latin typeface="Arial"/>
                <a:cs typeface="Arial"/>
              </a:rPr>
              <a:t> </a:t>
            </a: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formalization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relationships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between variables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in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form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mathematical</a:t>
            </a:r>
            <a:r>
              <a:rPr dirty="0" sz="2100" spc="-6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equations.</a:t>
            </a:r>
            <a:endParaRPr sz="2100">
              <a:latin typeface="Arial MT"/>
              <a:cs typeface="Arial MT"/>
            </a:endParaRPr>
          </a:p>
          <a:p>
            <a:pPr marL="278765" marR="5080" indent="-266700">
              <a:lnSpc>
                <a:spcPct val="100000"/>
              </a:lnSpc>
              <a:spcBef>
                <a:spcPts val="1785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2100" spc="-10" b="1">
                <a:solidFill>
                  <a:srgbClr val="EF1928"/>
                </a:solidFill>
                <a:latin typeface="Arial"/>
                <a:cs typeface="Arial"/>
              </a:rPr>
              <a:t>Machine</a:t>
            </a:r>
            <a:r>
              <a:rPr dirty="0" sz="2100" spc="-80" b="1">
                <a:solidFill>
                  <a:srgbClr val="EF1928"/>
                </a:solidFill>
                <a:latin typeface="Arial"/>
                <a:cs typeface="Arial"/>
              </a:rPr>
              <a:t> </a:t>
            </a:r>
            <a:r>
              <a:rPr dirty="0" sz="2100" spc="-10" b="1">
                <a:solidFill>
                  <a:srgbClr val="EF1928"/>
                </a:solidFill>
                <a:latin typeface="Arial"/>
                <a:cs typeface="Arial"/>
              </a:rPr>
              <a:t>learning</a:t>
            </a:r>
            <a:r>
              <a:rPr dirty="0" sz="2100" spc="-70" b="1">
                <a:solidFill>
                  <a:srgbClr val="EF1928"/>
                </a:solidFill>
                <a:latin typeface="Arial"/>
                <a:cs typeface="Arial"/>
              </a:rPr>
              <a:t> </a:t>
            </a: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an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algorithm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to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optimize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performance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criterion </a:t>
            </a:r>
            <a:r>
              <a:rPr dirty="0" sz="2100">
                <a:latin typeface="Arial MT"/>
                <a:cs typeface="Arial MT"/>
              </a:rPr>
              <a:t>using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data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particular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examples.</a:t>
            </a:r>
            <a:endParaRPr sz="2100">
              <a:latin typeface="Arial MT"/>
              <a:cs typeface="Arial MT"/>
            </a:endParaRPr>
          </a:p>
          <a:p>
            <a:pPr marL="278130" indent="-265430">
              <a:lnSpc>
                <a:spcPct val="100000"/>
              </a:lnSpc>
              <a:spcBef>
                <a:spcPts val="1875"/>
              </a:spcBef>
              <a:buFont typeface="Arial MT"/>
              <a:buChar char="•"/>
              <a:tabLst>
                <a:tab pos="278130" algn="l"/>
              </a:tabLst>
            </a:pPr>
            <a:r>
              <a:rPr dirty="0" sz="2100" spc="-10" b="1">
                <a:solidFill>
                  <a:srgbClr val="00B050"/>
                </a:solidFill>
                <a:latin typeface="Arial"/>
                <a:cs typeface="Arial"/>
              </a:rPr>
              <a:t>Machine</a:t>
            </a:r>
            <a:r>
              <a:rPr dirty="0" sz="2100" spc="-110" b="1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dirty="0" sz="2100" spc="-10" b="1">
                <a:solidFill>
                  <a:srgbClr val="00B050"/>
                </a:solidFill>
                <a:latin typeface="Arial"/>
                <a:cs typeface="Arial"/>
              </a:rPr>
              <a:t>learning</a:t>
            </a:r>
            <a:r>
              <a:rPr dirty="0" sz="2100" spc="-105" b="1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dirty="0" sz="2100">
                <a:latin typeface="Arial MT"/>
                <a:cs typeface="Arial MT"/>
              </a:rPr>
              <a:t>relies</a:t>
            </a:r>
            <a:r>
              <a:rPr dirty="0" sz="2100" spc="-11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on</a:t>
            </a:r>
            <a:r>
              <a:rPr dirty="0" sz="2100" spc="-105">
                <a:latin typeface="Arial MT"/>
                <a:cs typeface="Arial MT"/>
              </a:rPr>
              <a:t> </a:t>
            </a:r>
            <a:r>
              <a:rPr dirty="0" sz="2100" spc="-10" b="1">
                <a:solidFill>
                  <a:srgbClr val="00B050"/>
                </a:solidFill>
                <a:latin typeface="Arial"/>
                <a:cs typeface="Arial"/>
              </a:rPr>
              <a:t>Statistical</a:t>
            </a:r>
            <a:r>
              <a:rPr dirty="0" sz="2100" spc="-110" b="1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dirty="0" sz="2100" spc="-10" b="1">
                <a:solidFill>
                  <a:srgbClr val="00B050"/>
                </a:solidFill>
                <a:latin typeface="Arial"/>
                <a:cs typeface="Arial"/>
              </a:rPr>
              <a:t>modelling</a:t>
            </a:r>
            <a:endParaRPr sz="210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8404" y="4718835"/>
            <a:ext cx="8167439" cy="137618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28839" rIns="0" bIns="0" rtlCol="0" vert="horz">
            <a:spAutoFit/>
          </a:bodyPr>
          <a:lstStyle/>
          <a:p>
            <a:pPr marL="129349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262673"/>
                </a:solidFill>
              </a:rPr>
              <a:t>Predictive</a:t>
            </a:r>
            <a:r>
              <a:rPr dirty="0" spc="-160">
                <a:solidFill>
                  <a:srgbClr val="262673"/>
                </a:solidFill>
              </a:rPr>
              <a:t> </a:t>
            </a:r>
            <a:r>
              <a:rPr dirty="0" spc="-10">
                <a:solidFill>
                  <a:srgbClr val="262673"/>
                </a:solidFill>
              </a:rPr>
              <a:t>Modeling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619597" y="1857128"/>
            <a:ext cx="7215505" cy="4792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8765" marR="296545" indent="-266700">
              <a:lnSpc>
                <a:spcPct val="100000"/>
              </a:lnSpc>
              <a:spcBef>
                <a:spcPts val="100"/>
              </a:spcBef>
              <a:buChar char="•"/>
              <a:tabLst>
                <a:tab pos="278765" algn="l"/>
              </a:tabLst>
            </a:pPr>
            <a:r>
              <a:rPr dirty="0" sz="2100">
                <a:latin typeface="Arial MT"/>
                <a:cs typeface="Arial MT"/>
              </a:rPr>
              <a:t>There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common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principle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that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underlies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all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supervised machine</a:t>
            </a:r>
            <a:r>
              <a:rPr dirty="0" sz="2100" spc="-10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learning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algorithms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for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predictive</a:t>
            </a:r>
            <a:r>
              <a:rPr dirty="0" sz="2100" spc="-10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modeling.</a:t>
            </a:r>
            <a:endParaRPr sz="2100">
              <a:latin typeface="Arial MT"/>
              <a:cs typeface="Arial MT"/>
            </a:endParaRPr>
          </a:p>
          <a:p>
            <a:pPr marL="278765" marR="307975" indent="-266700">
              <a:lnSpc>
                <a:spcPct val="99500"/>
              </a:lnSpc>
              <a:spcBef>
                <a:spcPts val="1885"/>
              </a:spcBef>
              <a:buChar char="•"/>
              <a:tabLst>
                <a:tab pos="278765" algn="l"/>
              </a:tabLst>
            </a:pPr>
            <a:r>
              <a:rPr dirty="0" sz="2100" spc="-10">
                <a:solidFill>
                  <a:srgbClr val="0070C0"/>
                </a:solidFill>
                <a:latin typeface="Arial MT"/>
                <a:cs typeface="Arial MT"/>
              </a:rPr>
              <a:t>Machine</a:t>
            </a:r>
            <a:r>
              <a:rPr dirty="0" sz="2100" spc="-105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070C0"/>
                </a:solidFill>
                <a:latin typeface="Arial MT"/>
                <a:cs typeface="Arial MT"/>
              </a:rPr>
              <a:t>learning</a:t>
            </a:r>
            <a:r>
              <a:rPr dirty="0" sz="2100" spc="-100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dirty="0" sz="2100" spc="-10">
                <a:solidFill>
                  <a:srgbClr val="0070C0"/>
                </a:solidFill>
                <a:latin typeface="Arial MT"/>
                <a:cs typeface="Arial MT"/>
              </a:rPr>
              <a:t>algorithms</a:t>
            </a:r>
            <a:r>
              <a:rPr dirty="0" sz="2100" spc="-95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070C0"/>
                </a:solidFill>
                <a:latin typeface="Arial MT"/>
                <a:cs typeface="Arial MT"/>
              </a:rPr>
              <a:t>are</a:t>
            </a:r>
            <a:r>
              <a:rPr dirty="0" sz="2100" spc="-105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dirty="0" sz="2100" spc="-10">
                <a:solidFill>
                  <a:srgbClr val="0070C0"/>
                </a:solidFill>
                <a:latin typeface="Arial MT"/>
                <a:cs typeface="Arial MT"/>
              </a:rPr>
              <a:t>described</a:t>
            </a:r>
            <a:r>
              <a:rPr dirty="0" sz="2100" spc="-100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070C0"/>
                </a:solidFill>
                <a:latin typeface="Arial MT"/>
                <a:cs typeface="Arial MT"/>
              </a:rPr>
              <a:t>as</a:t>
            </a:r>
            <a:r>
              <a:rPr dirty="0" sz="2100" spc="-95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070C0"/>
                </a:solidFill>
                <a:latin typeface="Arial MT"/>
                <a:cs typeface="Arial MT"/>
              </a:rPr>
              <a:t>learning</a:t>
            </a:r>
            <a:r>
              <a:rPr dirty="0" sz="2100" spc="-105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dirty="0" sz="2100" spc="-50">
                <a:solidFill>
                  <a:srgbClr val="0070C0"/>
                </a:solidFill>
                <a:latin typeface="Arial MT"/>
                <a:cs typeface="Arial MT"/>
              </a:rPr>
              <a:t>a </a:t>
            </a:r>
            <a:r>
              <a:rPr dirty="0" sz="2100">
                <a:solidFill>
                  <a:srgbClr val="0070C0"/>
                </a:solidFill>
                <a:latin typeface="Arial MT"/>
                <a:cs typeface="Arial MT"/>
              </a:rPr>
              <a:t>target</a:t>
            </a:r>
            <a:r>
              <a:rPr dirty="0" sz="2100" spc="-95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dirty="0" sz="2100" spc="-10">
                <a:solidFill>
                  <a:srgbClr val="0070C0"/>
                </a:solidFill>
                <a:latin typeface="Arial MT"/>
                <a:cs typeface="Arial MT"/>
              </a:rPr>
              <a:t>function</a:t>
            </a:r>
            <a:r>
              <a:rPr dirty="0" sz="2100" spc="-95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C00000"/>
                </a:solidFill>
                <a:latin typeface="Arial MT"/>
                <a:cs typeface="Arial MT"/>
              </a:rPr>
              <a:t>(f)</a:t>
            </a:r>
            <a:r>
              <a:rPr dirty="0" sz="2100" spc="-9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070C0"/>
                </a:solidFill>
                <a:latin typeface="Arial MT"/>
                <a:cs typeface="Arial MT"/>
              </a:rPr>
              <a:t>that</a:t>
            </a:r>
            <a:r>
              <a:rPr dirty="0" sz="2100" spc="-95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070C0"/>
                </a:solidFill>
                <a:latin typeface="Arial MT"/>
                <a:cs typeface="Arial MT"/>
              </a:rPr>
              <a:t>best</a:t>
            </a:r>
            <a:r>
              <a:rPr dirty="0" sz="2100" spc="-95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070C0"/>
                </a:solidFill>
                <a:latin typeface="Arial MT"/>
                <a:cs typeface="Arial MT"/>
              </a:rPr>
              <a:t>maps</a:t>
            </a:r>
            <a:r>
              <a:rPr dirty="0" sz="2100" spc="-90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070C0"/>
                </a:solidFill>
                <a:latin typeface="Arial MT"/>
                <a:cs typeface="Arial MT"/>
              </a:rPr>
              <a:t>input</a:t>
            </a:r>
            <a:r>
              <a:rPr dirty="0" sz="2100" spc="-95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dirty="0" sz="2100" spc="-10">
                <a:solidFill>
                  <a:srgbClr val="0070C0"/>
                </a:solidFill>
                <a:latin typeface="Arial MT"/>
                <a:cs typeface="Arial MT"/>
              </a:rPr>
              <a:t>variables</a:t>
            </a:r>
            <a:r>
              <a:rPr dirty="0" sz="2100" spc="-95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C00000"/>
                </a:solidFill>
                <a:latin typeface="Arial MT"/>
                <a:cs typeface="Arial MT"/>
              </a:rPr>
              <a:t>(X)</a:t>
            </a:r>
            <a:r>
              <a:rPr dirty="0" sz="2100" spc="-9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070C0"/>
                </a:solidFill>
                <a:latin typeface="Arial MT"/>
                <a:cs typeface="Arial MT"/>
              </a:rPr>
              <a:t>to</a:t>
            </a:r>
            <a:r>
              <a:rPr dirty="0" sz="2100" spc="-100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dirty="0" sz="2100" spc="-25">
                <a:solidFill>
                  <a:srgbClr val="0070C0"/>
                </a:solidFill>
                <a:latin typeface="Arial MT"/>
                <a:cs typeface="Arial MT"/>
              </a:rPr>
              <a:t>an </a:t>
            </a:r>
            <a:r>
              <a:rPr dirty="0" sz="2100">
                <a:solidFill>
                  <a:srgbClr val="0070C0"/>
                </a:solidFill>
                <a:latin typeface="Arial MT"/>
                <a:cs typeface="Arial MT"/>
              </a:rPr>
              <a:t>output</a:t>
            </a:r>
            <a:r>
              <a:rPr dirty="0" sz="2100" spc="-130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0070C0"/>
                </a:solidFill>
                <a:latin typeface="Arial MT"/>
                <a:cs typeface="Arial MT"/>
              </a:rPr>
              <a:t>variable</a:t>
            </a:r>
            <a:r>
              <a:rPr dirty="0" sz="2100" spc="-140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dirty="0" sz="2100" spc="-25">
                <a:solidFill>
                  <a:srgbClr val="C00000"/>
                </a:solidFill>
                <a:latin typeface="Arial MT"/>
                <a:cs typeface="Arial MT"/>
              </a:rPr>
              <a:t>(y)</a:t>
            </a:r>
            <a:endParaRPr sz="2100">
              <a:latin typeface="Arial MT"/>
              <a:cs typeface="Arial MT"/>
            </a:endParaRPr>
          </a:p>
          <a:p>
            <a:pPr algn="ctr" marR="652145">
              <a:lnSpc>
                <a:spcPct val="100000"/>
              </a:lnSpc>
              <a:spcBef>
                <a:spcPts val="1845"/>
              </a:spcBef>
            </a:pPr>
            <a:r>
              <a:rPr dirty="0" sz="2100">
                <a:solidFill>
                  <a:srgbClr val="C00000"/>
                </a:solidFill>
                <a:latin typeface="Arial MT"/>
                <a:cs typeface="Arial MT"/>
              </a:rPr>
              <a:t>y</a:t>
            </a:r>
            <a:r>
              <a:rPr dirty="0" sz="2100" spc="-45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C00000"/>
                </a:solidFill>
                <a:latin typeface="Arial MT"/>
                <a:cs typeface="Arial MT"/>
              </a:rPr>
              <a:t>=</a:t>
            </a:r>
            <a:r>
              <a:rPr dirty="0" sz="2100" spc="-45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100" spc="-20">
                <a:solidFill>
                  <a:srgbClr val="C00000"/>
                </a:solidFill>
                <a:latin typeface="Arial MT"/>
                <a:cs typeface="Arial MT"/>
              </a:rPr>
              <a:t>f(X)</a:t>
            </a:r>
            <a:endParaRPr sz="2100">
              <a:latin typeface="Arial MT"/>
              <a:cs typeface="Arial MT"/>
            </a:endParaRPr>
          </a:p>
          <a:p>
            <a:pPr marL="278765" marR="5080" indent="-266700">
              <a:lnSpc>
                <a:spcPct val="99500"/>
              </a:lnSpc>
              <a:spcBef>
                <a:spcPts val="1910"/>
              </a:spcBef>
              <a:buChar char="•"/>
              <a:tabLst>
                <a:tab pos="278765" algn="l"/>
              </a:tabLst>
            </a:pPr>
            <a:r>
              <a:rPr dirty="0" sz="2100">
                <a:latin typeface="Arial MT"/>
                <a:cs typeface="Arial MT"/>
              </a:rPr>
              <a:t>This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general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learning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task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where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we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would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like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to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make </a:t>
            </a:r>
            <a:r>
              <a:rPr dirty="0" sz="2100" spc="-10">
                <a:solidFill>
                  <a:srgbClr val="C00000"/>
                </a:solidFill>
                <a:latin typeface="Arial MT"/>
                <a:cs typeface="Arial MT"/>
              </a:rPr>
              <a:t>predictions</a:t>
            </a:r>
            <a:r>
              <a:rPr dirty="0" sz="2100" spc="-8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C00000"/>
                </a:solidFill>
                <a:latin typeface="Arial MT"/>
                <a:cs typeface="Arial MT"/>
              </a:rPr>
              <a:t>in</a:t>
            </a:r>
            <a:r>
              <a:rPr dirty="0" sz="2100" spc="-85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C00000"/>
                </a:solidFill>
                <a:latin typeface="Arial MT"/>
                <a:cs typeface="Arial MT"/>
              </a:rPr>
              <a:t>the</a:t>
            </a:r>
            <a:r>
              <a:rPr dirty="0" sz="2100" spc="-8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C00000"/>
                </a:solidFill>
                <a:latin typeface="Arial MT"/>
                <a:cs typeface="Arial MT"/>
              </a:rPr>
              <a:t>future</a:t>
            </a:r>
            <a:r>
              <a:rPr dirty="0" sz="2100" spc="-85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C00000"/>
                </a:solidFill>
                <a:latin typeface="Arial MT"/>
                <a:cs typeface="Arial MT"/>
              </a:rPr>
              <a:t>(y</a:t>
            </a:r>
            <a:r>
              <a:rPr dirty="0" sz="2100">
                <a:latin typeface="Arial MT"/>
                <a:cs typeface="Arial MT"/>
              </a:rPr>
              <a:t>)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given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new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>
                <a:solidFill>
                  <a:srgbClr val="C00000"/>
                </a:solidFill>
                <a:latin typeface="Arial MT"/>
                <a:cs typeface="Arial MT"/>
              </a:rPr>
              <a:t>examples</a:t>
            </a:r>
            <a:r>
              <a:rPr dirty="0" sz="2100" spc="-75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C00000"/>
                </a:solidFill>
                <a:latin typeface="Arial MT"/>
                <a:cs typeface="Arial MT"/>
              </a:rPr>
              <a:t>of</a:t>
            </a:r>
            <a:r>
              <a:rPr dirty="0" sz="2100" spc="-8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100" spc="-20">
                <a:solidFill>
                  <a:srgbClr val="C00000"/>
                </a:solidFill>
                <a:latin typeface="Arial MT"/>
                <a:cs typeface="Arial MT"/>
              </a:rPr>
              <a:t>input </a:t>
            </a:r>
            <a:r>
              <a:rPr dirty="0" sz="2100" spc="-10">
                <a:solidFill>
                  <a:srgbClr val="C00000"/>
                </a:solidFill>
                <a:latin typeface="Arial MT"/>
                <a:cs typeface="Arial MT"/>
              </a:rPr>
              <a:t>variables</a:t>
            </a:r>
            <a:r>
              <a:rPr dirty="0" sz="2100" spc="-9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100" spc="-25">
                <a:solidFill>
                  <a:srgbClr val="C00000"/>
                </a:solidFill>
                <a:latin typeface="Arial MT"/>
                <a:cs typeface="Arial MT"/>
              </a:rPr>
              <a:t>(X)</a:t>
            </a:r>
            <a:endParaRPr sz="2100">
              <a:latin typeface="Arial MT"/>
              <a:cs typeface="Arial MT"/>
            </a:endParaRPr>
          </a:p>
          <a:p>
            <a:pPr marL="278765" marR="155575" indent="-266700">
              <a:lnSpc>
                <a:spcPts val="2500"/>
              </a:lnSpc>
              <a:spcBef>
                <a:spcPts val="1875"/>
              </a:spcBef>
              <a:buChar char="•"/>
              <a:tabLst>
                <a:tab pos="278765" algn="l"/>
              </a:tabLst>
            </a:pPr>
            <a:r>
              <a:rPr dirty="0" sz="2100">
                <a:latin typeface="Arial MT"/>
                <a:cs typeface="Arial MT"/>
              </a:rPr>
              <a:t>We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don't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know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what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function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(f)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looks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like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or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its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form.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If </a:t>
            </a:r>
            <a:r>
              <a:rPr dirty="0" sz="2100">
                <a:latin typeface="Arial MT"/>
                <a:cs typeface="Arial MT"/>
              </a:rPr>
              <a:t>we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did,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we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would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use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it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directly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and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we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would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not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need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 spc="-35">
                <a:latin typeface="Arial MT"/>
                <a:cs typeface="Arial MT"/>
              </a:rPr>
              <a:t>to </a:t>
            </a:r>
            <a:r>
              <a:rPr dirty="0" sz="2100">
                <a:latin typeface="Arial MT"/>
                <a:cs typeface="Arial MT"/>
              </a:rPr>
              <a:t>learn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it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from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data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using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machine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learning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algorithms.</a:t>
            </a:r>
            <a:endParaRPr sz="2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27069" y="1754660"/>
            <a:ext cx="8809355" cy="5177790"/>
          </a:xfrm>
          <a:prstGeom prst="rect">
            <a:avLst/>
          </a:prstGeom>
        </p:spPr>
        <p:txBody>
          <a:bodyPr wrap="square" lIns="0" tIns="177165" rIns="0" bIns="0" rtlCol="0" vert="horz">
            <a:spAutoFit/>
          </a:bodyPr>
          <a:lstStyle/>
          <a:p>
            <a:pPr marL="378460">
              <a:lnSpc>
                <a:spcPct val="100000"/>
              </a:lnSpc>
              <a:spcBef>
                <a:spcPts val="1395"/>
              </a:spcBef>
            </a:pPr>
            <a:r>
              <a:rPr dirty="0" sz="2500">
                <a:latin typeface="Arial MT"/>
                <a:cs typeface="Arial MT"/>
              </a:rPr>
              <a:t>In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words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of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American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philosopher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C.S.Peirce:</a:t>
            </a:r>
            <a:endParaRPr sz="2500">
              <a:latin typeface="Arial MT"/>
              <a:cs typeface="Arial MT"/>
            </a:endParaRPr>
          </a:p>
          <a:p>
            <a:pPr marL="644525" marR="1951355" indent="-266700">
              <a:lnSpc>
                <a:spcPct val="120000"/>
              </a:lnSpc>
              <a:spcBef>
                <a:spcPts val="695"/>
              </a:spcBef>
              <a:buChar char="•"/>
              <a:tabLst>
                <a:tab pos="732790" algn="l"/>
              </a:tabLst>
            </a:pPr>
            <a:r>
              <a:rPr dirty="0" sz="2500">
                <a:latin typeface="Arial MT"/>
                <a:cs typeface="Arial MT"/>
              </a:rPr>
              <a:t>“</a:t>
            </a:r>
            <a:r>
              <a:rPr dirty="0" sz="2500" b="1">
                <a:solidFill>
                  <a:srgbClr val="00B050"/>
                </a:solidFill>
                <a:latin typeface="Arial"/>
                <a:cs typeface="Arial"/>
              </a:rPr>
              <a:t>Deduction</a:t>
            </a:r>
            <a:r>
              <a:rPr dirty="0" sz="2500" spc="-110" b="1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dirty="0" sz="2500">
                <a:latin typeface="Arial MT"/>
                <a:cs typeface="Arial MT"/>
              </a:rPr>
              <a:t>proves</a:t>
            </a:r>
            <a:r>
              <a:rPr dirty="0" sz="2500" spc="-10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that</a:t>
            </a:r>
            <a:r>
              <a:rPr dirty="0" sz="2500" spc="-10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something</a:t>
            </a:r>
            <a:r>
              <a:rPr dirty="0" sz="2500" spc="-110">
                <a:latin typeface="Arial MT"/>
                <a:cs typeface="Arial MT"/>
              </a:rPr>
              <a:t> </a:t>
            </a:r>
            <a:r>
              <a:rPr dirty="0" sz="2500" b="1">
                <a:solidFill>
                  <a:srgbClr val="00B050"/>
                </a:solidFill>
                <a:latin typeface="Arial"/>
                <a:cs typeface="Arial"/>
              </a:rPr>
              <a:t>must</a:t>
            </a:r>
            <a:r>
              <a:rPr dirty="0" sz="2500" spc="-100" b="1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dirty="0" sz="2500" spc="-25">
                <a:latin typeface="Arial MT"/>
                <a:cs typeface="Arial MT"/>
              </a:rPr>
              <a:t>be; </a:t>
            </a:r>
            <a:r>
              <a:rPr dirty="0" sz="2500" spc="-25">
                <a:latin typeface="Arial MT"/>
                <a:cs typeface="Arial MT"/>
              </a:rPr>
              <a:t>	</a:t>
            </a:r>
            <a:r>
              <a:rPr dirty="0" sz="2500">
                <a:solidFill>
                  <a:srgbClr val="00B0F0"/>
                </a:solidFill>
                <a:latin typeface="Arial MT"/>
                <a:cs typeface="Arial MT"/>
              </a:rPr>
              <a:t>–</a:t>
            </a:r>
            <a:r>
              <a:rPr dirty="0" sz="2500" spc="-34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0B0F0"/>
                </a:solidFill>
                <a:latin typeface="Arial MT"/>
                <a:cs typeface="Arial MT"/>
              </a:rPr>
              <a:t>If</a:t>
            </a:r>
            <a:r>
              <a:rPr dirty="0" sz="2500" spc="-55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0B0F0"/>
                </a:solidFill>
                <a:latin typeface="Arial MT"/>
                <a:cs typeface="Arial MT"/>
              </a:rPr>
              <a:t>A</a:t>
            </a:r>
            <a:r>
              <a:rPr dirty="0" sz="2500" spc="-45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0B0F0"/>
                </a:solidFill>
                <a:latin typeface="Arial MT"/>
                <a:cs typeface="Arial MT"/>
              </a:rPr>
              <a:t>and</a:t>
            </a:r>
            <a:r>
              <a:rPr dirty="0" sz="2500" spc="-35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0B0F0"/>
                </a:solidFill>
                <a:latin typeface="Arial MT"/>
                <a:cs typeface="Arial MT"/>
              </a:rPr>
              <a:t>B</a:t>
            </a:r>
            <a:r>
              <a:rPr dirty="0" sz="2500" spc="-45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0B0F0"/>
                </a:solidFill>
                <a:latin typeface="Arial MT"/>
                <a:cs typeface="Arial MT"/>
              </a:rPr>
              <a:t>then</a:t>
            </a:r>
            <a:r>
              <a:rPr dirty="0" sz="2500" spc="-35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0B050"/>
                </a:solidFill>
                <a:latin typeface="Arial MT"/>
                <a:cs typeface="Arial MT"/>
              </a:rPr>
              <a:t>always</a:t>
            </a:r>
            <a:r>
              <a:rPr dirty="0" sz="2500" spc="-4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dirty="0" sz="2500" spc="-50">
                <a:solidFill>
                  <a:srgbClr val="00B0F0"/>
                </a:solidFill>
                <a:latin typeface="Arial MT"/>
                <a:cs typeface="Arial MT"/>
              </a:rPr>
              <a:t>C</a:t>
            </a:r>
            <a:endParaRPr sz="2500">
              <a:latin typeface="Arial MT"/>
              <a:cs typeface="Arial MT"/>
            </a:endParaRPr>
          </a:p>
          <a:p>
            <a:pPr marL="644525" indent="-2660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644525" algn="l"/>
              </a:tabLst>
            </a:pPr>
            <a:r>
              <a:rPr dirty="0" sz="2500" b="1">
                <a:solidFill>
                  <a:srgbClr val="0070C0"/>
                </a:solidFill>
                <a:latin typeface="Arial"/>
                <a:cs typeface="Arial"/>
              </a:rPr>
              <a:t>Induction</a:t>
            </a:r>
            <a:r>
              <a:rPr dirty="0" sz="2500" spc="-95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2500">
                <a:latin typeface="Arial MT"/>
                <a:cs typeface="Arial MT"/>
              </a:rPr>
              <a:t>shows</a:t>
            </a:r>
            <a:r>
              <a:rPr dirty="0" sz="2500" spc="-8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that</a:t>
            </a:r>
            <a:r>
              <a:rPr dirty="0" sz="2500" spc="-9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something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actually</a:t>
            </a:r>
            <a:r>
              <a:rPr dirty="0" sz="2500" spc="-9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is</a:t>
            </a:r>
            <a:r>
              <a:rPr dirty="0" sz="2500" spc="-90">
                <a:latin typeface="Arial MT"/>
                <a:cs typeface="Arial MT"/>
              </a:rPr>
              <a:t> </a:t>
            </a:r>
            <a:r>
              <a:rPr dirty="0" sz="2500" spc="-10" b="1">
                <a:solidFill>
                  <a:srgbClr val="0070C0"/>
                </a:solidFill>
                <a:latin typeface="Arial"/>
                <a:cs typeface="Arial"/>
              </a:rPr>
              <a:t>operative</a:t>
            </a:r>
            <a:r>
              <a:rPr dirty="0" sz="2500" spc="-10" b="1">
                <a:latin typeface="Arial"/>
                <a:cs typeface="Arial"/>
              </a:rPr>
              <a:t>;</a:t>
            </a:r>
            <a:endParaRPr sz="2500">
              <a:latin typeface="Arial"/>
              <a:cs typeface="Arial"/>
            </a:endParaRPr>
          </a:p>
          <a:p>
            <a:pPr marL="851535">
              <a:lnSpc>
                <a:spcPct val="100000"/>
              </a:lnSpc>
              <a:spcBef>
                <a:spcPts val="600"/>
              </a:spcBef>
            </a:pPr>
            <a:r>
              <a:rPr dirty="0" sz="2500">
                <a:solidFill>
                  <a:srgbClr val="00B0F0"/>
                </a:solidFill>
                <a:latin typeface="Arial MT"/>
                <a:cs typeface="Arial MT"/>
              </a:rPr>
              <a:t>–</a:t>
            </a:r>
            <a:r>
              <a:rPr dirty="0" sz="2500" spc="19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0B0F0"/>
                </a:solidFill>
                <a:latin typeface="Arial MT"/>
                <a:cs typeface="Arial MT"/>
              </a:rPr>
              <a:t>If</a:t>
            </a:r>
            <a:r>
              <a:rPr dirty="0" sz="2500" spc="-5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0B0F0"/>
                </a:solidFill>
                <a:latin typeface="Arial MT"/>
                <a:cs typeface="Arial MT"/>
              </a:rPr>
              <a:t>A</a:t>
            </a:r>
            <a:r>
              <a:rPr dirty="0" sz="2500" spc="-55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0B0F0"/>
                </a:solidFill>
                <a:latin typeface="Arial MT"/>
                <a:cs typeface="Arial MT"/>
              </a:rPr>
              <a:t>and</a:t>
            </a:r>
            <a:r>
              <a:rPr dirty="0" sz="2500" spc="-45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0B0F0"/>
                </a:solidFill>
                <a:latin typeface="Arial MT"/>
                <a:cs typeface="Arial MT"/>
              </a:rPr>
              <a:t>B</a:t>
            </a:r>
            <a:r>
              <a:rPr dirty="0" sz="2500" spc="-5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0B0F0"/>
                </a:solidFill>
                <a:latin typeface="Arial MT"/>
                <a:cs typeface="Arial MT"/>
              </a:rPr>
              <a:t>then</a:t>
            </a:r>
            <a:r>
              <a:rPr dirty="0" sz="2500" spc="-45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070C0"/>
                </a:solidFill>
                <a:latin typeface="Arial MT"/>
                <a:cs typeface="Arial MT"/>
              </a:rPr>
              <a:t>most</a:t>
            </a:r>
            <a:r>
              <a:rPr dirty="0" sz="2500" spc="-55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070C0"/>
                </a:solidFill>
                <a:latin typeface="Arial MT"/>
                <a:cs typeface="Arial MT"/>
              </a:rPr>
              <a:t>probably</a:t>
            </a:r>
            <a:r>
              <a:rPr dirty="0" sz="2500" spc="-45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dirty="0" sz="2500" spc="-50">
                <a:solidFill>
                  <a:srgbClr val="00B0F0"/>
                </a:solidFill>
                <a:latin typeface="Arial MT"/>
                <a:cs typeface="Arial MT"/>
              </a:rPr>
              <a:t>C</a:t>
            </a:r>
            <a:endParaRPr sz="2500">
              <a:latin typeface="Arial MT"/>
              <a:cs typeface="Arial MT"/>
            </a:endParaRPr>
          </a:p>
          <a:p>
            <a:pPr marL="644525" marR="706120" indent="-266700">
              <a:lnSpc>
                <a:spcPct val="120800"/>
              </a:lnSpc>
              <a:spcBef>
                <a:spcPts val="670"/>
              </a:spcBef>
              <a:buFont typeface="Arial MT"/>
              <a:buChar char="•"/>
              <a:tabLst>
                <a:tab pos="732790" algn="l"/>
              </a:tabLst>
            </a:pPr>
            <a:r>
              <a:rPr dirty="0" sz="2500" b="1">
                <a:solidFill>
                  <a:srgbClr val="C00000"/>
                </a:solidFill>
                <a:latin typeface="Arial"/>
                <a:cs typeface="Arial"/>
              </a:rPr>
              <a:t>Abduction</a:t>
            </a:r>
            <a:r>
              <a:rPr dirty="0" sz="2500" spc="-10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500">
                <a:latin typeface="Arial MT"/>
                <a:cs typeface="Arial MT"/>
              </a:rPr>
              <a:t>merely</a:t>
            </a:r>
            <a:r>
              <a:rPr dirty="0" sz="2500" spc="-10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suggests</a:t>
            </a:r>
            <a:r>
              <a:rPr dirty="0" sz="2500" spc="-10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that</a:t>
            </a:r>
            <a:r>
              <a:rPr dirty="0" sz="2500" spc="-10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something</a:t>
            </a:r>
            <a:r>
              <a:rPr dirty="0" sz="2500" spc="-100">
                <a:latin typeface="Arial MT"/>
                <a:cs typeface="Arial MT"/>
              </a:rPr>
              <a:t> </a:t>
            </a:r>
            <a:r>
              <a:rPr dirty="0" sz="2500" b="1">
                <a:solidFill>
                  <a:srgbClr val="C00000"/>
                </a:solidFill>
                <a:latin typeface="Arial"/>
                <a:cs typeface="Arial"/>
              </a:rPr>
              <a:t>may</a:t>
            </a:r>
            <a:r>
              <a:rPr dirty="0" sz="2500" spc="-1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500" spc="-20">
                <a:latin typeface="Arial MT"/>
                <a:cs typeface="Arial MT"/>
              </a:rPr>
              <a:t>be.” </a:t>
            </a:r>
            <a:r>
              <a:rPr dirty="0" sz="2500" spc="-20">
                <a:latin typeface="Arial MT"/>
                <a:cs typeface="Arial MT"/>
              </a:rPr>
              <a:t>	</a:t>
            </a:r>
            <a:r>
              <a:rPr dirty="0" sz="2500">
                <a:solidFill>
                  <a:srgbClr val="00B0F0"/>
                </a:solidFill>
                <a:latin typeface="Arial MT"/>
                <a:cs typeface="Arial MT"/>
              </a:rPr>
              <a:t>–</a:t>
            </a:r>
            <a:r>
              <a:rPr dirty="0" sz="2500" spc="-34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0B0F0"/>
                </a:solidFill>
                <a:latin typeface="Arial MT"/>
                <a:cs typeface="Arial MT"/>
              </a:rPr>
              <a:t>If</a:t>
            </a:r>
            <a:r>
              <a:rPr dirty="0" sz="2500" spc="-45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0B0F0"/>
                </a:solidFill>
                <a:latin typeface="Arial MT"/>
                <a:cs typeface="Arial MT"/>
              </a:rPr>
              <a:t>A</a:t>
            </a:r>
            <a:r>
              <a:rPr dirty="0" sz="2500" spc="-4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0B0F0"/>
                </a:solidFill>
                <a:latin typeface="Arial MT"/>
                <a:cs typeface="Arial MT"/>
              </a:rPr>
              <a:t>and</a:t>
            </a:r>
            <a:r>
              <a:rPr dirty="0" sz="2500" spc="-3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0B0F0"/>
                </a:solidFill>
                <a:latin typeface="Arial MT"/>
                <a:cs typeface="Arial MT"/>
              </a:rPr>
              <a:t>B</a:t>
            </a:r>
            <a:r>
              <a:rPr dirty="0" sz="2500" spc="-4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0B0F0"/>
                </a:solidFill>
                <a:latin typeface="Arial MT"/>
                <a:cs typeface="Arial MT"/>
              </a:rPr>
              <a:t>then</a:t>
            </a:r>
            <a:r>
              <a:rPr dirty="0" sz="2500" spc="-35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0B0F0"/>
                </a:solidFill>
                <a:latin typeface="Arial MT"/>
                <a:cs typeface="Arial MT"/>
              </a:rPr>
              <a:t>C</a:t>
            </a:r>
            <a:r>
              <a:rPr dirty="0" sz="2500" spc="-25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dirty="0" sz="2500" spc="-50">
                <a:solidFill>
                  <a:srgbClr val="C00000"/>
                </a:solidFill>
                <a:latin typeface="Arial MT"/>
                <a:cs typeface="Arial MT"/>
              </a:rPr>
              <a:t>?</a:t>
            </a:r>
            <a:endParaRPr sz="2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785"/>
              </a:spcBef>
            </a:pPr>
            <a:endParaRPr sz="2500">
              <a:latin typeface="Arial MT"/>
              <a:cs typeface="Arial MT"/>
            </a:endParaRPr>
          </a:p>
          <a:p>
            <a:pPr marL="12700" marR="5080">
              <a:lnSpc>
                <a:spcPct val="98000"/>
              </a:lnSpc>
            </a:pPr>
            <a:r>
              <a:rPr dirty="0" sz="1700" spc="-25">
                <a:latin typeface="Arial MT"/>
                <a:cs typeface="Arial MT"/>
              </a:rPr>
              <a:t>Charles</a:t>
            </a:r>
            <a:r>
              <a:rPr dirty="0" sz="1700" spc="-95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Sanders</a:t>
            </a:r>
            <a:r>
              <a:rPr dirty="0" sz="1700" spc="-55">
                <a:latin typeface="Arial MT"/>
                <a:cs typeface="Arial MT"/>
              </a:rPr>
              <a:t> </a:t>
            </a:r>
            <a:r>
              <a:rPr dirty="0" sz="1700" spc="-20">
                <a:latin typeface="Arial MT"/>
                <a:cs typeface="Arial MT"/>
              </a:rPr>
              <a:t>Peirce,</a:t>
            </a:r>
            <a:r>
              <a:rPr dirty="0" sz="1700" spc="-45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“Pragmatism</a:t>
            </a:r>
            <a:r>
              <a:rPr dirty="0" sz="1700" spc="-70">
                <a:latin typeface="Arial MT"/>
                <a:cs typeface="Arial MT"/>
              </a:rPr>
              <a:t> </a:t>
            </a:r>
            <a:r>
              <a:rPr dirty="0" sz="1700" spc="-35">
                <a:latin typeface="Arial MT"/>
                <a:cs typeface="Arial MT"/>
              </a:rPr>
              <a:t>and</a:t>
            </a:r>
            <a:r>
              <a:rPr dirty="0" sz="1700" spc="-130">
                <a:latin typeface="Arial MT"/>
                <a:cs typeface="Arial MT"/>
              </a:rPr>
              <a:t> </a:t>
            </a:r>
            <a:r>
              <a:rPr dirty="0" sz="1700" spc="-30">
                <a:latin typeface="Arial MT"/>
                <a:cs typeface="Arial MT"/>
              </a:rPr>
              <a:t>Abduction,”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 spc="-20">
                <a:latin typeface="Arial MT"/>
                <a:cs typeface="Arial MT"/>
              </a:rPr>
              <a:t>(lecture,</a:t>
            </a:r>
            <a:r>
              <a:rPr dirty="0" sz="1700" spc="-45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Harvard</a:t>
            </a:r>
            <a:r>
              <a:rPr dirty="0" sz="1700" spc="-6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University,Cambridge, </a:t>
            </a:r>
            <a:r>
              <a:rPr dirty="0" sz="1700">
                <a:latin typeface="Arial MT"/>
                <a:cs typeface="Arial MT"/>
              </a:rPr>
              <a:t>MA,</a:t>
            </a:r>
            <a:r>
              <a:rPr dirty="0" sz="1700" spc="-75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May</a:t>
            </a:r>
            <a:r>
              <a:rPr dirty="0" sz="1700" spc="-8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14,</a:t>
            </a:r>
            <a:r>
              <a:rPr dirty="0" sz="1700" spc="-70">
                <a:latin typeface="Arial MT"/>
                <a:cs typeface="Arial MT"/>
              </a:rPr>
              <a:t> </a:t>
            </a:r>
            <a:r>
              <a:rPr dirty="0" sz="1700" spc="-20">
                <a:latin typeface="Arial MT"/>
                <a:cs typeface="Arial MT"/>
              </a:rPr>
              <a:t>1903),</a:t>
            </a:r>
            <a:r>
              <a:rPr dirty="0" sz="1700" spc="-7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In</a:t>
            </a:r>
            <a:r>
              <a:rPr dirty="0" sz="1700" spc="-114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The</a:t>
            </a:r>
            <a:r>
              <a:rPr dirty="0" sz="1700" spc="-90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Collected</a:t>
            </a:r>
            <a:r>
              <a:rPr dirty="0" sz="1700" spc="-85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Papers</a:t>
            </a:r>
            <a:r>
              <a:rPr dirty="0" sz="1700" spc="-8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of</a:t>
            </a:r>
            <a:r>
              <a:rPr dirty="0" sz="1700" spc="-70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Charles</a:t>
            </a:r>
            <a:r>
              <a:rPr dirty="0" sz="1700" spc="-85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Sanders</a:t>
            </a:r>
            <a:r>
              <a:rPr dirty="0" sz="1700" spc="-85">
                <a:latin typeface="Arial MT"/>
                <a:cs typeface="Arial MT"/>
              </a:rPr>
              <a:t> </a:t>
            </a:r>
            <a:r>
              <a:rPr dirty="0" sz="1700" spc="-20">
                <a:latin typeface="Arial MT"/>
                <a:cs typeface="Arial MT"/>
              </a:rPr>
              <a:t>Peirce,</a:t>
            </a:r>
            <a:r>
              <a:rPr dirty="0" sz="1700" spc="-7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vol.</a:t>
            </a:r>
            <a:r>
              <a:rPr dirty="0" sz="1700" spc="-7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5,</a:t>
            </a:r>
            <a:r>
              <a:rPr dirty="0" sz="1700" spc="-7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Pragmatism and</a:t>
            </a:r>
            <a:r>
              <a:rPr dirty="0" sz="1700" spc="-105">
                <a:latin typeface="Arial MT"/>
                <a:cs typeface="Arial MT"/>
              </a:rPr>
              <a:t> </a:t>
            </a:r>
            <a:r>
              <a:rPr dirty="0" sz="1700" spc="-30">
                <a:latin typeface="Arial MT"/>
                <a:cs typeface="Arial MT"/>
              </a:rPr>
              <a:t>Pragmaticism,</a:t>
            </a:r>
            <a:r>
              <a:rPr dirty="0" sz="1700" spc="-55">
                <a:latin typeface="Arial MT"/>
                <a:cs typeface="Arial MT"/>
              </a:rPr>
              <a:t> </a:t>
            </a:r>
            <a:r>
              <a:rPr dirty="0" sz="1700" spc="-40">
                <a:latin typeface="Arial MT"/>
                <a:cs typeface="Arial MT"/>
              </a:rPr>
              <a:t>180-</a:t>
            </a:r>
            <a:r>
              <a:rPr dirty="0" sz="1700" spc="-10">
                <a:latin typeface="Arial MT"/>
                <a:cs typeface="Arial MT"/>
              </a:rPr>
              <a:t>212,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CP</a:t>
            </a:r>
            <a:r>
              <a:rPr dirty="0" sz="1700" spc="-105">
                <a:latin typeface="Arial MT"/>
                <a:cs typeface="Arial MT"/>
              </a:rPr>
              <a:t> </a:t>
            </a:r>
            <a:r>
              <a:rPr dirty="0" sz="1700" spc="-20">
                <a:latin typeface="Arial MT"/>
                <a:cs typeface="Arial MT"/>
              </a:rPr>
              <a:t>5.186,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C.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 spc="-30">
                <a:latin typeface="Arial MT"/>
                <a:cs typeface="Arial MT"/>
              </a:rPr>
              <a:t>Hartshorne</a:t>
            </a:r>
            <a:r>
              <a:rPr dirty="0" sz="1700" spc="-7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and</a:t>
            </a:r>
            <a:r>
              <a:rPr dirty="0" sz="1700" spc="-70">
                <a:latin typeface="Arial MT"/>
                <a:cs typeface="Arial MT"/>
              </a:rPr>
              <a:t> </a:t>
            </a:r>
            <a:r>
              <a:rPr dirty="0" sz="1700" spc="-140">
                <a:latin typeface="Arial MT"/>
                <a:cs typeface="Arial MT"/>
              </a:rPr>
              <a:t>P.</a:t>
            </a:r>
            <a:r>
              <a:rPr dirty="0" sz="1700" spc="-15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Weiss,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eds.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 spc="-30">
                <a:latin typeface="Arial MT"/>
                <a:cs typeface="Arial MT"/>
              </a:rPr>
              <a:t>(Cambridge,</a:t>
            </a:r>
            <a:r>
              <a:rPr dirty="0" sz="1700" spc="-55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MA: Harvard</a:t>
            </a:r>
            <a:r>
              <a:rPr dirty="0" sz="1700" spc="-75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University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 spc="-20">
                <a:latin typeface="Arial MT"/>
                <a:cs typeface="Arial MT"/>
              </a:rPr>
              <a:t>Press,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1934)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89694" rIns="0" bIns="0" rtlCol="0" vert="horz">
            <a:spAutoFit/>
          </a:bodyPr>
          <a:lstStyle/>
          <a:p>
            <a:pPr marL="2094230">
              <a:lnSpc>
                <a:spcPct val="100000"/>
              </a:lnSpc>
              <a:spcBef>
                <a:spcPts val="100"/>
              </a:spcBef>
            </a:pPr>
            <a:r>
              <a:rPr dirty="0" sz="3300" spc="-10" b="0">
                <a:latin typeface="Arial MT"/>
                <a:cs typeface="Arial MT"/>
              </a:rPr>
              <a:t>Inference</a:t>
            </a:r>
            <a:endParaRPr sz="3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32191" rIns="0" bIns="0" rtlCol="0" vert="horz">
            <a:spAutoFit/>
          </a:bodyPr>
          <a:lstStyle/>
          <a:p>
            <a:pPr marL="1286510">
              <a:lnSpc>
                <a:spcPct val="100000"/>
              </a:lnSpc>
              <a:spcBef>
                <a:spcPts val="100"/>
              </a:spcBef>
            </a:pPr>
            <a:r>
              <a:rPr dirty="0" sz="3700">
                <a:solidFill>
                  <a:srgbClr val="262673"/>
                </a:solidFill>
              </a:rPr>
              <a:t>Machine</a:t>
            </a:r>
            <a:r>
              <a:rPr dirty="0" sz="3700" spc="-50">
                <a:solidFill>
                  <a:srgbClr val="262673"/>
                </a:solidFill>
              </a:rPr>
              <a:t> </a:t>
            </a:r>
            <a:r>
              <a:rPr dirty="0" sz="3700" spc="-10">
                <a:solidFill>
                  <a:srgbClr val="262673"/>
                </a:solidFill>
              </a:rPr>
              <a:t>Learning</a:t>
            </a:r>
            <a:endParaRPr sz="3700"/>
          </a:p>
        </p:txBody>
      </p:sp>
      <p:grpSp>
        <p:nvGrpSpPr>
          <p:cNvPr id="3" name="object 3" descr=""/>
          <p:cNvGrpSpPr/>
          <p:nvPr/>
        </p:nvGrpSpPr>
        <p:grpSpPr>
          <a:xfrm>
            <a:off x="1422038" y="1869697"/>
            <a:ext cx="8232140" cy="4909185"/>
            <a:chOff x="1422038" y="1869697"/>
            <a:chExt cx="8232140" cy="490918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22038" y="1869697"/>
              <a:ext cx="8115884" cy="4908842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8164677" y="2672737"/>
              <a:ext cx="1483360" cy="1255395"/>
            </a:xfrm>
            <a:custGeom>
              <a:avLst/>
              <a:gdLst/>
              <a:ahLst/>
              <a:cxnLst/>
              <a:rect l="l" t="t" r="r" b="b"/>
              <a:pathLst>
                <a:path w="1483359" h="1255395">
                  <a:moveTo>
                    <a:pt x="617821" y="734653"/>
                  </a:moveTo>
                  <a:lnTo>
                    <a:pt x="247129" y="734653"/>
                  </a:lnTo>
                  <a:lnTo>
                    <a:pt x="674853" y="1255234"/>
                  </a:lnTo>
                  <a:lnTo>
                    <a:pt x="617821" y="734653"/>
                  </a:lnTo>
                  <a:close/>
                </a:path>
                <a:path w="1483359" h="1255395">
                  <a:moveTo>
                    <a:pt x="1360382" y="0"/>
                  </a:moveTo>
                  <a:lnTo>
                    <a:pt x="122391" y="0"/>
                  </a:lnTo>
                  <a:lnTo>
                    <a:pt x="74751" y="9622"/>
                  </a:lnTo>
                  <a:lnTo>
                    <a:pt x="35847" y="35862"/>
                  </a:lnTo>
                  <a:lnTo>
                    <a:pt x="9618" y="74783"/>
                  </a:lnTo>
                  <a:lnTo>
                    <a:pt x="0" y="122444"/>
                  </a:lnTo>
                  <a:lnTo>
                    <a:pt x="0" y="612211"/>
                  </a:lnTo>
                  <a:lnTo>
                    <a:pt x="9618" y="659868"/>
                  </a:lnTo>
                  <a:lnTo>
                    <a:pt x="35847" y="698789"/>
                  </a:lnTo>
                  <a:lnTo>
                    <a:pt x="74751" y="725030"/>
                  </a:lnTo>
                  <a:lnTo>
                    <a:pt x="122391" y="734653"/>
                  </a:lnTo>
                  <a:lnTo>
                    <a:pt x="1360382" y="734653"/>
                  </a:lnTo>
                  <a:lnTo>
                    <a:pt x="1408021" y="725030"/>
                  </a:lnTo>
                  <a:lnTo>
                    <a:pt x="1446924" y="698789"/>
                  </a:lnTo>
                  <a:lnTo>
                    <a:pt x="1473153" y="659868"/>
                  </a:lnTo>
                  <a:lnTo>
                    <a:pt x="1482771" y="612211"/>
                  </a:lnTo>
                  <a:lnTo>
                    <a:pt x="1482771" y="122444"/>
                  </a:lnTo>
                  <a:lnTo>
                    <a:pt x="1473153" y="74783"/>
                  </a:lnTo>
                  <a:lnTo>
                    <a:pt x="1446924" y="35862"/>
                  </a:lnTo>
                  <a:lnTo>
                    <a:pt x="1408021" y="9622"/>
                  </a:lnTo>
                  <a:lnTo>
                    <a:pt x="1360382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8164677" y="2672737"/>
              <a:ext cx="1483360" cy="1255395"/>
            </a:xfrm>
            <a:custGeom>
              <a:avLst/>
              <a:gdLst/>
              <a:ahLst/>
              <a:cxnLst/>
              <a:rect l="l" t="t" r="r" b="b"/>
              <a:pathLst>
                <a:path w="1483359" h="1255395">
                  <a:moveTo>
                    <a:pt x="0" y="122445"/>
                  </a:moveTo>
                  <a:lnTo>
                    <a:pt x="9618" y="74784"/>
                  </a:lnTo>
                  <a:lnTo>
                    <a:pt x="35847" y="35863"/>
                  </a:lnTo>
                  <a:lnTo>
                    <a:pt x="74750" y="9622"/>
                  </a:lnTo>
                  <a:lnTo>
                    <a:pt x="122390" y="0"/>
                  </a:lnTo>
                  <a:lnTo>
                    <a:pt x="247128" y="0"/>
                  </a:lnTo>
                  <a:lnTo>
                    <a:pt x="617821" y="0"/>
                  </a:lnTo>
                  <a:lnTo>
                    <a:pt x="1360381" y="0"/>
                  </a:lnTo>
                  <a:lnTo>
                    <a:pt x="1408021" y="9622"/>
                  </a:lnTo>
                  <a:lnTo>
                    <a:pt x="1446924" y="35863"/>
                  </a:lnTo>
                  <a:lnTo>
                    <a:pt x="1473153" y="74784"/>
                  </a:lnTo>
                  <a:lnTo>
                    <a:pt x="1482771" y="122445"/>
                  </a:lnTo>
                  <a:lnTo>
                    <a:pt x="1482771" y="428548"/>
                  </a:lnTo>
                  <a:lnTo>
                    <a:pt x="1482771" y="612211"/>
                  </a:lnTo>
                  <a:lnTo>
                    <a:pt x="1473153" y="659869"/>
                  </a:lnTo>
                  <a:lnTo>
                    <a:pt x="1446924" y="698789"/>
                  </a:lnTo>
                  <a:lnTo>
                    <a:pt x="1408021" y="725030"/>
                  </a:lnTo>
                  <a:lnTo>
                    <a:pt x="1360381" y="734653"/>
                  </a:lnTo>
                  <a:lnTo>
                    <a:pt x="617821" y="734653"/>
                  </a:lnTo>
                  <a:lnTo>
                    <a:pt x="674853" y="1255235"/>
                  </a:lnTo>
                  <a:lnTo>
                    <a:pt x="247128" y="734653"/>
                  </a:lnTo>
                  <a:lnTo>
                    <a:pt x="122390" y="734653"/>
                  </a:lnTo>
                  <a:lnTo>
                    <a:pt x="74750" y="725030"/>
                  </a:lnTo>
                  <a:lnTo>
                    <a:pt x="35847" y="698789"/>
                  </a:lnTo>
                  <a:lnTo>
                    <a:pt x="9618" y="659869"/>
                  </a:lnTo>
                  <a:lnTo>
                    <a:pt x="0" y="612208"/>
                  </a:lnTo>
                  <a:lnTo>
                    <a:pt x="0" y="428548"/>
                  </a:lnTo>
                  <a:lnTo>
                    <a:pt x="0" y="122445"/>
                  </a:lnTo>
                  <a:close/>
                </a:path>
              </a:pathLst>
            </a:custGeom>
            <a:ln w="13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8334871" y="2729883"/>
            <a:ext cx="1143635" cy="60769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203200" marR="5080" indent="-191135">
              <a:lnSpc>
                <a:spcPct val="101099"/>
              </a:lnSpc>
              <a:spcBef>
                <a:spcPts val="75"/>
              </a:spcBef>
            </a:pPr>
            <a:r>
              <a:rPr dirty="0" sz="1900" spc="-30" b="1">
                <a:latin typeface="Arial"/>
                <a:cs typeface="Arial"/>
              </a:rPr>
              <a:t>Statistical </a:t>
            </a:r>
            <a:r>
              <a:rPr dirty="0" sz="1900" spc="-10" b="1">
                <a:latin typeface="Arial"/>
                <a:cs typeface="Arial"/>
              </a:rPr>
              <a:t>Profile</a:t>
            </a:r>
            <a:endParaRPr sz="1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4715889" y="1399820"/>
            <a:ext cx="3754754" cy="1099185"/>
            <a:chOff x="4715889" y="1399820"/>
            <a:chExt cx="3754754" cy="1099185"/>
          </a:xfrm>
        </p:grpSpPr>
        <p:sp>
          <p:nvSpPr>
            <p:cNvPr id="3" name="object 3" descr=""/>
            <p:cNvSpPr/>
            <p:nvPr/>
          </p:nvSpPr>
          <p:spPr>
            <a:xfrm>
              <a:off x="4755577" y="1439508"/>
              <a:ext cx="3675379" cy="1019810"/>
            </a:xfrm>
            <a:custGeom>
              <a:avLst/>
              <a:gdLst/>
              <a:ahLst/>
              <a:cxnLst/>
              <a:rect l="l" t="t" r="r" b="b"/>
              <a:pathLst>
                <a:path w="3675379" h="1019810">
                  <a:moveTo>
                    <a:pt x="3675162" y="0"/>
                  </a:moveTo>
                  <a:lnTo>
                    <a:pt x="0" y="0"/>
                  </a:lnTo>
                  <a:lnTo>
                    <a:pt x="0" y="1019538"/>
                  </a:lnTo>
                  <a:lnTo>
                    <a:pt x="3675162" y="1019538"/>
                  </a:lnTo>
                  <a:lnTo>
                    <a:pt x="3675162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4755577" y="1439508"/>
              <a:ext cx="3675379" cy="1019810"/>
            </a:xfrm>
            <a:custGeom>
              <a:avLst/>
              <a:gdLst/>
              <a:ahLst/>
              <a:cxnLst/>
              <a:rect l="l" t="t" r="r" b="b"/>
              <a:pathLst>
                <a:path w="3675379" h="1019810">
                  <a:moveTo>
                    <a:pt x="0" y="0"/>
                  </a:moveTo>
                  <a:lnTo>
                    <a:pt x="3675163" y="0"/>
                  </a:lnTo>
                  <a:lnTo>
                    <a:pt x="3675163" y="1019538"/>
                  </a:lnTo>
                  <a:lnTo>
                    <a:pt x="0" y="1019538"/>
                  </a:lnTo>
                  <a:lnTo>
                    <a:pt x="0" y="0"/>
                  </a:lnTo>
                  <a:close/>
                </a:path>
              </a:pathLst>
            </a:custGeom>
            <a:ln w="7887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095792" y="823787"/>
            <a:ext cx="5320030" cy="5289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>
                <a:solidFill>
                  <a:srgbClr val="262673"/>
                </a:solidFill>
              </a:rPr>
              <a:t>Machine</a:t>
            </a:r>
            <a:r>
              <a:rPr dirty="0" sz="3300" spc="-70">
                <a:solidFill>
                  <a:srgbClr val="262673"/>
                </a:solidFill>
              </a:rPr>
              <a:t> </a:t>
            </a:r>
            <a:r>
              <a:rPr dirty="0" sz="3300">
                <a:solidFill>
                  <a:srgbClr val="262673"/>
                </a:solidFill>
              </a:rPr>
              <a:t>Learning</a:t>
            </a:r>
            <a:r>
              <a:rPr dirty="0" sz="3300" spc="-65">
                <a:solidFill>
                  <a:srgbClr val="262673"/>
                </a:solidFill>
              </a:rPr>
              <a:t> </a:t>
            </a:r>
            <a:r>
              <a:rPr dirty="0" sz="3300" spc="-10">
                <a:solidFill>
                  <a:srgbClr val="262673"/>
                </a:solidFill>
              </a:rPr>
              <a:t>Pipeline</a:t>
            </a:r>
            <a:endParaRPr sz="3300"/>
          </a:p>
        </p:txBody>
      </p:sp>
      <p:sp>
        <p:nvSpPr>
          <p:cNvPr id="6" name="object 6" descr=""/>
          <p:cNvSpPr txBox="1"/>
          <p:nvPr/>
        </p:nvSpPr>
        <p:spPr>
          <a:xfrm>
            <a:off x="4837492" y="1330988"/>
            <a:ext cx="4642485" cy="49574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17525" marR="1310640" indent="-505459">
              <a:lnSpc>
                <a:spcPct val="133600"/>
              </a:lnSpc>
              <a:spcBef>
                <a:spcPts val="100"/>
              </a:spcBef>
            </a:pPr>
            <a:r>
              <a:rPr dirty="0" sz="2500" b="1">
                <a:latin typeface="Arial"/>
                <a:cs typeface="Arial"/>
              </a:rPr>
              <a:t>Abductive</a:t>
            </a:r>
            <a:r>
              <a:rPr dirty="0" sz="2500" spc="-130" b="1">
                <a:latin typeface="Arial"/>
                <a:cs typeface="Arial"/>
              </a:rPr>
              <a:t> </a:t>
            </a:r>
            <a:r>
              <a:rPr dirty="0" sz="2500" spc="-10" b="1">
                <a:latin typeface="Arial"/>
                <a:cs typeface="Arial"/>
              </a:rPr>
              <a:t>Reasoning</a:t>
            </a:r>
            <a:r>
              <a:rPr dirty="0" sz="2500" spc="-10">
                <a:latin typeface="Arial MT"/>
                <a:cs typeface="Arial MT"/>
              </a:rPr>
              <a:t>: </a:t>
            </a:r>
            <a:r>
              <a:rPr dirty="0" sz="2500" b="1">
                <a:solidFill>
                  <a:srgbClr val="00B0F0"/>
                </a:solidFill>
                <a:latin typeface="Arial"/>
                <a:cs typeface="Arial"/>
              </a:rPr>
              <a:t>Problem</a:t>
            </a:r>
            <a:r>
              <a:rPr dirty="0" sz="2500" spc="-120" b="1">
                <a:solidFill>
                  <a:srgbClr val="00B0F0"/>
                </a:solidFill>
                <a:latin typeface="Arial"/>
                <a:cs typeface="Arial"/>
              </a:rPr>
              <a:t> </a:t>
            </a:r>
            <a:r>
              <a:rPr dirty="0" sz="2500" spc="-10" b="1">
                <a:solidFill>
                  <a:srgbClr val="00B0F0"/>
                </a:solidFill>
                <a:latin typeface="Arial"/>
                <a:cs typeface="Arial"/>
              </a:rPr>
              <a:t>Definition</a:t>
            </a:r>
            <a:endParaRPr sz="2500">
              <a:latin typeface="Arial"/>
              <a:cs typeface="Arial"/>
            </a:endParaRPr>
          </a:p>
          <a:p>
            <a:pPr marL="783590" marR="830580" indent="-266700">
              <a:lnSpc>
                <a:spcPct val="100000"/>
              </a:lnSpc>
              <a:spcBef>
                <a:spcPts val="1295"/>
              </a:spcBef>
              <a:buFont typeface="Arial MT"/>
              <a:buChar char="•"/>
              <a:tabLst>
                <a:tab pos="783590" algn="l"/>
              </a:tabLst>
            </a:pPr>
            <a:r>
              <a:rPr dirty="0" sz="2500" b="1">
                <a:latin typeface="Arial"/>
                <a:cs typeface="Arial"/>
              </a:rPr>
              <a:t>Goal:</a:t>
            </a:r>
            <a:r>
              <a:rPr dirty="0" sz="2500" spc="-95" b="1">
                <a:latin typeface="Arial"/>
                <a:cs typeface="Arial"/>
              </a:rPr>
              <a:t> </a:t>
            </a:r>
            <a:r>
              <a:rPr dirty="0" sz="2500">
                <a:latin typeface="Arial MT"/>
                <a:cs typeface="Arial MT"/>
              </a:rPr>
              <a:t>Decide</a:t>
            </a:r>
            <a:r>
              <a:rPr dirty="0" sz="2500" spc="-90">
                <a:latin typeface="Arial MT"/>
                <a:cs typeface="Arial MT"/>
              </a:rPr>
              <a:t> </a:t>
            </a:r>
            <a:r>
              <a:rPr dirty="0" sz="2500" spc="-20">
                <a:latin typeface="Arial MT"/>
                <a:cs typeface="Arial MT"/>
              </a:rPr>
              <a:t>what </a:t>
            </a:r>
            <a:r>
              <a:rPr dirty="0" sz="2500">
                <a:latin typeface="Arial MT"/>
                <a:cs typeface="Arial MT"/>
              </a:rPr>
              <a:t>information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is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needed</a:t>
            </a:r>
            <a:endParaRPr sz="2500">
              <a:latin typeface="Arial MT"/>
              <a:cs typeface="Arial MT"/>
            </a:endParaRPr>
          </a:p>
          <a:p>
            <a:pPr marL="783590" marR="5080" indent="-266700">
              <a:lnSpc>
                <a:spcPct val="100299"/>
              </a:lnSpc>
              <a:spcBef>
                <a:spcPts val="1190"/>
              </a:spcBef>
              <a:buFont typeface="Arial MT"/>
              <a:buChar char="•"/>
              <a:tabLst>
                <a:tab pos="783590" algn="l"/>
              </a:tabLst>
            </a:pPr>
            <a:r>
              <a:rPr dirty="0" sz="2500" b="1">
                <a:latin typeface="Arial"/>
                <a:cs typeface="Arial"/>
              </a:rPr>
              <a:t>Methods:</a:t>
            </a:r>
            <a:r>
              <a:rPr dirty="0" sz="2500" spc="-170" b="1">
                <a:latin typeface="Arial"/>
                <a:cs typeface="Arial"/>
              </a:rPr>
              <a:t> </a:t>
            </a:r>
            <a:r>
              <a:rPr dirty="0" sz="2500" spc="-10">
                <a:latin typeface="Arial MT"/>
                <a:cs typeface="Arial MT"/>
              </a:rPr>
              <a:t>Typically, </a:t>
            </a:r>
            <a:r>
              <a:rPr dirty="0" sz="2500">
                <a:latin typeface="Arial MT"/>
                <a:cs typeface="Arial MT"/>
              </a:rPr>
              <a:t>committee</a:t>
            </a:r>
            <a:r>
              <a:rPr dirty="0" sz="2500" spc="-17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meetings, brainstorming,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and</a:t>
            </a:r>
            <a:r>
              <a:rPr dirty="0" sz="2500" spc="-4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analysis </a:t>
            </a:r>
            <a:r>
              <a:rPr dirty="0" sz="2500">
                <a:latin typeface="Arial MT"/>
                <a:cs typeface="Arial MT"/>
              </a:rPr>
              <a:t>of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business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objectives</a:t>
            </a:r>
            <a:endParaRPr sz="2500">
              <a:latin typeface="Arial MT"/>
              <a:cs typeface="Arial MT"/>
            </a:endParaRPr>
          </a:p>
          <a:p>
            <a:pPr marL="783590" marR="378460" indent="-266700">
              <a:lnSpc>
                <a:spcPct val="100000"/>
              </a:lnSpc>
              <a:spcBef>
                <a:spcPts val="1295"/>
              </a:spcBef>
              <a:buFont typeface="Arial MT"/>
              <a:buChar char="•"/>
              <a:tabLst>
                <a:tab pos="783590" algn="l"/>
              </a:tabLst>
            </a:pPr>
            <a:r>
              <a:rPr dirty="0" sz="2500" spc="-10" b="1">
                <a:latin typeface="Arial"/>
                <a:cs typeface="Arial"/>
              </a:rPr>
              <a:t>Outcome:</a:t>
            </a:r>
            <a:r>
              <a:rPr dirty="0" sz="2500" spc="-60" b="1">
                <a:latin typeface="Arial"/>
                <a:cs typeface="Arial"/>
              </a:rPr>
              <a:t> </a:t>
            </a:r>
            <a:r>
              <a:rPr dirty="0" sz="2500">
                <a:latin typeface="Arial MT"/>
                <a:cs typeface="Arial MT"/>
              </a:rPr>
              <a:t>A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project </a:t>
            </a:r>
            <a:r>
              <a:rPr dirty="0" sz="2500">
                <a:latin typeface="Arial MT"/>
                <a:cs typeface="Arial MT"/>
              </a:rPr>
              <a:t>specification</a:t>
            </a:r>
            <a:r>
              <a:rPr dirty="0" sz="2500" spc="-8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for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85">
                <a:latin typeface="Arial MT"/>
                <a:cs typeface="Arial MT"/>
              </a:rPr>
              <a:t> </a:t>
            </a:r>
            <a:r>
              <a:rPr dirty="0" sz="2500" spc="-20">
                <a:latin typeface="Arial MT"/>
                <a:cs typeface="Arial MT"/>
              </a:rPr>
              <a:t>Data </a:t>
            </a:r>
            <a:r>
              <a:rPr dirty="0" sz="2500" spc="-10">
                <a:latin typeface="Arial MT"/>
                <a:cs typeface="Arial MT"/>
              </a:rPr>
              <a:t>Scientists.</a:t>
            </a:r>
            <a:endParaRPr sz="2500">
              <a:latin typeface="Arial MT"/>
              <a:cs typeface="Arial MT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998051" y="1797993"/>
            <a:ext cx="3675379" cy="4836160"/>
            <a:chOff x="998051" y="1797993"/>
            <a:chExt cx="3675379" cy="4836160"/>
          </a:xfrm>
        </p:grpSpPr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8051" y="1837434"/>
              <a:ext cx="3675163" cy="4796124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1050048" y="1837433"/>
              <a:ext cx="3136900" cy="621665"/>
            </a:xfrm>
            <a:custGeom>
              <a:avLst/>
              <a:gdLst/>
              <a:ahLst/>
              <a:cxnLst/>
              <a:rect l="l" t="t" r="r" b="b"/>
              <a:pathLst>
                <a:path w="3136900" h="621664">
                  <a:moveTo>
                    <a:pt x="0" y="310724"/>
                  </a:moveTo>
                  <a:lnTo>
                    <a:pt x="15137" y="267379"/>
                  </a:lnTo>
                  <a:lnTo>
                    <a:pt x="41422" y="239478"/>
                  </a:lnTo>
                  <a:lnTo>
                    <a:pt x="79957" y="212511"/>
                  </a:lnTo>
                  <a:lnTo>
                    <a:pt x="130141" y="186599"/>
                  </a:lnTo>
                  <a:lnTo>
                    <a:pt x="191370" y="161860"/>
                  </a:lnTo>
                  <a:lnTo>
                    <a:pt x="263043" y="138415"/>
                  </a:lnTo>
                  <a:lnTo>
                    <a:pt x="302607" y="127214"/>
                  </a:lnTo>
                  <a:lnTo>
                    <a:pt x="344557" y="116382"/>
                  </a:lnTo>
                  <a:lnTo>
                    <a:pt x="388816" y="105932"/>
                  </a:lnTo>
                  <a:lnTo>
                    <a:pt x="435309" y="95880"/>
                  </a:lnTo>
                  <a:lnTo>
                    <a:pt x="483961" y="86242"/>
                  </a:lnTo>
                  <a:lnTo>
                    <a:pt x="534697" y="77031"/>
                  </a:lnTo>
                  <a:lnTo>
                    <a:pt x="587441" y="68262"/>
                  </a:lnTo>
                  <a:lnTo>
                    <a:pt x="642118" y="59951"/>
                  </a:lnTo>
                  <a:lnTo>
                    <a:pt x="698653" y="52113"/>
                  </a:lnTo>
                  <a:lnTo>
                    <a:pt x="756970" y="44762"/>
                  </a:lnTo>
                  <a:lnTo>
                    <a:pt x="816994" y="37913"/>
                  </a:lnTo>
                  <a:lnTo>
                    <a:pt x="878650" y="31582"/>
                  </a:lnTo>
                  <a:lnTo>
                    <a:pt x="941863" y="25783"/>
                  </a:lnTo>
                  <a:lnTo>
                    <a:pt x="1006556" y="20531"/>
                  </a:lnTo>
                  <a:lnTo>
                    <a:pt x="1072656" y="15840"/>
                  </a:lnTo>
                  <a:lnTo>
                    <a:pt x="1140086" y="11727"/>
                  </a:lnTo>
                  <a:lnTo>
                    <a:pt x="1208771" y="8206"/>
                  </a:lnTo>
                  <a:lnTo>
                    <a:pt x="1278636" y="5291"/>
                  </a:lnTo>
                  <a:lnTo>
                    <a:pt x="1349605" y="2999"/>
                  </a:lnTo>
                  <a:lnTo>
                    <a:pt x="1421604" y="1342"/>
                  </a:lnTo>
                  <a:lnTo>
                    <a:pt x="1494557" y="338"/>
                  </a:lnTo>
                  <a:lnTo>
                    <a:pt x="1568388" y="0"/>
                  </a:lnTo>
                  <a:lnTo>
                    <a:pt x="1642219" y="338"/>
                  </a:lnTo>
                  <a:lnTo>
                    <a:pt x="1715172" y="1342"/>
                  </a:lnTo>
                  <a:lnTo>
                    <a:pt x="1787171" y="2999"/>
                  </a:lnTo>
                  <a:lnTo>
                    <a:pt x="1858140" y="5291"/>
                  </a:lnTo>
                  <a:lnTo>
                    <a:pt x="1928005" y="8206"/>
                  </a:lnTo>
                  <a:lnTo>
                    <a:pt x="1996690" y="11727"/>
                  </a:lnTo>
                  <a:lnTo>
                    <a:pt x="2064120" y="15840"/>
                  </a:lnTo>
                  <a:lnTo>
                    <a:pt x="2130219" y="20531"/>
                  </a:lnTo>
                  <a:lnTo>
                    <a:pt x="2194913" y="25783"/>
                  </a:lnTo>
                  <a:lnTo>
                    <a:pt x="2258125" y="31582"/>
                  </a:lnTo>
                  <a:lnTo>
                    <a:pt x="2319781" y="37913"/>
                  </a:lnTo>
                  <a:lnTo>
                    <a:pt x="2379806" y="44762"/>
                  </a:lnTo>
                  <a:lnTo>
                    <a:pt x="2438123" y="52113"/>
                  </a:lnTo>
                  <a:lnTo>
                    <a:pt x="2494658" y="59951"/>
                  </a:lnTo>
                  <a:lnTo>
                    <a:pt x="2549335" y="68262"/>
                  </a:lnTo>
                  <a:lnTo>
                    <a:pt x="2602079" y="77031"/>
                  </a:lnTo>
                  <a:lnTo>
                    <a:pt x="2652815" y="86242"/>
                  </a:lnTo>
                  <a:lnTo>
                    <a:pt x="2701467" y="95880"/>
                  </a:lnTo>
                  <a:lnTo>
                    <a:pt x="2747960" y="105932"/>
                  </a:lnTo>
                  <a:lnTo>
                    <a:pt x="2792219" y="116382"/>
                  </a:lnTo>
                  <a:lnTo>
                    <a:pt x="2834168" y="127214"/>
                  </a:lnTo>
                  <a:lnTo>
                    <a:pt x="2873733" y="138415"/>
                  </a:lnTo>
                  <a:lnTo>
                    <a:pt x="2910837" y="149968"/>
                  </a:lnTo>
                  <a:lnTo>
                    <a:pt x="2977364" y="174075"/>
                  </a:lnTo>
                  <a:lnTo>
                    <a:pt x="3033145" y="199415"/>
                  </a:lnTo>
                  <a:lnTo>
                    <a:pt x="3077580" y="225870"/>
                  </a:lnTo>
                  <a:lnTo>
                    <a:pt x="3110065" y="253319"/>
                  </a:lnTo>
                  <a:lnTo>
                    <a:pt x="3135069" y="296097"/>
                  </a:lnTo>
                  <a:lnTo>
                    <a:pt x="3136776" y="310724"/>
                  </a:lnTo>
                  <a:lnTo>
                    <a:pt x="3135069" y="325351"/>
                  </a:lnTo>
                  <a:lnTo>
                    <a:pt x="3110065" y="368129"/>
                  </a:lnTo>
                  <a:lnTo>
                    <a:pt x="3077580" y="395578"/>
                  </a:lnTo>
                  <a:lnTo>
                    <a:pt x="3033145" y="422032"/>
                  </a:lnTo>
                  <a:lnTo>
                    <a:pt x="2977364" y="447372"/>
                  </a:lnTo>
                  <a:lnTo>
                    <a:pt x="2910837" y="471479"/>
                  </a:lnTo>
                  <a:lnTo>
                    <a:pt x="2873733" y="483033"/>
                  </a:lnTo>
                  <a:lnTo>
                    <a:pt x="2834168" y="494233"/>
                  </a:lnTo>
                  <a:lnTo>
                    <a:pt x="2792219" y="505066"/>
                  </a:lnTo>
                  <a:lnTo>
                    <a:pt x="2747960" y="515515"/>
                  </a:lnTo>
                  <a:lnTo>
                    <a:pt x="2701467" y="525567"/>
                  </a:lnTo>
                  <a:lnTo>
                    <a:pt x="2652815" y="535206"/>
                  </a:lnTo>
                  <a:lnTo>
                    <a:pt x="2602079" y="544417"/>
                  </a:lnTo>
                  <a:lnTo>
                    <a:pt x="2549335" y="553185"/>
                  </a:lnTo>
                  <a:lnTo>
                    <a:pt x="2494658" y="561496"/>
                  </a:lnTo>
                  <a:lnTo>
                    <a:pt x="2438123" y="569335"/>
                  </a:lnTo>
                  <a:lnTo>
                    <a:pt x="2379806" y="576686"/>
                  </a:lnTo>
                  <a:lnTo>
                    <a:pt x="2319781" y="583534"/>
                  </a:lnTo>
                  <a:lnTo>
                    <a:pt x="2258125" y="589866"/>
                  </a:lnTo>
                  <a:lnTo>
                    <a:pt x="2194913" y="595665"/>
                  </a:lnTo>
                  <a:lnTo>
                    <a:pt x="2130219" y="600917"/>
                  </a:lnTo>
                  <a:lnTo>
                    <a:pt x="2064120" y="605607"/>
                  </a:lnTo>
                  <a:lnTo>
                    <a:pt x="1996690" y="609720"/>
                  </a:lnTo>
                  <a:lnTo>
                    <a:pt x="1928005" y="613242"/>
                  </a:lnTo>
                  <a:lnTo>
                    <a:pt x="1858140" y="616156"/>
                  </a:lnTo>
                  <a:lnTo>
                    <a:pt x="1787171" y="618449"/>
                  </a:lnTo>
                  <a:lnTo>
                    <a:pt x="1715172" y="620105"/>
                  </a:lnTo>
                  <a:lnTo>
                    <a:pt x="1642219" y="621110"/>
                  </a:lnTo>
                  <a:lnTo>
                    <a:pt x="1568388" y="621448"/>
                  </a:lnTo>
                  <a:lnTo>
                    <a:pt x="1494557" y="621110"/>
                  </a:lnTo>
                  <a:lnTo>
                    <a:pt x="1421604" y="620105"/>
                  </a:lnTo>
                  <a:lnTo>
                    <a:pt x="1349605" y="618449"/>
                  </a:lnTo>
                  <a:lnTo>
                    <a:pt x="1278636" y="616156"/>
                  </a:lnTo>
                  <a:lnTo>
                    <a:pt x="1208771" y="613242"/>
                  </a:lnTo>
                  <a:lnTo>
                    <a:pt x="1140086" y="609720"/>
                  </a:lnTo>
                  <a:lnTo>
                    <a:pt x="1072656" y="605607"/>
                  </a:lnTo>
                  <a:lnTo>
                    <a:pt x="1006556" y="600917"/>
                  </a:lnTo>
                  <a:lnTo>
                    <a:pt x="941863" y="595665"/>
                  </a:lnTo>
                  <a:lnTo>
                    <a:pt x="878650" y="589866"/>
                  </a:lnTo>
                  <a:lnTo>
                    <a:pt x="816994" y="583534"/>
                  </a:lnTo>
                  <a:lnTo>
                    <a:pt x="756970" y="576686"/>
                  </a:lnTo>
                  <a:lnTo>
                    <a:pt x="698653" y="569335"/>
                  </a:lnTo>
                  <a:lnTo>
                    <a:pt x="642118" y="561496"/>
                  </a:lnTo>
                  <a:lnTo>
                    <a:pt x="587441" y="553185"/>
                  </a:lnTo>
                  <a:lnTo>
                    <a:pt x="534697" y="544417"/>
                  </a:lnTo>
                  <a:lnTo>
                    <a:pt x="483961" y="535206"/>
                  </a:lnTo>
                  <a:lnTo>
                    <a:pt x="435309" y="525567"/>
                  </a:lnTo>
                  <a:lnTo>
                    <a:pt x="388816" y="515515"/>
                  </a:lnTo>
                  <a:lnTo>
                    <a:pt x="344557" y="505066"/>
                  </a:lnTo>
                  <a:lnTo>
                    <a:pt x="302607" y="494233"/>
                  </a:lnTo>
                  <a:lnTo>
                    <a:pt x="263043" y="483033"/>
                  </a:lnTo>
                  <a:lnTo>
                    <a:pt x="225939" y="471479"/>
                  </a:lnTo>
                  <a:lnTo>
                    <a:pt x="159412" y="447372"/>
                  </a:lnTo>
                  <a:lnTo>
                    <a:pt x="103630" y="422032"/>
                  </a:lnTo>
                  <a:lnTo>
                    <a:pt x="59196" y="395578"/>
                  </a:lnTo>
                  <a:lnTo>
                    <a:pt x="26711" y="368129"/>
                  </a:lnTo>
                  <a:lnTo>
                    <a:pt x="1707" y="325351"/>
                  </a:lnTo>
                  <a:lnTo>
                    <a:pt x="0" y="310724"/>
                  </a:lnTo>
                  <a:close/>
                </a:path>
              </a:pathLst>
            </a:custGeom>
            <a:ln w="7887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81526" y="1650857"/>
            <a:ext cx="8375015" cy="45612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8765" marR="191770" indent="-2667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2500" b="1">
                <a:solidFill>
                  <a:srgbClr val="EF1928"/>
                </a:solidFill>
                <a:latin typeface="Arial"/>
                <a:cs typeface="Arial"/>
              </a:rPr>
              <a:t>Dataset</a:t>
            </a:r>
            <a:r>
              <a:rPr dirty="0" sz="2500">
                <a:latin typeface="Arial MT"/>
                <a:cs typeface="Arial MT"/>
              </a:rPr>
              <a:t>: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</a:t>
            </a:r>
            <a:r>
              <a:rPr dirty="0" sz="2500" spc="-8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sample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of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real-</a:t>
            </a:r>
            <a:r>
              <a:rPr dirty="0" sz="2500">
                <a:latin typeface="Arial MT"/>
                <a:cs typeface="Arial MT"/>
              </a:rPr>
              <a:t>world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observations,</a:t>
            </a:r>
            <a:r>
              <a:rPr dirty="0" sz="2500" spc="-9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organised </a:t>
            </a:r>
            <a:r>
              <a:rPr dirty="0" sz="2500">
                <a:latin typeface="Arial MT"/>
                <a:cs typeface="Arial MT"/>
              </a:rPr>
              <a:t>into</a:t>
            </a:r>
            <a:r>
              <a:rPr dirty="0" sz="2500" spc="-4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</a:t>
            </a:r>
            <a:r>
              <a:rPr dirty="0" sz="2500" spc="-4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table</a:t>
            </a:r>
            <a:r>
              <a:rPr dirty="0" sz="2500" spc="-4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-</a:t>
            </a:r>
            <a:r>
              <a:rPr dirty="0" sz="2500" spc="-4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rows</a:t>
            </a:r>
            <a:r>
              <a:rPr dirty="0" sz="2500" spc="-4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and</a:t>
            </a:r>
            <a:r>
              <a:rPr dirty="0" sz="2500" spc="-4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columns</a:t>
            </a:r>
            <a:endParaRPr sz="2500">
              <a:latin typeface="Arial MT"/>
              <a:cs typeface="Arial MT"/>
            </a:endParaRPr>
          </a:p>
          <a:p>
            <a:pPr marL="278765" marR="776605" indent="-266700">
              <a:lnSpc>
                <a:spcPct val="100800"/>
              </a:lnSpc>
              <a:spcBef>
                <a:spcPts val="1870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2500" b="1">
                <a:solidFill>
                  <a:srgbClr val="EF1928"/>
                </a:solidFill>
                <a:latin typeface="Arial"/>
                <a:cs typeface="Arial"/>
              </a:rPr>
              <a:t>Feature</a:t>
            </a:r>
            <a:r>
              <a:rPr dirty="0" sz="2500">
                <a:latin typeface="Arial MT"/>
                <a:cs typeface="Arial MT"/>
              </a:rPr>
              <a:t>: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column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in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dataset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table.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Also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called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 spc="-50">
                <a:latin typeface="Arial MT"/>
                <a:cs typeface="Arial MT"/>
              </a:rPr>
              <a:t>a </a:t>
            </a:r>
            <a:r>
              <a:rPr dirty="0" sz="2500">
                <a:solidFill>
                  <a:srgbClr val="CC0000"/>
                </a:solidFill>
                <a:latin typeface="Arial MT"/>
                <a:cs typeface="Arial MT"/>
              </a:rPr>
              <a:t>predictor,</a:t>
            </a:r>
            <a:r>
              <a:rPr dirty="0" sz="2500" spc="-125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CC0000"/>
                </a:solidFill>
                <a:latin typeface="Arial MT"/>
                <a:cs typeface="Arial MT"/>
              </a:rPr>
              <a:t>variable,</a:t>
            </a:r>
            <a:r>
              <a:rPr dirty="0" sz="2500" spc="-12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CC0000"/>
                </a:solidFill>
                <a:latin typeface="Arial MT"/>
                <a:cs typeface="Arial MT"/>
              </a:rPr>
              <a:t>input,</a:t>
            </a:r>
            <a:r>
              <a:rPr dirty="0" sz="2500" spc="-12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CC0000"/>
                </a:solidFill>
                <a:latin typeface="Arial MT"/>
                <a:cs typeface="Arial MT"/>
              </a:rPr>
              <a:t>attribute,</a:t>
            </a:r>
            <a:r>
              <a:rPr dirty="0" sz="2500" spc="-125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dirty="0" sz="2500" spc="-10">
                <a:solidFill>
                  <a:srgbClr val="CC0000"/>
                </a:solidFill>
                <a:latin typeface="Arial MT"/>
                <a:cs typeface="Arial MT"/>
              </a:rPr>
              <a:t>covariate</a:t>
            </a:r>
            <a:endParaRPr sz="2500">
              <a:latin typeface="Arial MT"/>
              <a:cs typeface="Arial MT"/>
            </a:endParaRPr>
          </a:p>
          <a:p>
            <a:pPr marL="278765" marR="271780" indent="-266700">
              <a:lnSpc>
                <a:spcPct val="100400"/>
              </a:lnSpc>
              <a:spcBef>
                <a:spcPts val="1860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2500" b="1">
                <a:solidFill>
                  <a:srgbClr val="EF1928"/>
                </a:solidFill>
                <a:latin typeface="Arial"/>
                <a:cs typeface="Arial"/>
              </a:rPr>
              <a:t>Training</a:t>
            </a:r>
            <a:r>
              <a:rPr dirty="0" sz="2500" spc="-80" b="1">
                <a:solidFill>
                  <a:srgbClr val="EF1928"/>
                </a:solidFill>
                <a:latin typeface="Arial"/>
                <a:cs typeface="Arial"/>
              </a:rPr>
              <a:t> </a:t>
            </a:r>
            <a:r>
              <a:rPr dirty="0" sz="2500" b="1">
                <a:solidFill>
                  <a:srgbClr val="EF1928"/>
                </a:solidFill>
                <a:latin typeface="Arial"/>
                <a:cs typeface="Arial"/>
              </a:rPr>
              <a:t>example</a:t>
            </a:r>
            <a:r>
              <a:rPr dirty="0" sz="2500">
                <a:latin typeface="Arial MT"/>
                <a:cs typeface="Arial MT"/>
              </a:rPr>
              <a:t>: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row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in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table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representing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 spc="-25">
                <a:latin typeface="Arial MT"/>
                <a:cs typeface="Arial MT"/>
              </a:rPr>
              <a:t>set </a:t>
            </a:r>
            <a:r>
              <a:rPr dirty="0" sz="2500">
                <a:latin typeface="Arial MT"/>
                <a:cs typeface="Arial MT"/>
              </a:rPr>
              <a:t>of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feature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values.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Also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called</a:t>
            </a:r>
            <a:r>
              <a:rPr dirty="0" sz="2500" spc="-85"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CC0000"/>
                </a:solidFill>
                <a:latin typeface="Arial MT"/>
                <a:cs typeface="Arial MT"/>
              </a:rPr>
              <a:t>an</a:t>
            </a:r>
            <a:r>
              <a:rPr dirty="0" sz="2500" spc="-7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CC0000"/>
                </a:solidFill>
                <a:latin typeface="Arial MT"/>
                <a:cs typeface="Arial MT"/>
              </a:rPr>
              <a:t>observation,</a:t>
            </a:r>
            <a:r>
              <a:rPr dirty="0" sz="2500" spc="-75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dirty="0" sz="2500" spc="-10">
                <a:solidFill>
                  <a:srgbClr val="CC0000"/>
                </a:solidFill>
                <a:latin typeface="Arial MT"/>
                <a:cs typeface="Arial MT"/>
              </a:rPr>
              <a:t>record, </a:t>
            </a:r>
            <a:r>
              <a:rPr dirty="0" sz="2500">
                <a:solidFill>
                  <a:srgbClr val="CC0000"/>
                </a:solidFill>
                <a:latin typeface="Arial MT"/>
                <a:cs typeface="Arial MT"/>
              </a:rPr>
              <a:t>training</a:t>
            </a:r>
            <a:r>
              <a:rPr dirty="0" sz="2500" spc="-85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dirty="0" sz="2500" spc="-10">
                <a:solidFill>
                  <a:srgbClr val="CC0000"/>
                </a:solidFill>
                <a:latin typeface="Arial MT"/>
                <a:cs typeface="Arial MT"/>
              </a:rPr>
              <a:t>instance</a:t>
            </a:r>
            <a:endParaRPr sz="2500">
              <a:latin typeface="Arial MT"/>
              <a:cs typeface="Arial MT"/>
            </a:endParaRPr>
          </a:p>
          <a:p>
            <a:pPr marL="278765" marR="5080" indent="-266700">
              <a:lnSpc>
                <a:spcPct val="100000"/>
              </a:lnSpc>
              <a:spcBef>
                <a:spcPts val="1900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2500" b="1">
                <a:solidFill>
                  <a:srgbClr val="EF1928"/>
                </a:solidFill>
                <a:latin typeface="Arial"/>
                <a:cs typeface="Arial"/>
              </a:rPr>
              <a:t>Target</a:t>
            </a:r>
            <a:r>
              <a:rPr dirty="0" sz="2500">
                <a:latin typeface="Arial MT"/>
                <a:cs typeface="Arial MT"/>
              </a:rPr>
              <a:t>: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What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we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want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to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predict.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Also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called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CC0000"/>
                </a:solidFill>
                <a:latin typeface="Arial MT"/>
                <a:cs typeface="Arial MT"/>
              </a:rPr>
              <a:t>ground</a:t>
            </a:r>
            <a:r>
              <a:rPr dirty="0" sz="2500" spc="-65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dirty="0" sz="2500" spc="-10">
                <a:solidFill>
                  <a:srgbClr val="CC0000"/>
                </a:solidFill>
                <a:latin typeface="Arial MT"/>
                <a:cs typeface="Arial MT"/>
              </a:rPr>
              <a:t>truth, </a:t>
            </a:r>
            <a:r>
              <a:rPr dirty="0" sz="2500">
                <a:solidFill>
                  <a:srgbClr val="CC0000"/>
                </a:solidFill>
                <a:latin typeface="Arial MT"/>
                <a:cs typeface="Arial MT"/>
              </a:rPr>
              <a:t>(class)</a:t>
            </a:r>
            <a:r>
              <a:rPr dirty="0" sz="2500" spc="-8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CC0000"/>
                </a:solidFill>
                <a:latin typeface="Arial MT"/>
                <a:cs typeface="Arial MT"/>
              </a:rPr>
              <a:t>label,</a:t>
            </a:r>
            <a:r>
              <a:rPr dirty="0" sz="2500" spc="-85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CC0000"/>
                </a:solidFill>
                <a:latin typeface="Arial MT"/>
                <a:cs typeface="Arial MT"/>
              </a:rPr>
              <a:t>desired</a:t>
            </a:r>
            <a:r>
              <a:rPr dirty="0" sz="2500" spc="-8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CC0000"/>
                </a:solidFill>
                <a:latin typeface="Arial MT"/>
                <a:cs typeface="Arial MT"/>
              </a:rPr>
              <a:t>or</a:t>
            </a:r>
            <a:r>
              <a:rPr dirty="0" sz="2500" spc="-8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CC0000"/>
                </a:solidFill>
                <a:latin typeface="Arial MT"/>
                <a:cs typeface="Arial MT"/>
              </a:rPr>
              <a:t>expected</a:t>
            </a:r>
            <a:r>
              <a:rPr dirty="0" sz="2500" spc="-85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CC0000"/>
                </a:solidFill>
                <a:latin typeface="Arial MT"/>
                <a:cs typeface="Arial MT"/>
              </a:rPr>
              <a:t>output,</a:t>
            </a:r>
            <a:r>
              <a:rPr dirty="0" sz="2500" spc="-8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dirty="0" sz="2500" spc="-10">
                <a:solidFill>
                  <a:srgbClr val="CC0000"/>
                </a:solidFill>
                <a:latin typeface="Arial MT"/>
                <a:cs typeface="Arial MT"/>
              </a:rPr>
              <a:t>response </a:t>
            </a:r>
            <a:r>
              <a:rPr dirty="0" sz="2500">
                <a:solidFill>
                  <a:srgbClr val="CC0000"/>
                </a:solidFill>
                <a:latin typeface="Arial MT"/>
                <a:cs typeface="Arial MT"/>
              </a:rPr>
              <a:t>variable,</a:t>
            </a:r>
            <a:r>
              <a:rPr dirty="0" sz="2500" spc="-11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CC0000"/>
                </a:solidFill>
                <a:latin typeface="Arial MT"/>
                <a:cs typeface="Arial MT"/>
              </a:rPr>
              <a:t>dependent</a:t>
            </a:r>
            <a:r>
              <a:rPr dirty="0" sz="2500" spc="-105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dirty="0" sz="2500" spc="-10">
                <a:solidFill>
                  <a:srgbClr val="CC0000"/>
                </a:solidFill>
                <a:latin typeface="Arial MT"/>
                <a:cs typeface="Arial MT"/>
              </a:rPr>
              <a:t>variable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95127" y="720155"/>
            <a:ext cx="3034665" cy="5289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 b="0">
                <a:latin typeface="Arial MT"/>
                <a:cs typeface="Arial MT"/>
              </a:rPr>
              <a:t>ML</a:t>
            </a:r>
            <a:r>
              <a:rPr dirty="0" sz="3300" spc="-45" b="0">
                <a:latin typeface="Arial MT"/>
                <a:cs typeface="Arial MT"/>
              </a:rPr>
              <a:t> </a:t>
            </a:r>
            <a:r>
              <a:rPr dirty="0" sz="3300" spc="-10" b="0">
                <a:latin typeface="Arial MT"/>
                <a:cs typeface="Arial MT"/>
              </a:rPr>
              <a:t>Terminology</a:t>
            </a:r>
            <a:endParaRPr sz="3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81527" y="1650857"/>
            <a:ext cx="7903209" cy="47015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78765" marR="131445" indent="-266700">
              <a:lnSpc>
                <a:spcPct val="100200"/>
              </a:lnSpc>
              <a:spcBef>
                <a:spcPts val="95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2500" b="1">
                <a:solidFill>
                  <a:srgbClr val="EF1928"/>
                </a:solidFill>
                <a:latin typeface="Arial"/>
                <a:cs typeface="Arial"/>
              </a:rPr>
              <a:t>Model</a:t>
            </a:r>
            <a:r>
              <a:rPr dirty="0" sz="2500">
                <a:latin typeface="Arial MT"/>
                <a:cs typeface="Arial MT"/>
              </a:rPr>
              <a:t>: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function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in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form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 b="1" i="1">
                <a:solidFill>
                  <a:srgbClr val="FF0000"/>
                </a:solidFill>
                <a:latin typeface="Arial"/>
                <a:cs typeface="Arial"/>
              </a:rPr>
              <a:t>y</a:t>
            </a:r>
            <a:r>
              <a:rPr dirty="0" sz="2500" spc="-60" b="1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500" b="1" i="1">
                <a:latin typeface="Arial"/>
                <a:cs typeface="Arial"/>
              </a:rPr>
              <a:t>=</a:t>
            </a:r>
            <a:r>
              <a:rPr dirty="0" sz="2500" spc="-65" b="1" i="1">
                <a:latin typeface="Arial"/>
                <a:cs typeface="Arial"/>
              </a:rPr>
              <a:t> </a:t>
            </a:r>
            <a:r>
              <a:rPr dirty="0" sz="2500" b="1" i="1">
                <a:latin typeface="Arial"/>
                <a:cs typeface="Arial"/>
              </a:rPr>
              <a:t>f(</a:t>
            </a:r>
            <a:r>
              <a:rPr dirty="0" sz="2500" b="1" i="1">
                <a:solidFill>
                  <a:srgbClr val="FF0000"/>
                </a:solidFill>
                <a:latin typeface="Arial"/>
                <a:cs typeface="Arial"/>
              </a:rPr>
              <a:t>x</a:t>
            </a:r>
            <a:r>
              <a:rPr dirty="0" sz="2500" b="1" i="1">
                <a:latin typeface="Arial"/>
                <a:cs typeface="Arial"/>
              </a:rPr>
              <a:t>)</a:t>
            </a:r>
            <a:r>
              <a:rPr dirty="0" sz="2500" spc="-55" b="1" i="1">
                <a:latin typeface="Arial"/>
                <a:cs typeface="Arial"/>
              </a:rPr>
              <a:t> </a:t>
            </a:r>
            <a:r>
              <a:rPr dirty="0" sz="2500">
                <a:latin typeface="Arial MT"/>
                <a:cs typeface="Arial MT"/>
              </a:rPr>
              <a:t>that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we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believe </a:t>
            </a:r>
            <a:r>
              <a:rPr dirty="0" sz="2500">
                <a:latin typeface="Arial MT"/>
                <a:cs typeface="Arial MT"/>
              </a:rPr>
              <a:t>(or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hope)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is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similar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to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true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function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that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represents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relationship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between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target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(</a:t>
            </a:r>
            <a:r>
              <a:rPr dirty="0" sz="2500" b="1" i="1">
                <a:solidFill>
                  <a:srgbClr val="FF0000"/>
                </a:solidFill>
                <a:latin typeface="Arial"/>
                <a:cs typeface="Arial"/>
              </a:rPr>
              <a:t>y</a:t>
            </a:r>
            <a:r>
              <a:rPr dirty="0" sz="2500">
                <a:latin typeface="Arial MT"/>
                <a:cs typeface="Arial MT"/>
              </a:rPr>
              <a:t>)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and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 spc="-25">
                <a:latin typeface="Arial MT"/>
                <a:cs typeface="Arial MT"/>
              </a:rPr>
              <a:t>the </a:t>
            </a:r>
            <a:r>
              <a:rPr dirty="0" sz="2500">
                <a:latin typeface="Arial MT"/>
                <a:cs typeface="Arial MT"/>
              </a:rPr>
              <a:t>observations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in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dataset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(</a:t>
            </a:r>
            <a:r>
              <a:rPr dirty="0" sz="2500" b="1" i="1">
                <a:solidFill>
                  <a:srgbClr val="FF0000"/>
                </a:solidFill>
                <a:latin typeface="Arial"/>
                <a:cs typeface="Arial"/>
              </a:rPr>
              <a:t>x</a:t>
            </a:r>
            <a:r>
              <a:rPr dirty="0" sz="2500">
                <a:latin typeface="Arial MT"/>
                <a:cs typeface="Arial MT"/>
              </a:rPr>
              <a:t>).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Also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called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 spc="-10">
                <a:solidFill>
                  <a:srgbClr val="CC0000"/>
                </a:solidFill>
                <a:latin typeface="Arial MT"/>
                <a:cs typeface="Arial MT"/>
              </a:rPr>
              <a:t>target </a:t>
            </a:r>
            <a:r>
              <a:rPr dirty="0" sz="2500">
                <a:solidFill>
                  <a:srgbClr val="CC0000"/>
                </a:solidFill>
                <a:latin typeface="Arial MT"/>
                <a:cs typeface="Arial MT"/>
              </a:rPr>
              <a:t>function</a:t>
            </a:r>
            <a:r>
              <a:rPr dirty="0" sz="2500" spc="-75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or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CC0000"/>
                </a:solidFill>
                <a:latin typeface="Arial MT"/>
                <a:cs typeface="Arial MT"/>
              </a:rPr>
              <a:t>objective</a:t>
            </a:r>
            <a:r>
              <a:rPr dirty="0" sz="2500" spc="-75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dirty="0" sz="2500" spc="-10">
                <a:solidFill>
                  <a:srgbClr val="CC0000"/>
                </a:solidFill>
                <a:latin typeface="Arial MT"/>
                <a:cs typeface="Arial MT"/>
              </a:rPr>
              <a:t>function</a:t>
            </a:r>
            <a:endParaRPr sz="2500">
              <a:latin typeface="Arial MT"/>
              <a:cs typeface="Arial MT"/>
            </a:endParaRPr>
          </a:p>
          <a:p>
            <a:pPr marL="278765" marR="5080" indent="-266700">
              <a:lnSpc>
                <a:spcPct val="100400"/>
              </a:lnSpc>
              <a:spcBef>
                <a:spcPts val="1860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2500" b="1">
                <a:solidFill>
                  <a:srgbClr val="EF1928"/>
                </a:solidFill>
                <a:latin typeface="Arial"/>
                <a:cs typeface="Arial"/>
              </a:rPr>
              <a:t>Prediction</a:t>
            </a:r>
            <a:r>
              <a:rPr dirty="0" sz="2500" spc="-114" b="1">
                <a:solidFill>
                  <a:srgbClr val="EF1928"/>
                </a:solidFill>
                <a:latin typeface="Arial"/>
                <a:cs typeface="Arial"/>
              </a:rPr>
              <a:t> </a:t>
            </a:r>
            <a:r>
              <a:rPr dirty="0" sz="2500">
                <a:latin typeface="Arial MT"/>
                <a:cs typeface="Arial MT"/>
              </a:rPr>
              <a:t>or</a:t>
            </a:r>
            <a:r>
              <a:rPr dirty="0" sz="2500" spc="-105">
                <a:latin typeface="Arial MT"/>
                <a:cs typeface="Arial MT"/>
              </a:rPr>
              <a:t> </a:t>
            </a:r>
            <a:r>
              <a:rPr dirty="0" sz="2500" b="1">
                <a:solidFill>
                  <a:srgbClr val="EF1928"/>
                </a:solidFill>
                <a:latin typeface="Arial"/>
                <a:cs typeface="Arial"/>
              </a:rPr>
              <a:t>Output</a:t>
            </a:r>
            <a:r>
              <a:rPr dirty="0" sz="2500">
                <a:latin typeface="Arial MT"/>
                <a:cs typeface="Arial MT"/>
              </a:rPr>
              <a:t>:</a:t>
            </a:r>
            <a:r>
              <a:rPr dirty="0" sz="2500" spc="-11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Outcome</a:t>
            </a:r>
            <a:r>
              <a:rPr dirty="0" sz="2500" spc="-11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from</a:t>
            </a:r>
            <a:r>
              <a:rPr dirty="0" sz="2500" spc="-114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applying</a:t>
            </a:r>
            <a:r>
              <a:rPr dirty="0" sz="2500" spc="-105">
                <a:latin typeface="Arial MT"/>
                <a:cs typeface="Arial MT"/>
              </a:rPr>
              <a:t> </a:t>
            </a:r>
            <a:r>
              <a:rPr dirty="0" sz="2500" spc="-25">
                <a:latin typeface="Arial MT"/>
                <a:cs typeface="Arial MT"/>
              </a:rPr>
              <a:t>the </a:t>
            </a:r>
            <a:r>
              <a:rPr dirty="0" sz="2500">
                <a:latin typeface="Arial MT"/>
                <a:cs typeface="Arial MT"/>
              </a:rPr>
              <a:t>model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to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dataset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-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used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to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distinguish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from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targets, </a:t>
            </a:r>
            <a:r>
              <a:rPr dirty="0" sz="2500">
                <a:latin typeface="Arial MT"/>
                <a:cs typeface="Arial MT"/>
              </a:rPr>
              <a:t>which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are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desired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or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expected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outputs</a:t>
            </a:r>
            <a:endParaRPr sz="2500">
              <a:latin typeface="Arial MT"/>
              <a:cs typeface="Arial MT"/>
            </a:endParaRPr>
          </a:p>
          <a:p>
            <a:pPr marL="278765" marR="125095" indent="-266700">
              <a:lnSpc>
                <a:spcPct val="100000"/>
              </a:lnSpc>
              <a:spcBef>
                <a:spcPts val="1895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2500" b="1">
                <a:solidFill>
                  <a:srgbClr val="EF1928"/>
                </a:solidFill>
                <a:latin typeface="Arial"/>
                <a:cs typeface="Arial"/>
              </a:rPr>
              <a:t>Classifier</a:t>
            </a:r>
            <a:r>
              <a:rPr dirty="0" sz="2500">
                <a:latin typeface="Arial MT"/>
                <a:cs typeface="Arial MT"/>
              </a:rPr>
              <a:t>:</a:t>
            </a:r>
            <a:r>
              <a:rPr dirty="0" sz="2500" spc="-9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An</a:t>
            </a:r>
            <a:r>
              <a:rPr dirty="0" sz="2500" spc="-8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implementation</a:t>
            </a:r>
            <a:r>
              <a:rPr dirty="0" sz="2500" spc="-8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that</a:t>
            </a:r>
            <a:r>
              <a:rPr dirty="0" sz="2500" spc="-8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combines</a:t>
            </a:r>
            <a:r>
              <a:rPr dirty="0" sz="2500" spc="-85">
                <a:latin typeface="Arial MT"/>
                <a:cs typeface="Arial MT"/>
              </a:rPr>
              <a:t> </a:t>
            </a:r>
            <a:r>
              <a:rPr dirty="0" sz="2500" spc="-50">
                <a:latin typeface="Arial MT"/>
                <a:cs typeface="Arial MT"/>
              </a:rPr>
              <a:t>a </a:t>
            </a:r>
            <a:r>
              <a:rPr dirty="0" sz="2500" i="1">
                <a:latin typeface="Arial"/>
                <a:cs typeface="Arial"/>
              </a:rPr>
              <a:t>Learning</a:t>
            </a:r>
            <a:r>
              <a:rPr dirty="0" sz="2500" spc="-65" i="1">
                <a:latin typeface="Arial"/>
                <a:cs typeface="Arial"/>
              </a:rPr>
              <a:t> </a:t>
            </a:r>
            <a:r>
              <a:rPr dirty="0" sz="2500" i="1">
                <a:latin typeface="Arial"/>
                <a:cs typeface="Arial"/>
              </a:rPr>
              <a:t>algorithm</a:t>
            </a:r>
            <a:r>
              <a:rPr dirty="0" sz="2500">
                <a:latin typeface="Arial MT"/>
                <a:cs typeface="Arial MT"/>
              </a:rPr>
              <a:t>,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 i="1">
                <a:latin typeface="Arial"/>
                <a:cs typeface="Arial"/>
              </a:rPr>
              <a:t>Loss</a:t>
            </a:r>
            <a:r>
              <a:rPr dirty="0" sz="2500" spc="-65" i="1">
                <a:latin typeface="Arial"/>
                <a:cs typeface="Arial"/>
              </a:rPr>
              <a:t> </a:t>
            </a:r>
            <a:r>
              <a:rPr dirty="0" sz="2500" i="1">
                <a:latin typeface="Arial"/>
                <a:cs typeface="Arial"/>
              </a:rPr>
              <a:t>function</a:t>
            </a:r>
            <a:r>
              <a:rPr dirty="0" sz="2500">
                <a:latin typeface="Arial MT"/>
                <a:cs typeface="Arial MT"/>
              </a:rPr>
              <a:t>,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and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an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 spc="-10" i="1">
                <a:latin typeface="Arial"/>
                <a:cs typeface="Arial"/>
              </a:rPr>
              <a:t>Optimiser </a:t>
            </a:r>
            <a:r>
              <a:rPr dirty="0" sz="2500">
                <a:latin typeface="Arial MT"/>
                <a:cs typeface="Arial MT"/>
              </a:rPr>
              <a:t>to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create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model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and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generate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predictions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95127" y="720155"/>
            <a:ext cx="3034665" cy="5289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 b="0">
                <a:latin typeface="Arial MT"/>
                <a:cs typeface="Arial MT"/>
              </a:rPr>
              <a:t>ML</a:t>
            </a:r>
            <a:r>
              <a:rPr dirty="0" sz="3300" spc="-45" b="0">
                <a:latin typeface="Arial MT"/>
                <a:cs typeface="Arial MT"/>
              </a:rPr>
              <a:t> </a:t>
            </a:r>
            <a:r>
              <a:rPr dirty="0" sz="3300" spc="-10" b="0">
                <a:latin typeface="Arial MT"/>
                <a:cs typeface="Arial MT"/>
              </a:rPr>
              <a:t>Terminology</a:t>
            </a:r>
            <a:endParaRPr sz="3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81527" y="1650857"/>
            <a:ext cx="7936865" cy="47015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78765" marR="455295" indent="-266700">
              <a:lnSpc>
                <a:spcPct val="100200"/>
              </a:lnSpc>
              <a:spcBef>
                <a:spcPts val="95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2500" b="1">
                <a:solidFill>
                  <a:srgbClr val="EF1928"/>
                </a:solidFill>
                <a:latin typeface="Arial"/>
                <a:cs typeface="Arial"/>
              </a:rPr>
              <a:t>Learning</a:t>
            </a:r>
            <a:r>
              <a:rPr dirty="0" sz="2500" spc="-85" b="1">
                <a:solidFill>
                  <a:srgbClr val="EF1928"/>
                </a:solidFill>
                <a:latin typeface="Arial"/>
                <a:cs typeface="Arial"/>
              </a:rPr>
              <a:t> </a:t>
            </a:r>
            <a:r>
              <a:rPr dirty="0" sz="2500" b="1">
                <a:solidFill>
                  <a:srgbClr val="EF1928"/>
                </a:solidFill>
                <a:latin typeface="Arial"/>
                <a:cs typeface="Arial"/>
              </a:rPr>
              <a:t>algorithm</a:t>
            </a:r>
            <a:r>
              <a:rPr dirty="0" sz="2500">
                <a:latin typeface="Arial MT"/>
                <a:cs typeface="Arial MT"/>
              </a:rPr>
              <a:t>: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set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of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(mathematical) </a:t>
            </a:r>
            <a:r>
              <a:rPr dirty="0" sz="2500">
                <a:latin typeface="Arial MT"/>
                <a:cs typeface="Arial MT"/>
              </a:rPr>
              <a:t>instructions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that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create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model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using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training </a:t>
            </a:r>
            <a:r>
              <a:rPr dirty="0" sz="2500">
                <a:latin typeface="Arial MT"/>
                <a:cs typeface="Arial MT"/>
              </a:rPr>
              <a:t>dataset.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Most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classifiers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are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named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for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learning </a:t>
            </a:r>
            <a:r>
              <a:rPr dirty="0" sz="2500">
                <a:latin typeface="Arial MT"/>
                <a:cs typeface="Arial MT"/>
              </a:rPr>
              <a:t>algorithm</a:t>
            </a:r>
            <a:r>
              <a:rPr dirty="0" sz="2500" spc="-9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they</a:t>
            </a:r>
            <a:r>
              <a:rPr dirty="0" sz="2500" spc="-8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implement</a:t>
            </a:r>
            <a:r>
              <a:rPr dirty="0" sz="2500" spc="-8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to</a:t>
            </a:r>
            <a:r>
              <a:rPr dirty="0" sz="2500" spc="-8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find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or</a:t>
            </a:r>
            <a:r>
              <a:rPr dirty="0" sz="2500" spc="-8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approximate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 spc="-25">
                <a:latin typeface="Arial MT"/>
                <a:cs typeface="Arial MT"/>
              </a:rPr>
              <a:t>the </a:t>
            </a:r>
            <a:r>
              <a:rPr dirty="0" sz="2500">
                <a:latin typeface="Arial MT"/>
                <a:cs typeface="Arial MT"/>
              </a:rPr>
              <a:t>target</a:t>
            </a:r>
            <a:r>
              <a:rPr dirty="0" sz="2500" spc="-10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function</a:t>
            </a:r>
            <a:endParaRPr sz="2500">
              <a:latin typeface="Arial MT"/>
              <a:cs typeface="Arial MT"/>
            </a:endParaRPr>
          </a:p>
          <a:p>
            <a:pPr algn="just" marL="278765" marR="5080" indent="-266700">
              <a:lnSpc>
                <a:spcPct val="100400"/>
              </a:lnSpc>
              <a:spcBef>
                <a:spcPts val="1860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2500" b="1">
                <a:solidFill>
                  <a:srgbClr val="EF1928"/>
                </a:solidFill>
                <a:latin typeface="Arial"/>
                <a:cs typeface="Arial"/>
              </a:rPr>
              <a:t>Loss</a:t>
            </a:r>
            <a:r>
              <a:rPr dirty="0" sz="2500" spc="-90" b="1">
                <a:solidFill>
                  <a:srgbClr val="EF1928"/>
                </a:solidFill>
                <a:latin typeface="Arial"/>
                <a:cs typeface="Arial"/>
              </a:rPr>
              <a:t> </a:t>
            </a:r>
            <a:r>
              <a:rPr dirty="0" sz="2500" b="1">
                <a:solidFill>
                  <a:srgbClr val="EF1928"/>
                </a:solidFill>
                <a:latin typeface="Arial"/>
                <a:cs typeface="Arial"/>
              </a:rPr>
              <a:t>function</a:t>
            </a:r>
            <a:r>
              <a:rPr dirty="0" sz="2500">
                <a:latin typeface="Arial MT"/>
                <a:cs typeface="Arial MT"/>
              </a:rPr>
              <a:t>:</a:t>
            </a:r>
            <a:r>
              <a:rPr dirty="0" sz="2500" spc="-8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Measures</a:t>
            </a:r>
            <a:r>
              <a:rPr dirty="0" sz="2500" spc="-8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how</a:t>
            </a:r>
            <a:r>
              <a:rPr dirty="0" sz="2500" spc="-8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far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8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predicted</a:t>
            </a:r>
            <a:r>
              <a:rPr dirty="0" sz="2500" spc="-8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output </a:t>
            </a:r>
            <a:r>
              <a:rPr dirty="0" sz="2500">
                <a:latin typeface="Arial MT"/>
                <a:cs typeface="Arial MT"/>
              </a:rPr>
              <a:t>for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single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training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example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is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from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its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true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value.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 spc="-20">
                <a:latin typeface="Arial MT"/>
                <a:cs typeface="Arial MT"/>
              </a:rPr>
              <a:t>Also </a:t>
            </a:r>
            <a:r>
              <a:rPr dirty="0" sz="2500">
                <a:latin typeface="Arial MT"/>
                <a:cs typeface="Arial MT"/>
              </a:rPr>
              <a:t>called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error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function.</a:t>
            </a:r>
            <a:endParaRPr sz="2500">
              <a:latin typeface="Arial MT"/>
              <a:cs typeface="Arial MT"/>
            </a:endParaRPr>
          </a:p>
          <a:p>
            <a:pPr marL="278765" marR="22860" indent="-266700">
              <a:lnSpc>
                <a:spcPct val="100000"/>
              </a:lnSpc>
              <a:spcBef>
                <a:spcPts val="1895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2500" spc="-10" b="1">
                <a:solidFill>
                  <a:srgbClr val="EF1928"/>
                </a:solidFill>
                <a:latin typeface="Arial"/>
                <a:cs typeface="Arial"/>
              </a:rPr>
              <a:t>Optimiser</a:t>
            </a:r>
            <a:r>
              <a:rPr dirty="0" sz="2500" spc="-10">
                <a:latin typeface="Arial MT"/>
                <a:cs typeface="Arial MT"/>
              </a:rPr>
              <a:t>: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An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algorithm</a:t>
            </a:r>
            <a:r>
              <a:rPr dirty="0" sz="2500" spc="-8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used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to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minimize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average </a:t>
            </a:r>
            <a:r>
              <a:rPr dirty="0" sz="2500">
                <a:latin typeface="Arial MT"/>
                <a:cs typeface="Arial MT"/>
              </a:rPr>
              <a:t>or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summed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output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of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Loss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function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for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entire </a:t>
            </a:r>
            <a:r>
              <a:rPr dirty="0" sz="2500">
                <a:latin typeface="Arial MT"/>
                <a:cs typeface="Arial MT"/>
              </a:rPr>
              <a:t>dataset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(the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CC0000"/>
                </a:solidFill>
                <a:latin typeface="Arial MT"/>
                <a:cs typeface="Arial MT"/>
              </a:rPr>
              <a:t>Cost</a:t>
            </a:r>
            <a:r>
              <a:rPr dirty="0" sz="2500" spc="-80">
                <a:solidFill>
                  <a:srgbClr val="CC0000"/>
                </a:solidFill>
                <a:latin typeface="Arial MT"/>
                <a:cs typeface="Arial MT"/>
              </a:rPr>
              <a:t> </a:t>
            </a:r>
            <a:r>
              <a:rPr dirty="0" sz="2500" spc="-10">
                <a:solidFill>
                  <a:srgbClr val="CC0000"/>
                </a:solidFill>
                <a:latin typeface="Arial MT"/>
                <a:cs typeface="Arial MT"/>
              </a:rPr>
              <a:t>function</a:t>
            </a:r>
            <a:r>
              <a:rPr dirty="0" sz="2500" spc="-10">
                <a:latin typeface="Arial MT"/>
                <a:cs typeface="Arial MT"/>
              </a:rPr>
              <a:t>)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95127" y="720155"/>
            <a:ext cx="3034665" cy="5289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 b="0">
                <a:latin typeface="Arial MT"/>
                <a:cs typeface="Arial MT"/>
              </a:rPr>
              <a:t>ML</a:t>
            </a:r>
            <a:r>
              <a:rPr dirty="0" sz="3300" spc="-45" b="0">
                <a:latin typeface="Arial MT"/>
                <a:cs typeface="Arial MT"/>
              </a:rPr>
              <a:t> </a:t>
            </a:r>
            <a:r>
              <a:rPr dirty="0" sz="3300" spc="-10" b="0">
                <a:latin typeface="Arial MT"/>
                <a:cs typeface="Arial MT"/>
              </a:rPr>
              <a:t>Terminology</a:t>
            </a:r>
            <a:endParaRPr sz="3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35858" y="1892234"/>
            <a:ext cx="8246745" cy="4838700"/>
            <a:chOff x="935858" y="1892234"/>
            <a:chExt cx="8246745" cy="48387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6735" y="1892234"/>
              <a:ext cx="8035476" cy="4838564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3640236" y="4695243"/>
              <a:ext cx="1951989" cy="1671320"/>
            </a:xfrm>
            <a:custGeom>
              <a:avLst/>
              <a:gdLst/>
              <a:ahLst/>
              <a:cxnLst/>
              <a:rect l="l" t="t" r="r" b="b"/>
              <a:pathLst>
                <a:path w="1951989" h="1671320">
                  <a:moveTo>
                    <a:pt x="0" y="0"/>
                  </a:moveTo>
                  <a:lnTo>
                    <a:pt x="1951434" y="1671293"/>
                  </a:lnTo>
                </a:path>
              </a:pathLst>
            </a:custGeom>
            <a:ln w="328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547033" y="3378914"/>
              <a:ext cx="164465" cy="1316990"/>
            </a:xfrm>
            <a:custGeom>
              <a:avLst/>
              <a:gdLst/>
              <a:ahLst/>
              <a:cxnLst/>
              <a:rect l="l" t="t" r="r" b="b"/>
              <a:pathLst>
                <a:path w="164464" h="1316989">
                  <a:moveTo>
                    <a:pt x="80634" y="98576"/>
                  </a:moveTo>
                  <a:lnTo>
                    <a:pt x="64507" y="112089"/>
                  </a:lnTo>
                  <a:lnTo>
                    <a:pt x="91549" y="1315958"/>
                  </a:lnTo>
                  <a:lnTo>
                    <a:pt x="91565" y="1316696"/>
                  </a:lnTo>
                  <a:lnTo>
                    <a:pt x="124409" y="1315958"/>
                  </a:lnTo>
                  <a:lnTo>
                    <a:pt x="97369" y="112089"/>
                  </a:lnTo>
                  <a:lnTo>
                    <a:pt x="97352" y="111350"/>
                  </a:lnTo>
                  <a:lnTo>
                    <a:pt x="80634" y="98576"/>
                  </a:lnTo>
                  <a:close/>
                </a:path>
                <a:path w="164464" h="1316989">
                  <a:moveTo>
                    <a:pt x="78419" y="0"/>
                  </a:moveTo>
                  <a:lnTo>
                    <a:pt x="0" y="166140"/>
                  </a:lnTo>
                  <a:lnTo>
                    <a:pt x="64507" y="112089"/>
                  </a:lnTo>
                  <a:lnTo>
                    <a:pt x="64212" y="98944"/>
                  </a:lnTo>
                  <a:lnTo>
                    <a:pt x="97057" y="98206"/>
                  </a:lnTo>
                  <a:lnTo>
                    <a:pt x="130290" y="98206"/>
                  </a:lnTo>
                  <a:lnTo>
                    <a:pt x="78419" y="0"/>
                  </a:lnTo>
                  <a:close/>
                </a:path>
                <a:path w="164464" h="1316989">
                  <a:moveTo>
                    <a:pt x="130290" y="98206"/>
                  </a:moveTo>
                  <a:lnTo>
                    <a:pt x="97057" y="98206"/>
                  </a:lnTo>
                  <a:lnTo>
                    <a:pt x="97352" y="111350"/>
                  </a:lnTo>
                  <a:lnTo>
                    <a:pt x="164221" y="162448"/>
                  </a:lnTo>
                  <a:lnTo>
                    <a:pt x="130290" y="98206"/>
                  </a:lnTo>
                  <a:close/>
                </a:path>
                <a:path w="164464" h="1316989">
                  <a:moveTo>
                    <a:pt x="80634" y="98576"/>
                  </a:moveTo>
                  <a:lnTo>
                    <a:pt x="64212" y="98944"/>
                  </a:lnTo>
                  <a:lnTo>
                    <a:pt x="64491" y="111350"/>
                  </a:lnTo>
                  <a:lnTo>
                    <a:pt x="64507" y="112089"/>
                  </a:lnTo>
                  <a:lnTo>
                    <a:pt x="80634" y="98576"/>
                  </a:lnTo>
                  <a:close/>
                </a:path>
                <a:path w="164464" h="1316989">
                  <a:moveTo>
                    <a:pt x="97057" y="98206"/>
                  </a:moveTo>
                  <a:lnTo>
                    <a:pt x="80634" y="98576"/>
                  </a:lnTo>
                  <a:lnTo>
                    <a:pt x="97352" y="111350"/>
                  </a:lnTo>
                  <a:lnTo>
                    <a:pt x="97073" y="98944"/>
                  </a:lnTo>
                  <a:lnTo>
                    <a:pt x="97057" y="982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935858" y="2324494"/>
              <a:ext cx="2055495" cy="2644775"/>
            </a:xfrm>
            <a:custGeom>
              <a:avLst/>
              <a:gdLst/>
              <a:ahLst/>
              <a:cxnLst/>
              <a:rect l="l" t="t" r="r" b="b"/>
              <a:pathLst>
                <a:path w="2055495" h="2644775">
                  <a:moveTo>
                    <a:pt x="2055428" y="0"/>
                  </a:moveTo>
                  <a:lnTo>
                    <a:pt x="0" y="0"/>
                  </a:lnTo>
                  <a:lnTo>
                    <a:pt x="0" y="2644427"/>
                  </a:lnTo>
                  <a:lnTo>
                    <a:pt x="2055428" y="2644427"/>
                  </a:lnTo>
                  <a:lnTo>
                    <a:pt x="20554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7" name="object 7" descr=""/>
          <p:cNvGraphicFramePr>
            <a:graphicFrameLocks noGrp="1"/>
          </p:cNvGraphicFramePr>
          <p:nvPr/>
        </p:nvGraphicFramePr>
        <p:xfrm>
          <a:off x="1140165" y="459653"/>
          <a:ext cx="3030220" cy="1381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2595"/>
                <a:gridCol w="708025"/>
                <a:gridCol w="442595"/>
                <a:gridCol w="461009"/>
                <a:gridCol w="442594"/>
                <a:gridCol w="442594"/>
              </a:tblGrid>
              <a:tr h="3454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R="259079"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</a:tr>
              <a:tr h="3454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R="259079"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</a:tr>
              <a:tr h="3454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285"/>
                        </a:lnSpc>
                      </a:pPr>
                      <a:r>
                        <a:rPr dirty="0" sz="2500" spc="-25" b="1" i="1">
                          <a:latin typeface="Arial"/>
                          <a:cs typeface="Arial"/>
                        </a:rPr>
                        <a:t>Da</a:t>
                      </a:r>
                      <a:endParaRPr sz="25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262890">
                        <a:lnSpc>
                          <a:spcPts val="2285"/>
                        </a:lnSpc>
                      </a:pPr>
                      <a:r>
                        <a:rPr dirty="0" sz="2500" spc="-50" b="1" i="1">
                          <a:latin typeface="Arial"/>
                          <a:cs typeface="Arial"/>
                        </a:rPr>
                        <a:t>t</a:t>
                      </a:r>
                      <a:endParaRPr sz="25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285"/>
                        </a:lnSpc>
                      </a:pPr>
                      <a:r>
                        <a:rPr dirty="0" sz="2500" spc="-25" b="1" i="1">
                          <a:latin typeface="Arial"/>
                          <a:cs typeface="Arial"/>
                        </a:rPr>
                        <a:t>ase</a:t>
                      </a:r>
                      <a:endParaRPr sz="25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2285"/>
                        </a:lnSpc>
                      </a:pPr>
                      <a:r>
                        <a:rPr dirty="0" sz="2500" spc="-50" b="1" i="1">
                          <a:latin typeface="Arial"/>
                          <a:cs typeface="Arial"/>
                        </a:rPr>
                        <a:t>t</a:t>
                      </a:r>
                      <a:endParaRPr sz="25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3F9FA"/>
                    </a:solidFill>
                  </a:tcPr>
                </a:tc>
              </a:tr>
              <a:tr h="3454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R="259079"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</a:tr>
            </a:tbl>
          </a:graphicData>
        </a:graphic>
      </p:graphicFrame>
      <p:sp>
        <p:nvSpPr>
          <p:cNvPr id="8" name="object 8" descr=""/>
          <p:cNvSpPr txBox="1"/>
          <p:nvPr/>
        </p:nvSpPr>
        <p:spPr>
          <a:xfrm>
            <a:off x="935858" y="2324494"/>
            <a:ext cx="2055495" cy="2644775"/>
          </a:xfrm>
          <a:prstGeom prst="rect">
            <a:avLst/>
          </a:prstGeom>
          <a:ln w="26286">
            <a:solidFill>
              <a:srgbClr val="000000"/>
            </a:solidFill>
          </a:ln>
        </p:spPr>
        <p:txBody>
          <a:bodyPr wrap="square" lIns="0" tIns="33020" rIns="0" bIns="0" rtlCol="0" vert="horz">
            <a:spAutoFit/>
          </a:bodyPr>
          <a:lstStyle/>
          <a:p>
            <a:pPr marL="448309" indent="-354330">
              <a:lnSpc>
                <a:spcPct val="100000"/>
              </a:lnSpc>
              <a:spcBef>
                <a:spcPts val="260"/>
              </a:spcBef>
              <a:buFont typeface="Courier New"/>
              <a:buChar char="o"/>
              <a:tabLst>
                <a:tab pos="448309" algn="l"/>
              </a:tabLst>
            </a:pPr>
            <a:r>
              <a:rPr dirty="0" sz="2100" spc="-10">
                <a:latin typeface="Arial MT"/>
                <a:cs typeface="Arial MT"/>
              </a:rPr>
              <a:t>Hyper-</a:t>
            </a:r>
            <a:endParaRPr sz="2100">
              <a:latin typeface="Arial MT"/>
              <a:cs typeface="Arial MT"/>
            </a:endParaRPr>
          </a:p>
          <a:p>
            <a:pPr marL="448945">
              <a:lnSpc>
                <a:spcPct val="100000"/>
              </a:lnSpc>
            </a:pPr>
            <a:r>
              <a:rPr dirty="0" sz="2100" spc="-10">
                <a:latin typeface="Arial MT"/>
                <a:cs typeface="Arial MT"/>
              </a:rPr>
              <a:t>Parameters</a:t>
            </a:r>
            <a:endParaRPr sz="2100">
              <a:latin typeface="Arial MT"/>
              <a:cs typeface="Arial MT"/>
            </a:endParaRPr>
          </a:p>
          <a:p>
            <a:pPr marL="448945" marR="589280" indent="-354965">
              <a:lnSpc>
                <a:spcPts val="2500"/>
              </a:lnSpc>
              <a:spcBef>
                <a:spcPts val="770"/>
              </a:spcBef>
              <a:buFont typeface="Courier New"/>
              <a:buChar char="o"/>
              <a:tabLst>
                <a:tab pos="448945" algn="l"/>
              </a:tabLst>
            </a:pPr>
            <a:r>
              <a:rPr dirty="0" sz="2100" spc="-20">
                <a:latin typeface="Arial MT"/>
                <a:cs typeface="Arial MT"/>
              </a:rPr>
              <a:t>Loss </a:t>
            </a:r>
            <a:r>
              <a:rPr dirty="0" sz="2100" spc="-25">
                <a:latin typeface="Arial MT"/>
                <a:cs typeface="Arial MT"/>
              </a:rPr>
              <a:t>Function</a:t>
            </a:r>
            <a:endParaRPr sz="2100">
              <a:latin typeface="Arial MT"/>
              <a:cs typeface="Arial MT"/>
            </a:endParaRPr>
          </a:p>
          <a:p>
            <a:pPr marL="448309" indent="-354330">
              <a:lnSpc>
                <a:spcPct val="100000"/>
              </a:lnSpc>
              <a:spcBef>
                <a:spcPts val="495"/>
              </a:spcBef>
              <a:buFont typeface="Courier New"/>
              <a:buChar char="o"/>
              <a:tabLst>
                <a:tab pos="448309" algn="l"/>
              </a:tabLst>
            </a:pPr>
            <a:r>
              <a:rPr dirty="0" sz="2100" spc="-10">
                <a:latin typeface="Arial MT"/>
                <a:cs typeface="Arial MT"/>
              </a:rPr>
              <a:t>Optimiser</a:t>
            </a:r>
            <a:endParaRPr sz="2100">
              <a:latin typeface="Arial MT"/>
              <a:cs typeface="Arial MT"/>
            </a:endParaRPr>
          </a:p>
          <a:p>
            <a:pPr marL="448945" marR="560070" indent="-354965">
              <a:lnSpc>
                <a:spcPct val="100000"/>
              </a:lnSpc>
              <a:spcBef>
                <a:spcPts val="1175"/>
              </a:spcBef>
              <a:buFont typeface="Courier New"/>
              <a:buChar char="o"/>
              <a:tabLst>
                <a:tab pos="448945" algn="l"/>
              </a:tabLst>
            </a:pPr>
            <a:r>
              <a:rPr dirty="0" sz="2100" spc="-25">
                <a:latin typeface="Arial MT"/>
                <a:cs typeface="Arial MT"/>
              </a:rPr>
              <a:t>Behavior </a:t>
            </a:r>
            <a:r>
              <a:rPr dirty="0" sz="2100" spc="-10">
                <a:latin typeface="Arial MT"/>
                <a:cs typeface="Arial MT"/>
              </a:rPr>
              <a:t>Tuning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998301" y="2345801"/>
            <a:ext cx="1866900" cy="7880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00"/>
              </a:spcBef>
            </a:pPr>
            <a:r>
              <a:rPr dirty="0" sz="2500" spc="-10">
                <a:latin typeface="Arial MT"/>
                <a:cs typeface="Arial MT"/>
              </a:rPr>
              <a:t>Classifier</a:t>
            </a:r>
            <a:endParaRPr sz="25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dirty="0" sz="2500">
                <a:latin typeface="Arial MT"/>
                <a:cs typeface="Arial MT"/>
              </a:rPr>
              <a:t>(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algorithms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 spc="-50">
                <a:latin typeface="Arial MT"/>
                <a:cs typeface="Arial MT"/>
              </a:rPr>
              <a:t>)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4200695" y="1391776"/>
            <a:ext cx="1447165" cy="40703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b="0">
                <a:latin typeface="Arial MT"/>
                <a:cs typeface="Arial MT"/>
              </a:rPr>
              <a:t>Input</a:t>
            </a:r>
            <a:r>
              <a:rPr dirty="0" sz="2500" spc="-90" b="0">
                <a:latin typeface="Arial MT"/>
                <a:cs typeface="Arial MT"/>
              </a:rPr>
              <a:t> </a:t>
            </a:r>
            <a:r>
              <a:rPr dirty="0" sz="2500" spc="-25" b="0">
                <a:latin typeface="Arial MT"/>
                <a:cs typeface="Arial MT"/>
              </a:rPr>
              <a:t>Row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933279" y="1870347"/>
            <a:ext cx="2643505" cy="14585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 marR="5080">
              <a:lnSpc>
                <a:spcPct val="98700"/>
              </a:lnSpc>
              <a:spcBef>
                <a:spcPts val="130"/>
              </a:spcBef>
            </a:pPr>
            <a:r>
              <a:rPr dirty="0" sz="1900" spc="-35" b="1">
                <a:solidFill>
                  <a:srgbClr val="0070C0"/>
                </a:solidFill>
                <a:latin typeface="Arial"/>
                <a:cs typeface="Arial"/>
              </a:rPr>
              <a:t>Essentially,</a:t>
            </a:r>
            <a:r>
              <a:rPr dirty="0" sz="1900" spc="-85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0070C0"/>
                </a:solidFill>
                <a:latin typeface="Arial"/>
                <a:cs typeface="Arial"/>
              </a:rPr>
              <a:t>the</a:t>
            </a:r>
            <a:r>
              <a:rPr dirty="0" sz="1900" spc="-90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900" spc="-20" b="1">
                <a:solidFill>
                  <a:srgbClr val="0070C0"/>
                </a:solidFill>
                <a:latin typeface="Arial"/>
                <a:cs typeface="Arial"/>
              </a:rPr>
              <a:t>loss function</a:t>
            </a:r>
            <a:r>
              <a:rPr dirty="0" sz="1900" spc="-105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0070C0"/>
                </a:solidFill>
                <a:latin typeface="Arial"/>
                <a:cs typeface="Arial"/>
              </a:rPr>
              <a:t>and</a:t>
            </a:r>
            <a:r>
              <a:rPr dirty="0" sz="1900" spc="-105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900" spc="-10" b="1">
                <a:solidFill>
                  <a:srgbClr val="0070C0"/>
                </a:solidFill>
                <a:latin typeface="Arial"/>
                <a:cs typeface="Arial"/>
              </a:rPr>
              <a:t>optimizer work</a:t>
            </a:r>
            <a:r>
              <a:rPr dirty="0" sz="1900" spc="-80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900" spc="-25" b="1">
                <a:solidFill>
                  <a:srgbClr val="0070C0"/>
                </a:solidFill>
                <a:latin typeface="Arial"/>
                <a:cs typeface="Arial"/>
              </a:rPr>
              <a:t>together</a:t>
            </a:r>
            <a:r>
              <a:rPr dirty="0" sz="1900" spc="-70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0070C0"/>
                </a:solidFill>
                <a:latin typeface="Arial"/>
                <a:cs typeface="Arial"/>
              </a:rPr>
              <a:t>to</a:t>
            </a:r>
            <a:r>
              <a:rPr dirty="0" sz="1900" spc="-75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C00000"/>
                </a:solidFill>
                <a:latin typeface="Arial"/>
                <a:cs typeface="Arial"/>
              </a:rPr>
              <a:t>fit</a:t>
            </a:r>
            <a:r>
              <a:rPr dirty="0" sz="1900" spc="-7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900" spc="-25" b="1">
                <a:solidFill>
                  <a:srgbClr val="0070C0"/>
                </a:solidFill>
                <a:latin typeface="Arial"/>
                <a:cs typeface="Arial"/>
              </a:rPr>
              <a:t>the </a:t>
            </a:r>
            <a:r>
              <a:rPr dirty="0" sz="1900" spc="-20" b="1">
                <a:solidFill>
                  <a:srgbClr val="0070C0"/>
                </a:solidFill>
                <a:latin typeface="Arial"/>
                <a:cs typeface="Arial"/>
              </a:rPr>
              <a:t>algorithm</a:t>
            </a:r>
            <a:r>
              <a:rPr dirty="0" sz="1900" spc="-95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0070C0"/>
                </a:solidFill>
                <a:latin typeface="Arial"/>
                <a:cs typeface="Arial"/>
              </a:rPr>
              <a:t>to</a:t>
            </a:r>
            <a:r>
              <a:rPr dirty="0" sz="1900" spc="-85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0070C0"/>
                </a:solidFill>
                <a:latin typeface="Arial"/>
                <a:cs typeface="Arial"/>
              </a:rPr>
              <a:t>the</a:t>
            </a:r>
            <a:r>
              <a:rPr dirty="0" sz="1900" spc="-80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900" spc="-10" b="1">
                <a:solidFill>
                  <a:srgbClr val="0070C0"/>
                </a:solidFill>
                <a:latin typeface="Arial"/>
                <a:cs typeface="Arial"/>
              </a:rPr>
              <a:t>data</a:t>
            </a:r>
            <a:r>
              <a:rPr dirty="0" sz="1900" spc="-85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900" spc="-25" b="1">
                <a:solidFill>
                  <a:srgbClr val="0070C0"/>
                </a:solidFill>
                <a:latin typeface="Arial"/>
                <a:cs typeface="Arial"/>
              </a:rPr>
              <a:t>in </a:t>
            </a:r>
            <a:r>
              <a:rPr dirty="0" sz="1900" b="1">
                <a:solidFill>
                  <a:srgbClr val="0070C0"/>
                </a:solidFill>
                <a:latin typeface="Arial"/>
                <a:cs typeface="Arial"/>
              </a:rPr>
              <a:t>the</a:t>
            </a:r>
            <a:r>
              <a:rPr dirty="0" sz="1900" spc="-110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900" spc="-10" b="1">
                <a:solidFill>
                  <a:srgbClr val="0070C0"/>
                </a:solidFill>
                <a:latin typeface="Arial"/>
                <a:cs typeface="Arial"/>
              </a:rPr>
              <a:t>best</a:t>
            </a:r>
            <a:r>
              <a:rPr dirty="0" sz="1900" spc="-100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0070C0"/>
                </a:solidFill>
                <a:latin typeface="Arial"/>
                <a:cs typeface="Arial"/>
              </a:rPr>
              <a:t>way</a:t>
            </a:r>
            <a:r>
              <a:rPr dirty="0" sz="1900" spc="-105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900" spc="-10" b="1">
                <a:solidFill>
                  <a:srgbClr val="0070C0"/>
                </a:solidFill>
                <a:latin typeface="Arial"/>
                <a:cs typeface="Arial"/>
              </a:rPr>
              <a:t>possible.</a:t>
            </a:r>
            <a:endParaRPr sz="1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8330" y="1758449"/>
            <a:ext cx="4243824" cy="501937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28839" rIns="0" bIns="0" rtlCol="0" vert="horz">
            <a:spAutoFit/>
          </a:bodyPr>
          <a:lstStyle/>
          <a:p>
            <a:pPr marL="1343025">
              <a:lnSpc>
                <a:spcPct val="100000"/>
              </a:lnSpc>
              <a:spcBef>
                <a:spcPts val="100"/>
              </a:spcBef>
            </a:pPr>
            <a:r>
              <a:rPr dirty="0" b="0">
                <a:latin typeface="Arial MT"/>
                <a:cs typeface="Arial MT"/>
              </a:rPr>
              <a:t>Supervised</a:t>
            </a:r>
            <a:r>
              <a:rPr dirty="0" spc="-190" b="0">
                <a:latin typeface="Arial MT"/>
                <a:cs typeface="Arial MT"/>
              </a:rPr>
              <a:t> </a:t>
            </a:r>
            <a:r>
              <a:rPr dirty="0" spc="-10" b="0">
                <a:latin typeface="Arial MT"/>
                <a:cs typeface="Arial MT"/>
              </a:rPr>
              <a:t>Learning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5422265" y="1867265"/>
            <a:ext cx="4293870" cy="4549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7030" marR="445770" indent="-354965">
              <a:lnSpc>
                <a:spcPct val="100000"/>
              </a:lnSpc>
              <a:spcBef>
                <a:spcPts val="100"/>
              </a:spcBef>
              <a:buChar char="•"/>
              <a:tabLst>
                <a:tab pos="367030" algn="l"/>
              </a:tabLst>
            </a:pPr>
            <a:r>
              <a:rPr dirty="0" sz="2500">
                <a:solidFill>
                  <a:srgbClr val="0055A0"/>
                </a:solidFill>
                <a:latin typeface="Arial MT"/>
                <a:cs typeface="Arial MT"/>
              </a:rPr>
              <a:t>For</a:t>
            </a:r>
            <a:r>
              <a:rPr dirty="0" sz="2500" spc="-55">
                <a:solidFill>
                  <a:srgbClr val="0055A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055A0"/>
                </a:solidFill>
                <a:latin typeface="Arial MT"/>
                <a:cs typeface="Arial MT"/>
              </a:rPr>
              <a:t>every</a:t>
            </a:r>
            <a:r>
              <a:rPr dirty="0" sz="2500" spc="-60">
                <a:solidFill>
                  <a:srgbClr val="0055A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055A0"/>
                </a:solidFill>
                <a:latin typeface="Arial MT"/>
                <a:cs typeface="Arial MT"/>
              </a:rPr>
              <a:t>example</a:t>
            </a:r>
            <a:r>
              <a:rPr dirty="0" sz="2500" spc="-55">
                <a:solidFill>
                  <a:srgbClr val="0055A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055A0"/>
                </a:solidFill>
                <a:latin typeface="Arial MT"/>
                <a:cs typeface="Arial MT"/>
              </a:rPr>
              <a:t>in</a:t>
            </a:r>
            <a:r>
              <a:rPr dirty="0" sz="2500" spc="-60">
                <a:solidFill>
                  <a:srgbClr val="0055A0"/>
                </a:solidFill>
                <a:latin typeface="Arial MT"/>
                <a:cs typeface="Arial MT"/>
              </a:rPr>
              <a:t> </a:t>
            </a:r>
            <a:r>
              <a:rPr dirty="0" sz="2500" spc="-25">
                <a:solidFill>
                  <a:srgbClr val="0055A0"/>
                </a:solidFill>
                <a:latin typeface="Arial MT"/>
                <a:cs typeface="Arial MT"/>
              </a:rPr>
              <a:t>the </a:t>
            </a:r>
            <a:r>
              <a:rPr dirty="0" sz="2500">
                <a:solidFill>
                  <a:srgbClr val="0055A0"/>
                </a:solidFill>
                <a:latin typeface="Arial MT"/>
                <a:cs typeface="Arial MT"/>
              </a:rPr>
              <a:t>data</a:t>
            </a:r>
            <a:r>
              <a:rPr dirty="0" sz="2500" spc="-45">
                <a:solidFill>
                  <a:srgbClr val="0055A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055A0"/>
                </a:solidFill>
                <a:latin typeface="Arial MT"/>
                <a:cs typeface="Arial MT"/>
              </a:rPr>
              <a:t>there</a:t>
            </a:r>
            <a:r>
              <a:rPr dirty="0" sz="2500" spc="-45">
                <a:solidFill>
                  <a:srgbClr val="0055A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055A0"/>
                </a:solidFill>
                <a:latin typeface="Arial MT"/>
                <a:cs typeface="Arial MT"/>
              </a:rPr>
              <a:t>is</a:t>
            </a:r>
            <a:r>
              <a:rPr dirty="0" sz="2500" spc="-55">
                <a:solidFill>
                  <a:srgbClr val="0055A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2D9DFF"/>
                </a:solidFill>
                <a:latin typeface="Arial MT"/>
                <a:cs typeface="Arial MT"/>
              </a:rPr>
              <a:t>always</a:t>
            </a:r>
            <a:r>
              <a:rPr dirty="0" sz="2500" spc="-50">
                <a:solidFill>
                  <a:srgbClr val="2D9DFF"/>
                </a:solidFill>
                <a:latin typeface="Arial MT"/>
                <a:cs typeface="Arial MT"/>
              </a:rPr>
              <a:t> a </a:t>
            </a:r>
            <a:r>
              <a:rPr dirty="0" sz="2500">
                <a:solidFill>
                  <a:srgbClr val="2D9DFF"/>
                </a:solidFill>
                <a:latin typeface="Arial MT"/>
                <a:cs typeface="Arial MT"/>
              </a:rPr>
              <a:t>predefined</a:t>
            </a:r>
            <a:r>
              <a:rPr dirty="0" sz="2500" spc="-114">
                <a:solidFill>
                  <a:srgbClr val="2D9DFF"/>
                </a:solidFill>
                <a:latin typeface="Arial MT"/>
                <a:cs typeface="Arial MT"/>
              </a:rPr>
              <a:t> </a:t>
            </a:r>
            <a:r>
              <a:rPr dirty="0" sz="2500" spc="-10">
                <a:solidFill>
                  <a:srgbClr val="2D9DFF"/>
                </a:solidFill>
                <a:latin typeface="Arial MT"/>
                <a:cs typeface="Arial MT"/>
              </a:rPr>
              <a:t>outcome</a:t>
            </a:r>
            <a:endParaRPr sz="2500">
              <a:latin typeface="Arial MT"/>
              <a:cs typeface="Arial MT"/>
            </a:endParaRPr>
          </a:p>
          <a:p>
            <a:pPr marL="367030" marR="5080" indent="-354965">
              <a:lnSpc>
                <a:spcPct val="100400"/>
              </a:lnSpc>
              <a:spcBef>
                <a:spcPts val="1885"/>
              </a:spcBef>
              <a:buChar char="•"/>
              <a:tabLst>
                <a:tab pos="367030" algn="l"/>
              </a:tabLst>
            </a:pPr>
            <a:r>
              <a:rPr dirty="0" sz="2500">
                <a:solidFill>
                  <a:srgbClr val="0055A0"/>
                </a:solidFill>
                <a:latin typeface="Arial MT"/>
                <a:cs typeface="Arial MT"/>
              </a:rPr>
              <a:t>Models</a:t>
            </a:r>
            <a:r>
              <a:rPr dirty="0" sz="2500" spc="-80">
                <a:solidFill>
                  <a:srgbClr val="0055A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055A0"/>
                </a:solidFill>
                <a:latin typeface="Arial MT"/>
                <a:cs typeface="Arial MT"/>
              </a:rPr>
              <a:t>the</a:t>
            </a:r>
            <a:r>
              <a:rPr dirty="0" sz="2500" spc="-75">
                <a:solidFill>
                  <a:srgbClr val="0055A0"/>
                </a:solidFill>
                <a:latin typeface="Arial MT"/>
                <a:cs typeface="Arial MT"/>
              </a:rPr>
              <a:t> </a:t>
            </a:r>
            <a:r>
              <a:rPr dirty="0" sz="2500" spc="-10">
                <a:solidFill>
                  <a:srgbClr val="2D9DFF"/>
                </a:solidFill>
                <a:latin typeface="Arial MT"/>
                <a:cs typeface="Arial MT"/>
              </a:rPr>
              <a:t>relations </a:t>
            </a:r>
            <a:r>
              <a:rPr dirty="0" sz="2500">
                <a:solidFill>
                  <a:srgbClr val="2D9DFF"/>
                </a:solidFill>
                <a:latin typeface="Arial MT"/>
                <a:cs typeface="Arial MT"/>
              </a:rPr>
              <a:t>between</a:t>
            </a:r>
            <a:r>
              <a:rPr dirty="0" sz="2500" spc="-50">
                <a:solidFill>
                  <a:srgbClr val="2D9DFF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2D9DFF"/>
                </a:solidFill>
                <a:latin typeface="Arial MT"/>
                <a:cs typeface="Arial MT"/>
              </a:rPr>
              <a:t>a</a:t>
            </a:r>
            <a:r>
              <a:rPr dirty="0" sz="2500" spc="-50">
                <a:solidFill>
                  <a:srgbClr val="2D9DFF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2D9DFF"/>
                </a:solidFill>
                <a:latin typeface="Arial MT"/>
                <a:cs typeface="Arial MT"/>
              </a:rPr>
              <a:t>set</a:t>
            </a:r>
            <a:r>
              <a:rPr dirty="0" sz="2500" spc="-50">
                <a:solidFill>
                  <a:srgbClr val="2D9DFF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2D9DFF"/>
                </a:solidFill>
                <a:latin typeface="Arial MT"/>
                <a:cs typeface="Arial MT"/>
              </a:rPr>
              <a:t>of</a:t>
            </a:r>
            <a:r>
              <a:rPr dirty="0" sz="2500" spc="-55">
                <a:solidFill>
                  <a:srgbClr val="2D9DFF"/>
                </a:solidFill>
                <a:latin typeface="Arial MT"/>
                <a:cs typeface="Arial MT"/>
              </a:rPr>
              <a:t> </a:t>
            </a:r>
            <a:r>
              <a:rPr dirty="0" sz="2500" spc="-10">
                <a:solidFill>
                  <a:srgbClr val="2D9DFF"/>
                </a:solidFill>
                <a:latin typeface="Arial MT"/>
                <a:cs typeface="Arial MT"/>
              </a:rPr>
              <a:t>descriptive </a:t>
            </a:r>
            <a:r>
              <a:rPr dirty="0" sz="2500">
                <a:solidFill>
                  <a:srgbClr val="2D9DFF"/>
                </a:solidFill>
                <a:latin typeface="Arial MT"/>
                <a:cs typeface="Arial MT"/>
              </a:rPr>
              <a:t>features</a:t>
            </a:r>
            <a:r>
              <a:rPr dirty="0" sz="2500" spc="-65">
                <a:solidFill>
                  <a:srgbClr val="2D9DFF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2D9DFF"/>
                </a:solidFill>
                <a:latin typeface="Arial MT"/>
                <a:cs typeface="Arial MT"/>
              </a:rPr>
              <a:t>and</a:t>
            </a:r>
            <a:r>
              <a:rPr dirty="0" sz="2500" spc="-70">
                <a:solidFill>
                  <a:srgbClr val="2D9DFF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2D9DFF"/>
                </a:solidFill>
                <a:latin typeface="Arial MT"/>
                <a:cs typeface="Arial MT"/>
              </a:rPr>
              <a:t>a</a:t>
            </a:r>
            <a:r>
              <a:rPr dirty="0" sz="2500" spc="-65">
                <a:solidFill>
                  <a:srgbClr val="2D9DFF"/>
                </a:solidFill>
                <a:latin typeface="Arial MT"/>
                <a:cs typeface="Arial MT"/>
              </a:rPr>
              <a:t> </a:t>
            </a:r>
            <a:r>
              <a:rPr dirty="0" sz="2500" spc="-10">
                <a:solidFill>
                  <a:srgbClr val="2D9DFF"/>
                </a:solidFill>
                <a:latin typeface="Arial MT"/>
                <a:cs typeface="Arial MT"/>
              </a:rPr>
              <a:t>target</a:t>
            </a:r>
            <a:endParaRPr sz="2500">
              <a:latin typeface="Arial MT"/>
              <a:cs typeface="Arial MT"/>
            </a:endParaRPr>
          </a:p>
          <a:p>
            <a:pPr lvl="1" marL="781685" indent="-295910">
              <a:lnSpc>
                <a:spcPct val="100000"/>
              </a:lnSpc>
              <a:spcBef>
                <a:spcPts val="600"/>
              </a:spcBef>
              <a:buChar char="–"/>
              <a:tabLst>
                <a:tab pos="781685" algn="l"/>
              </a:tabLst>
            </a:pPr>
            <a:r>
              <a:rPr dirty="0" sz="2500">
                <a:latin typeface="Arial MT"/>
                <a:cs typeface="Arial MT"/>
              </a:rPr>
              <a:t>(Fits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data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to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function)</a:t>
            </a:r>
            <a:endParaRPr sz="2500">
              <a:latin typeface="Arial MT"/>
              <a:cs typeface="Arial MT"/>
            </a:endParaRPr>
          </a:p>
          <a:p>
            <a:pPr marL="367030" indent="-354330">
              <a:lnSpc>
                <a:spcPct val="100000"/>
              </a:lnSpc>
              <a:spcBef>
                <a:spcPts val="1895"/>
              </a:spcBef>
              <a:buChar char="•"/>
              <a:tabLst>
                <a:tab pos="367030" algn="l"/>
              </a:tabLst>
            </a:pPr>
            <a:r>
              <a:rPr dirty="0" sz="2500">
                <a:solidFill>
                  <a:srgbClr val="0055A0"/>
                </a:solidFill>
                <a:latin typeface="Arial MT"/>
                <a:cs typeface="Arial MT"/>
              </a:rPr>
              <a:t>2</a:t>
            </a:r>
            <a:r>
              <a:rPr dirty="0" sz="2500" spc="-50">
                <a:solidFill>
                  <a:srgbClr val="0055A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055A0"/>
                </a:solidFill>
                <a:latin typeface="Arial MT"/>
                <a:cs typeface="Arial MT"/>
              </a:rPr>
              <a:t>groups</a:t>
            </a:r>
            <a:r>
              <a:rPr dirty="0" sz="2500" spc="-55">
                <a:solidFill>
                  <a:srgbClr val="0055A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0055A0"/>
                </a:solidFill>
                <a:latin typeface="Arial MT"/>
                <a:cs typeface="Arial MT"/>
              </a:rPr>
              <a:t>of</a:t>
            </a:r>
            <a:r>
              <a:rPr dirty="0" sz="2500" spc="-50">
                <a:solidFill>
                  <a:srgbClr val="0055A0"/>
                </a:solidFill>
                <a:latin typeface="Arial MT"/>
                <a:cs typeface="Arial MT"/>
              </a:rPr>
              <a:t> </a:t>
            </a:r>
            <a:r>
              <a:rPr dirty="0" sz="2500" spc="-10">
                <a:solidFill>
                  <a:srgbClr val="0055A0"/>
                </a:solidFill>
                <a:latin typeface="Arial MT"/>
                <a:cs typeface="Arial MT"/>
              </a:rPr>
              <a:t>problems:</a:t>
            </a:r>
            <a:endParaRPr sz="2500">
              <a:latin typeface="Arial MT"/>
              <a:cs typeface="Arial MT"/>
            </a:endParaRPr>
          </a:p>
          <a:p>
            <a:pPr lvl="1" marL="781685" indent="-295910">
              <a:lnSpc>
                <a:spcPct val="100000"/>
              </a:lnSpc>
              <a:spcBef>
                <a:spcPts val="600"/>
              </a:spcBef>
              <a:buChar char="–"/>
              <a:tabLst>
                <a:tab pos="781685" algn="l"/>
              </a:tabLst>
            </a:pPr>
            <a:r>
              <a:rPr dirty="0" sz="2500" spc="-10">
                <a:solidFill>
                  <a:srgbClr val="2D9DFF"/>
                </a:solidFill>
                <a:latin typeface="Arial MT"/>
                <a:cs typeface="Arial MT"/>
              </a:rPr>
              <a:t>Classification</a:t>
            </a:r>
            <a:endParaRPr sz="2500">
              <a:latin typeface="Arial MT"/>
              <a:cs typeface="Arial MT"/>
            </a:endParaRPr>
          </a:p>
          <a:p>
            <a:pPr lvl="1" marL="781685" indent="-295910">
              <a:lnSpc>
                <a:spcPct val="100000"/>
              </a:lnSpc>
              <a:spcBef>
                <a:spcPts val="600"/>
              </a:spcBef>
              <a:buChar char="–"/>
              <a:tabLst>
                <a:tab pos="781685" algn="l"/>
              </a:tabLst>
            </a:pPr>
            <a:r>
              <a:rPr dirty="0" sz="2500" spc="-10">
                <a:solidFill>
                  <a:srgbClr val="666666"/>
                </a:solidFill>
                <a:latin typeface="Arial MT"/>
                <a:cs typeface="Arial MT"/>
              </a:rPr>
              <a:t>Regression</a:t>
            </a:r>
            <a:endParaRPr sz="2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81526" y="1650857"/>
            <a:ext cx="8167370" cy="50825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78765" marR="283845" indent="-2667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2500" b="1">
                <a:solidFill>
                  <a:srgbClr val="EF1928"/>
                </a:solidFill>
                <a:latin typeface="Arial"/>
                <a:cs typeface="Arial"/>
              </a:rPr>
              <a:t>Model</a:t>
            </a:r>
            <a:r>
              <a:rPr dirty="0" sz="2500" spc="-114" b="1">
                <a:solidFill>
                  <a:srgbClr val="EF1928"/>
                </a:solidFill>
                <a:latin typeface="Arial"/>
                <a:cs typeface="Arial"/>
              </a:rPr>
              <a:t> </a:t>
            </a:r>
            <a:r>
              <a:rPr dirty="0" sz="2500" b="1">
                <a:solidFill>
                  <a:srgbClr val="EF1928"/>
                </a:solidFill>
                <a:latin typeface="Arial"/>
                <a:cs typeface="Arial"/>
              </a:rPr>
              <a:t>Parameters</a:t>
            </a:r>
            <a:r>
              <a:rPr dirty="0" sz="2500">
                <a:latin typeface="Arial MT"/>
                <a:cs typeface="Arial MT"/>
              </a:rPr>
              <a:t>:</a:t>
            </a:r>
            <a:r>
              <a:rPr dirty="0" sz="2500" spc="-11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10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parameters</a:t>
            </a:r>
            <a:r>
              <a:rPr dirty="0" sz="2500" spc="-11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that</a:t>
            </a:r>
            <a:r>
              <a:rPr dirty="0" sz="2500" spc="-10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11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learning </a:t>
            </a:r>
            <a:r>
              <a:rPr dirty="0" sz="2500">
                <a:latin typeface="Arial MT"/>
                <a:cs typeface="Arial MT"/>
              </a:rPr>
              <a:t>algorithm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“learns”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from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training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data</a:t>
            </a:r>
            <a:r>
              <a:rPr dirty="0" sz="2500" spc="-9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-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for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example,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slope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(weight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coefficients)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and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y-</a:t>
            </a:r>
            <a:r>
              <a:rPr dirty="0" sz="2500">
                <a:latin typeface="Arial MT"/>
                <a:cs typeface="Arial MT"/>
              </a:rPr>
              <a:t>axis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intercept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of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 spc="-50">
                <a:latin typeface="Arial MT"/>
                <a:cs typeface="Arial MT"/>
              </a:rPr>
              <a:t>a </a:t>
            </a:r>
            <a:r>
              <a:rPr dirty="0" sz="2500">
                <a:latin typeface="Arial MT"/>
                <a:cs typeface="Arial MT"/>
              </a:rPr>
              <a:t>linear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regression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 spc="-20">
                <a:latin typeface="Arial MT"/>
                <a:cs typeface="Arial MT"/>
              </a:rPr>
              <a:t>line</a:t>
            </a:r>
            <a:endParaRPr sz="2500">
              <a:latin typeface="Arial MT"/>
              <a:cs typeface="Arial MT"/>
            </a:endParaRPr>
          </a:p>
          <a:p>
            <a:pPr marL="278765" marR="715010" indent="-266700">
              <a:lnSpc>
                <a:spcPct val="100800"/>
              </a:lnSpc>
              <a:spcBef>
                <a:spcPts val="1870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2500" b="1">
                <a:solidFill>
                  <a:srgbClr val="EF1928"/>
                </a:solidFill>
                <a:latin typeface="Arial"/>
                <a:cs typeface="Arial"/>
              </a:rPr>
              <a:t>Fitting</a:t>
            </a:r>
            <a:r>
              <a:rPr dirty="0" sz="2500" spc="-80" b="1">
                <a:solidFill>
                  <a:srgbClr val="EF1928"/>
                </a:solidFill>
                <a:latin typeface="Arial"/>
                <a:cs typeface="Arial"/>
              </a:rPr>
              <a:t> </a:t>
            </a:r>
            <a:r>
              <a:rPr dirty="0" sz="2500" b="1">
                <a:solidFill>
                  <a:srgbClr val="EF1928"/>
                </a:solidFill>
                <a:latin typeface="Arial"/>
                <a:cs typeface="Arial"/>
              </a:rPr>
              <a:t>a</a:t>
            </a:r>
            <a:r>
              <a:rPr dirty="0" sz="2500" spc="-70" b="1">
                <a:solidFill>
                  <a:srgbClr val="EF1928"/>
                </a:solidFill>
                <a:latin typeface="Arial"/>
                <a:cs typeface="Arial"/>
              </a:rPr>
              <a:t> </a:t>
            </a:r>
            <a:r>
              <a:rPr dirty="0" sz="2500" b="1">
                <a:solidFill>
                  <a:srgbClr val="EF1928"/>
                </a:solidFill>
                <a:latin typeface="Arial"/>
                <a:cs typeface="Arial"/>
              </a:rPr>
              <a:t>Model</a:t>
            </a:r>
            <a:r>
              <a:rPr dirty="0" sz="2500">
                <a:latin typeface="Arial MT"/>
                <a:cs typeface="Arial MT"/>
              </a:rPr>
              <a:t>: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process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of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learning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 spc="-20">
                <a:latin typeface="Arial MT"/>
                <a:cs typeface="Arial MT"/>
              </a:rPr>
              <a:t>Model </a:t>
            </a:r>
            <a:r>
              <a:rPr dirty="0" sz="2500" spc="-10">
                <a:latin typeface="Arial MT"/>
                <a:cs typeface="Arial MT"/>
              </a:rPr>
              <a:t>Parameters</a:t>
            </a:r>
            <a:endParaRPr sz="2500">
              <a:latin typeface="Arial MT"/>
              <a:cs typeface="Arial MT"/>
            </a:endParaRPr>
          </a:p>
          <a:p>
            <a:pPr marL="278765" marR="5080" indent="-266700">
              <a:lnSpc>
                <a:spcPct val="100000"/>
              </a:lnSpc>
              <a:spcBef>
                <a:spcPts val="1900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2500" spc="-10" b="1">
                <a:solidFill>
                  <a:srgbClr val="EF1928"/>
                </a:solidFill>
                <a:latin typeface="Arial"/>
                <a:cs typeface="Arial"/>
              </a:rPr>
              <a:t>Hyperparameters</a:t>
            </a:r>
            <a:r>
              <a:rPr dirty="0" sz="2500" spc="-10">
                <a:latin typeface="Arial MT"/>
                <a:cs typeface="Arial MT"/>
              </a:rPr>
              <a:t>: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tuning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parameters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of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classifier </a:t>
            </a:r>
            <a:r>
              <a:rPr dirty="0" sz="2500">
                <a:latin typeface="Arial MT"/>
                <a:cs typeface="Arial MT"/>
              </a:rPr>
              <a:t>that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affect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its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behavior,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such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as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error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tolerance,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number </a:t>
            </a:r>
            <a:r>
              <a:rPr dirty="0" sz="2500">
                <a:latin typeface="Arial MT"/>
                <a:cs typeface="Arial MT"/>
              </a:rPr>
              <a:t>of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iterations,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or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options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between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variants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of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how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 spc="-25">
                <a:latin typeface="Arial MT"/>
                <a:cs typeface="Arial MT"/>
              </a:rPr>
              <a:t>the </a:t>
            </a:r>
            <a:r>
              <a:rPr dirty="0" sz="2500">
                <a:latin typeface="Arial MT"/>
                <a:cs typeface="Arial MT"/>
              </a:rPr>
              <a:t>algorithm</a:t>
            </a:r>
            <a:r>
              <a:rPr dirty="0" sz="2500" spc="-8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behaves.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programmer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will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specify </a:t>
            </a:r>
            <a:r>
              <a:rPr dirty="0" sz="2500">
                <a:latin typeface="Arial MT"/>
                <a:cs typeface="Arial MT"/>
              </a:rPr>
              <a:t>defaults,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and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user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can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pass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new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values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with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 spc="-25">
                <a:latin typeface="Arial MT"/>
                <a:cs typeface="Arial MT"/>
              </a:rPr>
              <a:t>the </a:t>
            </a:r>
            <a:r>
              <a:rPr dirty="0" sz="2500">
                <a:latin typeface="Arial MT"/>
                <a:cs typeface="Arial MT"/>
              </a:rPr>
              <a:t>function</a:t>
            </a:r>
            <a:r>
              <a:rPr dirty="0" sz="2500" spc="-105">
                <a:latin typeface="Arial MT"/>
                <a:cs typeface="Arial MT"/>
              </a:rPr>
              <a:t> </a:t>
            </a:r>
            <a:r>
              <a:rPr dirty="0" sz="2500" spc="-20">
                <a:latin typeface="Arial MT"/>
                <a:cs typeface="Arial MT"/>
              </a:rPr>
              <a:t>call.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95127" y="720155"/>
            <a:ext cx="3034665" cy="5289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 b="0">
                <a:latin typeface="Arial MT"/>
                <a:cs typeface="Arial MT"/>
              </a:rPr>
              <a:t>ML</a:t>
            </a:r>
            <a:r>
              <a:rPr dirty="0" sz="3300" spc="-45" b="0">
                <a:latin typeface="Arial MT"/>
                <a:cs typeface="Arial MT"/>
              </a:rPr>
              <a:t> </a:t>
            </a:r>
            <a:r>
              <a:rPr dirty="0" sz="3300" spc="-10" b="0">
                <a:latin typeface="Arial MT"/>
                <a:cs typeface="Arial MT"/>
              </a:rPr>
              <a:t>Terminology</a:t>
            </a:r>
            <a:endParaRPr sz="3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81527" y="1949561"/>
            <a:ext cx="8072755" cy="38906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78765" marR="46990" indent="-266700">
              <a:lnSpc>
                <a:spcPct val="100299"/>
              </a:lnSpc>
              <a:spcBef>
                <a:spcPts val="90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2500" b="1">
                <a:solidFill>
                  <a:srgbClr val="EF1928"/>
                </a:solidFill>
                <a:latin typeface="Arial"/>
                <a:cs typeface="Arial"/>
              </a:rPr>
              <a:t>Model</a:t>
            </a:r>
            <a:r>
              <a:rPr dirty="0" sz="2500" spc="-105" b="1">
                <a:solidFill>
                  <a:srgbClr val="EF1928"/>
                </a:solidFill>
                <a:latin typeface="Arial"/>
                <a:cs typeface="Arial"/>
              </a:rPr>
              <a:t> </a:t>
            </a:r>
            <a:r>
              <a:rPr dirty="0" sz="2500" spc="-10" b="1">
                <a:solidFill>
                  <a:srgbClr val="EF1928"/>
                </a:solidFill>
                <a:latin typeface="Arial"/>
                <a:cs typeface="Arial"/>
              </a:rPr>
              <a:t>Evaluation</a:t>
            </a:r>
            <a:r>
              <a:rPr dirty="0" sz="2500" spc="-10">
                <a:latin typeface="Arial MT"/>
                <a:cs typeface="Arial MT"/>
              </a:rPr>
              <a:t>:</a:t>
            </a:r>
            <a:r>
              <a:rPr dirty="0" sz="2500" spc="-9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Model</a:t>
            </a:r>
            <a:r>
              <a:rPr dirty="0" sz="2500" spc="-8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performance</a:t>
            </a:r>
            <a:r>
              <a:rPr dirty="0" sz="2500" spc="-10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is</a:t>
            </a:r>
            <a:r>
              <a:rPr dirty="0" sz="2500" spc="-9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usually </a:t>
            </a:r>
            <a:r>
              <a:rPr dirty="0" sz="2500">
                <a:latin typeface="Arial MT"/>
                <a:cs typeface="Arial MT"/>
              </a:rPr>
              <a:t>evaluated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by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counting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fraction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of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correctly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classified </a:t>
            </a:r>
            <a:r>
              <a:rPr dirty="0" sz="2500">
                <a:latin typeface="Arial MT"/>
                <a:cs typeface="Arial MT"/>
              </a:rPr>
              <a:t>instances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out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of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all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instances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that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model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attempted </a:t>
            </a:r>
            <a:r>
              <a:rPr dirty="0" sz="2500">
                <a:latin typeface="Arial MT"/>
                <a:cs typeface="Arial MT"/>
              </a:rPr>
              <a:t>to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classify.</a:t>
            </a:r>
            <a:endParaRPr sz="2500">
              <a:latin typeface="Arial MT"/>
              <a:cs typeface="Arial MT"/>
            </a:endParaRPr>
          </a:p>
          <a:p>
            <a:pPr marL="589280" marR="5080" indent="-222250">
              <a:lnSpc>
                <a:spcPct val="98600"/>
              </a:lnSpc>
              <a:spcBef>
                <a:spcPts val="720"/>
              </a:spcBef>
            </a:pPr>
            <a:r>
              <a:rPr dirty="0" sz="2200">
                <a:latin typeface="Arial MT"/>
                <a:cs typeface="Arial MT"/>
              </a:rPr>
              <a:t>–</a:t>
            </a:r>
            <a:r>
              <a:rPr dirty="0" sz="2200" spc="-15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For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example,</a:t>
            </a:r>
            <a:r>
              <a:rPr dirty="0" sz="2200" spc="-7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if</a:t>
            </a:r>
            <a:r>
              <a:rPr dirty="0" sz="2200" spc="-7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we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have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test</a:t>
            </a:r>
            <a:r>
              <a:rPr dirty="0" sz="2200" spc="-7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dataset</a:t>
            </a:r>
            <a:r>
              <a:rPr dirty="0" sz="2200" spc="-7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of</a:t>
            </a:r>
            <a:r>
              <a:rPr dirty="0" sz="2200" spc="-7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10,000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instances </a:t>
            </a:r>
            <a:r>
              <a:rPr dirty="0" sz="2200">
                <a:latin typeface="Arial MT"/>
                <a:cs typeface="Arial MT"/>
              </a:rPr>
              <a:t>and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model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classified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7,000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instances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correctly,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then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we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say </a:t>
            </a:r>
            <a:r>
              <a:rPr dirty="0" sz="2200">
                <a:latin typeface="Arial MT"/>
                <a:cs typeface="Arial MT"/>
              </a:rPr>
              <a:t>that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model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has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70%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accuracy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on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that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dataset.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00"/>
              </a:spcBef>
            </a:pPr>
            <a:endParaRPr sz="2200">
              <a:latin typeface="Arial MT"/>
              <a:cs typeface="Arial MT"/>
            </a:endParaRPr>
          </a:p>
          <a:p>
            <a:pPr marL="485775" marR="413384">
              <a:lnSpc>
                <a:spcPct val="100800"/>
              </a:lnSpc>
            </a:pPr>
            <a:r>
              <a:rPr dirty="0" sz="2500" b="1">
                <a:solidFill>
                  <a:srgbClr val="C00000"/>
                </a:solidFill>
                <a:latin typeface="Arial"/>
                <a:cs typeface="Arial"/>
              </a:rPr>
              <a:t>Note</a:t>
            </a:r>
            <a:r>
              <a:rPr dirty="0" sz="2500" spc="-7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500" b="1">
                <a:solidFill>
                  <a:srgbClr val="C00000"/>
                </a:solidFill>
                <a:latin typeface="Arial"/>
                <a:cs typeface="Arial"/>
              </a:rPr>
              <a:t>that</a:t>
            </a:r>
            <a:r>
              <a:rPr dirty="0" sz="2500" spc="-7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500" spc="-10" b="1">
                <a:solidFill>
                  <a:srgbClr val="C00000"/>
                </a:solidFill>
                <a:latin typeface="Arial"/>
                <a:cs typeface="Arial"/>
              </a:rPr>
              <a:t>optimization</a:t>
            </a:r>
            <a:r>
              <a:rPr dirty="0" sz="2500" spc="-8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500" b="1">
                <a:solidFill>
                  <a:srgbClr val="C00000"/>
                </a:solidFill>
                <a:latin typeface="Arial"/>
                <a:cs typeface="Arial"/>
              </a:rPr>
              <a:t>and</a:t>
            </a:r>
            <a:r>
              <a:rPr dirty="0" sz="2500" spc="-8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500" b="1">
                <a:solidFill>
                  <a:srgbClr val="C00000"/>
                </a:solidFill>
                <a:latin typeface="Arial"/>
                <a:cs typeface="Arial"/>
              </a:rPr>
              <a:t>evaluation</a:t>
            </a:r>
            <a:r>
              <a:rPr dirty="0" sz="2500" spc="-8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500" spc="-10" b="1">
                <a:solidFill>
                  <a:srgbClr val="C00000"/>
                </a:solidFill>
                <a:latin typeface="Arial"/>
                <a:cs typeface="Arial"/>
              </a:rPr>
              <a:t>measures </a:t>
            </a:r>
            <a:r>
              <a:rPr dirty="0" sz="2500" b="1">
                <a:solidFill>
                  <a:srgbClr val="C00000"/>
                </a:solidFill>
                <a:latin typeface="Arial"/>
                <a:cs typeface="Arial"/>
              </a:rPr>
              <a:t>are</a:t>
            </a:r>
            <a:r>
              <a:rPr dirty="0" sz="2500" spc="-5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500" b="1">
                <a:solidFill>
                  <a:srgbClr val="C00000"/>
                </a:solidFill>
                <a:latin typeface="Arial"/>
                <a:cs typeface="Arial"/>
              </a:rPr>
              <a:t>usually</a:t>
            </a:r>
            <a:r>
              <a:rPr dirty="0" sz="2500" spc="-5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500" b="1">
                <a:solidFill>
                  <a:srgbClr val="C00000"/>
                </a:solidFill>
                <a:latin typeface="Arial"/>
                <a:cs typeface="Arial"/>
              </a:rPr>
              <a:t>not</a:t>
            </a:r>
            <a:r>
              <a:rPr dirty="0" sz="2500" spc="-5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500" b="1">
                <a:solidFill>
                  <a:srgbClr val="C00000"/>
                </a:solidFill>
                <a:latin typeface="Arial"/>
                <a:cs typeface="Arial"/>
              </a:rPr>
              <a:t>the</a:t>
            </a:r>
            <a:r>
              <a:rPr dirty="0" sz="2500" spc="-5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500" b="1">
                <a:solidFill>
                  <a:srgbClr val="C00000"/>
                </a:solidFill>
                <a:latin typeface="Arial"/>
                <a:cs typeface="Arial"/>
              </a:rPr>
              <a:t>same</a:t>
            </a:r>
            <a:r>
              <a:rPr dirty="0" sz="2500" spc="-5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500" b="1">
                <a:solidFill>
                  <a:srgbClr val="C00000"/>
                </a:solidFill>
                <a:latin typeface="Arial"/>
                <a:cs typeface="Arial"/>
              </a:rPr>
              <a:t>in</a:t>
            </a:r>
            <a:r>
              <a:rPr dirty="0" sz="2500" spc="-6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500" spc="-10" b="1">
                <a:solidFill>
                  <a:srgbClr val="C00000"/>
                </a:solidFill>
                <a:latin typeface="Arial"/>
                <a:cs typeface="Arial"/>
              </a:rPr>
              <a:t>practice.</a:t>
            </a:r>
            <a:endParaRPr sz="2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86062" rIns="0" bIns="0" rtlCol="0" vert="horz">
            <a:spAutoFit/>
          </a:bodyPr>
          <a:lstStyle/>
          <a:p>
            <a:pPr marL="1221105">
              <a:lnSpc>
                <a:spcPct val="100000"/>
              </a:lnSpc>
              <a:spcBef>
                <a:spcPts val="100"/>
              </a:spcBef>
            </a:pPr>
            <a:r>
              <a:rPr dirty="0" sz="3300" b="0">
                <a:latin typeface="Arial MT"/>
                <a:cs typeface="Arial MT"/>
              </a:rPr>
              <a:t>ML</a:t>
            </a:r>
            <a:r>
              <a:rPr dirty="0" sz="3300" spc="-45" b="0">
                <a:latin typeface="Arial MT"/>
                <a:cs typeface="Arial MT"/>
              </a:rPr>
              <a:t> </a:t>
            </a:r>
            <a:r>
              <a:rPr dirty="0" sz="3300" spc="-10" b="0">
                <a:latin typeface="Arial MT"/>
                <a:cs typeface="Arial MT"/>
              </a:rPr>
              <a:t>Terminology</a:t>
            </a:r>
            <a:endParaRPr sz="3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52203" y="646523"/>
            <a:ext cx="3922395" cy="885190"/>
          </a:xfrm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 marR="5080" indent="1050925">
              <a:lnSpc>
                <a:spcPct val="101400"/>
              </a:lnSpc>
              <a:spcBef>
                <a:spcPts val="55"/>
              </a:spcBef>
            </a:pPr>
            <a:r>
              <a:rPr dirty="0">
                <a:solidFill>
                  <a:srgbClr val="262673"/>
                </a:solidFill>
              </a:rPr>
              <a:t>Pipeline</a:t>
            </a:r>
            <a:r>
              <a:rPr dirty="0" spc="-125">
                <a:solidFill>
                  <a:srgbClr val="262673"/>
                </a:solidFill>
              </a:rPr>
              <a:t> </a:t>
            </a:r>
            <a:r>
              <a:rPr dirty="0" spc="-25">
                <a:solidFill>
                  <a:srgbClr val="262673"/>
                </a:solidFill>
              </a:rPr>
              <a:t>of </a:t>
            </a:r>
            <a:r>
              <a:rPr dirty="0">
                <a:solidFill>
                  <a:srgbClr val="262673"/>
                </a:solidFill>
              </a:rPr>
              <a:t>Machine</a:t>
            </a:r>
            <a:r>
              <a:rPr dirty="0" spc="-145">
                <a:solidFill>
                  <a:srgbClr val="262673"/>
                </a:solidFill>
              </a:rPr>
              <a:t> </a:t>
            </a:r>
            <a:r>
              <a:rPr dirty="0">
                <a:solidFill>
                  <a:srgbClr val="262673"/>
                </a:solidFill>
              </a:rPr>
              <a:t>Learning</a:t>
            </a:r>
            <a:r>
              <a:rPr dirty="0" spc="-145">
                <a:solidFill>
                  <a:srgbClr val="262673"/>
                </a:solidFill>
              </a:rPr>
              <a:t> </a:t>
            </a:r>
            <a:r>
              <a:rPr dirty="0" spc="-30">
                <a:solidFill>
                  <a:srgbClr val="262673"/>
                </a:solidFill>
              </a:rPr>
              <a:t>Task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195800" y="2007473"/>
            <a:ext cx="8137525" cy="2095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8765" marR="5080" indent="-266700">
              <a:lnSpc>
                <a:spcPct val="100000"/>
              </a:lnSpc>
              <a:spcBef>
                <a:spcPts val="100"/>
              </a:spcBef>
              <a:buChar char="•"/>
              <a:tabLst>
                <a:tab pos="278765" algn="l"/>
              </a:tabLst>
            </a:pPr>
            <a:r>
              <a:rPr dirty="0" sz="2500">
                <a:latin typeface="Arial MT"/>
                <a:cs typeface="Arial MT"/>
              </a:rPr>
              <a:t>Machine</a:t>
            </a:r>
            <a:r>
              <a:rPr dirty="0" sz="2500" spc="-8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learning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(ML)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pipelines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consist</a:t>
            </a:r>
            <a:r>
              <a:rPr dirty="0" sz="2500" spc="-8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of</a:t>
            </a:r>
            <a:r>
              <a:rPr dirty="0" sz="2500" spc="-9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several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steps </a:t>
            </a:r>
            <a:r>
              <a:rPr dirty="0" sz="2500">
                <a:latin typeface="Arial MT"/>
                <a:cs typeface="Arial MT"/>
              </a:rPr>
              <a:t>to</a:t>
            </a:r>
            <a:r>
              <a:rPr dirty="0" sz="2500" spc="-4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train</a:t>
            </a:r>
            <a:r>
              <a:rPr dirty="0" sz="2500" spc="-4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</a:t>
            </a:r>
            <a:r>
              <a:rPr dirty="0" sz="2500" spc="-4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model.</a:t>
            </a:r>
            <a:endParaRPr sz="2500">
              <a:latin typeface="Arial MT"/>
              <a:cs typeface="Arial MT"/>
            </a:endParaRPr>
          </a:p>
          <a:p>
            <a:pPr marL="278765" marR="377190" indent="-266700">
              <a:lnSpc>
                <a:spcPct val="100000"/>
              </a:lnSpc>
              <a:spcBef>
                <a:spcPts val="1295"/>
              </a:spcBef>
              <a:buChar char="•"/>
              <a:tabLst>
                <a:tab pos="278765" algn="l"/>
              </a:tabLst>
            </a:pPr>
            <a:r>
              <a:rPr dirty="0" sz="2500">
                <a:latin typeface="Arial MT"/>
                <a:cs typeface="Arial MT"/>
              </a:rPr>
              <a:t>ML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pipelines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are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iterative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as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every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step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is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repeated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 spc="-25">
                <a:latin typeface="Arial MT"/>
                <a:cs typeface="Arial MT"/>
              </a:rPr>
              <a:t>to </a:t>
            </a:r>
            <a:r>
              <a:rPr dirty="0" sz="2500">
                <a:latin typeface="Arial MT"/>
                <a:cs typeface="Arial MT"/>
              </a:rPr>
              <a:t>continuously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improve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accuracy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of</a:t>
            </a:r>
            <a:r>
              <a:rPr dirty="0" sz="2500" spc="-8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model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 spc="-25">
                <a:latin typeface="Arial MT"/>
                <a:cs typeface="Arial MT"/>
              </a:rPr>
              <a:t>and </a:t>
            </a:r>
            <a:r>
              <a:rPr dirty="0" sz="2500">
                <a:latin typeface="Arial MT"/>
                <a:cs typeface="Arial MT"/>
              </a:rPr>
              <a:t>achieve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successful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algorithm.</a:t>
            </a:r>
            <a:endParaRPr sz="2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53890" y="549467"/>
            <a:ext cx="5320030" cy="5289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>
                <a:solidFill>
                  <a:srgbClr val="262673"/>
                </a:solidFill>
              </a:rPr>
              <a:t>Machine</a:t>
            </a:r>
            <a:r>
              <a:rPr dirty="0" sz="3300" spc="-70">
                <a:solidFill>
                  <a:srgbClr val="262673"/>
                </a:solidFill>
              </a:rPr>
              <a:t> </a:t>
            </a:r>
            <a:r>
              <a:rPr dirty="0" sz="3300">
                <a:solidFill>
                  <a:srgbClr val="262673"/>
                </a:solidFill>
              </a:rPr>
              <a:t>Learning</a:t>
            </a:r>
            <a:r>
              <a:rPr dirty="0" sz="3300" spc="-65">
                <a:solidFill>
                  <a:srgbClr val="262673"/>
                </a:solidFill>
              </a:rPr>
              <a:t> </a:t>
            </a:r>
            <a:r>
              <a:rPr dirty="0" sz="3300" spc="-10">
                <a:solidFill>
                  <a:srgbClr val="262673"/>
                </a:solidFill>
              </a:rPr>
              <a:t>Pipeline</a:t>
            </a:r>
            <a:endParaRPr sz="3300"/>
          </a:p>
        </p:txBody>
      </p:sp>
      <p:sp>
        <p:nvSpPr>
          <p:cNvPr id="3" name="object 3" descr=""/>
          <p:cNvSpPr txBox="1"/>
          <p:nvPr/>
        </p:nvSpPr>
        <p:spPr>
          <a:xfrm>
            <a:off x="3058471" y="1474243"/>
            <a:ext cx="3661410" cy="5323205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278130" indent="-265430">
              <a:lnSpc>
                <a:spcPct val="100000"/>
              </a:lnSpc>
              <a:spcBef>
                <a:spcPts val="700"/>
              </a:spcBef>
              <a:buChar char="•"/>
              <a:tabLst>
                <a:tab pos="278130" algn="l"/>
              </a:tabLst>
            </a:pPr>
            <a:r>
              <a:rPr dirty="0" sz="2500">
                <a:latin typeface="Arial MT"/>
                <a:cs typeface="Arial MT"/>
              </a:rPr>
              <a:t>Problem</a:t>
            </a:r>
            <a:r>
              <a:rPr dirty="0" sz="2500" spc="-9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Definition</a:t>
            </a:r>
            <a:endParaRPr sz="2500">
              <a:latin typeface="Arial MT"/>
              <a:cs typeface="Arial MT"/>
            </a:endParaRPr>
          </a:p>
          <a:p>
            <a:pPr marL="278130" indent="-265430">
              <a:lnSpc>
                <a:spcPct val="100000"/>
              </a:lnSpc>
              <a:spcBef>
                <a:spcPts val="600"/>
              </a:spcBef>
              <a:buChar char="•"/>
              <a:tabLst>
                <a:tab pos="278130" algn="l"/>
              </a:tabLst>
            </a:pPr>
            <a:r>
              <a:rPr dirty="0" sz="2500">
                <a:latin typeface="Arial MT"/>
                <a:cs typeface="Arial MT"/>
              </a:rPr>
              <a:t>Data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collection</a:t>
            </a:r>
            <a:endParaRPr sz="2500">
              <a:latin typeface="Arial MT"/>
              <a:cs typeface="Arial MT"/>
            </a:endParaRPr>
          </a:p>
          <a:p>
            <a:pPr marL="278130" indent="-265430">
              <a:lnSpc>
                <a:spcPct val="100000"/>
              </a:lnSpc>
              <a:spcBef>
                <a:spcPts val="600"/>
              </a:spcBef>
              <a:buChar char="•"/>
              <a:tabLst>
                <a:tab pos="278130" algn="l"/>
              </a:tabLst>
            </a:pPr>
            <a:r>
              <a:rPr dirty="0" sz="2500">
                <a:latin typeface="Arial MT"/>
                <a:cs typeface="Arial MT"/>
              </a:rPr>
              <a:t>Feature</a:t>
            </a:r>
            <a:r>
              <a:rPr dirty="0" sz="2500" spc="-9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extraction</a:t>
            </a:r>
            <a:endParaRPr sz="2500">
              <a:latin typeface="Arial MT"/>
              <a:cs typeface="Arial MT"/>
            </a:endParaRPr>
          </a:p>
          <a:p>
            <a:pPr lvl="1" marL="633095" indent="-266065">
              <a:lnSpc>
                <a:spcPct val="100000"/>
              </a:lnSpc>
              <a:spcBef>
                <a:spcPts val="500"/>
              </a:spcBef>
              <a:buChar char="–"/>
              <a:tabLst>
                <a:tab pos="633095" algn="l"/>
              </a:tabLst>
            </a:pPr>
            <a:r>
              <a:rPr dirty="0" sz="1900" spc="-10">
                <a:latin typeface="Arial MT"/>
                <a:cs typeface="Arial MT"/>
              </a:rPr>
              <a:t>Flattening,Labeling</a:t>
            </a:r>
            <a:endParaRPr sz="1900">
              <a:latin typeface="Arial MT"/>
              <a:cs typeface="Arial MT"/>
            </a:endParaRPr>
          </a:p>
          <a:p>
            <a:pPr marL="278130" indent="-265430">
              <a:lnSpc>
                <a:spcPct val="100000"/>
              </a:lnSpc>
              <a:spcBef>
                <a:spcPts val="625"/>
              </a:spcBef>
              <a:buChar char="•"/>
              <a:tabLst>
                <a:tab pos="278130" algn="l"/>
              </a:tabLst>
            </a:pPr>
            <a:r>
              <a:rPr dirty="0" sz="2500">
                <a:latin typeface="Arial MT"/>
                <a:cs typeface="Arial MT"/>
              </a:rPr>
              <a:t>Data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preparation</a:t>
            </a:r>
            <a:endParaRPr sz="2500">
              <a:latin typeface="Arial MT"/>
              <a:cs typeface="Arial MT"/>
            </a:endParaRPr>
          </a:p>
          <a:p>
            <a:pPr lvl="1" marL="588010" indent="-220979">
              <a:lnSpc>
                <a:spcPct val="100000"/>
              </a:lnSpc>
              <a:spcBef>
                <a:spcPts val="409"/>
              </a:spcBef>
              <a:buChar char="–"/>
              <a:tabLst>
                <a:tab pos="588010" algn="l"/>
              </a:tabLst>
            </a:pPr>
            <a:r>
              <a:rPr dirty="0" sz="1900" spc="-30">
                <a:latin typeface="Arial MT"/>
                <a:cs typeface="Arial MT"/>
              </a:rPr>
              <a:t>Normalisation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by</a:t>
            </a:r>
            <a:r>
              <a:rPr dirty="0" sz="1900" spc="-5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data</a:t>
            </a:r>
            <a:r>
              <a:rPr dirty="0" sz="1900" spc="-5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type</a:t>
            </a:r>
            <a:endParaRPr sz="1900">
              <a:latin typeface="Arial MT"/>
              <a:cs typeface="Arial MT"/>
            </a:endParaRPr>
          </a:p>
          <a:p>
            <a:pPr lvl="1" marL="588010" indent="-220979">
              <a:lnSpc>
                <a:spcPct val="100000"/>
              </a:lnSpc>
              <a:spcBef>
                <a:spcPts val="405"/>
              </a:spcBef>
              <a:buChar char="–"/>
              <a:tabLst>
                <a:tab pos="588010" algn="l"/>
              </a:tabLst>
            </a:pPr>
            <a:r>
              <a:rPr dirty="0" sz="1900" spc="-30">
                <a:latin typeface="Arial MT"/>
                <a:cs typeface="Arial MT"/>
              </a:rPr>
              <a:t>Dimensionality</a:t>
            </a:r>
            <a:r>
              <a:rPr dirty="0" sz="190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reduction</a:t>
            </a:r>
            <a:endParaRPr sz="1900">
              <a:latin typeface="Arial MT"/>
              <a:cs typeface="Arial MT"/>
            </a:endParaRPr>
          </a:p>
          <a:p>
            <a:pPr marL="278130" indent="-265430">
              <a:lnSpc>
                <a:spcPct val="100000"/>
              </a:lnSpc>
              <a:spcBef>
                <a:spcPts val="625"/>
              </a:spcBef>
              <a:buChar char="•"/>
              <a:tabLst>
                <a:tab pos="278130" algn="l"/>
              </a:tabLst>
            </a:pPr>
            <a:r>
              <a:rPr dirty="0" sz="2500">
                <a:latin typeface="Arial MT"/>
                <a:cs typeface="Arial MT"/>
              </a:rPr>
              <a:t>Algorithm</a:t>
            </a:r>
            <a:r>
              <a:rPr dirty="0" sz="2500" spc="-12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Selection</a:t>
            </a:r>
            <a:endParaRPr sz="2500">
              <a:latin typeface="Arial MT"/>
              <a:cs typeface="Arial MT"/>
            </a:endParaRPr>
          </a:p>
          <a:p>
            <a:pPr lvl="1" marL="588010" indent="-220979">
              <a:lnSpc>
                <a:spcPct val="100000"/>
              </a:lnSpc>
              <a:spcBef>
                <a:spcPts val="409"/>
              </a:spcBef>
              <a:buChar char="–"/>
              <a:tabLst>
                <a:tab pos="588010" algn="l"/>
              </a:tabLst>
            </a:pPr>
            <a:r>
              <a:rPr dirty="0" sz="1900" spc="-10">
                <a:latin typeface="Arial MT"/>
                <a:cs typeface="Arial MT"/>
              </a:rPr>
              <a:t>Train</a:t>
            </a:r>
            <a:r>
              <a:rPr dirty="0" sz="1900" spc="-114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and</a:t>
            </a:r>
            <a:r>
              <a:rPr dirty="0" sz="1900" spc="-11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Test</a:t>
            </a:r>
            <a:endParaRPr sz="1900">
              <a:latin typeface="Arial MT"/>
              <a:cs typeface="Arial MT"/>
            </a:endParaRPr>
          </a:p>
          <a:p>
            <a:pPr marL="278130" indent="-265430">
              <a:lnSpc>
                <a:spcPct val="100000"/>
              </a:lnSpc>
              <a:spcBef>
                <a:spcPts val="625"/>
              </a:spcBef>
              <a:buChar char="•"/>
              <a:tabLst>
                <a:tab pos="278130" algn="l"/>
              </a:tabLst>
            </a:pPr>
            <a:r>
              <a:rPr dirty="0" sz="2500">
                <a:latin typeface="Arial MT"/>
                <a:cs typeface="Arial MT"/>
              </a:rPr>
              <a:t>Performance</a:t>
            </a:r>
            <a:r>
              <a:rPr dirty="0" sz="2500" spc="-17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Evaluation</a:t>
            </a:r>
            <a:endParaRPr sz="2500">
              <a:latin typeface="Arial MT"/>
              <a:cs typeface="Arial MT"/>
            </a:endParaRPr>
          </a:p>
          <a:p>
            <a:pPr lvl="1" marL="633095" indent="-266065">
              <a:lnSpc>
                <a:spcPct val="100000"/>
              </a:lnSpc>
              <a:spcBef>
                <a:spcPts val="500"/>
              </a:spcBef>
              <a:buChar char="–"/>
              <a:tabLst>
                <a:tab pos="633095" algn="l"/>
              </a:tabLst>
            </a:pPr>
            <a:r>
              <a:rPr dirty="0" sz="1900" spc="-10">
                <a:latin typeface="Arial MT"/>
                <a:cs typeface="Arial MT"/>
              </a:rPr>
              <a:t>Visualisation</a:t>
            </a:r>
            <a:endParaRPr sz="1900">
              <a:latin typeface="Arial MT"/>
              <a:cs typeface="Arial MT"/>
            </a:endParaRPr>
          </a:p>
          <a:p>
            <a:pPr lvl="1" marL="633095" indent="-266065">
              <a:lnSpc>
                <a:spcPct val="100000"/>
              </a:lnSpc>
              <a:spcBef>
                <a:spcPts val="505"/>
              </a:spcBef>
              <a:buChar char="–"/>
              <a:tabLst>
                <a:tab pos="633095" algn="l"/>
              </a:tabLst>
            </a:pPr>
            <a:r>
              <a:rPr dirty="0" sz="1900">
                <a:latin typeface="Arial MT"/>
                <a:cs typeface="Arial MT"/>
              </a:rPr>
              <a:t>Parameter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tuning</a:t>
            </a:r>
            <a:endParaRPr sz="1900">
              <a:latin typeface="Arial MT"/>
              <a:cs typeface="Arial MT"/>
            </a:endParaRPr>
          </a:p>
          <a:p>
            <a:pPr marL="278130" indent="-265430">
              <a:lnSpc>
                <a:spcPct val="100000"/>
              </a:lnSpc>
              <a:spcBef>
                <a:spcPts val="625"/>
              </a:spcBef>
              <a:buChar char="•"/>
              <a:tabLst>
                <a:tab pos="278130" algn="l"/>
              </a:tabLst>
            </a:pPr>
            <a:r>
              <a:rPr dirty="0" sz="2500">
                <a:latin typeface="Arial MT"/>
                <a:cs typeface="Arial MT"/>
              </a:rPr>
              <a:t>Model</a:t>
            </a:r>
            <a:r>
              <a:rPr dirty="0" sz="2500" spc="-9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Validation</a:t>
            </a:r>
            <a:endParaRPr sz="2500">
              <a:latin typeface="Arial MT"/>
              <a:cs typeface="Arial MT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759189" y="4359575"/>
            <a:ext cx="9212580" cy="49530"/>
            <a:chOff x="759189" y="4359575"/>
            <a:chExt cx="9212580" cy="49530"/>
          </a:xfrm>
        </p:grpSpPr>
        <p:sp>
          <p:nvSpPr>
            <p:cNvPr id="5" name="object 5" descr=""/>
            <p:cNvSpPr/>
            <p:nvPr/>
          </p:nvSpPr>
          <p:spPr>
            <a:xfrm>
              <a:off x="778909" y="4379296"/>
              <a:ext cx="9173210" cy="10160"/>
            </a:xfrm>
            <a:custGeom>
              <a:avLst/>
              <a:gdLst/>
              <a:ahLst/>
              <a:cxnLst/>
              <a:rect l="l" t="t" r="r" b="b"/>
              <a:pathLst>
                <a:path w="9173210" h="10160">
                  <a:moveTo>
                    <a:pt x="9172675" y="0"/>
                  </a:moveTo>
                  <a:lnTo>
                    <a:pt x="0" y="9963"/>
                  </a:lnTo>
                </a:path>
              </a:pathLst>
            </a:custGeom>
            <a:solidFill>
              <a:srgbClr val="BBE0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778909" y="4379296"/>
              <a:ext cx="9173210" cy="10160"/>
            </a:xfrm>
            <a:custGeom>
              <a:avLst/>
              <a:gdLst/>
              <a:ahLst/>
              <a:cxnLst/>
              <a:rect l="l" t="t" r="r" b="b"/>
              <a:pathLst>
                <a:path w="9173210" h="10160">
                  <a:moveTo>
                    <a:pt x="0" y="9963"/>
                  </a:moveTo>
                  <a:lnTo>
                    <a:pt x="9172676" y="0"/>
                  </a:lnTo>
                </a:path>
              </a:pathLst>
            </a:custGeom>
            <a:ln w="3944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 descr=""/>
          <p:cNvGrpSpPr/>
          <p:nvPr/>
        </p:nvGrpSpPr>
        <p:grpSpPr>
          <a:xfrm>
            <a:off x="759189" y="2430836"/>
            <a:ext cx="9212580" cy="49530"/>
            <a:chOff x="759189" y="2430836"/>
            <a:chExt cx="9212580" cy="49530"/>
          </a:xfrm>
        </p:grpSpPr>
        <p:sp>
          <p:nvSpPr>
            <p:cNvPr id="8" name="object 8" descr=""/>
            <p:cNvSpPr/>
            <p:nvPr/>
          </p:nvSpPr>
          <p:spPr>
            <a:xfrm>
              <a:off x="778909" y="2450556"/>
              <a:ext cx="9173210" cy="10160"/>
            </a:xfrm>
            <a:custGeom>
              <a:avLst/>
              <a:gdLst/>
              <a:ahLst/>
              <a:cxnLst/>
              <a:rect l="l" t="t" r="r" b="b"/>
              <a:pathLst>
                <a:path w="9173210" h="10160">
                  <a:moveTo>
                    <a:pt x="9172675" y="0"/>
                  </a:moveTo>
                  <a:lnTo>
                    <a:pt x="0" y="9964"/>
                  </a:lnTo>
                </a:path>
              </a:pathLst>
            </a:custGeom>
            <a:solidFill>
              <a:srgbClr val="BBE0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778909" y="2450557"/>
              <a:ext cx="9173210" cy="10160"/>
            </a:xfrm>
            <a:custGeom>
              <a:avLst/>
              <a:gdLst/>
              <a:ahLst/>
              <a:cxnLst/>
              <a:rect l="l" t="t" r="r" b="b"/>
              <a:pathLst>
                <a:path w="9173210" h="10160">
                  <a:moveTo>
                    <a:pt x="0" y="9963"/>
                  </a:moveTo>
                  <a:lnTo>
                    <a:pt x="9172676" y="0"/>
                  </a:lnTo>
                </a:path>
              </a:pathLst>
            </a:custGeom>
            <a:ln w="3944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89694" rIns="0" bIns="0" rtlCol="0" vert="horz">
            <a:spAutoFit/>
          </a:bodyPr>
          <a:lstStyle/>
          <a:p>
            <a:pPr marL="321945">
              <a:lnSpc>
                <a:spcPct val="100000"/>
              </a:lnSpc>
              <a:spcBef>
                <a:spcPts val="100"/>
              </a:spcBef>
            </a:pPr>
            <a:r>
              <a:rPr dirty="0" sz="3300">
                <a:solidFill>
                  <a:srgbClr val="262673"/>
                </a:solidFill>
              </a:rPr>
              <a:t>Machine</a:t>
            </a:r>
            <a:r>
              <a:rPr dirty="0" sz="3300" spc="-70">
                <a:solidFill>
                  <a:srgbClr val="262673"/>
                </a:solidFill>
              </a:rPr>
              <a:t> </a:t>
            </a:r>
            <a:r>
              <a:rPr dirty="0" sz="3300">
                <a:solidFill>
                  <a:srgbClr val="262673"/>
                </a:solidFill>
              </a:rPr>
              <a:t>Learning</a:t>
            </a:r>
            <a:r>
              <a:rPr dirty="0" sz="3300" spc="-65">
                <a:solidFill>
                  <a:srgbClr val="262673"/>
                </a:solidFill>
              </a:rPr>
              <a:t> </a:t>
            </a:r>
            <a:r>
              <a:rPr dirty="0" sz="3300" spc="-10">
                <a:solidFill>
                  <a:srgbClr val="262673"/>
                </a:solidFill>
              </a:rPr>
              <a:t>Pipeline</a:t>
            </a:r>
            <a:endParaRPr sz="3300"/>
          </a:p>
        </p:txBody>
      </p:sp>
      <p:sp>
        <p:nvSpPr>
          <p:cNvPr id="3" name="object 3" descr=""/>
          <p:cNvSpPr txBox="1"/>
          <p:nvPr/>
        </p:nvSpPr>
        <p:spPr>
          <a:xfrm>
            <a:off x="7156873" y="7106810"/>
            <a:ext cx="1487170" cy="315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10">
                <a:latin typeface="Arial MT"/>
                <a:cs typeface="Arial MT"/>
              </a:rPr>
              <a:t>Slide</a:t>
            </a:r>
            <a:r>
              <a:rPr dirty="0" sz="1900" spc="-9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&lt;#&gt;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of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50">
                <a:latin typeface="Arial MT"/>
                <a:cs typeface="Arial MT"/>
              </a:rPr>
              <a:t>9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342401" y="1803428"/>
            <a:ext cx="4137660" cy="4485005"/>
          </a:xfrm>
          <a:prstGeom prst="rect">
            <a:avLst/>
          </a:prstGeom>
        </p:spPr>
        <p:txBody>
          <a:bodyPr wrap="square" lIns="0" tIns="1771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dirty="0" sz="2500" b="1">
                <a:solidFill>
                  <a:srgbClr val="00B0F0"/>
                </a:solidFill>
                <a:latin typeface="Arial"/>
                <a:cs typeface="Arial"/>
              </a:rPr>
              <a:t>Problem</a:t>
            </a:r>
            <a:r>
              <a:rPr dirty="0" sz="2500" spc="-120" b="1">
                <a:solidFill>
                  <a:srgbClr val="00B0F0"/>
                </a:solidFill>
                <a:latin typeface="Arial"/>
                <a:cs typeface="Arial"/>
              </a:rPr>
              <a:t> </a:t>
            </a:r>
            <a:r>
              <a:rPr dirty="0" sz="2500" spc="-10" b="1">
                <a:solidFill>
                  <a:srgbClr val="00B0F0"/>
                </a:solidFill>
                <a:latin typeface="Arial"/>
                <a:cs typeface="Arial"/>
              </a:rPr>
              <a:t>Definition</a:t>
            </a:r>
            <a:endParaRPr sz="2500">
              <a:latin typeface="Arial"/>
              <a:cs typeface="Arial"/>
            </a:endParaRPr>
          </a:p>
          <a:p>
            <a:pPr marL="278765" marR="830580" indent="-266700">
              <a:lnSpc>
                <a:spcPct val="100000"/>
              </a:lnSpc>
              <a:spcBef>
                <a:spcPts val="1295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2500" b="1">
                <a:latin typeface="Arial"/>
                <a:cs typeface="Arial"/>
              </a:rPr>
              <a:t>Goal:</a:t>
            </a:r>
            <a:r>
              <a:rPr dirty="0" sz="2500" spc="-95" b="1">
                <a:latin typeface="Arial"/>
                <a:cs typeface="Arial"/>
              </a:rPr>
              <a:t> </a:t>
            </a:r>
            <a:r>
              <a:rPr dirty="0" sz="2500">
                <a:latin typeface="Arial MT"/>
                <a:cs typeface="Arial MT"/>
              </a:rPr>
              <a:t>Decide</a:t>
            </a:r>
            <a:r>
              <a:rPr dirty="0" sz="2500" spc="-90">
                <a:latin typeface="Arial MT"/>
                <a:cs typeface="Arial MT"/>
              </a:rPr>
              <a:t> </a:t>
            </a:r>
            <a:r>
              <a:rPr dirty="0" sz="2500" spc="-20">
                <a:latin typeface="Arial MT"/>
                <a:cs typeface="Arial MT"/>
              </a:rPr>
              <a:t>what </a:t>
            </a:r>
            <a:r>
              <a:rPr dirty="0" sz="2500">
                <a:latin typeface="Arial MT"/>
                <a:cs typeface="Arial MT"/>
              </a:rPr>
              <a:t>information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is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needed</a:t>
            </a:r>
            <a:endParaRPr sz="2500">
              <a:latin typeface="Arial MT"/>
              <a:cs typeface="Arial MT"/>
            </a:endParaRPr>
          </a:p>
          <a:p>
            <a:pPr marL="278765" marR="5080" indent="-266700">
              <a:lnSpc>
                <a:spcPct val="100299"/>
              </a:lnSpc>
              <a:spcBef>
                <a:spcPts val="1190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2500" b="1">
                <a:latin typeface="Arial"/>
                <a:cs typeface="Arial"/>
              </a:rPr>
              <a:t>Methods:</a:t>
            </a:r>
            <a:r>
              <a:rPr dirty="0" sz="2500" spc="-120" b="1">
                <a:latin typeface="Arial"/>
                <a:cs typeface="Arial"/>
              </a:rPr>
              <a:t> </a:t>
            </a:r>
            <a:r>
              <a:rPr dirty="0" sz="2500">
                <a:latin typeface="Arial MT"/>
                <a:cs typeface="Arial MT"/>
              </a:rPr>
              <a:t>Typically</a:t>
            </a:r>
            <a:r>
              <a:rPr dirty="0" sz="2500" spc="-125">
                <a:latin typeface="Arial MT"/>
                <a:cs typeface="Arial MT"/>
              </a:rPr>
              <a:t> </a:t>
            </a:r>
            <a:r>
              <a:rPr dirty="0" sz="2500" spc="-20">
                <a:latin typeface="Arial MT"/>
                <a:cs typeface="Arial MT"/>
              </a:rPr>
              <a:t>used </a:t>
            </a:r>
            <a:r>
              <a:rPr dirty="0" sz="2500">
                <a:latin typeface="Arial MT"/>
                <a:cs typeface="Arial MT"/>
              </a:rPr>
              <a:t>are</a:t>
            </a:r>
            <a:r>
              <a:rPr dirty="0" sz="2500" spc="-11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committee</a:t>
            </a:r>
            <a:r>
              <a:rPr dirty="0" sz="2500" spc="-11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meetings, brainstorming,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and</a:t>
            </a:r>
            <a:r>
              <a:rPr dirty="0" sz="2500" spc="-4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analysis </a:t>
            </a:r>
            <a:r>
              <a:rPr dirty="0" sz="2500">
                <a:latin typeface="Arial MT"/>
                <a:cs typeface="Arial MT"/>
              </a:rPr>
              <a:t>of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business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objectives</a:t>
            </a:r>
            <a:endParaRPr sz="2500">
              <a:latin typeface="Arial MT"/>
              <a:cs typeface="Arial MT"/>
            </a:endParaRPr>
          </a:p>
          <a:p>
            <a:pPr marL="278765" marR="378460" indent="-266700">
              <a:lnSpc>
                <a:spcPct val="100000"/>
              </a:lnSpc>
              <a:spcBef>
                <a:spcPts val="1295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2500" spc="-10" b="1">
                <a:latin typeface="Arial"/>
                <a:cs typeface="Arial"/>
              </a:rPr>
              <a:t>Outcome:</a:t>
            </a:r>
            <a:r>
              <a:rPr dirty="0" sz="2500" spc="-60" b="1">
                <a:latin typeface="Arial"/>
                <a:cs typeface="Arial"/>
              </a:rPr>
              <a:t> </a:t>
            </a:r>
            <a:r>
              <a:rPr dirty="0" sz="2500">
                <a:latin typeface="Arial MT"/>
                <a:cs typeface="Arial MT"/>
              </a:rPr>
              <a:t>A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project </a:t>
            </a:r>
            <a:r>
              <a:rPr dirty="0" sz="2500">
                <a:latin typeface="Arial MT"/>
                <a:cs typeface="Arial MT"/>
              </a:rPr>
              <a:t>specification</a:t>
            </a:r>
            <a:r>
              <a:rPr dirty="0" sz="2500" spc="-8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for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85">
                <a:latin typeface="Arial MT"/>
                <a:cs typeface="Arial MT"/>
              </a:rPr>
              <a:t> </a:t>
            </a:r>
            <a:r>
              <a:rPr dirty="0" sz="2500" spc="-20">
                <a:latin typeface="Arial MT"/>
                <a:cs typeface="Arial MT"/>
              </a:rPr>
              <a:t>Data </a:t>
            </a:r>
            <a:r>
              <a:rPr dirty="0" sz="2500" spc="-10">
                <a:latin typeface="Arial MT"/>
                <a:cs typeface="Arial MT"/>
              </a:rPr>
              <a:t>Scientists.</a:t>
            </a:r>
            <a:endParaRPr sz="2500">
              <a:latin typeface="Arial MT"/>
              <a:cs typeface="Arial MT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8051" y="1837434"/>
            <a:ext cx="3675163" cy="479612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89694" rIns="0" bIns="0" rtlCol="0" vert="horz">
            <a:spAutoFit/>
          </a:bodyPr>
          <a:lstStyle/>
          <a:p>
            <a:pPr marL="321945">
              <a:lnSpc>
                <a:spcPct val="100000"/>
              </a:lnSpc>
              <a:spcBef>
                <a:spcPts val="100"/>
              </a:spcBef>
            </a:pPr>
            <a:r>
              <a:rPr dirty="0" sz="3300">
                <a:solidFill>
                  <a:srgbClr val="262673"/>
                </a:solidFill>
              </a:rPr>
              <a:t>Machine</a:t>
            </a:r>
            <a:r>
              <a:rPr dirty="0" sz="3300" spc="-70">
                <a:solidFill>
                  <a:srgbClr val="262673"/>
                </a:solidFill>
              </a:rPr>
              <a:t> </a:t>
            </a:r>
            <a:r>
              <a:rPr dirty="0" sz="3300">
                <a:solidFill>
                  <a:srgbClr val="262673"/>
                </a:solidFill>
              </a:rPr>
              <a:t>Learning</a:t>
            </a:r>
            <a:r>
              <a:rPr dirty="0" sz="3300" spc="-65">
                <a:solidFill>
                  <a:srgbClr val="262673"/>
                </a:solidFill>
              </a:rPr>
              <a:t> </a:t>
            </a:r>
            <a:r>
              <a:rPr dirty="0" sz="3300" spc="-10">
                <a:solidFill>
                  <a:srgbClr val="262673"/>
                </a:solidFill>
              </a:rPr>
              <a:t>Pipeline</a:t>
            </a:r>
            <a:endParaRPr sz="3300"/>
          </a:p>
        </p:txBody>
      </p:sp>
      <p:sp>
        <p:nvSpPr>
          <p:cNvPr id="3" name="object 3" descr=""/>
          <p:cNvSpPr txBox="1"/>
          <p:nvPr/>
        </p:nvSpPr>
        <p:spPr>
          <a:xfrm>
            <a:off x="7156873" y="7106810"/>
            <a:ext cx="1487170" cy="315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10">
                <a:latin typeface="Arial MT"/>
                <a:cs typeface="Arial MT"/>
              </a:rPr>
              <a:t>Slide</a:t>
            </a:r>
            <a:r>
              <a:rPr dirty="0" sz="1900" spc="-9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&lt;#&gt;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of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50">
                <a:latin typeface="Arial MT"/>
                <a:cs typeface="Arial MT"/>
              </a:rPr>
              <a:t>9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342401" y="1803428"/>
            <a:ext cx="3973195" cy="3342004"/>
          </a:xfrm>
          <a:prstGeom prst="rect">
            <a:avLst/>
          </a:prstGeom>
        </p:spPr>
        <p:txBody>
          <a:bodyPr wrap="square" lIns="0" tIns="1771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dirty="0" sz="2500" b="1">
                <a:solidFill>
                  <a:srgbClr val="00B0F0"/>
                </a:solidFill>
                <a:latin typeface="Arial"/>
                <a:cs typeface="Arial"/>
              </a:rPr>
              <a:t>Data</a:t>
            </a:r>
            <a:r>
              <a:rPr dirty="0" sz="2500" spc="-50" b="1">
                <a:solidFill>
                  <a:srgbClr val="00B0F0"/>
                </a:solidFill>
                <a:latin typeface="Arial"/>
                <a:cs typeface="Arial"/>
              </a:rPr>
              <a:t> </a:t>
            </a:r>
            <a:r>
              <a:rPr dirty="0" sz="2500" spc="-10" b="1">
                <a:solidFill>
                  <a:srgbClr val="00B0F0"/>
                </a:solidFill>
                <a:latin typeface="Arial"/>
                <a:cs typeface="Arial"/>
              </a:rPr>
              <a:t>collection</a:t>
            </a:r>
            <a:endParaRPr sz="2500">
              <a:latin typeface="Arial"/>
              <a:cs typeface="Arial"/>
            </a:endParaRPr>
          </a:p>
          <a:p>
            <a:pPr marL="278765" marR="246379" indent="-266700">
              <a:lnSpc>
                <a:spcPct val="100000"/>
              </a:lnSpc>
              <a:spcBef>
                <a:spcPts val="1295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2500" b="1">
                <a:latin typeface="Arial"/>
                <a:cs typeface="Arial"/>
              </a:rPr>
              <a:t>Goal:</a:t>
            </a:r>
            <a:r>
              <a:rPr dirty="0" sz="2500" spc="-125" b="1">
                <a:latin typeface="Arial"/>
                <a:cs typeface="Arial"/>
              </a:rPr>
              <a:t> </a:t>
            </a:r>
            <a:r>
              <a:rPr dirty="0" sz="2500" spc="-10">
                <a:latin typeface="Arial MT"/>
                <a:cs typeface="Arial MT"/>
              </a:rPr>
              <a:t>Representative </a:t>
            </a:r>
            <a:r>
              <a:rPr dirty="0" sz="2500">
                <a:latin typeface="Arial MT"/>
                <a:cs typeface="Arial MT"/>
              </a:rPr>
              <a:t>sample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of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population</a:t>
            </a:r>
            <a:endParaRPr sz="2500">
              <a:latin typeface="Arial MT"/>
              <a:cs typeface="Arial MT"/>
            </a:endParaRPr>
          </a:p>
          <a:p>
            <a:pPr marL="278765" marR="58419" indent="-266700">
              <a:lnSpc>
                <a:spcPct val="100400"/>
              </a:lnSpc>
              <a:spcBef>
                <a:spcPts val="1190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2500" b="1">
                <a:latin typeface="Arial"/>
                <a:cs typeface="Arial"/>
              </a:rPr>
              <a:t>Methods:</a:t>
            </a:r>
            <a:r>
              <a:rPr dirty="0" sz="2500" spc="-135" b="1">
                <a:latin typeface="Arial"/>
                <a:cs typeface="Arial"/>
              </a:rPr>
              <a:t> </a:t>
            </a:r>
            <a:r>
              <a:rPr dirty="0" sz="2500">
                <a:latin typeface="Arial MT"/>
                <a:cs typeface="Arial MT"/>
              </a:rPr>
              <a:t>Extract</a:t>
            </a:r>
            <a:r>
              <a:rPr dirty="0" sz="2500" spc="-13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existing </a:t>
            </a:r>
            <a:r>
              <a:rPr dirty="0" sz="2500">
                <a:latin typeface="Arial MT"/>
                <a:cs typeface="Arial MT"/>
              </a:rPr>
              <a:t>data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from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databases, </a:t>
            </a:r>
            <a:r>
              <a:rPr dirty="0" sz="2500">
                <a:latin typeface="Arial MT"/>
                <a:cs typeface="Arial MT"/>
              </a:rPr>
              <a:t>gather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new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 spc="-20">
                <a:latin typeface="Arial MT"/>
                <a:cs typeface="Arial MT"/>
              </a:rPr>
              <a:t>data</a:t>
            </a:r>
            <a:endParaRPr sz="2500">
              <a:latin typeface="Arial MT"/>
              <a:cs typeface="Arial MT"/>
            </a:endParaRPr>
          </a:p>
          <a:p>
            <a:pPr marL="278130" indent="-265430">
              <a:lnSpc>
                <a:spcPct val="100000"/>
              </a:lnSpc>
              <a:spcBef>
                <a:spcPts val="1295"/>
              </a:spcBef>
              <a:buFont typeface="Arial MT"/>
              <a:buChar char="•"/>
              <a:tabLst>
                <a:tab pos="278130" algn="l"/>
              </a:tabLst>
            </a:pPr>
            <a:r>
              <a:rPr dirty="0" sz="2500" spc="-10" b="1">
                <a:latin typeface="Arial"/>
                <a:cs typeface="Arial"/>
              </a:rPr>
              <a:t>Outcome:</a:t>
            </a:r>
            <a:r>
              <a:rPr dirty="0" sz="2500" spc="-60" b="1">
                <a:latin typeface="Arial"/>
                <a:cs typeface="Arial"/>
              </a:rPr>
              <a:t> </a:t>
            </a:r>
            <a:r>
              <a:rPr dirty="0" sz="2500">
                <a:latin typeface="Arial MT"/>
                <a:cs typeface="Arial MT"/>
              </a:rPr>
              <a:t>A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large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dataset</a:t>
            </a:r>
            <a:endParaRPr sz="2500">
              <a:latin typeface="Arial MT"/>
              <a:cs typeface="Arial MT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8051" y="1837434"/>
            <a:ext cx="3675163" cy="479612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89694" rIns="0" bIns="0" rtlCol="0" vert="horz">
            <a:spAutoFit/>
          </a:bodyPr>
          <a:lstStyle/>
          <a:p>
            <a:pPr marL="321945">
              <a:lnSpc>
                <a:spcPct val="100000"/>
              </a:lnSpc>
              <a:spcBef>
                <a:spcPts val="100"/>
              </a:spcBef>
            </a:pPr>
            <a:r>
              <a:rPr dirty="0" sz="3300">
                <a:solidFill>
                  <a:srgbClr val="262673"/>
                </a:solidFill>
              </a:rPr>
              <a:t>Machine</a:t>
            </a:r>
            <a:r>
              <a:rPr dirty="0" sz="3300" spc="-70">
                <a:solidFill>
                  <a:srgbClr val="262673"/>
                </a:solidFill>
              </a:rPr>
              <a:t> </a:t>
            </a:r>
            <a:r>
              <a:rPr dirty="0" sz="3300">
                <a:solidFill>
                  <a:srgbClr val="262673"/>
                </a:solidFill>
              </a:rPr>
              <a:t>Learning</a:t>
            </a:r>
            <a:r>
              <a:rPr dirty="0" sz="3300" spc="-65">
                <a:solidFill>
                  <a:srgbClr val="262673"/>
                </a:solidFill>
              </a:rPr>
              <a:t> </a:t>
            </a:r>
            <a:r>
              <a:rPr dirty="0" sz="3300" spc="-10">
                <a:solidFill>
                  <a:srgbClr val="262673"/>
                </a:solidFill>
              </a:rPr>
              <a:t>Pipeline</a:t>
            </a:r>
            <a:endParaRPr sz="3300"/>
          </a:p>
        </p:txBody>
      </p:sp>
      <p:sp>
        <p:nvSpPr>
          <p:cNvPr id="3" name="object 3" descr=""/>
          <p:cNvSpPr txBox="1"/>
          <p:nvPr/>
        </p:nvSpPr>
        <p:spPr>
          <a:xfrm>
            <a:off x="7156873" y="7106810"/>
            <a:ext cx="1487170" cy="315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10">
                <a:latin typeface="Arial MT"/>
                <a:cs typeface="Arial MT"/>
              </a:rPr>
              <a:t>Slide</a:t>
            </a:r>
            <a:r>
              <a:rPr dirty="0" sz="1900" spc="-9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&lt;#&gt;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of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50">
                <a:latin typeface="Arial MT"/>
                <a:cs typeface="Arial MT"/>
              </a:rPr>
              <a:t>9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112318" y="1803428"/>
            <a:ext cx="4537710" cy="4104004"/>
          </a:xfrm>
          <a:prstGeom prst="rect">
            <a:avLst/>
          </a:prstGeom>
        </p:spPr>
        <p:txBody>
          <a:bodyPr wrap="square" lIns="0" tIns="1771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dirty="0" sz="2500" b="1">
                <a:solidFill>
                  <a:srgbClr val="00B0F0"/>
                </a:solidFill>
                <a:latin typeface="Arial"/>
                <a:cs typeface="Arial"/>
              </a:rPr>
              <a:t>Feature</a:t>
            </a:r>
            <a:r>
              <a:rPr dirty="0" sz="2500" spc="-90" b="1">
                <a:solidFill>
                  <a:srgbClr val="00B0F0"/>
                </a:solidFill>
                <a:latin typeface="Arial"/>
                <a:cs typeface="Arial"/>
              </a:rPr>
              <a:t> </a:t>
            </a:r>
            <a:r>
              <a:rPr dirty="0" sz="2500" spc="-10" b="1">
                <a:solidFill>
                  <a:srgbClr val="00B0F0"/>
                </a:solidFill>
                <a:latin typeface="Arial"/>
                <a:cs typeface="Arial"/>
              </a:rPr>
              <a:t>extraction</a:t>
            </a:r>
            <a:endParaRPr sz="2500">
              <a:latin typeface="Arial"/>
              <a:cs typeface="Arial"/>
            </a:endParaRPr>
          </a:p>
          <a:p>
            <a:pPr algn="just" marL="278765" marR="675005" indent="-266700">
              <a:lnSpc>
                <a:spcPct val="100000"/>
              </a:lnSpc>
              <a:spcBef>
                <a:spcPts val="1295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2500" b="1">
                <a:latin typeface="Arial"/>
                <a:cs typeface="Arial"/>
              </a:rPr>
              <a:t>Goal:</a:t>
            </a:r>
            <a:r>
              <a:rPr dirty="0" sz="2500" spc="-110" b="1">
                <a:latin typeface="Arial"/>
                <a:cs typeface="Arial"/>
              </a:rPr>
              <a:t> </a:t>
            </a:r>
            <a:r>
              <a:rPr dirty="0" sz="2500">
                <a:latin typeface="Arial MT"/>
                <a:cs typeface="Arial MT"/>
              </a:rPr>
              <a:t>Specifying</a:t>
            </a:r>
            <a:r>
              <a:rPr dirty="0" sz="2500" spc="-114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features </a:t>
            </a:r>
            <a:r>
              <a:rPr dirty="0" sz="2500">
                <a:latin typeface="Arial MT"/>
                <a:cs typeface="Arial MT"/>
              </a:rPr>
              <a:t>useful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for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prediction</a:t>
            </a:r>
            <a:endParaRPr sz="2500">
              <a:latin typeface="Arial MT"/>
              <a:cs typeface="Arial MT"/>
            </a:endParaRPr>
          </a:p>
          <a:p>
            <a:pPr algn="just" marL="278765" marR="5080" indent="-266700">
              <a:lnSpc>
                <a:spcPct val="100400"/>
              </a:lnSpc>
              <a:spcBef>
                <a:spcPts val="1190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2500" b="1">
                <a:latin typeface="Arial"/>
                <a:cs typeface="Arial"/>
              </a:rPr>
              <a:t>Methods:</a:t>
            </a:r>
            <a:r>
              <a:rPr dirty="0" sz="2500" spc="-110" b="1">
                <a:latin typeface="Arial"/>
                <a:cs typeface="Arial"/>
              </a:rPr>
              <a:t> </a:t>
            </a:r>
            <a:r>
              <a:rPr dirty="0" sz="2500">
                <a:latin typeface="Arial MT"/>
                <a:cs typeface="Arial MT"/>
              </a:rPr>
              <a:t>Check</a:t>
            </a:r>
            <a:r>
              <a:rPr dirty="0" sz="2500" spc="-12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distributions, correlation/covariance</a:t>
            </a:r>
            <a:r>
              <a:rPr dirty="0" sz="2500" spc="-3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checks, </a:t>
            </a:r>
            <a:r>
              <a:rPr dirty="0" sz="2500">
                <a:latin typeface="Arial MT"/>
                <a:cs typeface="Arial MT"/>
              </a:rPr>
              <a:t>drop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unique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identifiers</a:t>
            </a:r>
            <a:endParaRPr sz="2500">
              <a:latin typeface="Arial MT"/>
              <a:cs typeface="Arial MT"/>
            </a:endParaRPr>
          </a:p>
          <a:p>
            <a:pPr marL="278765" marR="427355" indent="-266700">
              <a:lnSpc>
                <a:spcPct val="100000"/>
              </a:lnSpc>
              <a:spcBef>
                <a:spcPts val="1295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2500" spc="-10" b="1">
                <a:latin typeface="Arial"/>
                <a:cs typeface="Arial"/>
              </a:rPr>
              <a:t>Outcome:</a:t>
            </a:r>
            <a:r>
              <a:rPr dirty="0" sz="2500" spc="-70" b="1">
                <a:latin typeface="Arial"/>
                <a:cs typeface="Arial"/>
              </a:rPr>
              <a:t> </a:t>
            </a:r>
            <a:r>
              <a:rPr dirty="0" sz="2500">
                <a:latin typeface="Arial MT"/>
                <a:cs typeface="Arial MT"/>
              </a:rPr>
              <a:t>A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“flat”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(single </a:t>
            </a:r>
            <a:r>
              <a:rPr dirty="0" sz="2500">
                <a:latin typeface="Arial MT"/>
                <a:cs typeface="Arial MT"/>
              </a:rPr>
              <a:t>table)</a:t>
            </a:r>
            <a:r>
              <a:rPr dirty="0" sz="2500" spc="-8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dataset</a:t>
            </a:r>
            <a:r>
              <a:rPr dirty="0" sz="2500" spc="-8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with</a:t>
            </a:r>
            <a:r>
              <a:rPr dirty="0" sz="2500" spc="-8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selected features.</a:t>
            </a:r>
            <a:endParaRPr sz="2500">
              <a:latin typeface="Arial MT"/>
              <a:cs typeface="Arial MT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8051" y="1837434"/>
            <a:ext cx="3675163" cy="479612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89694" rIns="0" bIns="0" rtlCol="0" vert="horz">
            <a:spAutoFit/>
          </a:bodyPr>
          <a:lstStyle/>
          <a:p>
            <a:pPr marL="321945">
              <a:lnSpc>
                <a:spcPct val="100000"/>
              </a:lnSpc>
              <a:spcBef>
                <a:spcPts val="100"/>
              </a:spcBef>
            </a:pPr>
            <a:r>
              <a:rPr dirty="0" sz="3300">
                <a:solidFill>
                  <a:srgbClr val="262673"/>
                </a:solidFill>
              </a:rPr>
              <a:t>Machine</a:t>
            </a:r>
            <a:r>
              <a:rPr dirty="0" sz="3300" spc="-70">
                <a:solidFill>
                  <a:srgbClr val="262673"/>
                </a:solidFill>
              </a:rPr>
              <a:t> </a:t>
            </a:r>
            <a:r>
              <a:rPr dirty="0" sz="3300">
                <a:solidFill>
                  <a:srgbClr val="262673"/>
                </a:solidFill>
              </a:rPr>
              <a:t>Learning</a:t>
            </a:r>
            <a:r>
              <a:rPr dirty="0" sz="3300" spc="-65">
                <a:solidFill>
                  <a:srgbClr val="262673"/>
                </a:solidFill>
              </a:rPr>
              <a:t> </a:t>
            </a:r>
            <a:r>
              <a:rPr dirty="0" sz="3300" spc="-10">
                <a:solidFill>
                  <a:srgbClr val="262673"/>
                </a:solidFill>
              </a:rPr>
              <a:t>Pipeline</a:t>
            </a:r>
            <a:endParaRPr sz="3300"/>
          </a:p>
        </p:txBody>
      </p:sp>
      <p:sp>
        <p:nvSpPr>
          <p:cNvPr id="3" name="object 3" descr=""/>
          <p:cNvSpPr txBox="1"/>
          <p:nvPr/>
        </p:nvSpPr>
        <p:spPr>
          <a:xfrm>
            <a:off x="7156873" y="7106810"/>
            <a:ext cx="1487170" cy="315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10">
                <a:latin typeface="Arial MT"/>
                <a:cs typeface="Arial MT"/>
              </a:rPr>
              <a:t>Slide</a:t>
            </a:r>
            <a:r>
              <a:rPr dirty="0" sz="1900" spc="-9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&lt;#&gt;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of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50">
                <a:latin typeface="Arial MT"/>
                <a:cs typeface="Arial MT"/>
              </a:rPr>
              <a:t>9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342401" y="1803428"/>
            <a:ext cx="4153535" cy="4104004"/>
          </a:xfrm>
          <a:prstGeom prst="rect">
            <a:avLst/>
          </a:prstGeom>
        </p:spPr>
        <p:txBody>
          <a:bodyPr wrap="square" lIns="0" tIns="1771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dirty="0" sz="2500" b="1">
                <a:solidFill>
                  <a:srgbClr val="00B0F0"/>
                </a:solidFill>
                <a:latin typeface="Arial"/>
                <a:cs typeface="Arial"/>
              </a:rPr>
              <a:t>Data</a:t>
            </a:r>
            <a:r>
              <a:rPr dirty="0" sz="2500" spc="-50" b="1">
                <a:solidFill>
                  <a:srgbClr val="00B0F0"/>
                </a:solidFill>
                <a:latin typeface="Arial"/>
                <a:cs typeface="Arial"/>
              </a:rPr>
              <a:t> </a:t>
            </a:r>
            <a:r>
              <a:rPr dirty="0" sz="2500" spc="-10" b="1">
                <a:solidFill>
                  <a:srgbClr val="00B0F0"/>
                </a:solidFill>
                <a:latin typeface="Arial"/>
                <a:cs typeface="Arial"/>
              </a:rPr>
              <a:t>preparation</a:t>
            </a:r>
            <a:endParaRPr sz="2500">
              <a:latin typeface="Arial"/>
              <a:cs typeface="Arial"/>
            </a:endParaRPr>
          </a:p>
          <a:p>
            <a:pPr marL="278765" marR="57785" indent="-266700">
              <a:lnSpc>
                <a:spcPct val="100000"/>
              </a:lnSpc>
              <a:spcBef>
                <a:spcPts val="1295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2500" b="1">
                <a:latin typeface="Arial"/>
                <a:cs typeface="Arial"/>
              </a:rPr>
              <a:t>Goal:</a:t>
            </a:r>
            <a:r>
              <a:rPr dirty="0" sz="2500" spc="-65" b="1">
                <a:latin typeface="Arial"/>
                <a:cs typeface="Arial"/>
              </a:rPr>
              <a:t> </a:t>
            </a:r>
            <a:r>
              <a:rPr dirty="0" sz="2500">
                <a:latin typeface="Arial MT"/>
                <a:cs typeface="Arial MT"/>
              </a:rPr>
              <a:t>Clean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up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(normalize, </a:t>
            </a:r>
            <a:r>
              <a:rPr dirty="0" sz="2500">
                <a:latin typeface="Arial MT"/>
                <a:cs typeface="Arial MT"/>
              </a:rPr>
              <a:t>regularize)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data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values</a:t>
            </a:r>
            <a:endParaRPr sz="2500">
              <a:latin typeface="Arial MT"/>
              <a:cs typeface="Arial MT"/>
            </a:endParaRPr>
          </a:p>
          <a:p>
            <a:pPr marL="278765" marR="133350" indent="-266700">
              <a:lnSpc>
                <a:spcPct val="100400"/>
              </a:lnSpc>
              <a:spcBef>
                <a:spcPts val="1190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2500" b="1">
                <a:latin typeface="Arial"/>
                <a:cs typeface="Arial"/>
              </a:rPr>
              <a:t>Methods:</a:t>
            </a:r>
            <a:r>
              <a:rPr dirty="0" sz="2500" spc="-120" b="1">
                <a:latin typeface="Arial"/>
                <a:cs typeface="Arial"/>
              </a:rPr>
              <a:t> </a:t>
            </a:r>
            <a:r>
              <a:rPr dirty="0" sz="2500">
                <a:latin typeface="Arial MT"/>
                <a:cs typeface="Arial MT"/>
              </a:rPr>
              <a:t>Scaling,</a:t>
            </a:r>
            <a:r>
              <a:rPr dirty="0" sz="2500" spc="-13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dummy </a:t>
            </a:r>
            <a:r>
              <a:rPr dirty="0" sz="2500">
                <a:latin typeface="Arial MT"/>
                <a:cs typeface="Arial MT"/>
              </a:rPr>
              <a:t>variables,</a:t>
            </a:r>
            <a:r>
              <a:rPr dirty="0" sz="2500" spc="-12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interpolating </a:t>
            </a:r>
            <a:r>
              <a:rPr dirty="0" sz="2500">
                <a:latin typeface="Arial MT"/>
                <a:cs typeface="Arial MT"/>
              </a:rPr>
              <a:t>missing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values</a:t>
            </a:r>
            <a:endParaRPr sz="2500">
              <a:latin typeface="Arial MT"/>
              <a:cs typeface="Arial MT"/>
            </a:endParaRPr>
          </a:p>
          <a:p>
            <a:pPr algn="just" marL="278765" marR="5080" indent="-266700">
              <a:lnSpc>
                <a:spcPct val="100000"/>
              </a:lnSpc>
              <a:spcBef>
                <a:spcPts val="1295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2500" spc="-10" b="1">
                <a:latin typeface="Arial"/>
                <a:cs typeface="Arial"/>
              </a:rPr>
              <a:t>Outcome:</a:t>
            </a:r>
            <a:r>
              <a:rPr dirty="0" sz="2500" spc="-114" b="1">
                <a:latin typeface="Arial"/>
                <a:cs typeface="Arial"/>
              </a:rPr>
              <a:t> </a:t>
            </a:r>
            <a:r>
              <a:rPr dirty="0" sz="2500">
                <a:latin typeface="Arial MT"/>
                <a:cs typeface="Arial MT"/>
              </a:rPr>
              <a:t>Normalized</a:t>
            </a:r>
            <a:r>
              <a:rPr dirty="0" sz="2500" spc="-114">
                <a:latin typeface="Arial MT"/>
                <a:cs typeface="Arial MT"/>
              </a:rPr>
              <a:t> </a:t>
            </a:r>
            <a:r>
              <a:rPr dirty="0" sz="2500" spc="-20">
                <a:latin typeface="Arial MT"/>
                <a:cs typeface="Arial MT"/>
              </a:rPr>
              <a:t>data </a:t>
            </a:r>
            <a:r>
              <a:rPr dirty="0" sz="2500">
                <a:latin typeface="Arial MT"/>
                <a:cs typeface="Arial MT"/>
              </a:rPr>
              <a:t>in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numeric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form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appropriate </a:t>
            </a:r>
            <a:r>
              <a:rPr dirty="0" sz="2500">
                <a:latin typeface="Arial MT"/>
                <a:cs typeface="Arial MT"/>
              </a:rPr>
              <a:t>for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modeling</a:t>
            </a:r>
            <a:endParaRPr sz="2500">
              <a:latin typeface="Arial MT"/>
              <a:cs typeface="Arial MT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8051" y="1837434"/>
            <a:ext cx="3675163" cy="4796124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89694" rIns="0" bIns="0" rtlCol="0" vert="horz">
            <a:spAutoFit/>
          </a:bodyPr>
          <a:lstStyle/>
          <a:p>
            <a:pPr marL="321945">
              <a:lnSpc>
                <a:spcPct val="100000"/>
              </a:lnSpc>
              <a:spcBef>
                <a:spcPts val="100"/>
              </a:spcBef>
            </a:pPr>
            <a:r>
              <a:rPr dirty="0" sz="3300">
                <a:solidFill>
                  <a:srgbClr val="262673"/>
                </a:solidFill>
              </a:rPr>
              <a:t>Machine</a:t>
            </a:r>
            <a:r>
              <a:rPr dirty="0" sz="3300" spc="-70">
                <a:solidFill>
                  <a:srgbClr val="262673"/>
                </a:solidFill>
              </a:rPr>
              <a:t> </a:t>
            </a:r>
            <a:r>
              <a:rPr dirty="0" sz="3300">
                <a:solidFill>
                  <a:srgbClr val="262673"/>
                </a:solidFill>
              </a:rPr>
              <a:t>Learning</a:t>
            </a:r>
            <a:r>
              <a:rPr dirty="0" sz="3300" spc="-65">
                <a:solidFill>
                  <a:srgbClr val="262673"/>
                </a:solidFill>
              </a:rPr>
              <a:t> </a:t>
            </a:r>
            <a:r>
              <a:rPr dirty="0" sz="3300" spc="-10">
                <a:solidFill>
                  <a:srgbClr val="262673"/>
                </a:solidFill>
              </a:rPr>
              <a:t>Pipeline</a:t>
            </a:r>
            <a:endParaRPr sz="3300"/>
          </a:p>
        </p:txBody>
      </p:sp>
      <p:sp>
        <p:nvSpPr>
          <p:cNvPr id="3" name="object 3" descr=""/>
          <p:cNvSpPr txBox="1"/>
          <p:nvPr/>
        </p:nvSpPr>
        <p:spPr>
          <a:xfrm>
            <a:off x="4998129" y="1803428"/>
            <a:ext cx="4676775" cy="5618480"/>
          </a:xfrm>
          <a:prstGeom prst="rect">
            <a:avLst/>
          </a:prstGeom>
        </p:spPr>
        <p:txBody>
          <a:bodyPr wrap="square" lIns="0" tIns="1771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dirty="0" sz="2500" b="1">
                <a:solidFill>
                  <a:srgbClr val="00B0F0"/>
                </a:solidFill>
                <a:latin typeface="Arial"/>
                <a:cs typeface="Arial"/>
              </a:rPr>
              <a:t>Algorithm</a:t>
            </a:r>
            <a:r>
              <a:rPr dirty="0" sz="2500" spc="-155" b="1">
                <a:solidFill>
                  <a:srgbClr val="00B0F0"/>
                </a:solidFill>
                <a:latin typeface="Arial"/>
                <a:cs typeface="Arial"/>
              </a:rPr>
              <a:t> </a:t>
            </a:r>
            <a:r>
              <a:rPr dirty="0" sz="2500" spc="-10" b="1">
                <a:solidFill>
                  <a:srgbClr val="00B0F0"/>
                </a:solidFill>
                <a:latin typeface="Arial"/>
                <a:cs typeface="Arial"/>
              </a:rPr>
              <a:t>Selection</a:t>
            </a:r>
            <a:endParaRPr sz="2500">
              <a:latin typeface="Arial"/>
              <a:cs typeface="Arial"/>
            </a:endParaRPr>
          </a:p>
          <a:p>
            <a:pPr marL="278765" marR="581660" indent="-266700">
              <a:lnSpc>
                <a:spcPct val="100000"/>
              </a:lnSpc>
              <a:spcBef>
                <a:spcPts val="1295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2500" b="1">
                <a:latin typeface="Arial"/>
                <a:cs typeface="Arial"/>
              </a:rPr>
              <a:t>Goal:</a:t>
            </a:r>
            <a:r>
              <a:rPr dirty="0" sz="2500" spc="-75" b="1">
                <a:latin typeface="Arial"/>
                <a:cs typeface="Arial"/>
              </a:rPr>
              <a:t> </a:t>
            </a:r>
            <a:r>
              <a:rPr dirty="0" sz="2500">
                <a:latin typeface="Arial MT"/>
                <a:cs typeface="Arial MT"/>
              </a:rPr>
              <a:t>No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 spc="-20">
                <a:latin typeface="Arial MT"/>
                <a:cs typeface="Arial MT"/>
              </a:rPr>
              <a:t>a-</a:t>
            </a:r>
            <a:r>
              <a:rPr dirty="0" sz="2500">
                <a:latin typeface="Arial MT"/>
                <a:cs typeface="Arial MT"/>
              </a:rPr>
              <a:t>priori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 spc="-20">
                <a:latin typeface="Arial MT"/>
                <a:cs typeface="Arial MT"/>
              </a:rPr>
              <a:t>best </a:t>
            </a:r>
            <a:r>
              <a:rPr dirty="0" sz="2500">
                <a:latin typeface="Arial MT"/>
                <a:cs typeface="Arial MT"/>
              </a:rPr>
              <a:t>algorithm;</a:t>
            </a:r>
            <a:r>
              <a:rPr dirty="0" sz="2500" spc="-114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must</a:t>
            </a:r>
            <a:r>
              <a:rPr dirty="0" sz="2500" spc="-11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experiment</a:t>
            </a:r>
            <a:endParaRPr sz="2500">
              <a:latin typeface="Arial MT"/>
              <a:cs typeface="Arial MT"/>
            </a:endParaRPr>
          </a:p>
          <a:p>
            <a:pPr marL="278765" marR="5080" indent="-266700">
              <a:lnSpc>
                <a:spcPct val="100200"/>
              </a:lnSpc>
              <a:spcBef>
                <a:spcPts val="1195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2500" b="1">
                <a:latin typeface="Arial"/>
                <a:cs typeface="Arial"/>
              </a:rPr>
              <a:t>Methods:</a:t>
            </a:r>
            <a:r>
              <a:rPr dirty="0" sz="2500" spc="-75" b="1">
                <a:latin typeface="Arial"/>
                <a:cs typeface="Arial"/>
              </a:rPr>
              <a:t> </a:t>
            </a:r>
            <a:r>
              <a:rPr dirty="0" sz="2500">
                <a:latin typeface="Arial MT"/>
                <a:cs typeface="Arial MT"/>
              </a:rPr>
              <a:t>Draw</a:t>
            </a:r>
            <a:r>
              <a:rPr dirty="0" sz="2500" spc="-8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on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problem statement,</a:t>
            </a:r>
            <a:r>
              <a:rPr dirty="0" sz="2500" spc="-9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domain</a:t>
            </a:r>
            <a:r>
              <a:rPr dirty="0" sz="2500" spc="-9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knowledge, </a:t>
            </a:r>
            <a:r>
              <a:rPr dirty="0" sz="2500">
                <a:latin typeface="Arial MT"/>
                <a:cs typeface="Arial MT"/>
              </a:rPr>
              <a:t>knowledge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of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ML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and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statistical </a:t>
            </a:r>
            <a:r>
              <a:rPr dirty="0" sz="2500">
                <a:latin typeface="Arial MT"/>
                <a:cs typeface="Arial MT"/>
              </a:rPr>
              <a:t>methods,</a:t>
            </a:r>
            <a:r>
              <a:rPr dirty="0" sz="2500" spc="-8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and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library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help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files </a:t>
            </a:r>
            <a:r>
              <a:rPr dirty="0" sz="2500">
                <a:latin typeface="Arial MT"/>
                <a:cs typeface="Arial MT"/>
              </a:rPr>
              <a:t>to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choose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candidate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algorithms</a:t>
            </a:r>
            <a:endParaRPr sz="2500">
              <a:latin typeface="Arial MT"/>
              <a:cs typeface="Arial MT"/>
            </a:endParaRPr>
          </a:p>
          <a:p>
            <a:pPr algn="just" marL="278765" marR="220345" indent="-266700">
              <a:lnSpc>
                <a:spcPct val="100000"/>
              </a:lnSpc>
              <a:spcBef>
                <a:spcPts val="1295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2500" spc="-10" b="1">
                <a:latin typeface="Arial"/>
                <a:cs typeface="Arial"/>
              </a:rPr>
              <a:t>Outcome:</a:t>
            </a:r>
            <a:r>
              <a:rPr dirty="0" sz="2500" spc="-50" b="1">
                <a:latin typeface="Arial"/>
                <a:cs typeface="Arial"/>
              </a:rPr>
              <a:t> </a:t>
            </a:r>
            <a:r>
              <a:rPr dirty="0" sz="2500">
                <a:latin typeface="Arial MT"/>
                <a:cs typeface="Arial MT"/>
              </a:rPr>
              <a:t>A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set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of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algorithms </a:t>
            </a:r>
            <a:r>
              <a:rPr dirty="0" sz="2500">
                <a:latin typeface="Arial MT"/>
                <a:cs typeface="Arial MT"/>
              </a:rPr>
              <a:t>that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should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be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appropriate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 spc="-25">
                <a:latin typeface="Arial MT"/>
                <a:cs typeface="Arial MT"/>
              </a:rPr>
              <a:t>for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analytical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 spc="-20">
                <a:latin typeface="Arial MT"/>
                <a:cs typeface="Arial MT"/>
              </a:rPr>
              <a:t>task</a:t>
            </a:r>
            <a:endParaRPr sz="2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75"/>
              </a:spcBef>
            </a:pPr>
            <a:endParaRPr sz="2500">
              <a:latin typeface="Arial MT"/>
              <a:cs typeface="Arial MT"/>
            </a:endParaRPr>
          </a:p>
          <a:p>
            <a:pPr marL="2171065">
              <a:lnSpc>
                <a:spcPct val="100000"/>
              </a:lnSpc>
            </a:pPr>
            <a:r>
              <a:rPr dirty="0" sz="1900" spc="-10">
                <a:latin typeface="Arial MT"/>
                <a:cs typeface="Arial MT"/>
              </a:rPr>
              <a:t>Slide</a:t>
            </a:r>
            <a:r>
              <a:rPr dirty="0" sz="1900" spc="-9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&lt;#&gt;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of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50">
                <a:latin typeface="Arial MT"/>
                <a:cs typeface="Arial MT"/>
              </a:rPr>
              <a:t>9</a:t>
            </a:r>
            <a:endParaRPr sz="19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8051" y="1837434"/>
            <a:ext cx="3675163" cy="479612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89694" rIns="0" bIns="0" rtlCol="0" vert="horz">
            <a:spAutoFit/>
          </a:bodyPr>
          <a:lstStyle/>
          <a:p>
            <a:pPr marL="321945">
              <a:lnSpc>
                <a:spcPct val="100000"/>
              </a:lnSpc>
              <a:spcBef>
                <a:spcPts val="100"/>
              </a:spcBef>
            </a:pPr>
            <a:r>
              <a:rPr dirty="0" sz="3300">
                <a:solidFill>
                  <a:srgbClr val="262673"/>
                </a:solidFill>
              </a:rPr>
              <a:t>Machine</a:t>
            </a:r>
            <a:r>
              <a:rPr dirty="0" sz="3300" spc="-70">
                <a:solidFill>
                  <a:srgbClr val="262673"/>
                </a:solidFill>
              </a:rPr>
              <a:t> </a:t>
            </a:r>
            <a:r>
              <a:rPr dirty="0" sz="3300">
                <a:solidFill>
                  <a:srgbClr val="262673"/>
                </a:solidFill>
              </a:rPr>
              <a:t>Learning</a:t>
            </a:r>
            <a:r>
              <a:rPr dirty="0" sz="3300" spc="-65">
                <a:solidFill>
                  <a:srgbClr val="262673"/>
                </a:solidFill>
              </a:rPr>
              <a:t> </a:t>
            </a:r>
            <a:r>
              <a:rPr dirty="0" sz="3300" spc="-10">
                <a:solidFill>
                  <a:srgbClr val="262673"/>
                </a:solidFill>
              </a:rPr>
              <a:t>Pipeline</a:t>
            </a:r>
            <a:endParaRPr sz="3300"/>
          </a:p>
        </p:txBody>
      </p:sp>
      <p:sp>
        <p:nvSpPr>
          <p:cNvPr id="3" name="object 3" descr=""/>
          <p:cNvSpPr txBox="1"/>
          <p:nvPr/>
        </p:nvSpPr>
        <p:spPr>
          <a:xfrm>
            <a:off x="7156873" y="7106810"/>
            <a:ext cx="1487170" cy="315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10">
                <a:latin typeface="Arial MT"/>
                <a:cs typeface="Arial MT"/>
              </a:rPr>
              <a:t>Slide</a:t>
            </a:r>
            <a:r>
              <a:rPr dirty="0" sz="1900" spc="-9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&lt;#&gt;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of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50">
                <a:latin typeface="Arial MT"/>
                <a:cs typeface="Arial MT"/>
              </a:rPr>
              <a:t>9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932876" y="1803428"/>
            <a:ext cx="4892040" cy="4104004"/>
          </a:xfrm>
          <a:prstGeom prst="rect">
            <a:avLst/>
          </a:prstGeom>
        </p:spPr>
        <p:txBody>
          <a:bodyPr wrap="square" lIns="0" tIns="1771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dirty="0" sz="2500" b="1">
                <a:solidFill>
                  <a:srgbClr val="00B0F0"/>
                </a:solidFill>
                <a:latin typeface="Arial"/>
                <a:cs typeface="Arial"/>
              </a:rPr>
              <a:t>Performance</a:t>
            </a:r>
            <a:r>
              <a:rPr dirty="0" sz="2500" spc="-175" b="1">
                <a:solidFill>
                  <a:srgbClr val="00B0F0"/>
                </a:solidFill>
                <a:latin typeface="Arial"/>
                <a:cs typeface="Arial"/>
              </a:rPr>
              <a:t> </a:t>
            </a:r>
            <a:r>
              <a:rPr dirty="0" sz="2500" spc="-10" b="1">
                <a:solidFill>
                  <a:srgbClr val="00B0F0"/>
                </a:solidFill>
                <a:latin typeface="Arial"/>
                <a:cs typeface="Arial"/>
              </a:rPr>
              <a:t>Evaluation</a:t>
            </a:r>
            <a:endParaRPr sz="2500">
              <a:latin typeface="Arial"/>
              <a:cs typeface="Arial"/>
            </a:endParaRPr>
          </a:p>
          <a:p>
            <a:pPr marL="278765" marR="5080" indent="-266700">
              <a:lnSpc>
                <a:spcPct val="100000"/>
              </a:lnSpc>
              <a:spcBef>
                <a:spcPts val="1295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2500" b="1">
                <a:latin typeface="Arial"/>
                <a:cs typeface="Arial"/>
              </a:rPr>
              <a:t>Goal:</a:t>
            </a:r>
            <a:r>
              <a:rPr dirty="0" sz="2500" spc="-95" b="1">
                <a:latin typeface="Arial"/>
                <a:cs typeface="Arial"/>
              </a:rPr>
              <a:t> </a:t>
            </a:r>
            <a:r>
              <a:rPr dirty="0" sz="2500">
                <a:latin typeface="Arial MT"/>
                <a:cs typeface="Arial MT"/>
              </a:rPr>
              <a:t>Test</a:t>
            </a:r>
            <a:r>
              <a:rPr dirty="0" sz="2500" spc="-9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candidate</a:t>
            </a:r>
            <a:r>
              <a:rPr dirty="0" sz="2500" spc="-9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algorithms </a:t>
            </a:r>
            <a:r>
              <a:rPr dirty="0" sz="2500">
                <a:latin typeface="Arial MT"/>
                <a:cs typeface="Arial MT"/>
              </a:rPr>
              <a:t>and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evaluate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predictive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accuracy</a:t>
            </a:r>
            <a:endParaRPr sz="2500">
              <a:latin typeface="Arial MT"/>
              <a:cs typeface="Arial MT"/>
            </a:endParaRPr>
          </a:p>
          <a:p>
            <a:pPr marL="278765" marR="169545" indent="-266700">
              <a:lnSpc>
                <a:spcPct val="100299"/>
              </a:lnSpc>
              <a:spcBef>
                <a:spcPts val="1190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2500" b="1">
                <a:latin typeface="Arial"/>
                <a:cs typeface="Arial"/>
              </a:rPr>
              <a:t>Methods:</a:t>
            </a:r>
            <a:r>
              <a:rPr dirty="0" sz="2500" spc="-90" b="1">
                <a:latin typeface="Arial"/>
                <a:cs typeface="Arial"/>
              </a:rPr>
              <a:t> </a:t>
            </a:r>
            <a:r>
              <a:rPr dirty="0" sz="2500">
                <a:latin typeface="Arial MT"/>
                <a:cs typeface="Arial MT"/>
              </a:rPr>
              <a:t>Fit</a:t>
            </a:r>
            <a:r>
              <a:rPr dirty="0" sz="2500" spc="-9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each</a:t>
            </a:r>
            <a:r>
              <a:rPr dirty="0" sz="2500" spc="-9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algorithm</a:t>
            </a:r>
            <a:r>
              <a:rPr dirty="0" sz="2500" spc="-95">
                <a:latin typeface="Arial MT"/>
                <a:cs typeface="Arial MT"/>
              </a:rPr>
              <a:t> </a:t>
            </a:r>
            <a:r>
              <a:rPr dirty="0" sz="2500" spc="-25">
                <a:latin typeface="Arial MT"/>
                <a:cs typeface="Arial MT"/>
              </a:rPr>
              <a:t>on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same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set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of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historic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training </a:t>
            </a:r>
            <a:r>
              <a:rPr dirty="0" sz="2500">
                <a:latin typeface="Arial MT"/>
                <a:cs typeface="Arial MT"/>
              </a:rPr>
              <a:t>data,</a:t>
            </a:r>
            <a:r>
              <a:rPr dirty="0" sz="2500" spc="-9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analyse</a:t>
            </a:r>
            <a:r>
              <a:rPr dirty="0" sz="2500" spc="-8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confusion</a:t>
            </a:r>
            <a:r>
              <a:rPr dirty="0" sz="2500" spc="-8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matrix </a:t>
            </a:r>
            <a:r>
              <a:rPr dirty="0" sz="2500">
                <a:latin typeface="Arial MT"/>
                <a:cs typeface="Arial MT"/>
              </a:rPr>
              <a:t>and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various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other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metrics</a:t>
            </a:r>
            <a:endParaRPr sz="2500">
              <a:latin typeface="Arial MT"/>
              <a:cs typeface="Arial MT"/>
            </a:endParaRPr>
          </a:p>
          <a:p>
            <a:pPr marL="278765" marR="151130" indent="-266700">
              <a:lnSpc>
                <a:spcPct val="100000"/>
              </a:lnSpc>
              <a:spcBef>
                <a:spcPts val="1295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2500" spc="-10" b="1">
                <a:latin typeface="Arial"/>
                <a:cs typeface="Arial"/>
              </a:rPr>
              <a:t>Outcome:</a:t>
            </a:r>
            <a:r>
              <a:rPr dirty="0" sz="2500" spc="-120" b="1">
                <a:latin typeface="Arial"/>
                <a:cs typeface="Arial"/>
              </a:rPr>
              <a:t> </a:t>
            </a:r>
            <a:r>
              <a:rPr dirty="0" sz="2500">
                <a:latin typeface="Arial MT"/>
                <a:cs typeface="Arial MT"/>
              </a:rPr>
              <a:t>Comparison</a:t>
            </a:r>
            <a:r>
              <a:rPr dirty="0" sz="2500" spc="-114">
                <a:latin typeface="Arial MT"/>
                <a:cs typeface="Arial MT"/>
              </a:rPr>
              <a:t> </a:t>
            </a:r>
            <a:r>
              <a:rPr dirty="0" sz="2500" spc="-25">
                <a:latin typeface="Arial MT"/>
                <a:cs typeface="Arial MT"/>
              </a:rPr>
              <a:t>of </a:t>
            </a:r>
            <a:r>
              <a:rPr dirty="0" sz="2500">
                <a:latin typeface="Arial MT"/>
                <a:cs typeface="Arial MT"/>
              </a:rPr>
              <a:t>results</a:t>
            </a:r>
            <a:r>
              <a:rPr dirty="0" sz="2500" spc="-10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from</a:t>
            </a:r>
            <a:r>
              <a:rPr dirty="0" sz="2500" spc="-10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selected</a:t>
            </a:r>
            <a:r>
              <a:rPr dirty="0" sz="2500" spc="-10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algorithms</a:t>
            </a:r>
            <a:endParaRPr sz="2500">
              <a:latin typeface="Arial MT"/>
              <a:cs typeface="Arial MT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8051" y="1837434"/>
            <a:ext cx="3675163" cy="4796124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89694" rIns="0" bIns="0" rtlCol="0" vert="horz">
            <a:spAutoFit/>
          </a:bodyPr>
          <a:lstStyle/>
          <a:p>
            <a:pPr marL="321945">
              <a:lnSpc>
                <a:spcPct val="100000"/>
              </a:lnSpc>
              <a:spcBef>
                <a:spcPts val="100"/>
              </a:spcBef>
            </a:pPr>
            <a:r>
              <a:rPr dirty="0" sz="3300">
                <a:solidFill>
                  <a:srgbClr val="262673"/>
                </a:solidFill>
              </a:rPr>
              <a:t>Machine</a:t>
            </a:r>
            <a:r>
              <a:rPr dirty="0" sz="3300" spc="-70">
                <a:solidFill>
                  <a:srgbClr val="262673"/>
                </a:solidFill>
              </a:rPr>
              <a:t> </a:t>
            </a:r>
            <a:r>
              <a:rPr dirty="0" sz="3300">
                <a:solidFill>
                  <a:srgbClr val="262673"/>
                </a:solidFill>
              </a:rPr>
              <a:t>Learning</a:t>
            </a:r>
            <a:r>
              <a:rPr dirty="0" sz="3300" spc="-65">
                <a:solidFill>
                  <a:srgbClr val="262673"/>
                </a:solidFill>
              </a:rPr>
              <a:t> </a:t>
            </a:r>
            <a:r>
              <a:rPr dirty="0" sz="3300" spc="-10">
                <a:solidFill>
                  <a:srgbClr val="262673"/>
                </a:solidFill>
              </a:rPr>
              <a:t>Pipeline</a:t>
            </a:r>
            <a:endParaRPr sz="3300"/>
          </a:p>
        </p:txBody>
      </p:sp>
      <p:sp>
        <p:nvSpPr>
          <p:cNvPr id="3" name="object 3" descr=""/>
          <p:cNvSpPr txBox="1"/>
          <p:nvPr/>
        </p:nvSpPr>
        <p:spPr>
          <a:xfrm>
            <a:off x="7156873" y="7106810"/>
            <a:ext cx="1487170" cy="315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10">
                <a:latin typeface="Arial MT"/>
                <a:cs typeface="Arial MT"/>
              </a:rPr>
              <a:t>Slide</a:t>
            </a:r>
            <a:r>
              <a:rPr dirty="0" sz="1900" spc="-9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&lt;#&gt;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of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50">
                <a:latin typeface="Arial MT"/>
                <a:cs typeface="Arial MT"/>
              </a:rPr>
              <a:t>9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096007" y="1803428"/>
            <a:ext cx="4133215" cy="4485005"/>
          </a:xfrm>
          <a:prstGeom prst="rect">
            <a:avLst/>
          </a:prstGeom>
        </p:spPr>
        <p:txBody>
          <a:bodyPr wrap="square" lIns="0" tIns="1771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dirty="0" sz="2500" b="1">
                <a:solidFill>
                  <a:srgbClr val="00B0F0"/>
                </a:solidFill>
                <a:latin typeface="Arial"/>
                <a:cs typeface="Arial"/>
              </a:rPr>
              <a:t>Model</a:t>
            </a:r>
            <a:r>
              <a:rPr dirty="0" sz="2500" spc="-135" b="1">
                <a:solidFill>
                  <a:srgbClr val="00B0F0"/>
                </a:solidFill>
                <a:latin typeface="Arial"/>
                <a:cs typeface="Arial"/>
              </a:rPr>
              <a:t> </a:t>
            </a:r>
            <a:r>
              <a:rPr dirty="0" sz="2500" spc="-10" b="1">
                <a:solidFill>
                  <a:srgbClr val="00B0F0"/>
                </a:solidFill>
                <a:latin typeface="Arial"/>
                <a:cs typeface="Arial"/>
              </a:rPr>
              <a:t>Validation</a:t>
            </a:r>
            <a:endParaRPr sz="2500">
              <a:latin typeface="Arial"/>
              <a:cs typeface="Arial"/>
            </a:endParaRPr>
          </a:p>
          <a:p>
            <a:pPr marL="278765" marR="41910" indent="-266700">
              <a:lnSpc>
                <a:spcPct val="100299"/>
              </a:lnSpc>
              <a:spcBef>
                <a:spcPts val="1285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2500" b="1">
                <a:latin typeface="Arial"/>
                <a:cs typeface="Arial"/>
              </a:rPr>
              <a:t>Goal:</a:t>
            </a:r>
            <a:r>
              <a:rPr dirty="0" sz="2500" spc="-105" b="1">
                <a:latin typeface="Arial"/>
                <a:cs typeface="Arial"/>
              </a:rPr>
              <a:t> </a:t>
            </a:r>
            <a:r>
              <a:rPr dirty="0" sz="2500">
                <a:latin typeface="Arial MT"/>
                <a:cs typeface="Arial MT"/>
              </a:rPr>
              <a:t>Evaluate</a:t>
            </a:r>
            <a:r>
              <a:rPr dirty="0" sz="2500" spc="-11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robustness </a:t>
            </a:r>
            <a:r>
              <a:rPr dirty="0" sz="2500">
                <a:latin typeface="Arial MT"/>
                <a:cs typeface="Arial MT"/>
              </a:rPr>
              <a:t>of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predictive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model, </a:t>
            </a:r>
            <a:r>
              <a:rPr dirty="0" sz="2500">
                <a:latin typeface="Arial MT"/>
                <a:cs typeface="Arial MT"/>
              </a:rPr>
              <a:t>check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for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 spc="-20">
                <a:latin typeface="Arial MT"/>
                <a:cs typeface="Arial MT"/>
              </a:rPr>
              <a:t>over-</a:t>
            </a:r>
            <a:r>
              <a:rPr dirty="0" sz="2500">
                <a:latin typeface="Arial MT"/>
                <a:cs typeface="Arial MT"/>
              </a:rPr>
              <a:t>fitting,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refine hyperparameters</a:t>
            </a:r>
            <a:endParaRPr sz="2500">
              <a:latin typeface="Arial MT"/>
              <a:cs typeface="Arial MT"/>
            </a:endParaRPr>
          </a:p>
          <a:p>
            <a:pPr marL="278765" marR="112395" indent="-266700">
              <a:lnSpc>
                <a:spcPct val="100800"/>
              </a:lnSpc>
              <a:spcBef>
                <a:spcPts val="1155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2500" b="1">
                <a:latin typeface="Arial"/>
                <a:cs typeface="Arial"/>
              </a:rPr>
              <a:t>Methods:</a:t>
            </a:r>
            <a:r>
              <a:rPr dirty="0" sz="2500" spc="-105" b="1">
                <a:latin typeface="Arial"/>
                <a:cs typeface="Arial"/>
              </a:rPr>
              <a:t> </a:t>
            </a:r>
            <a:r>
              <a:rPr dirty="0" sz="2500">
                <a:latin typeface="Arial MT"/>
                <a:cs typeface="Arial MT"/>
              </a:rPr>
              <a:t>Grid</a:t>
            </a:r>
            <a:r>
              <a:rPr dirty="0" sz="2500" spc="-11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search</a:t>
            </a:r>
            <a:r>
              <a:rPr dirty="0" sz="2500" spc="-110">
                <a:latin typeface="Arial MT"/>
                <a:cs typeface="Arial MT"/>
              </a:rPr>
              <a:t> </a:t>
            </a:r>
            <a:r>
              <a:rPr dirty="0" sz="2500" spc="-25">
                <a:latin typeface="Arial MT"/>
                <a:cs typeface="Arial MT"/>
              </a:rPr>
              <a:t>CV, </a:t>
            </a:r>
            <a:r>
              <a:rPr dirty="0" sz="2500" spc="-20">
                <a:latin typeface="Arial MT"/>
                <a:cs typeface="Arial MT"/>
              </a:rPr>
              <a:t>k-</a:t>
            </a:r>
            <a:r>
              <a:rPr dirty="0" sz="2500">
                <a:latin typeface="Arial MT"/>
                <a:cs typeface="Arial MT"/>
              </a:rPr>
              <a:t>fold</a:t>
            </a:r>
            <a:r>
              <a:rPr dirty="0" sz="2500" spc="-45">
                <a:latin typeface="Arial MT"/>
                <a:cs typeface="Arial MT"/>
              </a:rPr>
              <a:t> </a:t>
            </a:r>
            <a:r>
              <a:rPr dirty="0" sz="2500" spc="-25">
                <a:latin typeface="Arial MT"/>
                <a:cs typeface="Arial MT"/>
              </a:rPr>
              <a:t>CV</a:t>
            </a:r>
            <a:endParaRPr sz="2500">
              <a:latin typeface="Arial MT"/>
              <a:cs typeface="Arial MT"/>
            </a:endParaRPr>
          </a:p>
          <a:p>
            <a:pPr marL="278765" marR="5080" indent="-266700">
              <a:lnSpc>
                <a:spcPct val="100000"/>
              </a:lnSpc>
              <a:spcBef>
                <a:spcPts val="1295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2500" spc="-10" b="1">
                <a:latin typeface="Arial"/>
                <a:cs typeface="Arial"/>
              </a:rPr>
              <a:t>Outcome:</a:t>
            </a:r>
            <a:r>
              <a:rPr dirty="0" sz="2500" spc="-85" b="1">
                <a:latin typeface="Arial"/>
                <a:cs typeface="Arial"/>
              </a:rPr>
              <a:t> </a:t>
            </a:r>
            <a:r>
              <a:rPr dirty="0" sz="2500" spc="-10">
                <a:latin typeface="Arial MT"/>
                <a:cs typeface="Arial MT"/>
              </a:rPr>
              <a:t>Optimization</a:t>
            </a:r>
            <a:r>
              <a:rPr dirty="0" sz="2500" spc="-85">
                <a:latin typeface="Arial MT"/>
                <a:cs typeface="Arial MT"/>
              </a:rPr>
              <a:t> </a:t>
            </a:r>
            <a:r>
              <a:rPr dirty="0" sz="2500" spc="-25">
                <a:latin typeface="Arial MT"/>
                <a:cs typeface="Arial MT"/>
              </a:rPr>
              <a:t>of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9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objective</a:t>
            </a:r>
            <a:r>
              <a:rPr dirty="0" sz="2500" spc="-8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function,</a:t>
            </a:r>
            <a:r>
              <a:rPr dirty="0" sz="2500" spc="-85">
                <a:latin typeface="Arial MT"/>
                <a:cs typeface="Arial MT"/>
              </a:rPr>
              <a:t> </a:t>
            </a:r>
            <a:r>
              <a:rPr dirty="0" sz="2500" spc="-20">
                <a:latin typeface="Arial MT"/>
                <a:cs typeface="Arial MT"/>
              </a:rPr>
              <a:t>good </a:t>
            </a:r>
            <a:r>
              <a:rPr dirty="0" sz="2500">
                <a:latin typeface="Arial MT"/>
                <a:cs typeface="Arial MT"/>
              </a:rPr>
              <a:t>generalisation</a:t>
            </a:r>
            <a:r>
              <a:rPr dirty="0" sz="2500" spc="-14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performance</a:t>
            </a:r>
            <a:endParaRPr sz="2500">
              <a:latin typeface="Arial MT"/>
              <a:cs typeface="Arial MT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8051" y="1837434"/>
            <a:ext cx="3675163" cy="4796124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89694" rIns="0" bIns="0" rtlCol="0" vert="horz">
            <a:spAutoFit/>
          </a:bodyPr>
          <a:lstStyle/>
          <a:p>
            <a:pPr marL="321945">
              <a:lnSpc>
                <a:spcPct val="100000"/>
              </a:lnSpc>
              <a:spcBef>
                <a:spcPts val="100"/>
              </a:spcBef>
            </a:pPr>
            <a:r>
              <a:rPr dirty="0" sz="3300">
                <a:solidFill>
                  <a:srgbClr val="262673"/>
                </a:solidFill>
              </a:rPr>
              <a:t>Machine</a:t>
            </a:r>
            <a:r>
              <a:rPr dirty="0" sz="3300" spc="-70">
                <a:solidFill>
                  <a:srgbClr val="262673"/>
                </a:solidFill>
              </a:rPr>
              <a:t> </a:t>
            </a:r>
            <a:r>
              <a:rPr dirty="0" sz="3300">
                <a:solidFill>
                  <a:srgbClr val="262673"/>
                </a:solidFill>
              </a:rPr>
              <a:t>Learning</a:t>
            </a:r>
            <a:r>
              <a:rPr dirty="0" sz="3300" spc="-65">
                <a:solidFill>
                  <a:srgbClr val="262673"/>
                </a:solidFill>
              </a:rPr>
              <a:t> </a:t>
            </a:r>
            <a:r>
              <a:rPr dirty="0" sz="3300" spc="-10">
                <a:solidFill>
                  <a:srgbClr val="262673"/>
                </a:solidFill>
              </a:rPr>
              <a:t>Pipeline</a:t>
            </a:r>
            <a:endParaRPr sz="3300"/>
          </a:p>
        </p:txBody>
      </p:sp>
      <p:sp>
        <p:nvSpPr>
          <p:cNvPr id="3" name="object 3" descr=""/>
          <p:cNvSpPr txBox="1"/>
          <p:nvPr/>
        </p:nvSpPr>
        <p:spPr>
          <a:xfrm>
            <a:off x="7156873" y="7106810"/>
            <a:ext cx="1487170" cy="315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10">
                <a:latin typeface="Arial MT"/>
                <a:cs typeface="Arial MT"/>
              </a:rPr>
              <a:t>Slide</a:t>
            </a:r>
            <a:r>
              <a:rPr dirty="0" sz="1900" spc="-9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&lt;#&gt;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of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50">
                <a:latin typeface="Arial MT"/>
                <a:cs typeface="Arial MT"/>
              </a:rPr>
              <a:t>9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340699" y="1967849"/>
            <a:ext cx="3818254" cy="3241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10" b="1">
                <a:solidFill>
                  <a:srgbClr val="FF0000"/>
                </a:solidFill>
                <a:latin typeface="Arial"/>
                <a:cs typeface="Arial"/>
              </a:rPr>
              <a:t>Iteration:</a:t>
            </a:r>
            <a:endParaRPr sz="2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500" b="1">
                <a:solidFill>
                  <a:srgbClr val="00B0F0"/>
                </a:solidFill>
                <a:latin typeface="Arial"/>
                <a:cs typeface="Arial"/>
              </a:rPr>
              <a:t>Algorithm</a:t>
            </a:r>
            <a:r>
              <a:rPr dirty="0" sz="2500" spc="-155" b="1">
                <a:solidFill>
                  <a:srgbClr val="00B0F0"/>
                </a:solidFill>
                <a:latin typeface="Arial"/>
                <a:cs typeface="Arial"/>
              </a:rPr>
              <a:t> </a:t>
            </a:r>
            <a:r>
              <a:rPr dirty="0" sz="2500" spc="-10" b="1">
                <a:solidFill>
                  <a:srgbClr val="00B0F0"/>
                </a:solidFill>
                <a:latin typeface="Arial"/>
                <a:cs typeface="Arial"/>
              </a:rPr>
              <a:t>Selection</a:t>
            </a:r>
            <a:endParaRPr sz="2500">
              <a:latin typeface="Arial"/>
              <a:cs typeface="Arial"/>
            </a:endParaRPr>
          </a:p>
          <a:p>
            <a:pPr marL="278765" marR="5080" indent="-266700">
              <a:lnSpc>
                <a:spcPct val="100200"/>
              </a:lnSpc>
              <a:spcBef>
                <a:spcPts val="1290"/>
              </a:spcBef>
              <a:buChar char="•"/>
              <a:tabLst>
                <a:tab pos="278765" algn="l"/>
              </a:tabLst>
            </a:pPr>
            <a:r>
              <a:rPr dirty="0" sz="2500">
                <a:latin typeface="Arial MT"/>
                <a:cs typeface="Arial MT"/>
              </a:rPr>
              <a:t>Certain</a:t>
            </a:r>
            <a:r>
              <a:rPr dirty="0" sz="2500" spc="-11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algorithms</a:t>
            </a:r>
            <a:r>
              <a:rPr dirty="0" sz="2500" spc="-110">
                <a:latin typeface="Arial MT"/>
                <a:cs typeface="Arial MT"/>
              </a:rPr>
              <a:t> </a:t>
            </a:r>
            <a:r>
              <a:rPr dirty="0" sz="2500" spc="-25">
                <a:latin typeface="Arial MT"/>
                <a:cs typeface="Arial MT"/>
              </a:rPr>
              <a:t>may </a:t>
            </a:r>
            <a:r>
              <a:rPr dirty="0" sz="2500">
                <a:latin typeface="Arial MT"/>
                <a:cs typeface="Arial MT"/>
              </a:rPr>
              <a:t>be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selected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because </a:t>
            </a:r>
            <a:r>
              <a:rPr dirty="0" sz="2500">
                <a:latin typeface="Arial MT"/>
                <a:cs typeface="Arial MT"/>
              </a:rPr>
              <a:t>they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return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measure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 spc="-25">
                <a:latin typeface="Arial MT"/>
                <a:cs typeface="Arial MT"/>
              </a:rPr>
              <a:t>of </a:t>
            </a:r>
            <a:r>
              <a:rPr dirty="0" sz="2500">
                <a:latin typeface="Arial MT"/>
                <a:cs typeface="Arial MT"/>
              </a:rPr>
              <a:t>feature</a:t>
            </a:r>
            <a:r>
              <a:rPr dirty="0" sz="2500" spc="-14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importance</a:t>
            </a:r>
            <a:r>
              <a:rPr dirty="0" sz="2500" spc="-14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which </a:t>
            </a:r>
            <a:r>
              <a:rPr dirty="0" sz="2500">
                <a:latin typeface="Arial MT"/>
                <a:cs typeface="Arial MT"/>
              </a:rPr>
              <a:t>can</a:t>
            </a:r>
            <a:r>
              <a:rPr dirty="0" sz="2500" spc="-4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be</a:t>
            </a:r>
            <a:r>
              <a:rPr dirty="0" sz="2500" spc="-4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fed</a:t>
            </a:r>
            <a:r>
              <a:rPr dirty="0" sz="2500" spc="-4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back</a:t>
            </a:r>
            <a:r>
              <a:rPr dirty="0" sz="2500" spc="-4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to</a:t>
            </a:r>
            <a:r>
              <a:rPr dirty="0" sz="2500" spc="-40">
                <a:latin typeface="Arial MT"/>
                <a:cs typeface="Arial MT"/>
              </a:rPr>
              <a:t> </a:t>
            </a:r>
            <a:r>
              <a:rPr dirty="0" sz="2500" spc="-25">
                <a:latin typeface="Arial MT"/>
                <a:cs typeface="Arial MT"/>
              </a:rPr>
              <a:t>the </a:t>
            </a:r>
            <a:r>
              <a:rPr dirty="0" sz="2500">
                <a:latin typeface="Arial MT"/>
                <a:cs typeface="Arial MT"/>
              </a:rPr>
              <a:t>feature</a:t>
            </a:r>
            <a:r>
              <a:rPr dirty="0" sz="2500" spc="-12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extraction</a:t>
            </a:r>
            <a:r>
              <a:rPr dirty="0" sz="2500" spc="-120">
                <a:latin typeface="Arial MT"/>
                <a:cs typeface="Arial MT"/>
              </a:rPr>
              <a:t> </a:t>
            </a:r>
            <a:r>
              <a:rPr dirty="0" sz="2500" spc="-20">
                <a:latin typeface="Arial MT"/>
                <a:cs typeface="Arial MT"/>
              </a:rPr>
              <a:t>phase</a:t>
            </a:r>
            <a:endParaRPr sz="2500">
              <a:latin typeface="Arial MT"/>
              <a:cs typeface="Arial MT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8051" y="1837434"/>
            <a:ext cx="3675163" cy="4796124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89694" rIns="0" bIns="0" rtlCol="0" vert="horz">
            <a:spAutoFit/>
          </a:bodyPr>
          <a:lstStyle/>
          <a:p>
            <a:pPr marL="321945">
              <a:lnSpc>
                <a:spcPct val="100000"/>
              </a:lnSpc>
              <a:spcBef>
                <a:spcPts val="100"/>
              </a:spcBef>
            </a:pPr>
            <a:r>
              <a:rPr dirty="0" sz="3300">
                <a:solidFill>
                  <a:srgbClr val="262673"/>
                </a:solidFill>
              </a:rPr>
              <a:t>Machine</a:t>
            </a:r>
            <a:r>
              <a:rPr dirty="0" sz="3300" spc="-70">
                <a:solidFill>
                  <a:srgbClr val="262673"/>
                </a:solidFill>
              </a:rPr>
              <a:t> </a:t>
            </a:r>
            <a:r>
              <a:rPr dirty="0" sz="3300">
                <a:solidFill>
                  <a:srgbClr val="262673"/>
                </a:solidFill>
              </a:rPr>
              <a:t>Learning</a:t>
            </a:r>
            <a:r>
              <a:rPr dirty="0" sz="3300" spc="-65">
                <a:solidFill>
                  <a:srgbClr val="262673"/>
                </a:solidFill>
              </a:rPr>
              <a:t> </a:t>
            </a:r>
            <a:r>
              <a:rPr dirty="0" sz="3300" spc="-10">
                <a:solidFill>
                  <a:srgbClr val="262673"/>
                </a:solidFill>
              </a:rPr>
              <a:t>Pipeline</a:t>
            </a:r>
            <a:endParaRPr sz="3300"/>
          </a:p>
        </p:txBody>
      </p:sp>
      <p:sp>
        <p:nvSpPr>
          <p:cNvPr id="3" name="object 3" descr=""/>
          <p:cNvSpPr txBox="1"/>
          <p:nvPr/>
        </p:nvSpPr>
        <p:spPr>
          <a:xfrm>
            <a:off x="7156873" y="7106810"/>
            <a:ext cx="1487170" cy="315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10">
                <a:latin typeface="Arial MT"/>
                <a:cs typeface="Arial MT"/>
              </a:rPr>
              <a:t>Slide</a:t>
            </a:r>
            <a:r>
              <a:rPr dirty="0" sz="1900" spc="-9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&lt;#&gt;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of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50">
                <a:latin typeface="Arial MT"/>
                <a:cs typeface="Arial MT"/>
              </a:rPr>
              <a:t>9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242824" y="1967849"/>
            <a:ext cx="4152900" cy="400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10" b="1">
                <a:solidFill>
                  <a:srgbClr val="FF0000"/>
                </a:solidFill>
                <a:latin typeface="Arial"/>
                <a:cs typeface="Arial"/>
              </a:rPr>
              <a:t>Iteration:</a:t>
            </a:r>
            <a:endParaRPr sz="2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500" b="1">
                <a:solidFill>
                  <a:srgbClr val="00B0F0"/>
                </a:solidFill>
                <a:latin typeface="Arial"/>
                <a:cs typeface="Arial"/>
              </a:rPr>
              <a:t>Model</a:t>
            </a:r>
            <a:r>
              <a:rPr dirty="0" sz="2500" spc="-135" b="1">
                <a:solidFill>
                  <a:srgbClr val="00B0F0"/>
                </a:solidFill>
                <a:latin typeface="Arial"/>
                <a:cs typeface="Arial"/>
              </a:rPr>
              <a:t> </a:t>
            </a:r>
            <a:r>
              <a:rPr dirty="0" sz="2500" spc="-10" b="1">
                <a:solidFill>
                  <a:srgbClr val="00B0F0"/>
                </a:solidFill>
                <a:latin typeface="Arial"/>
                <a:cs typeface="Arial"/>
              </a:rPr>
              <a:t>Validation</a:t>
            </a:r>
            <a:endParaRPr sz="2500">
              <a:latin typeface="Arial"/>
              <a:cs typeface="Arial"/>
            </a:endParaRPr>
          </a:p>
          <a:p>
            <a:pPr marL="278765" marR="5080" indent="-266700">
              <a:lnSpc>
                <a:spcPct val="100099"/>
              </a:lnSpc>
              <a:spcBef>
                <a:spcPts val="1295"/>
              </a:spcBef>
              <a:buChar char="•"/>
              <a:tabLst>
                <a:tab pos="278765" algn="l"/>
              </a:tabLst>
            </a:pP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model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validation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phase </a:t>
            </a:r>
            <a:r>
              <a:rPr dirty="0" sz="2500">
                <a:latin typeface="Arial MT"/>
                <a:cs typeface="Arial MT"/>
              </a:rPr>
              <a:t>should</a:t>
            </a:r>
            <a:r>
              <a:rPr dirty="0" sz="2500" spc="-4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lead</a:t>
            </a:r>
            <a:r>
              <a:rPr dirty="0" sz="2500" spc="-4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to</a:t>
            </a:r>
            <a:r>
              <a:rPr dirty="0" sz="2500" spc="-4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</a:t>
            </a:r>
            <a:r>
              <a:rPr dirty="0" sz="2500" spc="-4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new</a:t>
            </a:r>
            <a:r>
              <a:rPr dirty="0" sz="2500" spc="-4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round </a:t>
            </a:r>
            <a:r>
              <a:rPr dirty="0" sz="2500">
                <a:latin typeface="Arial MT"/>
                <a:cs typeface="Arial MT"/>
              </a:rPr>
              <a:t>of</a:t>
            </a:r>
            <a:r>
              <a:rPr dirty="0" sz="2500" spc="-11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performance</a:t>
            </a:r>
            <a:r>
              <a:rPr dirty="0" sz="2500" spc="-10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evaluation, </a:t>
            </a:r>
            <a:r>
              <a:rPr dirty="0" sz="2500">
                <a:latin typeface="Arial MT"/>
                <a:cs typeface="Arial MT"/>
              </a:rPr>
              <a:t>and</a:t>
            </a:r>
            <a:r>
              <a:rPr dirty="0" sz="2500" spc="-4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4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set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of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candidate </a:t>
            </a:r>
            <a:r>
              <a:rPr dirty="0" sz="2500">
                <a:latin typeface="Arial MT"/>
                <a:cs typeface="Arial MT"/>
              </a:rPr>
              <a:t>algorithms</a:t>
            </a:r>
            <a:r>
              <a:rPr dirty="0" sz="2500" spc="-9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will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gradually</a:t>
            </a:r>
            <a:r>
              <a:rPr dirty="0" sz="2500" spc="-85">
                <a:latin typeface="Arial MT"/>
                <a:cs typeface="Arial MT"/>
              </a:rPr>
              <a:t> </a:t>
            </a:r>
            <a:r>
              <a:rPr dirty="0" sz="2500" spc="-25">
                <a:latin typeface="Arial MT"/>
                <a:cs typeface="Arial MT"/>
              </a:rPr>
              <a:t>be </a:t>
            </a:r>
            <a:r>
              <a:rPr dirty="0" sz="2500">
                <a:latin typeface="Arial MT"/>
                <a:cs typeface="Arial MT"/>
              </a:rPr>
              <a:t>reduced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until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one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algorithm </a:t>
            </a:r>
            <a:r>
              <a:rPr dirty="0" sz="2500">
                <a:latin typeface="Arial MT"/>
                <a:cs typeface="Arial MT"/>
              </a:rPr>
              <a:t>(or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one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ensemble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 spc="-25">
                <a:latin typeface="Arial MT"/>
                <a:cs typeface="Arial MT"/>
              </a:rPr>
              <a:t>of </a:t>
            </a:r>
            <a:r>
              <a:rPr dirty="0" sz="2500">
                <a:latin typeface="Arial MT"/>
                <a:cs typeface="Arial MT"/>
              </a:rPr>
              <a:t>algorithms)</a:t>
            </a:r>
            <a:r>
              <a:rPr dirty="0" sz="2500" spc="-8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is</a:t>
            </a:r>
            <a:r>
              <a:rPr dirty="0" sz="2500" spc="-8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selected.</a:t>
            </a:r>
            <a:endParaRPr sz="2500">
              <a:latin typeface="Arial MT"/>
              <a:cs typeface="Arial MT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8051" y="1837434"/>
            <a:ext cx="3675163" cy="4796124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28839" rIns="0" bIns="0" rtlCol="0" vert="horz">
            <a:spAutoFit/>
          </a:bodyPr>
          <a:lstStyle/>
          <a:p>
            <a:pPr marL="130365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262673"/>
                </a:solidFill>
              </a:rPr>
              <a:t>Data</a:t>
            </a:r>
            <a:r>
              <a:rPr dirty="0" spc="-85">
                <a:solidFill>
                  <a:srgbClr val="262673"/>
                </a:solidFill>
              </a:rPr>
              <a:t> </a:t>
            </a:r>
            <a:r>
              <a:rPr dirty="0" spc="-10">
                <a:solidFill>
                  <a:srgbClr val="262673"/>
                </a:solidFill>
              </a:rPr>
              <a:t>Preprocessing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195799" y="1717913"/>
            <a:ext cx="8383905" cy="47015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8765" marR="1024890" indent="-266700">
              <a:lnSpc>
                <a:spcPct val="100000"/>
              </a:lnSpc>
              <a:spcBef>
                <a:spcPts val="100"/>
              </a:spcBef>
              <a:buChar char="•"/>
              <a:tabLst>
                <a:tab pos="278765" algn="l"/>
              </a:tabLst>
            </a:pPr>
            <a:r>
              <a:rPr dirty="0" sz="2500">
                <a:latin typeface="Arial MT"/>
                <a:cs typeface="Arial MT"/>
              </a:rPr>
              <a:t>Data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preprocessing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is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first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step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in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any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machine </a:t>
            </a:r>
            <a:r>
              <a:rPr dirty="0" sz="2500">
                <a:latin typeface="Arial MT"/>
                <a:cs typeface="Arial MT"/>
              </a:rPr>
              <a:t>learning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project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–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 b="1">
                <a:latin typeface="Arial"/>
                <a:cs typeface="Arial"/>
              </a:rPr>
              <a:t>Feature</a:t>
            </a:r>
            <a:r>
              <a:rPr dirty="0" sz="2500" spc="-70" b="1">
                <a:latin typeface="Arial"/>
                <a:cs typeface="Arial"/>
              </a:rPr>
              <a:t> </a:t>
            </a:r>
            <a:r>
              <a:rPr dirty="0" sz="2500" b="1">
                <a:latin typeface="Arial"/>
                <a:cs typeface="Arial"/>
              </a:rPr>
              <a:t>Extraction</a:t>
            </a:r>
            <a:r>
              <a:rPr dirty="0" sz="2500" spc="-80" b="1">
                <a:latin typeface="Arial"/>
                <a:cs typeface="Arial"/>
              </a:rPr>
              <a:t> </a:t>
            </a:r>
            <a:r>
              <a:rPr dirty="0" sz="2500">
                <a:latin typeface="Arial MT"/>
                <a:cs typeface="Arial MT"/>
              </a:rPr>
              <a:t>and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 spc="-20" b="1">
                <a:latin typeface="Arial"/>
                <a:cs typeface="Arial"/>
              </a:rPr>
              <a:t>Data </a:t>
            </a:r>
            <a:r>
              <a:rPr dirty="0" sz="2500" spc="-10" b="1">
                <a:latin typeface="Arial"/>
                <a:cs typeface="Arial"/>
              </a:rPr>
              <a:t>Preparation</a:t>
            </a:r>
            <a:r>
              <a:rPr dirty="0" sz="2500" spc="-10">
                <a:latin typeface="Arial MT"/>
                <a:cs typeface="Arial MT"/>
              </a:rPr>
              <a:t>.</a:t>
            </a:r>
            <a:endParaRPr sz="2500">
              <a:latin typeface="Arial MT"/>
              <a:cs typeface="Arial MT"/>
            </a:endParaRPr>
          </a:p>
          <a:p>
            <a:pPr marL="278765" marR="40640" indent="-266700">
              <a:lnSpc>
                <a:spcPct val="100000"/>
              </a:lnSpc>
              <a:spcBef>
                <a:spcPts val="1895"/>
              </a:spcBef>
              <a:buChar char="•"/>
              <a:tabLst>
                <a:tab pos="278765" algn="l"/>
              </a:tabLst>
            </a:pPr>
            <a:r>
              <a:rPr dirty="0" sz="2500">
                <a:latin typeface="Arial MT"/>
                <a:cs typeface="Arial MT"/>
              </a:rPr>
              <a:t>Data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preprocessing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can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refer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to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manipulation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or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dropping </a:t>
            </a:r>
            <a:r>
              <a:rPr dirty="0" sz="2500">
                <a:latin typeface="Arial MT"/>
                <a:cs typeface="Arial MT"/>
              </a:rPr>
              <a:t>of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data</a:t>
            </a:r>
            <a:r>
              <a:rPr dirty="0" sz="2500" spc="-4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before</a:t>
            </a:r>
            <a:r>
              <a:rPr dirty="0" sz="2500" spc="-4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it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is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used</a:t>
            </a:r>
            <a:r>
              <a:rPr dirty="0" sz="2500" spc="-4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to</a:t>
            </a:r>
            <a:r>
              <a:rPr dirty="0" sz="2500" spc="-4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ensure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or</a:t>
            </a:r>
            <a:r>
              <a:rPr dirty="0" sz="2500" spc="-4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enhance </a:t>
            </a:r>
            <a:r>
              <a:rPr dirty="0" sz="2500">
                <a:latin typeface="Arial MT"/>
                <a:cs typeface="Arial MT"/>
              </a:rPr>
              <a:t>performance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and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is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an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important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step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in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machine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learning process.</a:t>
            </a:r>
            <a:endParaRPr sz="2500">
              <a:latin typeface="Arial MT"/>
              <a:cs typeface="Arial MT"/>
            </a:endParaRPr>
          </a:p>
          <a:p>
            <a:pPr marL="278765" marR="5080" indent="-266700">
              <a:lnSpc>
                <a:spcPct val="100299"/>
              </a:lnSpc>
              <a:spcBef>
                <a:spcPts val="1890"/>
              </a:spcBef>
              <a:buChar char="•"/>
              <a:tabLst>
                <a:tab pos="278765" algn="l"/>
              </a:tabLst>
            </a:pP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phrase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"garbage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in,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garbage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out"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is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particularly </a:t>
            </a:r>
            <a:r>
              <a:rPr dirty="0" sz="2500">
                <a:latin typeface="Arial MT"/>
                <a:cs typeface="Arial MT"/>
              </a:rPr>
              <a:t>applicable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to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machine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learning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projects.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If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we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use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unclean </a:t>
            </a:r>
            <a:r>
              <a:rPr dirty="0" sz="2500">
                <a:latin typeface="Arial MT"/>
                <a:cs typeface="Arial MT"/>
              </a:rPr>
              <a:t>data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for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machine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learning,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result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will</a:t>
            </a:r>
            <a:r>
              <a:rPr dirty="0" sz="2500" spc="-4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not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be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satisfying </a:t>
            </a:r>
            <a:r>
              <a:rPr dirty="0" sz="2500">
                <a:latin typeface="Arial MT"/>
                <a:cs typeface="Arial MT"/>
              </a:rPr>
              <a:t>enough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for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our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end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application</a:t>
            </a:r>
            <a:endParaRPr sz="2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29422" rIns="0" bIns="0" rtlCol="0" vert="horz">
            <a:spAutoFit/>
          </a:bodyPr>
          <a:lstStyle/>
          <a:p>
            <a:pPr marL="21717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262673"/>
                </a:solidFill>
              </a:rPr>
              <a:t>Exploratory</a:t>
            </a:r>
            <a:r>
              <a:rPr dirty="0" spc="-190">
                <a:solidFill>
                  <a:srgbClr val="262673"/>
                </a:solidFill>
              </a:rPr>
              <a:t> </a:t>
            </a:r>
            <a:r>
              <a:rPr dirty="0" spc="-10">
                <a:solidFill>
                  <a:srgbClr val="262673"/>
                </a:solidFill>
              </a:rPr>
              <a:t>Data</a:t>
            </a:r>
            <a:r>
              <a:rPr dirty="0" spc="-185">
                <a:solidFill>
                  <a:srgbClr val="262673"/>
                </a:solidFill>
              </a:rPr>
              <a:t> </a:t>
            </a:r>
            <a:r>
              <a:rPr dirty="0">
                <a:solidFill>
                  <a:srgbClr val="262673"/>
                </a:solidFill>
              </a:rPr>
              <a:t>Analysis</a:t>
            </a:r>
            <a:r>
              <a:rPr dirty="0" spc="-140">
                <a:solidFill>
                  <a:srgbClr val="262673"/>
                </a:solidFill>
              </a:rPr>
              <a:t> </a:t>
            </a:r>
            <a:r>
              <a:rPr dirty="0" spc="-10">
                <a:solidFill>
                  <a:srgbClr val="262673"/>
                </a:solidFill>
              </a:rPr>
              <a:t>(EDA)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1084045" y="4191173"/>
            <a:ext cx="5680075" cy="2585085"/>
            <a:chOff x="1084045" y="4191173"/>
            <a:chExt cx="5680075" cy="2585085"/>
          </a:xfrm>
        </p:grpSpPr>
        <p:sp>
          <p:nvSpPr>
            <p:cNvPr id="4" name="object 4" descr=""/>
            <p:cNvSpPr/>
            <p:nvPr/>
          </p:nvSpPr>
          <p:spPr>
            <a:xfrm>
              <a:off x="1093904" y="4201033"/>
              <a:ext cx="5660390" cy="2565400"/>
            </a:xfrm>
            <a:custGeom>
              <a:avLst/>
              <a:gdLst/>
              <a:ahLst/>
              <a:cxnLst/>
              <a:rect l="l" t="t" r="r" b="b"/>
              <a:pathLst>
                <a:path w="5660390" h="2565400">
                  <a:moveTo>
                    <a:pt x="5659782" y="0"/>
                  </a:moveTo>
                  <a:lnTo>
                    <a:pt x="0" y="0"/>
                  </a:lnTo>
                  <a:lnTo>
                    <a:pt x="0" y="2564907"/>
                  </a:lnTo>
                  <a:lnTo>
                    <a:pt x="5659782" y="2564907"/>
                  </a:lnTo>
                  <a:lnTo>
                    <a:pt x="5659782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093904" y="4201033"/>
              <a:ext cx="5660390" cy="2565400"/>
            </a:xfrm>
            <a:custGeom>
              <a:avLst/>
              <a:gdLst/>
              <a:ahLst/>
              <a:cxnLst/>
              <a:rect l="l" t="t" r="r" b="b"/>
              <a:pathLst>
                <a:path w="5660390" h="2565400">
                  <a:moveTo>
                    <a:pt x="0" y="0"/>
                  </a:moveTo>
                  <a:lnTo>
                    <a:pt x="5659782" y="0"/>
                  </a:lnTo>
                  <a:lnTo>
                    <a:pt x="5659782" y="2564907"/>
                  </a:lnTo>
                  <a:lnTo>
                    <a:pt x="0" y="2564907"/>
                  </a:lnTo>
                  <a:lnTo>
                    <a:pt x="0" y="0"/>
                  </a:lnTo>
                  <a:close/>
                </a:path>
              </a:pathLst>
            </a:custGeom>
            <a:ln w="1971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1188519" y="4223403"/>
            <a:ext cx="1080770" cy="315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900" spc="-20" b="1">
                <a:latin typeface="Arial"/>
                <a:cs typeface="Arial"/>
              </a:rPr>
              <a:t>Checking</a:t>
            </a:r>
            <a:endParaRPr sz="19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188519" y="4513093"/>
            <a:ext cx="5325110" cy="2058670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472440" indent="-472440">
              <a:lnSpc>
                <a:spcPct val="100000"/>
              </a:lnSpc>
              <a:spcBef>
                <a:spcPts val="720"/>
              </a:spcBef>
              <a:buAutoNum type="arabicPeriod"/>
              <a:tabLst>
                <a:tab pos="472440" algn="l"/>
              </a:tabLst>
            </a:pPr>
            <a:r>
              <a:rPr dirty="0" sz="1900" spc="-20">
                <a:latin typeface="Arial MT"/>
                <a:cs typeface="Arial MT"/>
              </a:rPr>
              <a:t>Feature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Distributions</a:t>
            </a:r>
            <a:endParaRPr sz="1900">
              <a:latin typeface="Arial MT"/>
              <a:cs typeface="Arial MT"/>
            </a:endParaRPr>
          </a:p>
          <a:p>
            <a:pPr marL="472440" indent="-472440">
              <a:lnSpc>
                <a:spcPct val="100000"/>
              </a:lnSpc>
              <a:spcBef>
                <a:spcPts val="625"/>
              </a:spcBef>
              <a:buAutoNum type="arabicPeriod"/>
              <a:tabLst>
                <a:tab pos="472440" algn="l"/>
              </a:tabLst>
            </a:pPr>
            <a:r>
              <a:rPr dirty="0" sz="1900" spc="-10">
                <a:latin typeface="Arial MT"/>
                <a:cs typeface="Arial MT"/>
              </a:rPr>
              <a:t>Class</a:t>
            </a:r>
            <a:r>
              <a:rPr dirty="0" sz="1900" spc="-12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balance</a:t>
            </a:r>
            <a:endParaRPr sz="1900">
              <a:latin typeface="Arial MT"/>
              <a:cs typeface="Arial MT"/>
            </a:endParaRPr>
          </a:p>
          <a:p>
            <a:pPr marL="472440" marR="5080" indent="-473075">
              <a:lnSpc>
                <a:spcPct val="101099"/>
              </a:lnSpc>
              <a:spcBef>
                <a:spcPts val="480"/>
              </a:spcBef>
              <a:buAutoNum type="arabicPeriod"/>
              <a:tabLst>
                <a:tab pos="472440" algn="l"/>
              </a:tabLst>
            </a:pPr>
            <a:r>
              <a:rPr dirty="0" sz="1900" spc="-25">
                <a:latin typeface="Arial MT"/>
                <a:cs typeface="Arial MT"/>
              </a:rPr>
              <a:t>Correlation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between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input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variables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and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target variable</a:t>
            </a:r>
            <a:endParaRPr sz="1900">
              <a:latin typeface="Arial MT"/>
              <a:cs typeface="Arial MT"/>
            </a:endParaRPr>
          </a:p>
          <a:p>
            <a:pPr marL="472440" marR="1134110" indent="-473075">
              <a:lnSpc>
                <a:spcPts val="2210"/>
              </a:lnSpc>
              <a:spcBef>
                <a:spcPts val="755"/>
              </a:spcBef>
              <a:buAutoNum type="arabicPeriod"/>
              <a:tabLst>
                <a:tab pos="472440" algn="l"/>
              </a:tabLst>
            </a:pPr>
            <a:r>
              <a:rPr dirty="0" sz="1900" spc="-25">
                <a:latin typeface="Arial MT"/>
                <a:cs typeface="Arial MT"/>
              </a:rPr>
              <a:t>Correlation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between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input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variables (collinearity)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942160" y="1745345"/>
            <a:ext cx="8249920" cy="19310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78765" marR="5080" indent="-266700">
              <a:lnSpc>
                <a:spcPct val="100000"/>
              </a:lnSpc>
              <a:spcBef>
                <a:spcPts val="100"/>
              </a:spcBef>
              <a:buChar char="•"/>
              <a:tabLst>
                <a:tab pos="278765" algn="l"/>
              </a:tabLst>
            </a:pPr>
            <a:r>
              <a:rPr dirty="0" sz="2500">
                <a:latin typeface="Arial MT"/>
                <a:cs typeface="Arial MT"/>
              </a:rPr>
              <a:t>EDA</a:t>
            </a:r>
            <a:r>
              <a:rPr dirty="0" sz="2500" spc="3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is</a:t>
            </a:r>
            <a:r>
              <a:rPr dirty="0" sz="2500" spc="50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an</a:t>
            </a:r>
            <a:r>
              <a:rPr dirty="0" sz="2500" spc="509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important</a:t>
            </a:r>
            <a:r>
              <a:rPr dirty="0" sz="2500" spc="509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step</a:t>
            </a:r>
            <a:r>
              <a:rPr dirty="0" sz="2500" spc="509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to</a:t>
            </a:r>
            <a:r>
              <a:rPr dirty="0" sz="2500" spc="509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first</a:t>
            </a:r>
            <a:r>
              <a:rPr dirty="0" sz="2500" spc="509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understand</a:t>
            </a:r>
            <a:r>
              <a:rPr dirty="0" sz="2500" spc="50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509">
                <a:latin typeface="Arial MT"/>
                <a:cs typeface="Arial MT"/>
              </a:rPr>
              <a:t> </a:t>
            </a:r>
            <a:r>
              <a:rPr dirty="0" sz="2500" spc="-20">
                <a:latin typeface="Arial MT"/>
                <a:cs typeface="Arial MT"/>
              </a:rPr>
              <a:t>data </a:t>
            </a:r>
            <a:r>
              <a:rPr dirty="0" sz="2500">
                <a:latin typeface="Arial MT"/>
                <a:cs typeface="Arial MT"/>
              </a:rPr>
              <a:t>(identify</a:t>
            </a:r>
            <a:r>
              <a:rPr dirty="0" sz="2500" spc="29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28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trends</a:t>
            </a:r>
            <a:r>
              <a:rPr dirty="0" sz="2500" spc="28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and</a:t>
            </a:r>
            <a:r>
              <a:rPr dirty="0" sz="2500" spc="28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patterns</a:t>
            </a:r>
            <a:r>
              <a:rPr dirty="0" sz="2500" spc="2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within</a:t>
            </a:r>
            <a:r>
              <a:rPr dirty="0" sz="2500" spc="28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29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data,</a:t>
            </a:r>
            <a:r>
              <a:rPr dirty="0" sz="2500" spc="28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detect </a:t>
            </a:r>
            <a:r>
              <a:rPr dirty="0" sz="2500">
                <a:latin typeface="Arial MT"/>
                <a:cs typeface="Arial MT"/>
              </a:rPr>
              <a:t>outliers</a:t>
            </a:r>
            <a:r>
              <a:rPr dirty="0" sz="2500" spc="459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or</a:t>
            </a:r>
            <a:r>
              <a:rPr dirty="0" sz="2500" spc="4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anomalous</a:t>
            </a:r>
            <a:r>
              <a:rPr dirty="0" sz="2500" spc="4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events,</a:t>
            </a:r>
            <a:r>
              <a:rPr dirty="0" sz="2500" spc="4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find</a:t>
            </a:r>
            <a:r>
              <a:rPr dirty="0" sz="2500" spc="4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interesting</a:t>
            </a:r>
            <a:r>
              <a:rPr dirty="0" sz="2500" spc="46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relations </a:t>
            </a:r>
            <a:r>
              <a:rPr dirty="0" sz="2500">
                <a:latin typeface="Arial MT"/>
                <a:cs typeface="Arial MT"/>
              </a:rPr>
              <a:t>among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variables,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points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of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interest,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etc.)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before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using </a:t>
            </a:r>
            <a:r>
              <a:rPr dirty="0" sz="2500">
                <a:latin typeface="Arial MT"/>
                <a:cs typeface="Arial MT"/>
              </a:rPr>
              <a:t>them</a:t>
            </a:r>
            <a:r>
              <a:rPr dirty="0" sz="2500" spc="-10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for</a:t>
            </a:r>
            <a:r>
              <a:rPr dirty="0" sz="2500" spc="-9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modeling,</a:t>
            </a:r>
            <a:r>
              <a:rPr dirty="0" sz="2500" spc="-10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machine</a:t>
            </a:r>
            <a:r>
              <a:rPr dirty="0" sz="2500" spc="-10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learning,</a:t>
            </a:r>
            <a:r>
              <a:rPr dirty="0" sz="2500" spc="-95">
                <a:latin typeface="Arial MT"/>
                <a:cs typeface="Arial MT"/>
              </a:rPr>
              <a:t> </a:t>
            </a:r>
            <a:r>
              <a:rPr dirty="0" sz="2500" spc="-20">
                <a:latin typeface="Arial MT"/>
                <a:cs typeface="Arial MT"/>
              </a:rPr>
              <a:t>etc.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184945" y="4311761"/>
            <a:ext cx="1748155" cy="23120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latin typeface="Arial MT"/>
                <a:cs typeface="Arial MT"/>
              </a:rPr>
              <a:t>Since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 spc="-25">
                <a:latin typeface="Arial MT"/>
                <a:cs typeface="Arial MT"/>
              </a:rPr>
              <a:t>the </a:t>
            </a:r>
            <a:r>
              <a:rPr dirty="0" sz="2500">
                <a:latin typeface="Arial MT"/>
                <a:cs typeface="Arial MT"/>
              </a:rPr>
              <a:t>dataset</a:t>
            </a:r>
            <a:r>
              <a:rPr dirty="0" sz="2500" spc="-105">
                <a:latin typeface="Arial MT"/>
                <a:cs typeface="Arial MT"/>
              </a:rPr>
              <a:t> </a:t>
            </a:r>
            <a:r>
              <a:rPr dirty="0" sz="2500" spc="-20">
                <a:latin typeface="Arial MT"/>
                <a:cs typeface="Arial MT"/>
              </a:rPr>
              <a:t>will </a:t>
            </a:r>
            <a:r>
              <a:rPr dirty="0" sz="2500">
                <a:latin typeface="Arial MT"/>
                <a:cs typeface="Arial MT"/>
              </a:rPr>
              <a:t>always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 spc="-25">
                <a:latin typeface="Arial MT"/>
                <a:cs typeface="Arial MT"/>
              </a:rPr>
              <a:t>be </a:t>
            </a:r>
            <a:r>
              <a:rPr dirty="0" sz="2500" spc="-10">
                <a:latin typeface="Arial MT"/>
                <a:cs typeface="Arial MT"/>
              </a:rPr>
              <a:t>large, </a:t>
            </a:r>
            <a:r>
              <a:rPr dirty="0" u="heavy" sz="2500" spc="-1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visualization</a:t>
            </a:r>
            <a:r>
              <a:rPr dirty="0" sz="2500" spc="-1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is</a:t>
            </a:r>
            <a:r>
              <a:rPr dirty="0" sz="2500" spc="-2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essential</a:t>
            </a:r>
            <a:endParaRPr sz="2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28839" rIns="0" bIns="0" rtlCol="0" vert="horz">
            <a:spAutoFit/>
          </a:bodyPr>
          <a:lstStyle/>
          <a:p>
            <a:pPr marL="149098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262673"/>
                </a:solidFill>
              </a:rPr>
              <a:t>Feature</a:t>
            </a:r>
            <a:r>
              <a:rPr dirty="0" spc="-140">
                <a:solidFill>
                  <a:srgbClr val="262673"/>
                </a:solidFill>
              </a:rPr>
              <a:t> </a:t>
            </a:r>
            <a:r>
              <a:rPr dirty="0" spc="-10">
                <a:solidFill>
                  <a:srgbClr val="262673"/>
                </a:solidFill>
              </a:rPr>
              <a:t>Selection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195800" y="1717913"/>
            <a:ext cx="8037195" cy="47917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8765" marR="318770" indent="-266700">
              <a:lnSpc>
                <a:spcPct val="100000"/>
              </a:lnSpc>
              <a:spcBef>
                <a:spcPts val="100"/>
              </a:spcBef>
              <a:buChar char="•"/>
              <a:tabLst>
                <a:tab pos="278765" algn="l"/>
              </a:tabLst>
            </a:pP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dataset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may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have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many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features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that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may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not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 spc="-25">
                <a:latin typeface="Arial MT"/>
                <a:cs typeface="Arial MT"/>
              </a:rPr>
              <a:t>all </a:t>
            </a:r>
            <a:r>
              <a:rPr dirty="0" sz="2500">
                <a:latin typeface="Arial MT"/>
                <a:cs typeface="Arial MT"/>
              </a:rPr>
              <a:t>be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relevant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and</a:t>
            </a:r>
            <a:r>
              <a:rPr dirty="0" sz="2500" spc="-4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significant.</a:t>
            </a:r>
            <a:endParaRPr sz="2500">
              <a:latin typeface="Arial MT"/>
              <a:cs typeface="Arial MT"/>
            </a:endParaRPr>
          </a:p>
          <a:p>
            <a:pPr lvl="1" marL="589280" marR="455295" indent="-222250">
              <a:lnSpc>
                <a:spcPct val="99500"/>
              </a:lnSpc>
              <a:spcBef>
                <a:spcPts val="1900"/>
              </a:spcBef>
              <a:buChar char="–"/>
              <a:tabLst>
                <a:tab pos="589280" algn="l"/>
              </a:tabLst>
            </a:pPr>
            <a:r>
              <a:rPr dirty="0" sz="2100">
                <a:latin typeface="Arial MT"/>
                <a:cs typeface="Arial MT"/>
              </a:rPr>
              <a:t>For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certain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types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data,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like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genetics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or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text,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number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of </a:t>
            </a:r>
            <a:r>
              <a:rPr dirty="0" sz="2100" spc="-10">
                <a:latin typeface="Arial MT"/>
                <a:cs typeface="Arial MT"/>
              </a:rPr>
              <a:t>features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can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be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very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large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compared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to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number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data </a:t>
            </a:r>
            <a:r>
              <a:rPr dirty="0" sz="2100" spc="-10">
                <a:latin typeface="Arial MT"/>
                <a:cs typeface="Arial MT"/>
              </a:rPr>
              <a:t>points.</a:t>
            </a:r>
            <a:endParaRPr sz="2100">
              <a:latin typeface="Arial MT"/>
              <a:cs typeface="Arial MT"/>
            </a:endParaRPr>
          </a:p>
          <a:p>
            <a:pPr lvl="1" marL="589280" marR="50165" indent="-222250">
              <a:lnSpc>
                <a:spcPts val="2500"/>
              </a:lnSpc>
              <a:spcBef>
                <a:spcPts val="1970"/>
              </a:spcBef>
              <a:buChar char="–"/>
              <a:tabLst>
                <a:tab pos="589280" algn="l"/>
              </a:tabLst>
            </a:pPr>
            <a:r>
              <a:rPr dirty="0" sz="2100">
                <a:latin typeface="Arial MT"/>
                <a:cs typeface="Arial MT"/>
              </a:rPr>
              <a:t>Curse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dimensionality: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error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increases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with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increase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in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the </a:t>
            </a:r>
            <a:r>
              <a:rPr dirty="0" sz="2100">
                <a:latin typeface="Arial MT"/>
                <a:cs typeface="Arial MT"/>
              </a:rPr>
              <a:t>number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features.</a:t>
            </a:r>
            <a:endParaRPr sz="2100">
              <a:latin typeface="Arial MT"/>
              <a:cs typeface="Arial MT"/>
            </a:endParaRPr>
          </a:p>
          <a:p>
            <a:pPr marL="278765" marR="579755" indent="-266700">
              <a:lnSpc>
                <a:spcPct val="100400"/>
              </a:lnSpc>
              <a:spcBef>
                <a:spcPts val="1785"/>
              </a:spcBef>
              <a:buChar char="•"/>
              <a:tabLst>
                <a:tab pos="278765" algn="l"/>
              </a:tabLst>
            </a:pPr>
            <a:r>
              <a:rPr dirty="0" sz="2500">
                <a:latin typeface="Arial MT"/>
                <a:cs typeface="Arial MT"/>
              </a:rPr>
              <a:t>Feature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selection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is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process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of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selecting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 spc="-20">
                <a:latin typeface="Arial MT"/>
                <a:cs typeface="Arial MT"/>
              </a:rPr>
              <a:t>most </a:t>
            </a:r>
            <a:r>
              <a:rPr dirty="0" sz="2500">
                <a:latin typeface="Arial MT"/>
                <a:cs typeface="Arial MT"/>
              </a:rPr>
              <a:t>relevant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variables.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goal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is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to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determine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which </a:t>
            </a:r>
            <a:r>
              <a:rPr dirty="0" sz="2500">
                <a:latin typeface="Arial MT"/>
                <a:cs typeface="Arial MT"/>
              </a:rPr>
              <a:t>columns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are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more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predictive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of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output.</a:t>
            </a:r>
            <a:endParaRPr sz="2500">
              <a:latin typeface="Arial MT"/>
              <a:cs typeface="Arial MT"/>
            </a:endParaRPr>
          </a:p>
          <a:p>
            <a:pPr lvl="1" marL="588645" indent="-221615">
              <a:lnSpc>
                <a:spcPct val="100000"/>
              </a:lnSpc>
              <a:spcBef>
                <a:spcPts val="1795"/>
              </a:spcBef>
              <a:buChar char="–"/>
              <a:tabLst>
                <a:tab pos="588645" algn="l"/>
              </a:tabLst>
            </a:pPr>
            <a:r>
              <a:rPr dirty="0" sz="2100">
                <a:latin typeface="Arial MT"/>
                <a:cs typeface="Arial MT"/>
              </a:rPr>
              <a:t>Also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called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“dimensionality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reduction”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and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“feature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engineering”.</a:t>
            </a:r>
            <a:endParaRPr sz="2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28839" rIns="0" bIns="0" rtlCol="0" vert="horz">
            <a:spAutoFit/>
          </a:bodyPr>
          <a:lstStyle/>
          <a:p>
            <a:pPr marL="127381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262673"/>
                </a:solidFill>
              </a:rPr>
              <a:t>Pearson</a:t>
            </a:r>
            <a:r>
              <a:rPr dirty="0" spc="-165">
                <a:solidFill>
                  <a:srgbClr val="262673"/>
                </a:solidFill>
              </a:rPr>
              <a:t> </a:t>
            </a:r>
            <a:r>
              <a:rPr dirty="0" spc="-10">
                <a:solidFill>
                  <a:srgbClr val="262673"/>
                </a:solidFill>
              </a:rPr>
              <a:t>Correlation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164589" y="1716406"/>
            <a:ext cx="8382000" cy="498475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algn="just" marL="277495" marR="191770" indent="-265430">
              <a:lnSpc>
                <a:spcPct val="100499"/>
              </a:lnSpc>
              <a:spcBef>
                <a:spcPts val="85"/>
              </a:spcBef>
              <a:buChar char="•"/>
              <a:tabLst>
                <a:tab pos="278765" algn="l"/>
              </a:tabLst>
            </a:pP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Pearson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 i="1">
                <a:latin typeface="Arial"/>
                <a:cs typeface="Arial"/>
              </a:rPr>
              <a:t>r</a:t>
            </a:r>
            <a:r>
              <a:rPr dirty="0" sz="2200" spc="-75" i="1">
                <a:latin typeface="Arial"/>
                <a:cs typeface="Arial"/>
              </a:rPr>
              <a:t> </a:t>
            </a:r>
            <a:r>
              <a:rPr dirty="0" sz="2200">
                <a:latin typeface="Arial MT"/>
                <a:cs typeface="Arial MT"/>
              </a:rPr>
              <a:t>is</a:t>
            </a:r>
            <a:r>
              <a:rPr dirty="0" sz="2200" spc="-7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standardized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covariance,</a:t>
            </a:r>
            <a:r>
              <a:rPr dirty="0" sz="2200" spc="-6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and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ranges</a:t>
            </a:r>
            <a:r>
              <a:rPr dirty="0" sz="2200" spc="-7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from</a:t>
            </a:r>
            <a:r>
              <a:rPr dirty="0" sz="2200" spc="-70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-1, </a:t>
            </a:r>
            <a:r>
              <a:rPr dirty="0" sz="2200" spc="-25">
                <a:latin typeface="Arial MT"/>
                <a:cs typeface="Arial MT"/>
              </a:rPr>
              <a:t>	</a:t>
            </a:r>
            <a:r>
              <a:rPr dirty="0" sz="2200" spc="-20">
                <a:latin typeface="Arial MT"/>
                <a:cs typeface="Arial MT"/>
              </a:rPr>
              <a:t>indicating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perfect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negative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linear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relationship,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and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+1,indicating </a:t>
            </a:r>
            <a:r>
              <a:rPr dirty="0" sz="2200" spc="-10">
                <a:latin typeface="Arial MT"/>
                <a:cs typeface="Arial MT"/>
              </a:rPr>
              <a:t>	</a:t>
            </a:r>
            <a:r>
              <a:rPr dirty="0" sz="2200">
                <a:latin typeface="Arial MT"/>
                <a:cs typeface="Arial MT"/>
              </a:rPr>
              <a:t>a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perfect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positive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relationship.</a:t>
            </a:r>
            <a:endParaRPr sz="2200">
              <a:latin typeface="Arial MT"/>
              <a:cs typeface="Arial MT"/>
            </a:endParaRPr>
          </a:p>
          <a:p>
            <a:pPr marL="278765" marR="531495" indent="-266700">
              <a:lnSpc>
                <a:spcPts val="2620"/>
              </a:lnSpc>
              <a:spcBef>
                <a:spcPts val="1955"/>
              </a:spcBef>
              <a:buChar char="•"/>
              <a:tabLst>
                <a:tab pos="278765" algn="l"/>
              </a:tabLst>
            </a:pP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covariance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of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two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variables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divided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by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product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of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their </a:t>
            </a:r>
            <a:r>
              <a:rPr dirty="0" sz="2200" spc="-20">
                <a:latin typeface="Arial MT"/>
                <a:cs typeface="Arial MT"/>
              </a:rPr>
              <a:t>standard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deviations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gives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Pearson's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correlation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coefficient.</a:t>
            </a:r>
            <a:endParaRPr sz="2200">
              <a:latin typeface="Arial MT"/>
              <a:cs typeface="Arial MT"/>
            </a:endParaRPr>
          </a:p>
          <a:p>
            <a:pPr marL="288290">
              <a:lnSpc>
                <a:spcPts val="2505"/>
              </a:lnSpc>
            </a:pPr>
            <a:r>
              <a:rPr dirty="0" sz="2200" spc="-969">
                <a:latin typeface="Arial MT"/>
                <a:cs typeface="Arial MT"/>
              </a:rPr>
              <a:t>ρ</a:t>
            </a:r>
            <a:r>
              <a:rPr dirty="0" sz="2200" spc="-1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(X,Y)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=</a:t>
            </a:r>
            <a:r>
              <a:rPr dirty="0" sz="2200" spc="-6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cov</a:t>
            </a:r>
            <a:r>
              <a:rPr dirty="0" sz="2200" spc="-6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(X,Y)</a:t>
            </a:r>
            <a:r>
              <a:rPr dirty="0" sz="2200" spc="-5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/</a:t>
            </a:r>
            <a:r>
              <a:rPr dirty="0" sz="2200" spc="-50">
                <a:latin typeface="Arial MT"/>
                <a:cs typeface="Arial MT"/>
              </a:rPr>
              <a:t> </a:t>
            </a:r>
            <a:r>
              <a:rPr dirty="0" sz="2200" spc="-310">
                <a:latin typeface="Arial MT"/>
                <a:cs typeface="Arial MT"/>
              </a:rPr>
              <a:t>σX.σY.</a:t>
            </a:r>
            <a:endParaRPr sz="2200">
              <a:latin typeface="Arial MT"/>
              <a:cs typeface="Arial MT"/>
            </a:endParaRPr>
          </a:p>
          <a:p>
            <a:pPr marL="278765" marR="5080" indent="-266700">
              <a:lnSpc>
                <a:spcPct val="100499"/>
              </a:lnSpc>
              <a:spcBef>
                <a:spcPts val="1855"/>
              </a:spcBef>
              <a:buChar char="•"/>
              <a:tabLst>
                <a:tab pos="278765" algn="l"/>
              </a:tabLst>
            </a:pPr>
            <a:r>
              <a:rPr dirty="0" sz="2200">
                <a:latin typeface="Arial MT"/>
                <a:cs typeface="Arial MT"/>
              </a:rPr>
              <a:t>A</a:t>
            </a:r>
            <a:r>
              <a:rPr dirty="0" sz="2200" spc="-114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value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of</a:t>
            </a:r>
            <a:r>
              <a:rPr dirty="0" sz="2200" spc="-6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zero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suggests</a:t>
            </a:r>
            <a:r>
              <a:rPr dirty="0" sz="2200" spc="-7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no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linear</a:t>
            </a:r>
            <a:r>
              <a:rPr dirty="0" sz="2200" spc="-7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association,</a:t>
            </a:r>
            <a:r>
              <a:rPr dirty="0" sz="2200" spc="-6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but</a:t>
            </a:r>
            <a:r>
              <a:rPr dirty="0" sz="2200" spc="-55">
                <a:latin typeface="Arial MT"/>
                <a:cs typeface="Arial MT"/>
              </a:rPr>
              <a:t> </a:t>
            </a:r>
            <a:r>
              <a:rPr dirty="0" u="heavy" sz="220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does</a:t>
            </a:r>
            <a:r>
              <a:rPr dirty="0" u="heavy" sz="2200" spc="-75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dirty="0" u="heavy" sz="220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not</a:t>
            </a:r>
            <a:r>
              <a:rPr dirty="0" u="heavy" sz="2200" spc="-65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dirty="0" u="heavy" sz="220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mean</a:t>
            </a:r>
            <a:r>
              <a:rPr dirty="0" u="heavy" sz="2200" spc="-229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dirty="0" sz="2200" spc="-229">
                <a:latin typeface="Arial MT"/>
                <a:cs typeface="Arial MT"/>
              </a:rPr>
              <a:t> </a:t>
            </a:r>
            <a:r>
              <a:rPr dirty="0" u="heavy" sz="220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two</a:t>
            </a:r>
            <a:r>
              <a:rPr dirty="0" u="heavy" sz="2200" spc="-95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dirty="0" u="heavy" sz="2200" spc="-2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variables</a:t>
            </a:r>
            <a:r>
              <a:rPr dirty="0" u="heavy" sz="2200" spc="-85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dirty="0" u="heavy" sz="220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are</a:t>
            </a:r>
            <a:r>
              <a:rPr dirty="0" u="heavy" sz="2200" spc="-9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dirty="0" u="heavy" sz="2200" spc="-25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independent</a:t>
            </a:r>
            <a:r>
              <a:rPr dirty="0" sz="2200" spc="-25">
                <a:latin typeface="Arial MT"/>
                <a:cs typeface="Arial MT"/>
              </a:rPr>
              <a:t>,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an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extremely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important</a:t>
            </a:r>
            <a:r>
              <a:rPr dirty="0" sz="2200" spc="-7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point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to </a:t>
            </a:r>
            <a:r>
              <a:rPr dirty="0" sz="2200" spc="-10">
                <a:latin typeface="Arial MT"/>
                <a:cs typeface="Arial MT"/>
              </a:rPr>
              <a:t>remember.</a:t>
            </a:r>
            <a:endParaRPr sz="2200">
              <a:latin typeface="Arial MT"/>
              <a:cs typeface="Arial MT"/>
            </a:endParaRPr>
          </a:p>
          <a:p>
            <a:pPr marL="278765" marR="929005" indent="-266700">
              <a:lnSpc>
                <a:spcPts val="2620"/>
              </a:lnSpc>
              <a:spcBef>
                <a:spcPts val="1955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2200" spc="-10" b="1">
                <a:solidFill>
                  <a:srgbClr val="0070C0"/>
                </a:solidFill>
                <a:latin typeface="Arial"/>
                <a:cs typeface="Arial"/>
              </a:rPr>
              <a:t>Pearson</a:t>
            </a:r>
            <a:r>
              <a:rPr dirty="0" sz="2200" spc="-80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0070C0"/>
                </a:solidFill>
                <a:latin typeface="Arial"/>
                <a:cs typeface="Arial"/>
              </a:rPr>
              <a:t>r</a:t>
            </a:r>
            <a:r>
              <a:rPr dirty="0" sz="2200" spc="-70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0070C0"/>
                </a:solidFill>
                <a:latin typeface="Arial"/>
                <a:cs typeface="Arial"/>
              </a:rPr>
              <a:t>is</a:t>
            </a:r>
            <a:r>
              <a:rPr dirty="0" sz="2200" spc="-80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0070C0"/>
                </a:solidFill>
                <a:latin typeface="Arial"/>
                <a:cs typeface="Arial"/>
              </a:rPr>
              <a:t>not</a:t>
            </a:r>
            <a:r>
              <a:rPr dirty="0" sz="2200" spc="-65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0070C0"/>
                </a:solidFill>
                <a:latin typeface="Arial"/>
                <a:cs typeface="Arial"/>
              </a:rPr>
              <a:t>viable</a:t>
            </a:r>
            <a:r>
              <a:rPr dirty="0" sz="2200" spc="-80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0070C0"/>
                </a:solidFill>
                <a:latin typeface="Arial"/>
                <a:cs typeface="Arial"/>
              </a:rPr>
              <a:t>for</a:t>
            </a:r>
            <a:r>
              <a:rPr dirty="0" sz="2200" spc="-70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2200" spc="-25" b="1">
                <a:solidFill>
                  <a:srgbClr val="0070C0"/>
                </a:solidFill>
                <a:latin typeface="Arial"/>
                <a:cs typeface="Arial"/>
              </a:rPr>
              <a:t>understanding</a:t>
            </a:r>
            <a:r>
              <a:rPr dirty="0" sz="2200" spc="-70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0070C0"/>
                </a:solidFill>
                <a:latin typeface="Arial"/>
                <a:cs typeface="Arial"/>
              </a:rPr>
              <a:t>a</a:t>
            </a:r>
            <a:r>
              <a:rPr dirty="0" sz="2200" spc="-75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0070C0"/>
                </a:solidFill>
                <a:latin typeface="Arial"/>
                <a:cs typeface="Arial"/>
              </a:rPr>
              <a:t>great</a:t>
            </a:r>
            <a:r>
              <a:rPr dirty="0" sz="2200" spc="-65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2200" spc="-20" b="1">
                <a:solidFill>
                  <a:srgbClr val="0070C0"/>
                </a:solidFill>
                <a:latin typeface="Arial"/>
                <a:cs typeface="Arial"/>
              </a:rPr>
              <a:t>many </a:t>
            </a:r>
            <a:r>
              <a:rPr dirty="0" sz="2200" spc="-10" b="1">
                <a:solidFill>
                  <a:srgbClr val="0070C0"/>
                </a:solidFill>
                <a:latin typeface="Arial"/>
                <a:cs typeface="Arial"/>
              </a:rPr>
              <a:t>dependencies</a:t>
            </a:r>
            <a:endParaRPr sz="2200">
              <a:latin typeface="Arial"/>
              <a:cs typeface="Arial"/>
            </a:endParaRPr>
          </a:p>
          <a:p>
            <a:pPr marL="278130" indent="-265430">
              <a:lnSpc>
                <a:spcPct val="100000"/>
              </a:lnSpc>
              <a:spcBef>
                <a:spcPts val="1760"/>
              </a:spcBef>
              <a:buFont typeface="Arial MT"/>
              <a:buChar char="•"/>
              <a:tabLst>
                <a:tab pos="278130" algn="l"/>
              </a:tabLst>
            </a:pPr>
            <a:r>
              <a:rPr dirty="0" sz="2200" b="1">
                <a:solidFill>
                  <a:srgbClr val="C00000"/>
                </a:solidFill>
                <a:latin typeface="Arial"/>
                <a:cs typeface="Arial"/>
              </a:rPr>
              <a:t>The</a:t>
            </a:r>
            <a:r>
              <a:rPr dirty="0" sz="2200" spc="-8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200" spc="-20" b="1">
                <a:solidFill>
                  <a:srgbClr val="C00000"/>
                </a:solidFill>
                <a:latin typeface="Arial"/>
                <a:cs typeface="Arial"/>
              </a:rPr>
              <a:t>alternative</a:t>
            </a:r>
            <a:r>
              <a:rPr dirty="0" sz="2200" spc="-8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C00000"/>
                </a:solidFill>
                <a:latin typeface="Arial"/>
                <a:cs typeface="Arial"/>
              </a:rPr>
              <a:t>is</a:t>
            </a:r>
            <a:r>
              <a:rPr dirty="0" sz="2200" spc="-7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C00000"/>
                </a:solidFill>
                <a:latin typeface="Arial"/>
                <a:cs typeface="Arial"/>
              </a:rPr>
              <a:t>Mutual</a:t>
            </a:r>
            <a:r>
              <a:rPr dirty="0" sz="2200" spc="-6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200" spc="-20" b="1">
                <a:solidFill>
                  <a:srgbClr val="C00000"/>
                </a:solidFill>
                <a:latin typeface="Arial"/>
                <a:cs typeface="Arial"/>
              </a:rPr>
              <a:t>Information</a:t>
            </a:r>
            <a:r>
              <a:rPr dirty="0" sz="2200" spc="-7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C00000"/>
                </a:solidFill>
                <a:latin typeface="Arial"/>
                <a:cs typeface="Arial"/>
              </a:rPr>
              <a:t>Correlation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5959" rIns="0" bIns="0" rtlCol="0" vert="horz">
            <a:spAutoFit/>
          </a:bodyPr>
          <a:lstStyle/>
          <a:p>
            <a:pPr marL="2320925">
              <a:lnSpc>
                <a:spcPct val="100000"/>
              </a:lnSpc>
              <a:spcBef>
                <a:spcPts val="100"/>
              </a:spcBef>
            </a:pPr>
            <a:r>
              <a:rPr dirty="0" spc="-10">
                <a:solidFill>
                  <a:srgbClr val="262673"/>
                </a:solidFill>
              </a:rPr>
              <a:t>Correlation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0638" y="1475811"/>
            <a:ext cx="8580281" cy="5400842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411909" y="4708035"/>
            <a:ext cx="1499235" cy="182689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75"/>
              </a:spcBef>
            </a:pPr>
            <a:r>
              <a:rPr dirty="0" sz="1900" spc="-20" b="1">
                <a:solidFill>
                  <a:srgbClr val="C00000"/>
                </a:solidFill>
                <a:latin typeface="Arial"/>
                <a:cs typeface="Arial"/>
              </a:rPr>
              <a:t>High </a:t>
            </a:r>
            <a:r>
              <a:rPr dirty="0" sz="1900" spc="-30" b="1">
                <a:solidFill>
                  <a:srgbClr val="C00000"/>
                </a:solidFill>
                <a:latin typeface="Arial"/>
                <a:cs typeface="Arial"/>
              </a:rPr>
              <a:t>Correlations:</a:t>
            </a:r>
            <a:endParaRPr sz="1900">
              <a:latin typeface="Arial"/>
              <a:cs typeface="Arial"/>
            </a:endParaRPr>
          </a:p>
          <a:p>
            <a:pPr marL="12700" marR="108585">
              <a:lnSpc>
                <a:spcPct val="101099"/>
              </a:lnSpc>
              <a:spcBef>
                <a:spcPts val="480"/>
              </a:spcBef>
            </a:pPr>
            <a:r>
              <a:rPr dirty="0" sz="1900" spc="-20" b="1">
                <a:solidFill>
                  <a:srgbClr val="C00000"/>
                </a:solidFill>
                <a:latin typeface="Arial"/>
                <a:cs typeface="Arial"/>
              </a:rPr>
              <a:t>Check</a:t>
            </a:r>
            <a:r>
              <a:rPr dirty="0" sz="1900" spc="-1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900" spc="-25" b="1">
                <a:solidFill>
                  <a:srgbClr val="C00000"/>
                </a:solidFill>
                <a:latin typeface="Arial"/>
                <a:cs typeface="Arial"/>
              </a:rPr>
              <a:t>for </a:t>
            </a:r>
            <a:r>
              <a:rPr dirty="0" sz="1900" spc="-20" b="1">
                <a:solidFill>
                  <a:srgbClr val="C00000"/>
                </a:solidFill>
                <a:latin typeface="Arial"/>
                <a:cs typeface="Arial"/>
              </a:rPr>
              <a:t>greater</a:t>
            </a:r>
            <a:r>
              <a:rPr dirty="0" sz="1900" spc="-8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900" spc="-20" b="1">
                <a:solidFill>
                  <a:srgbClr val="C00000"/>
                </a:solidFill>
                <a:latin typeface="Arial"/>
                <a:cs typeface="Arial"/>
              </a:rPr>
              <a:t>than</a:t>
            </a:r>
            <a:endParaRPr sz="1900">
              <a:latin typeface="Arial"/>
              <a:cs typeface="Arial"/>
            </a:endParaRPr>
          </a:p>
          <a:p>
            <a:pPr marL="12700">
              <a:lnSpc>
                <a:spcPts val="2210"/>
              </a:lnSpc>
            </a:pPr>
            <a:r>
              <a:rPr dirty="0" sz="1900" b="1">
                <a:solidFill>
                  <a:srgbClr val="C00000"/>
                </a:solidFill>
                <a:latin typeface="Arial"/>
                <a:cs typeface="Arial"/>
              </a:rPr>
              <a:t>0.7</a:t>
            </a:r>
            <a:r>
              <a:rPr dirty="0" sz="1900" spc="-11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C00000"/>
                </a:solidFill>
                <a:latin typeface="Arial"/>
                <a:cs typeface="Arial"/>
              </a:rPr>
              <a:t>and</a:t>
            </a:r>
            <a:r>
              <a:rPr dirty="0" sz="1900" spc="-11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900" spc="-20" b="1">
                <a:solidFill>
                  <a:srgbClr val="C00000"/>
                </a:solidFill>
                <a:latin typeface="Arial"/>
                <a:cs typeface="Arial"/>
              </a:rPr>
              <a:t>less</a:t>
            </a:r>
            <a:endParaRPr sz="1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900" spc="-10" b="1">
                <a:solidFill>
                  <a:srgbClr val="C00000"/>
                </a:solidFill>
                <a:latin typeface="Arial"/>
                <a:cs typeface="Arial"/>
              </a:rPr>
              <a:t>than</a:t>
            </a:r>
            <a:r>
              <a:rPr dirty="0" sz="1900" spc="-9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900" spc="-30" b="1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dirty="0" sz="1900" spc="-25" b="1">
                <a:solidFill>
                  <a:srgbClr val="C00000"/>
                </a:solidFill>
                <a:latin typeface="Arial"/>
                <a:cs typeface="Arial"/>
              </a:rPr>
              <a:t>0.7</a:t>
            </a:r>
            <a:endParaRPr sz="19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89593" y="410321"/>
            <a:ext cx="1710055" cy="11690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500" spc="-20"/>
              <a:t>Correlation </a:t>
            </a:r>
            <a:r>
              <a:rPr dirty="0" sz="2500" spc="-10"/>
              <a:t>Matrix “heatmap”</a:t>
            </a:r>
            <a:endParaRPr sz="2500"/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6731" y="464711"/>
            <a:ext cx="4431229" cy="354960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85188" y="2607316"/>
            <a:ext cx="4185220" cy="4130703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86158" y="801971"/>
            <a:ext cx="5939790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262673"/>
                </a:solidFill>
              </a:rPr>
              <a:t>Mutual</a:t>
            </a:r>
            <a:r>
              <a:rPr dirty="0" spc="-114">
                <a:solidFill>
                  <a:srgbClr val="262673"/>
                </a:solidFill>
              </a:rPr>
              <a:t> </a:t>
            </a:r>
            <a:r>
              <a:rPr dirty="0">
                <a:solidFill>
                  <a:srgbClr val="262673"/>
                </a:solidFill>
              </a:rPr>
              <a:t>Information</a:t>
            </a:r>
            <a:r>
              <a:rPr dirty="0" spc="-110">
                <a:solidFill>
                  <a:srgbClr val="262673"/>
                </a:solidFill>
              </a:rPr>
              <a:t> </a:t>
            </a:r>
            <a:r>
              <a:rPr dirty="0">
                <a:solidFill>
                  <a:srgbClr val="262673"/>
                </a:solidFill>
              </a:rPr>
              <a:t>(MI)</a:t>
            </a:r>
            <a:r>
              <a:rPr dirty="0" spc="-114">
                <a:solidFill>
                  <a:srgbClr val="262673"/>
                </a:solidFill>
              </a:rPr>
              <a:t> </a:t>
            </a:r>
            <a:r>
              <a:rPr dirty="0" spc="-10">
                <a:solidFill>
                  <a:srgbClr val="262673"/>
                </a:solidFill>
              </a:rPr>
              <a:t>Correlation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164589" y="1546353"/>
            <a:ext cx="8333740" cy="5057775"/>
          </a:xfrm>
          <a:prstGeom prst="rect">
            <a:avLst/>
          </a:prstGeom>
        </p:spPr>
        <p:txBody>
          <a:bodyPr wrap="square" lIns="0" tIns="109220" rIns="0" bIns="0" rtlCol="0" vert="horz">
            <a:spAutoFit/>
          </a:bodyPr>
          <a:lstStyle/>
          <a:p>
            <a:pPr marL="278130" indent="-265430">
              <a:lnSpc>
                <a:spcPct val="100000"/>
              </a:lnSpc>
              <a:spcBef>
                <a:spcPts val="860"/>
              </a:spcBef>
              <a:buChar char="•"/>
              <a:tabLst>
                <a:tab pos="278130" algn="l"/>
              </a:tabLst>
            </a:pPr>
            <a:r>
              <a:rPr dirty="0" sz="2200" spc="-10">
                <a:latin typeface="Arial MT"/>
                <a:cs typeface="Arial MT"/>
              </a:rPr>
              <a:t>Mutual</a:t>
            </a:r>
            <a:r>
              <a:rPr dirty="0" sz="2200" spc="-6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Information</a:t>
            </a:r>
            <a:r>
              <a:rPr dirty="0" sz="2200" spc="-7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Correlation</a:t>
            </a:r>
            <a:r>
              <a:rPr dirty="0" sz="2200" spc="-7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is</a:t>
            </a:r>
            <a:r>
              <a:rPr dirty="0" sz="2200" spc="-6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based</a:t>
            </a:r>
            <a:r>
              <a:rPr dirty="0" sz="2200" spc="-7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on</a:t>
            </a:r>
            <a:r>
              <a:rPr dirty="0" sz="2200" spc="-7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</a:t>
            </a:r>
            <a:r>
              <a:rPr dirty="0" sz="2200" spc="-7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measure</a:t>
            </a:r>
            <a:r>
              <a:rPr dirty="0" sz="2200" spc="-6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of</a:t>
            </a:r>
            <a:r>
              <a:rPr dirty="0" sz="2200" spc="-65">
                <a:latin typeface="Arial MT"/>
                <a:cs typeface="Arial MT"/>
              </a:rPr>
              <a:t> </a:t>
            </a:r>
            <a:r>
              <a:rPr dirty="0" sz="2200" spc="-10" b="1">
                <a:solidFill>
                  <a:srgbClr val="FF0000"/>
                </a:solidFill>
                <a:latin typeface="Arial"/>
                <a:cs typeface="Arial"/>
              </a:rPr>
              <a:t>Entropy</a:t>
            </a:r>
            <a:endParaRPr sz="2200">
              <a:latin typeface="Arial"/>
              <a:cs typeface="Arial"/>
            </a:endParaRPr>
          </a:p>
          <a:p>
            <a:pPr lvl="1" marL="588010" marR="5080" indent="-220979">
              <a:lnSpc>
                <a:spcPts val="2210"/>
              </a:lnSpc>
              <a:spcBef>
                <a:spcPts val="795"/>
              </a:spcBef>
              <a:buChar char="–"/>
              <a:tabLst>
                <a:tab pos="589280" algn="l"/>
              </a:tabLst>
            </a:pPr>
            <a:r>
              <a:rPr dirty="0" sz="1900">
                <a:latin typeface="Arial MT"/>
                <a:cs typeface="Arial MT"/>
              </a:rPr>
              <a:t>The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Pearson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correlation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coefficient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assumes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normality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and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linearity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of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two 	random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variables;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Mutual</a:t>
            </a:r>
            <a:r>
              <a:rPr dirty="0" sz="1900" spc="-60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Information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removes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these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assumptions.</a:t>
            </a:r>
            <a:endParaRPr sz="19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844"/>
              </a:spcBef>
              <a:buFont typeface="Arial MT"/>
              <a:buChar char="–"/>
            </a:pPr>
            <a:endParaRPr sz="1900">
              <a:latin typeface="Arial MT"/>
              <a:cs typeface="Arial MT"/>
            </a:endParaRPr>
          </a:p>
          <a:p>
            <a:pPr algn="just" marL="277495" marR="34925" indent="-265430">
              <a:lnSpc>
                <a:spcPct val="100499"/>
              </a:lnSpc>
              <a:buChar char="•"/>
              <a:tabLst>
                <a:tab pos="278765" algn="l"/>
              </a:tabLst>
            </a:pPr>
            <a:r>
              <a:rPr dirty="0" sz="2200">
                <a:latin typeface="Arial MT"/>
                <a:cs typeface="Arial MT"/>
              </a:rPr>
              <a:t>In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essence,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mutual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information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tells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us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i="1">
                <a:solidFill>
                  <a:srgbClr val="FF0000"/>
                </a:solidFill>
                <a:latin typeface="Arial"/>
                <a:cs typeface="Arial"/>
              </a:rPr>
              <a:t>how</a:t>
            </a:r>
            <a:r>
              <a:rPr dirty="0" sz="2200" spc="-95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200" spc="-10" i="1">
                <a:solidFill>
                  <a:srgbClr val="FF0000"/>
                </a:solidFill>
                <a:latin typeface="Arial"/>
                <a:cs typeface="Arial"/>
              </a:rPr>
              <a:t>useful</a:t>
            </a:r>
            <a:r>
              <a:rPr dirty="0" sz="2200" spc="-85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200" i="1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dirty="0" sz="2200" spc="-90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200" spc="-10" i="1">
                <a:solidFill>
                  <a:srgbClr val="FF0000"/>
                </a:solidFill>
                <a:latin typeface="Arial"/>
                <a:cs typeface="Arial"/>
              </a:rPr>
              <a:t>feature</a:t>
            </a:r>
            <a:r>
              <a:rPr dirty="0" sz="2200" spc="-95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200" i="1">
                <a:solidFill>
                  <a:srgbClr val="FF0000"/>
                </a:solidFill>
                <a:latin typeface="Arial"/>
                <a:cs typeface="Arial"/>
              </a:rPr>
              <a:t>X</a:t>
            </a:r>
            <a:r>
              <a:rPr dirty="0" sz="2200" spc="-90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200" spc="-25" i="1">
                <a:solidFill>
                  <a:srgbClr val="FF0000"/>
                </a:solidFill>
                <a:latin typeface="Arial"/>
                <a:cs typeface="Arial"/>
              </a:rPr>
              <a:t>is </a:t>
            </a:r>
            <a:r>
              <a:rPr dirty="0" sz="2200" spc="-25" i="1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dirty="0" sz="2200" i="1">
                <a:solidFill>
                  <a:srgbClr val="FF0000"/>
                </a:solidFill>
                <a:latin typeface="Arial"/>
                <a:cs typeface="Arial"/>
              </a:rPr>
              <a:t>at</a:t>
            </a:r>
            <a:r>
              <a:rPr dirty="0" sz="2200" spc="-70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200" spc="-20" i="1">
                <a:solidFill>
                  <a:srgbClr val="FF0000"/>
                </a:solidFill>
                <a:latin typeface="Arial"/>
                <a:cs typeface="Arial"/>
              </a:rPr>
              <a:t>predicting</a:t>
            </a:r>
            <a:r>
              <a:rPr dirty="0" sz="2200" spc="-85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200" i="1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dirty="0" sz="2200" spc="-80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200" spc="-20" i="1">
                <a:solidFill>
                  <a:srgbClr val="FF0000"/>
                </a:solidFill>
                <a:latin typeface="Arial"/>
                <a:cs typeface="Arial"/>
              </a:rPr>
              <a:t>random</a:t>
            </a:r>
            <a:r>
              <a:rPr dirty="0" sz="2200" spc="-90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200" spc="-10" i="1">
                <a:solidFill>
                  <a:srgbClr val="FF0000"/>
                </a:solidFill>
                <a:latin typeface="Arial"/>
                <a:cs typeface="Arial"/>
              </a:rPr>
              <a:t>variable</a:t>
            </a:r>
            <a:r>
              <a:rPr dirty="0" sz="2200" spc="-80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200" i="1">
                <a:solidFill>
                  <a:srgbClr val="FF0000"/>
                </a:solidFill>
                <a:latin typeface="Arial"/>
                <a:cs typeface="Arial"/>
              </a:rPr>
              <a:t>Y</a:t>
            </a:r>
            <a:r>
              <a:rPr dirty="0" sz="2200" spc="-85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200" i="1">
                <a:solidFill>
                  <a:srgbClr val="FF0000"/>
                </a:solidFill>
                <a:latin typeface="Arial"/>
                <a:cs typeface="Arial"/>
              </a:rPr>
              <a:t>on</a:t>
            </a:r>
            <a:r>
              <a:rPr dirty="0" sz="2200" spc="-80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200" i="1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dirty="0" sz="2200" spc="-85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200" i="1">
                <a:solidFill>
                  <a:srgbClr val="FF0000"/>
                </a:solidFill>
                <a:latin typeface="Arial"/>
                <a:cs typeface="Arial"/>
              </a:rPr>
              <a:t>scale</a:t>
            </a:r>
            <a:r>
              <a:rPr dirty="0" sz="2200" spc="-80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200" i="1">
                <a:solidFill>
                  <a:srgbClr val="FF0000"/>
                </a:solidFill>
                <a:latin typeface="Arial"/>
                <a:cs typeface="Arial"/>
              </a:rPr>
              <a:t>of</a:t>
            </a:r>
            <a:r>
              <a:rPr dirty="0" sz="2200" spc="-70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200" i="1">
                <a:solidFill>
                  <a:srgbClr val="FF0000"/>
                </a:solidFill>
                <a:latin typeface="Arial"/>
                <a:cs typeface="Arial"/>
              </a:rPr>
              <a:t>zero</a:t>
            </a:r>
            <a:r>
              <a:rPr dirty="0" sz="2200" spc="-85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200" i="1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dirty="0" sz="2200" spc="-80" i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200" i="1">
                <a:solidFill>
                  <a:srgbClr val="FF0000"/>
                </a:solidFill>
                <a:latin typeface="Arial"/>
                <a:cs typeface="Arial"/>
              </a:rPr>
              <a:t>one</a:t>
            </a:r>
            <a:r>
              <a:rPr dirty="0" sz="2200">
                <a:latin typeface="Arial MT"/>
                <a:cs typeface="Arial MT"/>
              </a:rPr>
              <a:t>,</a:t>
            </a:r>
            <a:r>
              <a:rPr dirty="0" sz="2200" spc="-7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with </a:t>
            </a:r>
            <a:r>
              <a:rPr dirty="0" sz="2200" spc="-20">
                <a:latin typeface="Arial MT"/>
                <a:cs typeface="Arial MT"/>
              </a:rPr>
              <a:t>	</a:t>
            </a:r>
            <a:r>
              <a:rPr dirty="0" sz="2200" spc="-10">
                <a:latin typeface="Arial MT"/>
                <a:cs typeface="Arial MT"/>
              </a:rPr>
              <a:t>higher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numbers</a:t>
            </a:r>
            <a:r>
              <a:rPr dirty="0" sz="2200" spc="-11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indicating</a:t>
            </a:r>
            <a:r>
              <a:rPr dirty="0" sz="2200" spc="-11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better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predictors.</a:t>
            </a:r>
            <a:endParaRPr sz="2200">
              <a:latin typeface="Arial MT"/>
              <a:cs typeface="Arial MT"/>
            </a:endParaRPr>
          </a:p>
          <a:p>
            <a:pPr algn="just" lvl="1" marL="588010" marR="1124585" indent="-220979">
              <a:lnSpc>
                <a:spcPts val="2210"/>
              </a:lnSpc>
              <a:spcBef>
                <a:spcPts val="695"/>
              </a:spcBef>
              <a:buChar char="–"/>
              <a:tabLst>
                <a:tab pos="589280" algn="l"/>
              </a:tabLst>
            </a:pPr>
            <a:r>
              <a:rPr dirty="0" sz="1900" spc="-20">
                <a:latin typeface="Arial MT"/>
                <a:cs typeface="Arial MT"/>
              </a:rPr>
              <a:t>Mutual</a:t>
            </a:r>
            <a:r>
              <a:rPr dirty="0" sz="1900" spc="-60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Information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Correlation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captures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many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different</a:t>
            </a:r>
            <a:r>
              <a:rPr dirty="0" sz="1900" spc="-6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types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of 	relationships</a:t>
            </a:r>
            <a:r>
              <a:rPr dirty="0" sz="1900" spc="-9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(not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just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linear)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and</a:t>
            </a:r>
            <a:r>
              <a:rPr dirty="0" sz="1900" spc="-9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is</a:t>
            </a:r>
            <a:r>
              <a:rPr dirty="0" sz="1900" spc="-9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considered</a:t>
            </a:r>
            <a:r>
              <a:rPr dirty="0" sz="1900" spc="-9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the</a:t>
            </a:r>
            <a:r>
              <a:rPr dirty="0" sz="1900" spc="-9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best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metric.</a:t>
            </a:r>
            <a:endParaRPr sz="19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790"/>
              </a:spcBef>
              <a:buFont typeface="Arial MT"/>
              <a:buChar char="–"/>
            </a:pPr>
            <a:endParaRPr sz="1900">
              <a:latin typeface="Arial MT"/>
              <a:cs typeface="Arial MT"/>
            </a:endParaRPr>
          </a:p>
          <a:p>
            <a:pPr marL="278765" marR="265430" indent="-266700">
              <a:lnSpc>
                <a:spcPct val="102699"/>
              </a:lnSpc>
              <a:buChar char="•"/>
              <a:tabLst>
                <a:tab pos="278765" algn="l"/>
              </a:tabLst>
            </a:pPr>
            <a:r>
              <a:rPr dirty="0" sz="2200" spc="-20">
                <a:latin typeface="Arial MT"/>
                <a:cs typeface="Arial MT"/>
              </a:rPr>
              <a:t>However,</a:t>
            </a:r>
            <a:r>
              <a:rPr dirty="0" sz="2200" spc="-6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it</a:t>
            </a:r>
            <a:r>
              <a:rPr dirty="0" sz="2200" spc="-6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doesn’t</a:t>
            </a:r>
            <a:r>
              <a:rPr dirty="0" sz="2200" spc="-6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tell</a:t>
            </a:r>
            <a:r>
              <a:rPr dirty="0" sz="2200" spc="-7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us</a:t>
            </a:r>
            <a:r>
              <a:rPr dirty="0" sz="2200" spc="-7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if</a:t>
            </a:r>
            <a:r>
              <a:rPr dirty="0" sz="2200" spc="-6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feature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is</a:t>
            </a:r>
            <a:r>
              <a:rPr dirty="0" sz="2200" spc="-7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predictor</a:t>
            </a:r>
            <a:r>
              <a:rPr dirty="0" sz="2200" spc="-7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of</a:t>
            </a:r>
            <a:r>
              <a:rPr dirty="0" sz="2200" spc="-6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success </a:t>
            </a:r>
            <a:r>
              <a:rPr dirty="0" sz="2200">
                <a:latin typeface="Arial MT"/>
                <a:cs typeface="Arial MT"/>
              </a:rPr>
              <a:t>or</a:t>
            </a:r>
            <a:r>
              <a:rPr dirty="0" sz="2200" spc="-6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failure.</a:t>
            </a:r>
            <a:endParaRPr sz="2200">
              <a:latin typeface="Arial MT"/>
              <a:cs typeface="Arial MT"/>
            </a:endParaRPr>
          </a:p>
          <a:p>
            <a:pPr marL="278765" marR="174625" indent="-266700">
              <a:lnSpc>
                <a:spcPct val="102699"/>
              </a:lnSpc>
              <a:spcBef>
                <a:spcPts val="1080"/>
              </a:spcBef>
              <a:buChar char="•"/>
              <a:tabLst>
                <a:tab pos="278765" algn="l"/>
              </a:tabLst>
            </a:pPr>
            <a:r>
              <a:rPr dirty="0" sz="2200" spc="-10">
                <a:latin typeface="Arial MT"/>
                <a:cs typeface="Arial MT"/>
              </a:rPr>
              <a:t>Mutual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Information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and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Pearson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measures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are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complementary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 spc="-50">
                <a:latin typeface="Arial MT"/>
                <a:cs typeface="Arial MT"/>
              </a:rPr>
              <a:t>– </a:t>
            </a:r>
            <a:r>
              <a:rPr dirty="0" sz="2200">
                <a:latin typeface="Arial MT"/>
                <a:cs typeface="Arial MT"/>
              </a:rPr>
              <a:t>they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do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not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always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move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same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way.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4664" y="653099"/>
            <a:ext cx="5648960" cy="5289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 b="0">
                <a:latin typeface="Arial MT"/>
                <a:cs typeface="Arial MT"/>
              </a:rPr>
              <a:t>ML</a:t>
            </a:r>
            <a:r>
              <a:rPr dirty="0" sz="3300" spc="-55" b="0">
                <a:latin typeface="Arial MT"/>
                <a:cs typeface="Arial MT"/>
              </a:rPr>
              <a:t> </a:t>
            </a:r>
            <a:r>
              <a:rPr dirty="0" sz="3300" b="0">
                <a:latin typeface="Arial MT"/>
                <a:cs typeface="Arial MT"/>
              </a:rPr>
              <a:t>Process:</a:t>
            </a:r>
            <a:r>
              <a:rPr dirty="0" sz="3300" spc="-55" b="0">
                <a:latin typeface="Arial MT"/>
                <a:cs typeface="Arial MT"/>
              </a:rPr>
              <a:t> </a:t>
            </a:r>
            <a:r>
              <a:rPr dirty="0" sz="3300" b="0">
                <a:latin typeface="Arial MT"/>
                <a:cs typeface="Arial MT"/>
              </a:rPr>
              <a:t>Data</a:t>
            </a:r>
            <a:r>
              <a:rPr dirty="0" sz="3300" spc="-50" b="0">
                <a:latin typeface="Arial MT"/>
                <a:cs typeface="Arial MT"/>
              </a:rPr>
              <a:t> </a:t>
            </a:r>
            <a:r>
              <a:rPr dirty="0" sz="3300" spc="-10" b="0">
                <a:latin typeface="Arial MT"/>
                <a:cs typeface="Arial MT"/>
              </a:rPr>
              <a:t>Preparation</a:t>
            </a:r>
            <a:endParaRPr sz="33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404006" y="1425475"/>
            <a:ext cx="7148830" cy="323342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485140" indent="-472440">
              <a:lnSpc>
                <a:spcPct val="100000"/>
              </a:lnSpc>
              <a:spcBef>
                <a:spcPts val="700"/>
              </a:spcBef>
              <a:buSzPct val="80000"/>
              <a:buChar char="•"/>
              <a:tabLst>
                <a:tab pos="485140" algn="l"/>
              </a:tabLst>
            </a:pPr>
            <a:r>
              <a:rPr dirty="0" sz="2500">
                <a:latin typeface="Arial MT"/>
                <a:cs typeface="Arial MT"/>
              </a:rPr>
              <a:t>Needed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for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several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reasons</a:t>
            </a:r>
            <a:endParaRPr sz="2500">
              <a:latin typeface="Arial MT"/>
              <a:cs typeface="Arial MT"/>
            </a:endParaRPr>
          </a:p>
          <a:p>
            <a:pPr lvl="1" marL="911225" indent="-473075">
              <a:lnSpc>
                <a:spcPct val="100000"/>
              </a:lnSpc>
              <a:spcBef>
                <a:spcPts val="600"/>
              </a:spcBef>
              <a:buClr>
                <a:srgbClr val="000000"/>
              </a:buClr>
              <a:buSzPct val="88000"/>
              <a:buChar char="•"/>
              <a:tabLst>
                <a:tab pos="911225" algn="l"/>
              </a:tabLst>
            </a:pPr>
            <a:r>
              <a:rPr dirty="0" sz="2500">
                <a:solidFill>
                  <a:srgbClr val="C00000"/>
                </a:solidFill>
                <a:latin typeface="Arial MT"/>
                <a:cs typeface="Arial MT"/>
              </a:rPr>
              <a:t>Some</a:t>
            </a:r>
            <a:r>
              <a:rPr dirty="0" sz="2500" spc="-8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C00000"/>
                </a:solidFill>
                <a:latin typeface="Arial MT"/>
                <a:cs typeface="Arial MT"/>
              </a:rPr>
              <a:t>Models</a:t>
            </a:r>
            <a:r>
              <a:rPr dirty="0" sz="2500" spc="-75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C00000"/>
                </a:solidFill>
                <a:latin typeface="Arial MT"/>
                <a:cs typeface="Arial MT"/>
              </a:rPr>
              <a:t>have</a:t>
            </a:r>
            <a:r>
              <a:rPr dirty="0" sz="2500" spc="-75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C00000"/>
                </a:solidFill>
                <a:latin typeface="Arial MT"/>
                <a:cs typeface="Arial MT"/>
              </a:rPr>
              <a:t>strict</a:t>
            </a:r>
            <a:r>
              <a:rPr dirty="0" sz="2500" spc="-75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C00000"/>
                </a:solidFill>
                <a:latin typeface="Arial MT"/>
                <a:cs typeface="Arial MT"/>
              </a:rPr>
              <a:t>data</a:t>
            </a:r>
            <a:r>
              <a:rPr dirty="0" sz="2500" spc="-75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500" spc="-10">
                <a:solidFill>
                  <a:srgbClr val="C00000"/>
                </a:solidFill>
                <a:latin typeface="Arial MT"/>
                <a:cs typeface="Arial MT"/>
              </a:rPr>
              <a:t>requirements</a:t>
            </a:r>
            <a:endParaRPr sz="2500">
              <a:latin typeface="Arial MT"/>
              <a:cs typeface="Arial MT"/>
            </a:endParaRPr>
          </a:p>
          <a:p>
            <a:pPr lvl="2" marL="1104900" indent="-354965">
              <a:lnSpc>
                <a:spcPct val="100000"/>
              </a:lnSpc>
              <a:spcBef>
                <a:spcPts val="600"/>
              </a:spcBef>
              <a:buClr>
                <a:srgbClr val="000000"/>
              </a:buClr>
              <a:buSzPct val="84000"/>
              <a:buChar char="•"/>
              <a:tabLst>
                <a:tab pos="1104900" algn="l"/>
              </a:tabLst>
            </a:pPr>
            <a:r>
              <a:rPr dirty="0" sz="2500">
                <a:solidFill>
                  <a:srgbClr val="2D9DFF"/>
                </a:solidFill>
                <a:latin typeface="Arial MT"/>
                <a:cs typeface="Arial MT"/>
              </a:rPr>
              <a:t>Scale</a:t>
            </a:r>
            <a:r>
              <a:rPr dirty="0" sz="2500" spc="-65">
                <a:solidFill>
                  <a:srgbClr val="2D9DFF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2D9DFF"/>
                </a:solidFill>
                <a:latin typeface="Arial MT"/>
                <a:cs typeface="Arial MT"/>
              </a:rPr>
              <a:t>of</a:t>
            </a:r>
            <a:r>
              <a:rPr dirty="0" sz="2500" spc="-60">
                <a:solidFill>
                  <a:srgbClr val="2D9DFF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2D9DFF"/>
                </a:solidFill>
                <a:latin typeface="Arial MT"/>
                <a:cs typeface="Arial MT"/>
              </a:rPr>
              <a:t>the</a:t>
            </a:r>
            <a:r>
              <a:rPr dirty="0" sz="2500" spc="-65">
                <a:solidFill>
                  <a:srgbClr val="2D9DFF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2D9DFF"/>
                </a:solidFill>
                <a:latin typeface="Arial MT"/>
                <a:cs typeface="Arial MT"/>
              </a:rPr>
              <a:t>data,</a:t>
            </a:r>
            <a:r>
              <a:rPr dirty="0" sz="2500" spc="-60">
                <a:solidFill>
                  <a:srgbClr val="2D9DFF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2D9DFF"/>
                </a:solidFill>
                <a:latin typeface="Arial MT"/>
                <a:cs typeface="Arial MT"/>
              </a:rPr>
              <a:t>data</a:t>
            </a:r>
            <a:r>
              <a:rPr dirty="0" sz="2500" spc="-60">
                <a:solidFill>
                  <a:srgbClr val="2D9DFF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2D9DFF"/>
                </a:solidFill>
                <a:latin typeface="Arial MT"/>
                <a:cs typeface="Arial MT"/>
              </a:rPr>
              <a:t>point</a:t>
            </a:r>
            <a:r>
              <a:rPr dirty="0" sz="2500" spc="-65">
                <a:solidFill>
                  <a:srgbClr val="2D9DFF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2D9DFF"/>
                </a:solidFill>
                <a:latin typeface="Arial MT"/>
                <a:cs typeface="Arial MT"/>
              </a:rPr>
              <a:t>intervals,</a:t>
            </a:r>
            <a:r>
              <a:rPr dirty="0" sz="2500" spc="-45">
                <a:solidFill>
                  <a:srgbClr val="2D9DFF"/>
                </a:solidFill>
                <a:latin typeface="Arial MT"/>
                <a:cs typeface="Arial MT"/>
              </a:rPr>
              <a:t> </a:t>
            </a:r>
            <a:r>
              <a:rPr dirty="0" sz="2500" spc="-25">
                <a:solidFill>
                  <a:srgbClr val="2D9DFF"/>
                </a:solidFill>
                <a:latin typeface="Arial MT"/>
                <a:cs typeface="Arial MT"/>
              </a:rPr>
              <a:t>etc</a:t>
            </a:r>
            <a:endParaRPr sz="2500">
              <a:latin typeface="Arial MT"/>
              <a:cs typeface="Arial MT"/>
            </a:endParaRPr>
          </a:p>
          <a:p>
            <a:pPr lvl="1" marL="911225" marR="5080" indent="-473075">
              <a:lnSpc>
                <a:spcPct val="100000"/>
              </a:lnSpc>
              <a:spcBef>
                <a:spcPts val="600"/>
              </a:spcBef>
              <a:buClr>
                <a:srgbClr val="000000"/>
              </a:buClr>
              <a:buSzPct val="88000"/>
              <a:buChar char="•"/>
              <a:tabLst>
                <a:tab pos="911225" algn="l"/>
              </a:tabLst>
            </a:pPr>
            <a:r>
              <a:rPr dirty="0" sz="2500">
                <a:solidFill>
                  <a:srgbClr val="C00000"/>
                </a:solidFill>
                <a:latin typeface="Arial MT"/>
                <a:cs typeface="Arial MT"/>
              </a:rPr>
              <a:t>Some</a:t>
            </a:r>
            <a:r>
              <a:rPr dirty="0" sz="2500" spc="-8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C00000"/>
                </a:solidFill>
                <a:latin typeface="Arial MT"/>
                <a:cs typeface="Arial MT"/>
              </a:rPr>
              <a:t>characteristics</a:t>
            </a:r>
            <a:r>
              <a:rPr dirty="0" sz="2500" spc="-75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C00000"/>
                </a:solidFill>
                <a:latin typeface="Arial MT"/>
                <a:cs typeface="Arial MT"/>
              </a:rPr>
              <a:t>of</a:t>
            </a:r>
            <a:r>
              <a:rPr dirty="0" sz="2500" spc="-75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C00000"/>
                </a:solidFill>
                <a:latin typeface="Arial MT"/>
                <a:cs typeface="Arial MT"/>
              </a:rPr>
              <a:t>the</a:t>
            </a:r>
            <a:r>
              <a:rPr dirty="0" sz="2500" spc="-75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C00000"/>
                </a:solidFill>
                <a:latin typeface="Arial MT"/>
                <a:cs typeface="Arial MT"/>
              </a:rPr>
              <a:t>data</a:t>
            </a:r>
            <a:r>
              <a:rPr dirty="0" sz="2500" spc="-75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C00000"/>
                </a:solidFill>
                <a:latin typeface="Arial MT"/>
                <a:cs typeface="Arial MT"/>
              </a:rPr>
              <a:t>may</a:t>
            </a:r>
            <a:r>
              <a:rPr dirty="0" sz="2500" spc="-75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C00000"/>
                </a:solidFill>
                <a:latin typeface="Arial MT"/>
                <a:cs typeface="Arial MT"/>
              </a:rPr>
              <a:t>have</a:t>
            </a:r>
            <a:r>
              <a:rPr dirty="0" sz="2500" spc="-75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500" spc="-50">
                <a:solidFill>
                  <a:srgbClr val="C00000"/>
                </a:solidFill>
                <a:latin typeface="Arial MT"/>
                <a:cs typeface="Arial MT"/>
              </a:rPr>
              <a:t>a </a:t>
            </a:r>
            <a:r>
              <a:rPr dirty="0" sz="2500">
                <a:solidFill>
                  <a:srgbClr val="C00000"/>
                </a:solidFill>
                <a:latin typeface="Arial MT"/>
                <a:cs typeface="Arial MT"/>
              </a:rPr>
              <a:t>dramatic</a:t>
            </a:r>
            <a:r>
              <a:rPr dirty="0" sz="2500" spc="-85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C00000"/>
                </a:solidFill>
                <a:latin typeface="Arial MT"/>
                <a:cs typeface="Arial MT"/>
              </a:rPr>
              <a:t>impact</a:t>
            </a:r>
            <a:r>
              <a:rPr dirty="0" sz="2500" spc="-8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C00000"/>
                </a:solidFill>
                <a:latin typeface="Arial MT"/>
                <a:cs typeface="Arial MT"/>
              </a:rPr>
              <a:t>on</a:t>
            </a:r>
            <a:r>
              <a:rPr dirty="0" sz="2500" spc="-8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C00000"/>
                </a:solidFill>
                <a:latin typeface="Arial MT"/>
                <a:cs typeface="Arial MT"/>
              </a:rPr>
              <a:t>the</a:t>
            </a:r>
            <a:r>
              <a:rPr dirty="0" sz="2500" spc="-8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C00000"/>
                </a:solidFill>
                <a:latin typeface="Arial MT"/>
                <a:cs typeface="Arial MT"/>
              </a:rPr>
              <a:t>model</a:t>
            </a:r>
            <a:r>
              <a:rPr dirty="0" sz="2500" spc="-7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500" spc="-10">
                <a:solidFill>
                  <a:srgbClr val="C00000"/>
                </a:solidFill>
                <a:latin typeface="Arial MT"/>
                <a:cs typeface="Arial MT"/>
              </a:rPr>
              <a:t>performance</a:t>
            </a:r>
            <a:endParaRPr sz="2500">
              <a:latin typeface="Arial MT"/>
              <a:cs typeface="Arial MT"/>
            </a:endParaRPr>
          </a:p>
          <a:p>
            <a:pPr marL="1172210" marR="793750" indent="-414020">
              <a:lnSpc>
                <a:spcPct val="100699"/>
              </a:lnSpc>
              <a:spcBef>
                <a:spcPts val="844"/>
              </a:spcBef>
            </a:pPr>
            <a:r>
              <a:rPr dirty="0" sz="2900">
                <a:solidFill>
                  <a:srgbClr val="00B050"/>
                </a:solidFill>
                <a:latin typeface="Arial MT"/>
                <a:cs typeface="Arial MT"/>
              </a:rPr>
              <a:t>Time</a:t>
            </a:r>
            <a:r>
              <a:rPr dirty="0" sz="2900" spc="-3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dirty="0" sz="2900">
                <a:solidFill>
                  <a:srgbClr val="00B050"/>
                </a:solidFill>
                <a:latin typeface="Arial MT"/>
                <a:cs typeface="Arial MT"/>
              </a:rPr>
              <a:t>required</a:t>
            </a:r>
            <a:r>
              <a:rPr dirty="0" sz="2900" spc="-25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dirty="0" sz="2900">
                <a:solidFill>
                  <a:srgbClr val="00B050"/>
                </a:solidFill>
                <a:latin typeface="Arial MT"/>
                <a:cs typeface="Arial MT"/>
              </a:rPr>
              <a:t>for</a:t>
            </a:r>
            <a:r>
              <a:rPr dirty="0" sz="2900" spc="-25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dirty="0" sz="2900">
                <a:solidFill>
                  <a:srgbClr val="00B050"/>
                </a:solidFill>
                <a:latin typeface="Arial MT"/>
                <a:cs typeface="Arial MT"/>
              </a:rPr>
              <a:t>data</a:t>
            </a:r>
            <a:r>
              <a:rPr dirty="0" sz="2900" spc="-3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dirty="0" sz="2900" spc="-10">
                <a:solidFill>
                  <a:srgbClr val="00B050"/>
                </a:solidFill>
                <a:latin typeface="Arial MT"/>
                <a:cs typeface="Arial MT"/>
              </a:rPr>
              <a:t>preparation </a:t>
            </a:r>
            <a:r>
              <a:rPr dirty="0" sz="2900">
                <a:solidFill>
                  <a:srgbClr val="00B050"/>
                </a:solidFill>
                <a:latin typeface="Arial MT"/>
                <a:cs typeface="Arial MT"/>
              </a:rPr>
              <a:t>should</a:t>
            </a:r>
            <a:r>
              <a:rPr dirty="0" sz="2900" spc="-5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dirty="0" sz="2900">
                <a:solidFill>
                  <a:srgbClr val="00B050"/>
                </a:solidFill>
                <a:latin typeface="Arial MT"/>
                <a:cs typeface="Arial MT"/>
              </a:rPr>
              <a:t>not</a:t>
            </a:r>
            <a:r>
              <a:rPr dirty="0" sz="2900" spc="-15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dirty="0" sz="2900">
                <a:solidFill>
                  <a:srgbClr val="00B050"/>
                </a:solidFill>
                <a:latin typeface="Arial MT"/>
                <a:cs typeface="Arial MT"/>
              </a:rPr>
              <a:t>be</a:t>
            </a:r>
            <a:r>
              <a:rPr dirty="0" sz="2900" spc="-5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dirty="0" sz="2900" spc="-10">
                <a:solidFill>
                  <a:srgbClr val="00B050"/>
                </a:solidFill>
                <a:latin typeface="Arial MT"/>
                <a:cs typeface="Arial MT"/>
              </a:rPr>
              <a:t>underestimated</a:t>
            </a:r>
            <a:endParaRPr sz="29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862930" y="5011280"/>
            <a:ext cx="4467225" cy="1242695"/>
          </a:xfrm>
          <a:prstGeom prst="rect">
            <a:avLst/>
          </a:prstGeom>
          <a:solidFill>
            <a:srgbClr val="FFFFCC"/>
          </a:solidFill>
          <a:ln w="19719">
            <a:solidFill>
              <a:srgbClr val="FF0000"/>
            </a:solidFill>
          </a:ln>
        </p:spPr>
        <p:txBody>
          <a:bodyPr wrap="square" lIns="0" tIns="35560" rIns="0" bIns="0" rtlCol="0" vert="horz">
            <a:spAutoFit/>
          </a:bodyPr>
          <a:lstStyle/>
          <a:p>
            <a:pPr marL="448945" indent="-354965">
              <a:lnSpc>
                <a:spcPct val="100000"/>
              </a:lnSpc>
              <a:spcBef>
                <a:spcPts val="280"/>
              </a:spcBef>
              <a:buChar char="•"/>
              <a:tabLst>
                <a:tab pos="448945" algn="l"/>
              </a:tabLst>
            </a:pPr>
            <a:r>
              <a:rPr dirty="0" sz="2500">
                <a:latin typeface="Arial MT"/>
                <a:cs typeface="Arial MT"/>
              </a:rPr>
              <a:t>Dealing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with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missing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values</a:t>
            </a:r>
            <a:endParaRPr sz="2500">
              <a:latin typeface="Arial MT"/>
              <a:cs typeface="Arial MT"/>
            </a:endParaRPr>
          </a:p>
          <a:p>
            <a:pPr marL="448945" indent="-354965">
              <a:lnSpc>
                <a:spcPct val="100000"/>
              </a:lnSpc>
              <a:buChar char="•"/>
              <a:tabLst>
                <a:tab pos="448945" algn="l"/>
              </a:tabLst>
            </a:pPr>
            <a:r>
              <a:rPr dirty="0" sz="2500" spc="-10">
                <a:latin typeface="Arial MT"/>
                <a:cs typeface="Arial MT"/>
              </a:rPr>
              <a:t>Transforming</a:t>
            </a:r>
            <a:r>
              <a:rPr dirty="0" sz="2500" spc="-10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text</a:t>
            </a:r>
            <a:r>
              <a:rPr dirty="0" sz="2500" spc="-11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variables</a:t>
            </a:r>
            <a:endParaRPr sz="2500">
              <a:latin typeface="Arial MT"/>
              <a:cs typeface="Arial MT"/>
            </a:endParaRPr>
          </a:p>
          <a:p>
            <a:pPr marL="448945" indent="-354965">
              <a:lnSpc>
                <a:spcPct val="100000"/>
              </a:lnSpc>
              <a:buChar char="•"/>
              <a:tabLst>
                <a:tab pos="448945" algn="l"/>
              </a:tabLst>
            </a:pPr>
            <a:r>
              <a:rPr dirty="0" sz="2500">
                <a:latin typeface="Arial MT"/>
                <a:cs typeface="Arial MT"/>
              </a:rPr>
              <a:t>Scaling</a:t>
            </a:r>
            <a:r>
              <a:rPr dirty="0" sz="2500" spc="-9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numeric</a:t>
            </a:r>
            <a:r>
              <a:rPr dirty="0" sz="2500" spc="-9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variables</a:t>
            </a:r>
            <a:endParaRPr sz="2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28839" rIns="0" bIns="0" rtlCol="0" vert="horz">
            <a:spAutoFit/>
          </a:bodyPr>
          <a:lstStyle/>
          <a:p>
            <a:pPr marL="1707514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262673"/>
                </a:solidFill>
              </a:rPr>
              <a:t>Missing</a:t>
            </a:r>
            <a:r>
              <a:rPr dirty="0" spc="-140">
                <a:solidFill>
                  <a:srgbClr val="262673"/>
                </a:solidFill>
              </a:rPr>
              <a:t> </a:t>
            </a:r>
            <a:r>
              <a:rPr dirty="0" spc="-10">
                <a:solidFill>
                  <a:srgbClr val="262673"/>
                </a:solidFill>
              </a:rPr>
              <a:t>values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281301" y="1715892"/>
            <a:ext cx="8189595" cy="49390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8765" marR="419100" indent="-266700">
              <a:lnSpc>
                <a:spcPct val="100000"/>
              </a:lnSpc>
              <a:spcBef>
                <a:spcPts val="100"/>
              </a:spcBef>
              <a:buChar char="•"/>
              <a:tabLst>
                <a:tab pos="278765" algn="l"/>
              </a:tabLst>
            </a:pPr>
            <a:r>
              <a:rPr dirty="0" sz="2300">
                <a:latin typeface="Arial MT"/>
                <a:cs typeface="Arial MT"/>
              </a:rPr>
              <a:t>There</a:t>
            </a:r>
            <a:r>
              <a:rPr dirty="0" sz="2300" spc="-7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may</a:t>
            </a:r>
            <a:r>
              <a:rPr dirty="0" sz="2300" spc="-7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be</a:t>
            </a:r>
            <a:r>
              <a:rPr dirty="0" sz="2300" spc="-7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many</a:t>
            </a:r>
            <a:r>
              <a:rPr dirty="0" sz="2300" spc="-7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reasons</a:t>
            </a:r>
            <a:r>
              <a:rPr dirty="0" sz="2300" spc="-7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for</a:t>
            </a:r>
            <a:r>
              <a:rPr dirty="0" sz="2300" spc="-6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missing</a:t>
            </a:r>
            <a:r>
              <a:rPr dirty="0" sz="2300" spc="-7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values,</a:t>
            </a:r>
            <a:r>
              <a:rPr dirty="0" sz="2300" spc="-6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but</a:t>
            </a:r>
            <a:r>
              <a:rPr dirty="0" sz="2300" spc="-70">
                <a:latin typeface="Arial MT"/>
                <a:cs typeface="Arial MT"/>
              </a:rPr>
              <a:t> </a:t>
            </a:r>
            <a:r>
              <a:rPr dirty="0" sz="2300" spc="-20">
                <a:latin typeface="Arial MT"/>
                <a:cs typeface="Arial MT"/>
              </a:rPr>
              <a:t>only </a:t>
            </a:r>
            <a:r>
              <a:rPr dirty="0" sz="2300">
                <a:latin typeface="Arial MT"/>
                <a:cs typeface="Arial MT"/>
              </a:rPr>
              <a:t>three</a:t>
            </a:r>
            <a:r>
              <a:rPr dirty="0" sz="2300" spc="-9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ways</a:t>
            </a:r>
            <a:r>
              <a:rPr dirty="0" sz="2300" spc="-9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to</a:t>
            </a:r>
            <a:r>
              <a:rPr dirty="0" sz="2300" spc="-9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handle</a:t>
            </a:r>
            <a:r>
              <a:rPr dirty="0" sz="2300" spc="-8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them:</a:t>
            </a:r>
            <a:r>
              <a:rPr dirty="0" sz="2300" spc="-70">
                <a:latin typeface="Arial MT"/>
                <a:cs typeface="Arial MT"/>
              </a:rPr>
              <a:t> </a:t>
            </a:r>
            <a:r>
              <a:rPr dirty="0" u="heavy" sz="230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deletion,</a:t>
            </a:r>
            <a:r>
              <a:rPr dirty="0" sz="2300" spc="-85">
                <a:latin typeface="Arial MT"/>
                <a:cs typeface="Arial MT"/>
              </a:rPr>
              <a:t> </a:t>
            </a:r>
            <a:r>
              <a:rPr dirty="0" u="heavy" sz="230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direct</a:t>
            </a:r>
            <a:r>
              <a:rPr dirty="0" u="heavy" sz="2300" spc="-8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dirty="0" u="heavy" sz="230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estimation,</a:t>
            </a:r>
            <a:r>
              <a:rPr dirty="0" sz="2300" spc="-85">
                <a:latin typeface="Arial MT"/>
                <a:cs typeface="Arial MT"/>
              </a:rPr>
              <a:t> </a:t>
            </a:r>
            <a:r>
              <a:rPr dirty="0" sz="2300" spc="-25">
                <a:latin typeface="Arial MT"/>
                <a:cs typeface="Arial MT"/>
              </a:rPr>
              <a:t>and </a:t>
            </a:r>
            <a:r>
              <a:rPr dirty="0" u="heavy" sz="2300" spc="-1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imputation</a:t>
            </a:r>
            <a:endParaRPr sz="2300">
              <a:latin typeface="Arial MT"/>
              <a:cs typeface="Arial MT"/>
            </a:endParaRPr>
          </a:p>
          <a:p>
            <a:pPr marL="278765" marR="5080" indent="-266700">
              <a:lnSpc>
                <a:spcPct val="99100"/>
              </a:lnSpc>
              <a:spcBef>
                <a:spcPts val="1945"/>
              </a:spcBef>
              <a:buChar char="•"/>
              <a:tabLst>
                <a:tab pos="278765" algn="l"/>
              </a:tabLst>
            </a:pPr>
            <a:r>
              <a:rPr dirty="0" sz="2300">
                <a:latin typeface="Arial MT"/>
                <a:cs typeface="Arial MT"/>
              </a:rPr>
              <a:t>Deleting</a:t>
            </a:r>
            <a:r>
              <a:rPr dirty="0" sz="2300" spc="-10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all</a:t>
            </a:r>
            <a:r>
              <a:rPr dirty="0" sz="2300" spc="-9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instances</a:t>
            </a:r>
            <a:r>
              <a:rPr dirty="0" sz="2300" spc="-10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(rows)</a:t>
            </a:r>
            <a:r>
              <a:rPr dirty="0" sz="2300" spc="-9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with</a:t>
            </a:r>
            <a:r>
              <a:rPr dirty="0" sz="2300" spc="-10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missing</a:t>
            </a:r>
            <a:r>
              <a:rPr dirty="0" sz="2300" spc="-10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values</a:t>
            </a:r>
            <a:r>
              <a:rPr dirty="0" sz="2300" spc="-10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would</a:t>
            </a:r>
            <a:r>
              <a:rPr dirty="0" sz="2300" spc="-100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delete </a:t>
            </a:r>
            <a:r>
              <a:rPr dirty="0" sz="2300">
                <a:latin typeface="Arial MT"/>
                <a:cs typeface="Arial MT"/>
              </a:rPr>
              <a:t>a</a:t>
            </a:r>
            <a:r>
              <a:rPr dirty="0" sz="2300" spc="-8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lot</a:t>
            </a:r>
            <a:r>
              <a:rPr dirty="0" sz="2300" spc="-7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of</a:t>
            </a:r>
            <a:r>
              <a:rPr dirty="0" sz="2300" spc="-7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potentially</a:t>
            </a:r>
            <a:r>
              <a:rPr dirty="0" sz="2300" spc="-8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useful</a:t>
            </a:r>
            <a:r>
              <a:rPr dirty="0" sz="2300" spc="-7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information;</a:t>
            </a:r>
            <a:r>
              <a:rPr dirty="0" sz="2300" spc="-7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as</a:t>
            </a:r>
            <a:r>
              <a:rPr dirty="0" sz="2300" spc="-8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basic</a:t>
            </a:r>
            <a:r>
              <a:rPr dirty="0" sz="2300" spc="-8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guideline,</a:t>
            </a:r>
            <a:r>
              <a:rPr dirty="0" sz="2300" spc="-75">
                <a:latin typeface="Arial MT"/>
                <a:cs typeface="Arial MT"/>
              </a:rPr>
              <a:t> </a:t>
            </a:r>
            <a:r>
              <a:rPr dirty="0" sz="2300" spc="-25">
                <a:latin typeface="Arial MT"/>
                <a:cs typeface="Arial MT"/>
              </a:rPr>
              <a:t>any </a:t>
            </a:r>
            <a:r>
              <a:rPr dirty="0" sz="2300">
                <a:latin typeface="Arial MT"/>
                <a:cs typeface="Arial MT"/>
              </a:rPr>
              <a:t>feature</a:t>
            </a:r>
            <a:r>
              <a:rPr dirty="0" sz="2300" spc="-8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(column)</a:t>
            </a:r>
            <a:r>
              <a:rPr dirty="0" sz="2300" spc="-7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with</a:t>
            </a:r>
            <a:r>
              <a:rPr dirty="0" sz="2300" spc="-8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more</a:t>
            </a:r>
            <a:r>
              <a:rPr dirty="0" sz="2300" spc="-8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than</a:t>
            </a:r>
            <a:r>
              <a:rPr dirty="0" sz="2300" spc="-8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30%</a:t>
            </a:r>
            <a:r>
              <a:rPr dirty="0" sz="2300" spc="-10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missing</a:t>
            </a:r>
            <a:r>
              <a:rPr dirty="0" sz="2300" spc="-8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values</a:t>
            </a:r>
            <a:r>
              <a:rPr dirty="0" sz="2300" spc="-80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should </a:t>
            </a:r>
            <a:r>
              <a:rPr dirty="0" sz="2300">
                <a:latin typeface="Arial MT"/>
                <a:cs typeface="Arial MT"/>
              </a:rPr>
              <a:t>be</a:t>
            </a:r>
            <a:r>
              <a:rPr dirty="0" sz="2300" spc="-35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discarded</a:t>
            </a:r>
            <a:endParaRPr sz="2300">
              <a:latin typeface="Arial MT"/>
              <a:cs typeface="Arial MT"/>
            </a:endParaRPr>
          </a:p>
          <a:p>
            <a:pPr marL="278765" marR="288925" indent="-266700">
              <a:lnSpc>
                <a:spcPct val="101699"/>
              </a:lnSpc>
              <a:spcBef>
                <a:spcPts val="1800"/>
              </a:spcBef>
              <a:buChar char="•"/>
              <a:tabLst>
                <a:tab pos="278765" algn="l"/>
              </a:tabLst>
            </a:pPr>
            <a:r>
              <a:rPr dirty="0" sz="2300">
                <a:latin typeface="Arial MT"/>
                <a:cs typeface="Arial MT"/>
              </a:rPr>
              <a:t>Direct</a:t>
            </a:r>
            <a:r>
              <a:rPr dirty="0" sz="2300" spc="-9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estimation</a:t>
            </a:r>
            <a:r>
              <a:rPr dirty="0" sz="2300" spc="-8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requires</a:t>
            </a:r>
            <a:r>
              <a:rPr dirty="0" sz="2300" spc="-9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enough</a:t>
            </a:r>
            <a:r>
              <a:rPr dirty="0" sz="2300" spc="-9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prior</a:t>
            </a:r>
            <a:r>
              <a:rPr dirty="0" sz="2300" spc="-80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knowledge</a:t>
            </a:r>
            <a:r>
              <a:rPr dirty="0" sz="2300" spc="-9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of</a:t>
            </a:r>
            <a:r>
              <a:rPr dirty="0" sz="2300" spc="-85">
                <a:latin typeface="Arial MT"/>
                <a:cs typeface="Arial MT"/>
              </a:rPr>
              <a:t> </a:t>
            </a:r>
            <a:r>
              <a:rPr dirty="0" sz="2300" spc="-25">
                <a:latin typeface="Arial MT"/>
                <a:cs typeface="Arial MT"/>
              </a:rPr>
              <a:t>the </a:t>
            </a:r>
            <a:r>
              <a:rPr dirty="0" sz="2300">
                <a:latin typeface="Arial MT"/>
                <a:cs typeface="Arial MT"/>
              </a:rPr>
              <a:t>dataset</a:t>
            </a:r>
            <a:r>
              <a:rPr dirty="0" sz="2300" spc="-6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to</a:t>
            </a:r>
            <a:r>
              <a:rPr dirty="0" sz="2300" spc="-7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give</a:t>
            </a:r>
            <a:r>
              <a:rPr dirty="0" sz="2300" spc="-7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an</a:t>
            </a:r>
            <a:r>
              <a:rPr dirty="0" sz="2300" spc="-7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accurate</a:t>
            </a:r>
            <a:r>
              <a:rPr dirty="0" sz="2300" spc="-7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estimate</a:t>
            </a:r>
            <a:r>
              <a:rPr dirty="0" sz="2300" spc="-7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for</a:t>
            </a:r>
            <a:r>
              <a:rPr dirty="0" sz="2300" spc="-6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the</a:t>
            </a:r>
            <a:r>
              <a:rPr dirty="0" sz="2300" spc="-7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missing</a:t>
            </a:r>
            <a:r>
              <a:rPr dirty="0" sz="2300" spc="-70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values.</a:t>
            </a:r>
            <a:endParaRPr sz="2300">
              <a:latin typeface="Arial MT"/>
              <a:cs typeface="Arial MT"/>
            </a:endParaRPr>
          </a:p>
          <a:p>
            <a:pPr algn="just" marL="277495" marR="113664" indent="-265430">
              <a:lnSpc>
                <a:spcPct val="100000"/>
              </a:lnSpc>
              <a:spcBef>
                <a:spcPts val="1825"/>
              </a:spcBef>
              <a:buChar char="•"/>
              <a:tabLst>
                <a:tab pos="278765" algn="l"/>
              </a:tabLst>
            </a:pPr>
            <a:r>
              <a:rPr dirty="0" sz="2300">
                <a:latin typeface="Arial MT"/>
                <a:cs typeface="Arial MT"/>
              </a:rPr>
              <a:t>The</a:t>
            </a:r>
            <a:r>
              <a:rPr dirty="0" sz="2300" spc="-9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most</a:t>
            </a:r>
            <a:r>
              <a:rPr dirty="0" sz="2300" spc="-9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frequently</a:t>
            </a:r>
            <a:r>
              <a:rPr dirty="0" sz="2300" spc="-9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used</a:t>
            </a:r>
            <a:r>
              <a:rPr dirty="0" sz="2300" spc="-9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imputation</a:t>
            </a:r>
            <a:r>
              <a:rPr dirty="0" sz="2300" spc="-9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techniques</a:t>
            </a:r>
            <a:r>
              <a:rPr dirty="0" sz="2300" spc="-9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are</a:t>
            </a:r>
            <a:r>
              <a:rPr dirty="0" sz="2300" spc="-9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filling</a:t>
            </a:r>
            <a:r>
              <a:rPr dirty="0" sz="2300" spc="-95">
                <a:latin typeface="Arial MT"/>
                <a:cs typeface="Arial MT"/>
              </a:rPr>
              <a:t> </a:t>
            </a:r>
            <a:r>
              <a:rPr dirty="0" sz="2300" spc="-25">
                <a:latin typeface="Arial MT"/>
                <a:cs typeface="Arial MT"/>
              </a:rPr>
              <a:t>in </a:t>
            </a:r>
            <a:r>
              <a:rPr dirty="0" sz="2300" spc="-25">
                <a:latin typeface="Arial MT"/>
                <a:cs typeface="Arial MT"/>
              </a:rPr>
              <a:t>	</a:t>
            </a:r>
            <a:r>
              <a:rPr dirty="0" sz="2300">
                <a:latin typeface="Arial MT"/>
                <a:cs typeface="Arial MT"/>
              </a:rPr>
              <a:t>the</a:t>
            </a:r>
            <a:r>
              <a:rPr dirty="0" sz="2300" spc="-65">
                <a:latin typeface="Arial MT"/>
                <a:cs typeface="Arial MT"/>
              </a:rPr>
              <a:t> </a:t>
            </a:r>
            <a:r>
              <a:rPr dirty="0" u="heavy" sz="230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mean</a:t>
            </a:r>
            <a:r>
              <a:rPr dirty="0" u="heavy" sz="2300" spc="-6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or</a:t>
            </a:r>
            <a:r>
              <a:rPr dirty="0" sz="2300" spc="-55">
                <a:latin typeface="Arial MT"/>
                <a:cs typeface="Arial MT"/>
              </a:rPr>
              <a:t> </a:t>
            </a:r>
            <a:r>
              <a:rPr dirty="0" u="heavy" sz="230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median</a:t>
            </a:r>
            <a:r>
              <a:rPr dirty="0" sz="2300" spc="-6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value</a:t>
            </a:r>
            <a:r>
              <a:rPr dirty="0" sz="2300" spc="-6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for</a:t>
            </a:r>
            <a:r>
              <a:rPr dirty="0" sz="2300" spc="-5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the</a:t>
            </a:r>
            <a:r>
              <a:rPr dirty="0" sz="2300" spc="-6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numeric</a:t>
            </a:r>
            <a:r>
              <a:rPr dirty="0" sz="2300" spc="-6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features</a:t>
            </a:r>
            <a:r>
              <a:rPr dirty="0" sz="2300" spc="-6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and</a:t>
            </a:r>
            <a:r>
              <a:rPr dirty="0" sz="2300" spc="-65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filling </a:t>
            </a:r>
            <a:r>
              <a:rPr dirty="0" sz="2300" spc="-10">
                <a:latin typeface="Arial MT"/>
                <a:cs typeface="Arial MT"/>
              </a:rPr>
              <a:t>	</a:t>
            </a:r>
            <a:r>
              <a:rPr dirty="0" sz="2300">
                <a:latin typeface="Arial MT"/>
                <a:cs typeface="Arial MT"/>
              </a:rPr>
              <a:t>in</a:t>
            </a:r>
            <a:r>
              <a:rPr dirty="0" sz="2300" spc="-7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the</a:t>
            </a:r>
            <a:r>
              <a:rPr dirty="0" sz="2300" spc="-65">
                <a:latin typeface="Arial MT"/>
                <a:cs typeface="Arial MT"/>
              </a:rPr>
              <a:t> </a:t>
            </a:r>
            <a:r>
              <a:rPr dirty="0" u="heavy" sz="230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most</a:t>
            </a:r>
            <a:r>
              <a:rPr dirty="0" u="heavy" sz="2300" spc="-6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dirty="0" u="heavy" sz="230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frequent</a:t>
            </a:r>
            <a:r>
              <a:rPr dirty="0" sz="2300" spc="-5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value</a:t>
            </a:r>
            <a:r>
              <a:rPr dirty="0" sz="2300" spc="-7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for</a:t>
            </a:r>
            <a:r>
              <a:rPr dirty="0" sz="2300" spc="-5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nominal</a:t>
            </a:r>
            <a:r>
              <a:rPr dirty="0" sz="2300" spc="-65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features.</a:t>
            </a:r>
            <a:endParaRPr sz="2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52459" y="1972952"/>
            <a:ext cx="8301990" cy="44437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8130" indent="-265430">
              <a:lnSpc>
                <a:spcPts val="2510"/>
              </a:lnSpc>
              <a:spcBef>
                <a:spcPts val="100"/>
              </a:spcBef>
              <a:buFont typeface="Arial MT"/>
              <a:buChar char="•"/>
              <a:tabLst>
                <a:tab pos="278130" algn="l"/>
              </a:tabLst>
            </a:pPr>
            <a:r>
              <a:rPr dirty="0" sz="2100" spc="-10" b="1" i="1">
                <a:latin typeface="Arial"/>
                <a:cs typeface="Arial"/>
              </a:rPr>
              <a:t>Label</a:t>
            </a:r>
            <a:r>
              <a:rPr dirty="0" sz="2100" spc="-95" b="1" i="1">
                <a:latin typeface="Arial"/>
                <a:cs typeface="Arial"/>
              </a:rPr>
              <a:t> </a:t>
            </a:r>
            <a:r>
              <a:rPr dirty="0" sz="2100" spc="-20" b="1" i="1">
                <a:latin typeface="Arial"/>
                <a:cs typeface="Arial"/>
              </a:rPr>
              <a:t>Encoding</a:t>
            </a:r>
            <a:r>
              <a:rPr dirty="0" sz="2100" spc="-90" b="1" i="1">
                <a:latin typeface="Arial"/>
                <a:cs typeface="Arial"/>
              </a:rPr>
              <a:t> </a:t>
            </a:r>
            <a:r>
              <a:rPr dirty="0" sz="2100" spc="-10">
                <a:latin typeface="Arial MT"/>
                <a:cs typeface="Arial MT"/>
              </a:rPr>
              <a:t>converts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 i="1">
                <a:latin typeface="Arial"/>
                <a:cs typeface="Arial"/>
              </a:rPr>
              <a:t>categorical</a:t>
            </a:r>
            <a:r>
              <a:rPr dirty="0" sz="2100" spc="-70" i="1">
                <a:latin typeface="Arial"/>
                <a:cs typeface="Arial"/>
              </a:rPr>
              <a:t> </a:t>
            </a:r>
            <a:r>
              <a:rPr dirty="0" sz="2100">
                <a:latin typeface="Arial MT"/>
                <a:cs typeface="Arial MT"/>
              </a:rPr>
              <a:t>feature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into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 i="1">
                <a:latin typeface="Arial"/>
                <a:cs typeface="Arial"/>
              </a:rPr>
              <a:t>continuous</a:t>
            </a:r>
            <a:endParaRPr sz="2100">
              <a:latin typeface="Arial"/>
              <a:cs typeface="Arial"/>
            </a:endParaRPr>
          </a:p>
          <a:p>
            <a:pPr algn="just" marL="278765">
              <a:lnSpc>
                <a:spcPts val="2510"/>
              </a:lnSpc>
            </a:pPr>
            <a:r>
              <a:rPr dirty="0" sz="2100">
                <a:latin typeface="Arial MT"/>
                <a:cs typeface="Arial MT"/>
              </a:rPr>
              <a:t>feature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by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assigning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unique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integer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based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on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alphabetical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order.</a:t>
            </a:r>
            <a:endParaRPr sz="2100">
              <a:latin typeface="Arial MT"/>
              <a:cs typeface="Arial MT"/>
            </a:endParaRPr>
          </a:p>
          <a:p>
            <a:pPr lvl="1" marL="589280" marR="443865" indent="-222250">
              <a:lnSpc>
                <a:spcPct val="100000"/>
              </a:lnSpc>
              <a:spcBef>
                <a:spcPts val="480"/>
              </a:spcBef>
              <a:buChar char="–"/>
              <a:tabLst>
                <a:tab pos="589280" algn="l"/>
              </a:tabLst>
            </a:pPr>
            <a:r>
              <a:rPr dirty="0" sz="2100">
                <a:latin typeface="Arial MT"/>
                <a:cs typeface="Arial MT"/>
              </a:rPr>
              <a:t>there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very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high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probability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that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model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captures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the </a:t>
            </a:r>
            <a:r>
              <a:rPr dirty="0" sz="2100" spc="-10">
                <a:latin typeface="Arial MT"/>
                <a:cs typeface="Arial MT"/>
              </a:rPr>
              <a:t>relationship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between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countries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such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as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China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&lt;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India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&lt;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Russia</a:t>
            </a:r>
            <a:endParaRPr sz="2100">
              <a:latin typeface="Arial MT"/>
              <a:cs typeface="Arial MT"/>
            </a:endParaRPr>
          </a:p>
          <a:p>
            <a:pPr algn="just" marL="278765" marR="5080" indent="-266700">
              <a:lnSpc>
                <a:spcPct val="99500"/>
              </a:lnSpc>
              <a:spcBef>
                <a:spcPts val="1885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2100" spc="-35" b="1" i="1">
                <a:latin typeface="Arial"/>
                <a:cs typeface="Arial"/>
              </a:rPr>
              <a:t>One-</a:t>
            </a:r>
            <a:r>
              <a:rPr dirty="0" sz="2100" b="1" i="1">
                <a:latin typeface="Arial"/>
                <a:cs typeface="Arial"/>
              </a:rPr>
              <a:t>Hot</a:t>
            </a:r>
            <a:r>
              <a:rPr dirty="0" sz="2100" spc="-90" b="1" i="1">
                <a:latin typeface="Arial"/>
                <a:cs typeface="Arial"/>
              </a:rPr>
              <a:t> </a:t>
            </a:r>
            <a:r>
              <a:rPr dirty="0" sz="2100" spc="-20" b="1" i="1">
                <a:latin typeface="Arial"/>
                <a:cs typeface="Arial"/>
              </a:rPr>
              <a:t>Encoding</a:t>
            </a:r>
            <a:r>
              <a:rPr dirty="0" sz="2100" spc="-90" b="1" i="1">
                <a:latin typeface="Arial"/>
                <a:cs typeface="Arial"/>
              </a:rPr>
              <a:t> </a:t>
            </a:r>
            <a:r>
              <a:rPr dirty="0" sz="2100" spc="-10">
                <a:latin typeface="Arial MT"/>
                <a:cs typeface="Arial MT"/>
              </a:rPr>
              <a:t>creates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additional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features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based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on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number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unique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values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in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categorical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feature.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Every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unique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value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in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the </a:t>
            </a:r>
            <a:r>
              <a:rPr dirty="0" sz="2100" spc="-10">
                <a:latin typeface="Arial MT"/>
                <a:cs typeface="Arial MT"/>
              </a:rPr>
              <a:t>category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will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be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added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as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60">
                <a:latin typeface="Arial MT"/>
                <a:cs typeface="Arial MT"/>
              </a:rPr>
              <a:t> </a:t>
            </a:r>
            <a:r>
              <a:rPr dirty="0" sz="2100" spc="-10" i="1">
                <a:latin typeface="Arial"/>
                <a:cs typeface="Arial"/>
              </a:rPr>
              <a:t>discrete</a:t>
            </a:r>
            <a:r>
              <a:rPr dirty="0" sz="2100" spc="-75" i="1">
                <a:latin typeface="Arial"/>
                <a:cs typeface="Arial"/>
              </a:rPr>
              <a:t> </a:t>
            </a:r>
            <a:r>
              <a:rPr dirty="0" sz="2100" spc="-10">
                <a:latin typeface="Arial MT"/>
                <a:cs typeface="Arial MT"/>
              </a:rPr>
              <a:t>feature.</a:t>
            </a:r>
            <a:endParaRPr sz="2100">
              <a:latin typeface="Arial MT"/>
              <a:cs typeface="Arial MT"/>
            </a:endParaRPr>
          </a:p>
          <a:p>
            <a:pPr algn="just" lvl="1" marL="588645" indent="-221615">
              <a:lnSpc>
                <a:spcPct val="100000"/>
              </a:lnSpc>
              <a:spcBef>
                <a:spcPts val="575"/>
              </a:spcBef>
              <a:buChar char="–"/>
              <a:tabLst>
                <a:tab pos="588645" algn="l"/>
              </a:tabLst>
            </a:pPr>
            <a:r>
              <a:rPr dirty="0" sz="2100" spc="-30">
                <a:latin typeface="Arial MT"/>
                <a:cs typeface="Arial MT"/>
              </a:rPr>
              <a:t>One-</a:t>
            </a:r>
            <a:r>
              <a:rPr dirty="0" sz="2100">
                <a:latin typeface="Arial MT"/>
                <a:cs typeface="Arial MT"/>
              </a:rPr>
              <a:t>Hot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Encoding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process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creating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 spc="-20" b="1">
                <a:solidFill>
                  <a:srgbClr val="FF0000"/>
                </a:solidFill>
                <a:latin typeface="Arial"/>
                <a:cs typeface="Arial"/>
              </a:rPr>
              <a:t>dummy</a:t>
            </a:r>
            <a:r>
              <a:rPr dirty="0" sz="2100" spc="-8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100" spc="-10" b="1">
                <a:solidFill>
                  <a:srgbClr val="FF0000"/>
                </a:solidFill>
                <a:latin typeface="Arial"/>
                <a:cs typeface="Arial"/>
              </a:rPr>
              <a:t>variables</a:t>
            </a:r>
            <a:r>
              <a:rPr dirty="0" sz="2100" spc="-10">
                <a:latin typeface="Arial MT"/>
                <a:cs typeface="Arial MT"/>
              </a:rPr>
              <a:t>.</a:t>
            </a:r>
            <a:endParaRPr sz="2100">
              <a:latin typeface="Arial MT"/>
              <a:cs typeface="Arial MT"/>
            </a:endParaRPr>
          </a:p>
          <a:p>
            <a:pPr algn="just" lvl="1" marL="588645" indent="-221615">
              <a:lnSpc>
                <a:spcPct val="100000"/>
              </a:lnSpc>
              <a:spcBef>
                <a:spcPts val="670"/>
              </a:spcBef>
              <a:buChar char="–"/>
              <a:tabLst>
                <a:tab pos="588645" algn="l"/>
              </a:tabLst>
            </a:pPr>
            <a:r>
              <a:rPr dirty="0" sz="2100">
                <a:latin typeface="Arial MT"/>
                <a:cs typeface="Arial MT"/>
              </a:rPr>
              <a:t>This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used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to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be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two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separate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required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steps</a:t>
            </a:r>
            <a:endParaRPr sz="2100">
              <a:latin typeface="Arial MT"/>
              <a:cs typeface="Arial MT"/>
            </a:endParaRPr>
          </a:p>
          <a:p>
            <a:pPr algn="just" lvl="2" marL="898525" indent="-176530">
              <a:lnSpc>
                <a:spcPct val="100000"/>
              </a:lnSpc>
              <a:spcBef>
                <a:spcPts val="590"/>
              </a:spcBef>
              <a:buChar char="•"/>
              <a:tabLst>
                <a:tab pos="898525" algn="l"/>
              </a:tabLst>
            </a:pPr>
            <a:r>
              <a:rPr dirty="0" sz="1800" spc="-20">
                <a:latin typeface="Arial MT"/>
                <a:cs typeface="Arial MT"/>
              </a:rPr>
              <a:t>labelEncoder</a:t>
            </a:r>
            <a:r>
              <a:rPr dirty="0" sz="1800" spc="-5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::&gt;</a:t>
            </a:r>
            <a:r>
              <a:rPr dirty="0" sz="1800" spc="-6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onehotEncoder</a:t>
            </a:r>
            <a:endParaRPr sz="1800">
              <a:latin typeface="Arial MT"/>
              <a:cs typeface="Arial MT"/>
            </a:endParaRPr>
          </a:p>
          <a:p>
            <a:pPr algn="just" lvl="1" marL="588645" indent="-221615">
              <a:lnSpc>
                <a:spcPct val="100000"/>
              </a:lnSpc>
              <a:spcBef>
                <a:spcPts val="540"/>
              </a:spcBef>
              <a:buChar char="–"/>
              <a:tabLst>
                <a:tab pos="588645" algn="l"/>
              </a:tabLst>
            </a:pPr>
            <a:r>
              <a:rPr dirty="0" sz="2100">
                <a:latin typeface="Arial MT"/>
                <a:cs typeface="Arial MT"/>
              </a:rPr>
              <a:t>Not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anymore,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now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we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just</a:t>
            </a:r>
            <a:endParaRPr sz="2100">
              <a:latin typeface="Arial MT"/>
              <a:cs typeface="Arial MT"/>
            </a:endParaRPr>
          </a:p>
          <a:p>
            <a:pPr algn="just" lvl="2" marL="898525" indent="-176530">
              <a:lnSpc>
                <a:spcPct val="100000"/>
              </a:lnSpc>
              <a:spcBef>
                <a:spcPts val="590"/>
              </a:spcBef>
              <a:buChar char="•"/>
              <a:tabLst>
                <a:tab pos="898525" algn="l"/>
              </a:tabLst>
            </a:pPr>
            <a:r>
              <a:rPr dirty="0" sz="1800" spc="-10">
                <a:latin typeface="Arial MT"/>
                <a:cs typeface="Arial MT"/>
              </a:rPr>
              <a:t>pandas.getdummies()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9903" rIns="0" bIns="0" rtlCol="0" vert="horz">
            <a:spAutoFit/>
          </a:bodyPr>
          <a:lstStyle/>
          <a:p>
            <a:pPr marL="77851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262673"/>
                </a:solidFill>
              </a:rPr>
              <a:t>Encoding</a:t>
            </a:r>
            <a:r>
              <a:rPr dirty="0" spc="-110">
                <a:solidFill>
                  <a:srgbClr val="262673"/>
                </a:solidFill>
              </a:rPr>
              <a:t> </a:t>
            </a:r>
            <a:r>
              <a:rPr dirty="0" spc="-10">
                <a:solidFill>
                  <a:srgbClr val="262673"/>
                </a:solidFill>
              </a:rPr>
              <a:t>Categorical</a:t>
            </a:r>
            <a:r>
              <a:rPr dirty="0" spc="-105">
                <a:solidFill>
                  <a:srgbClr val="262673"/>
                </a:solidFill>
              </a:rPr>
              <a:t> </a:t>
            </a:r>
            <a:r>
              <a:rPr dirty="0" spc="-20">
                <a:solidFill>
                  <a:srgbClr val="262673"/>
                </a:solidFill>
              </a:rPr>
              <a:t>Data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28839" rIns="0" bIns="0" rtlCol="0" vert="horz">
            <a:spAutoFit/>
          </a:bodyPr>
          <a:lstStyle/>
          <a:p>
            <a:pPr marL="86995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262673"/>
                </a:solidFill>
              </a:rPr>
              <a:t>Scaling</a:t>
            </a:r>
            <a:r>
              <a:rPr dirty="0" spc="-114">
                <a:solidFill>
                  <a:srgbClr val="262673"/>
                </a:solidFill>
              </a:rPr>
              <a:t> </a:t>
            </a:r>
            <a:r>
              <a:rPr dirty="0" spc="-10">
                <a:solidFill>
                  <a:srgbClr val="262673"/>
                </a:solidFill>
              </a:rPr>
              <a:t>Continuous</a:t>
            </a:r>
            <a:r>
              <a:rPr dirty="0" spc="-114">
                <a:solidFill>
                  <a:srgbClr val="262673"/>
                </a:solidFill>
              </a:rPr>
              <a:t> </a:t>
            </a:r>
            <a:r>
              <a:rPr dirty="0" spc="-20">
                <a:solidFill>
                  <a:srgbClr val="262673"/>
                </a:solidFill>
              </a:rPr>
              <a:t>Data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195800" y="1716406"/>
            <a:ext cx="8143875" cy="466788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00499"/>
              </a:lnSpc>
              <a:spcBef>
                <a:spcPts val="85"/>
              </a:spcBef>
            </a:pPr>
            <a:r>
              <a:rPr dirty="0" sz="2200" spc="-10">
                <a:latin typeface="Arial MT"/>
                <a:cs typeface="Arial MT"/>
              </a:rPr>
              <a:t>Scalers</a:t>
            </a:r>
            <a:r>
              <a:rPr dirty="0" sz="2200" spc="-11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are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linear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(or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more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precisely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 spc="-10" i="1">
                <a:latin typeface="Arial"/>
                <a:cs typeface="Arial"/>
              </a:rPr>
              <a:t>affine</a:t>
            </a:r>
            <a:r>
              <a:rPr dirty="0" sz="2200" spc="-10">
                <a:latin typeface="Arial MT"/>
                <a:cs typeface="Arial MT"/>
              </a:rPr>
              <a:t>)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transformers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and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differ </a:t>
            </a:r>
            <a:r>
              <a:rPr dirty="0" sz="2200">
                <a:latin typeface="Arial MT"/>
                <a:cs typeface="Arial MT"/>
              </a:rPr>
              <a:t>from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each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other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in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way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they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estimate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parameters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used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to </a:t>
            </a:r>
            <a:r>
              <a:rPr dirty="0" sz="2200">
                <a:latin typeface="Arial MT"/>
                <a:cs typeface="Arial MT"/>
              </a:rPr>
              <a:t>shift</a:t>
            </a:r>
            <a:r>
              <a:rPr dirty="0" sz="2200" spc="-11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and</a:t>
            </a:r>
            <a:r>
              <a:rPr dirty="0" sz="2200" spc="-12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scale</a:t>
            </a:r>
            <a:r>
              <a:rPr dirty="0" sz="2200" spc="-12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each</a:t>
            </a:r>
            <a:r>
              <a:rPr dirty="0" sz="2200" spc="-12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feature.</a:t>
            </a:r>
            <a:endParaRPr sz="2200">
              <a:latin typeface="Arial MT"/>
              <a:cs typeface="Arial MT"/>
            </a:endParaRPr>
          </a:p>
          <a:p>
            <a:pPr marL="278765" marR="137160" indent="-266700">
              <a:lnSpc>
                <a:spcPct val="98600"/>
              </a:lnSpc>
              <a:spcBef>
                <a:spcPts val="1285"/>
              </a:spcBef>
              <a:buChar char="•"/>
              <a:tabLst>
                <a:tab pos="278765" algn="l"/>
              </a:tabLst>
            </a:pPr>
            <a:r>
              <a:rPr dirty="0" sz="2200" spc="-25">
                <a:solidFill>
                  <a:srgbClr val="FF0000"/>
                </a:solidFill>
                <a:latin typeface="Arial MT"/>
                <a:cs typeface="Arial MT"/>
              </a:rPr>
              <a:t>StandardScaler</a:t>
            </a:r>
            <a:r>
              <a:rPr dirty="0" sz="2200" spc="-5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standardizes</a:t>
            </a:r>
            <a:r>
              <a:rPr dirty="0" sz="2200" spc="-6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</a:t>
            </a:r>
            <a:r>
              <a:rPr dirty="0" sz="2200" spc="-7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feature</a:t>
            </a:r>
            <a:r>
              <a:rPr dirty="0" sz="2200" spc="-6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by</a:t>
            </a:r>
            <a:r>
              <a:rPr dirty="0" sz="2200" spc="-6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subtracting</a:t>
            </a:r>
            <a:r>
              <a:rPr dirty="0" sz="2200" spc="-6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 spc="-20">
                <a:solidFill>
                  <a:srgbClr val="FF0000"/>
                </a:solidFill>
                <a:latin typeface="Arial MT"/>
                <a:cs typeface="Arial MT"/>
              </a:rPr>
              <a:t>mean </a:t>
            </a:r>
            <a:r>
              <a:rPr dirty="0" sz="2200">
                <a:latin typeface="Arial MT"/>
                <a:cs typeface="Arial MT"/>
              </a:rPr>
              <a:t>and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then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dividing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all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values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by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 spc="-20">
                <a:solidFill>
                  <a:srgbClr val="FF0000"/>
                </a:solidFill>
                <a:latin typeface="Arial MT"/>
                <a:cs typeface="Arial MT"/>
              </a:rPr>
              <a:t>standard</a:t>
            </a:r>
            <a:r>
              <a:rPr dirty="0" sz="2200" spc="-9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200" spc="-20">
                <a:solidFill>
                  <a:srgbClr val="FF0000"/>
                </a:solidFill>
                <a:latin typeface="Arial MT"/>
                <a:cs typeface="Arial MT"/>
              </a:rPr>
              <a:t>deviation</a:t>
            </a:r>
            <a:r>
              <a:rPr dirty="0" sz="2200" spc="-20">
                <a:latin typeface="Arial MT"/>
                <a:cs typeface="Arial MT"/>
              </a:rPr>
              <a:t>.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The </a:t>
            </a:r>
            <a:r>
              <a:rPr dirty="0" sz="2200">
                <a:latin typeface="Arial MT"/>
                <a:cs typeface="Arial MT"/>
              </a:rPr>
              <a:t>result</a:t>
            </a:r>
            <a:r>
              <a:rPr dirty="0" sz="2200" spc="-7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is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distribution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with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20">
                <a:solidFill>
                  <a:srgbClr val="FF0000"/>
                </a:solidFill>
                <a:latin typeface="Arial MT"/>
                <a:cs typeface="Arial MT"/>
              </a:rPr>
              <a:t>mean=0</a:t>
            </a:r>
            <a:r>
              <a:rPr dirty="0" sz="2200" spc="-8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and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 spc="-20">
                <a:solidFill>
                  <a:srgbClr val="FF0000"/>
                </a:solidFill>
                <a:latin typeface="Arial MT"/>
                <a:cs typeface="Arial MT"/>
              </a:rPr>
              <a:t>standard</a:t>
            </a:r>
            <a:r>
              <a:rPr dirty="0" sz="2200" spc="-8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FF0000"/>
                </a:solidFill>
                <a:latin typeface="Arial MT"/>
                <a:cs typeface="Arial MT"/>
              </a:rPr>
              <a:t>deviation=1</a:t>
            </a:r>
            <a:endParaRPr sz="2200">
              <a:latin typeface="Arial MT"/>
              <a:cs typeface="Arial MT"/>
            </a:endParaRPr>
          </a:p>
          <a:p>
            <a:pPr marL="278765" marR="81915" indent="-266700">
              <a:lnSpc>
                <a:spcPct val="99700"/>
              </a:lnSpc>
              <a:spcBef>
                <a:spcPts val="1280"/>
              </a:spcBef>
              <a:buChar char="•"/>
              <a:tabLst>
                <a:tab pos="278765" algn="l"/>
              </a:tabLst>
            </a:pPr>
            <a:r>
              <a:rPr dirty="0" sz="2200" spc="-25">
                <a:solidFill>
                  <a:srgbClr val="FF0000"/>
                </a:solidFill>
                <a:latin typeface="Arial MT"/>
                <a:cs typeface="Arial MT"/>
              </a:rPr>
              <a:t>MinMaxScaler</a:t>
            </a:r>
            <a:r>
              <a:rPr dirty="0" sz="2200" spc="-9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finds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original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 spc="-20">
                <a:solidFill>
                  <a:srgbClr val="FF0000"/>
                </a:solidFill>
                <a:latin typeface="Arial MT"/>
                <a:cs typeface="Arial MT"/>
              </a:rPr>
              <a:t>minimum</a:t>
            </a:r>
            <a:r>
              <a:rPr dirty="0" sz="2200" spc="-10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and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 spc="-20">
                <a:solidFill>
                  <a:srgbClr val="FF0000"/>
                </a:solidFill>
                <a:latin typeface="Arial MT"/>
                <a:cs typeface="Arial MT"/>
              </a:rPr>
              <a:t>maximum</a:t>
            </a:r>
            <a:r>
              <a:rPr dirty="0" sz="2200" spc="-10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values, </a:t>
            </a:r>
            <a:r>
              <a:rPr dirty="0" sz="2200">
                <a:latin typeface="Arial MT"/>
                <a:cs typeface="Arial MT"/>
              </a:rPr>
              <a:t>then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subtracts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minimum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and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divides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by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range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for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each </a:t>
            </a:r>
            <a:r>
              <a:rPr dirty="0" sz="2200" spc="-10">
                <a:latin typeface="Arial MT"/>
                <a:cs typeface="Arial MT"/>
              </a:rPr>
              <a:t>value.</a:t>
            </a:r>
            <a:r>
              <a:rPr dirty="0" sz="2200" spc="-7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original</a:t>
            </a:r>
            <a:r>
              <a:rPr dirty="0" sz="2200" spc="-7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distribution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is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preserved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with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all</a:t>
            </a:r>
            <a:r>
              <a:rPr dirty="0" sz="2200" spc="-7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values </a:t>
            </a:r>
            <a:r>
              <a:rPr dirty="0" sz="2200" spc="-20">
                <a:latin typeface="Arial MT"/>
                <a:cs typeface="Arial MT"/>
              </a:rPr>
              <a:t>between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FF0000"/>
                </a:solidFill>
                <a:latin typeface="Arial MT"/>
                <a:cs typeface="Arial MT"/>
              </a:rPr>
              <a:t>0</a:t>
            </a:r>
            <a:r>
              <a:rPr dirty="0" sz="2200" spc="-7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FF0000"/>
                </a:solidFill>
                <a:latin typeface="Arial MT"/>
                <a:cs typeface="Arial MT"/>
              </a:rPr>
              <a:t>and</a:t>
            </a:r>
            <a:r>
              <a:rPr dirty="0" sz="2200" spc="-7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200" spc="-50">
                <a:solidFill>
                  <a:srgbClr val="FF0000"/>
                </a:solidFill>
                <a:latin typeface="Arial MT"/>
                <a:cs typeface="Arial MT"/>
              </a:rPr>
              <a:t>1</a:t>
            </a:r>
            <a:endParaRPr sz="2200">
              <a:latin typeface="Arial MT"/>
              <a:cs typeface="Arial MT"/>
            </a:endParaRPr>
          </a:p>
          <a:p>
            <a:pPr marL="12700" marR="51435" indent="265430">
              <a:lnSpc>
                <a:spcPts val="3910"/>
              </a:lnSpc>
              <a:spcBef>
                <a:spcPts val="25"/>
              </a:spcBef>
              <a:buChar char="•"/>
              <a:tabLst>
                <a:tab pos="278130" algn="l"/>
              </a:tabLst>
            </a:pPr>
            <a:r>
              <a:rPr dirty="0" sz="2200" spc="-10">
                <a:latin typeface="Arial MT"/>
                <a:cs typeface="Arial MT"/>
              </a:rPr>
              <a:t>There</a:t>
            </a:r>
            <a:r>
              <a:rPr dirty="0" sz="2200" spc="-114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are</a:t>
            </a:r>
            <a:r>
              <a:rPr dirty="0" sz="2200" spc="-11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several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others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available,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suitable</a:t>
            </a:r>
            <a:r>
              <a:rPr dirty="0" sz="2200" spc="-11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for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special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purposes </a:t>
            </a:r>
            <a:r>
              <a:rPr dirty="0" u="heavy" sz="2200" spc="-25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</a:rPr>
              <a:t>https://scikit-</a:t>
            </a:r>
            <a:r>
              <a:rPr dirty="0" u="heavy" sz="2200" spc="-1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</a:rPr>
              <a:t>learn.org/stable/modules/preprocessing.html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28839" rIns="0" bIns="0" rtlCol="0" vert="horz">
            <a:spAutoFit/>
          </a:bodyPr>
          <a:lstStyle/>
          <a:p>
            <a:pPr marL="1638300">
              <a:lnSpc>
                <a:spcPct val="100000"/>
              </a:lnSpc>
              <a:spcBef>
                <a:spcPts val="100"/>
              </a:spcBef>
            </a:pPr>
            <a:r>
              <a:rPr dirty="0" b="0">
                <a:latin typeface="Arial MT"/>
                <a:cs typeface="Arial MT"/>
              </a:rPr>
              <a:t>Confusion</a:t>
            </a:r>
            <a:r>
              <a:rPr dirty="0" spc="-175" b="0">
                <a:latin typeface="Arial MT"/>
                <a:cs typeface="Arial MT"/>
              </a:rPr>
              <a:t> </a:t>
            </a:r>
            <a:r>
              <a:rPr dirty="0" spc="-10" b="0">
                <a:latin typeface="Arial MT"/>
                <a:cs typeface="Arial MT"/>
              </a:rPr>
              <a:t>matrix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595305" y="1867265"/>
            <a:ext cx="7340600" cy="373252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07670" marR="501015" indent="-266700">
              <a:lnSpc>
                <a:spcPct val="100000"/>
              </a:lnSpc>
              <a:spcBef>
                <a:spcPts val="100"/>
              </a:spcBef>
              <a:buChar char="•"/>
              <a:tabLst>
                <a:tab pos="407670" algn="l"/>
              </a:tabLst>
            </a:pP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confusion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matrix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is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useful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table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 spc="-20">
                <a:latin typeface="Arial MT"/>
                <a:cs typeface="Arial MT"/>
              </a:rPr>
              <a:t>that </a:t>
            </a:r>
            <a:r>
              <a:rPr dirty="0" sz="2500">
                <a:latin typeface="Arial MT"/>
                <a:cs typeface="Arial MT"/>
              </a:rPr>
              <a:t>presents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both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class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distribution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in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 spc="-20">
                <a:latin typeface="Arial MT"/>
                <a:cs typeface="Arial MT"/>
              </a:rPr>
              <a:t>data </a:t>
            </a:r>
            <a:r>
              <a:rPr dirty="0" sz="2500">
                <a:latin typeface="Arial MT"/>
                <a:cs typeface="Arial MT"/>
              </a:rPr>
              <a:t>and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classifiers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predicted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class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distribution </a:t>
            </a:r>
            <a:r>
              <a:rPr dirty="0" sz="2500">
                <a:latin typeface="Arial MT"/>
                <a:cs typeface="Arial MT"/>
              </a:rPr>
              <a:t>with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breakdown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of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error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types.</a:t>
            </a:r>
            <a:endParaRPr sz="2500">
              <a:latin typeface="Arial MT"/>
              <a:cs typeface="Arial MT"/>
            </a:endParaRPr>
          </a:p>
          <a:p>
            <a:pPr marL="407670" marR="469900" indent="-266700">
              <a:lnSpc>
                <a:spcPct val="100000"/>
              </a:lnSpc>
              <a:spcBef>
                <a:spcPts val="1895"/>
              </a:spcBef>
              <a:buChar char="•"/>
              <a:tabLst>
                <a:tab pos="407670" algn="l"/>
              </a:tabLst>
            </a:pPr>
            <a:r>
              <a:rPr dirty="0" sz="2500">
                <a:latin typeface="Arial MT"/>
                <a:cs typeface="Arial MT"/>
              </a:rPr>
              <a:t>This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means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“prior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probabilities”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for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classes </a:t>
            </a:r>
            <a:r>
              <a:rPr dirty="0" sz="2500">
                <a:latin typeface="Arial MT"/>
                <a:cs typeface="Arial MT"/>
              </a:rPr>
              <a:t>can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be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accounted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for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in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error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analysis.</a:t>
            </a:r>
            <a:endParaRPr sz="25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40"/>
              </a:spcBef>
            </a:pPr>
            <a:endParaRPr sz="2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u="heavy" sz="2500" spc="-25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</a:rPr>
              <a:t>https://</a:t>
            </a:r>
            <a:r>
              <a:rPr dirty="0" u="heavy" sz="2500" spc="-25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2"/>
              </a:rPr>
              <a:t>www.v7labs.com/blog/confusion-matrix-</a:t>
            </a:r>
            <a:r>
              <a:rPr dirty="0" u="heavy" sz="2500" spc="-1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2"/>
              </a:rPr>
              <a:t>guide </a:t>
            </a:r>
            <a:endParaRPr sz="2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8590" rIns="0" bIns="0" rtlCol="0" vert="horz">
            <a:spAutoFit/>
          </a:bodyPr>
          <a:lstStyle/>
          <a:p>
            <a:pPr marL="2223135">
              <a:lnSpc>
                <a:spcPct val="100000"/>
              </a:lnSpc>
              <a:spcBef>
                <a:spcPts val="100"/>
              </a:spcBef>
            </a:pPr>
            <a:r>
              <a:rPr dirty="0" b="0">
                <a:latin typeface="Arial MT"/>
                <a:cs typeface="Arial MT"/>
              </a:rPr>
              <a:t>Confusion</a:t>
            </a:r>
            <a:r>
              <a:rPr dirty="0" spc="-175" b="0">
                <a:latin typeface="Arial MT"/>
                <a:cs typeface="Arial MT"/>
              </a:rPr>
              <a:t> </a:t>
            </a:r>
            <a:r>
              <a:rPr dirty="0" spc="-10" b="0">
                <a:latin typeface="Arial MT"/>
                <a:cs typeface="Arial MT"/>
              </a:rPr>
              <a:t>Matrix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275905" y="3755154"/>
            <a:ext cx="8218805" cy="3302000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marL="278130" indent="-265430">
              <a:lnSpc>
                <a:spcPct val="100000"/>
              </a:lnSpc>
              <a:spcBef>
                <a:spcPts val="459"/>
              </a:spcBef>
              <a:buChar char="•"/>
              <a:tabLst>
                <a:tab pos="278130" algn="l"/>
              </a:tabLst>
            </a:pPr>
            <a:r>
              <a:rPr dirty="0" sz="1700">
                <a:latin typeface="Arial MT"/>
                <a:cs typeface="Arial MT"/>
              </a:rPr>
              <a:t>A</a:t>
            </a:r>
            <a:r>
              <a:rPr dirty="0" sz="1700" spc="-80">
                <a:latin typeface="Arial MT"/>
                <a:cs typeface="Arial MT"/>
              </a:rPr>
              <a:t> </a:t>
            </a:r>
            <a:r>
              <a:rPr dirty="0" sz="1700" spc="-30">
                <a:latin typeface="Arial MT"/>
                <a:cs typeface="Arial MT"/>
              </a:rPr>
              <a:t>confusion</a:t>
            </a:r>
            <a:r>
              <a:rPr dirty="0" sz="1700" spc="-7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matrix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for</a:t>
            </a:r>
            <a:r>
              <a:rPr dirty="0" sz="1700" spc="-5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two</a:t>
            </a:r>
            <a:r>
              <a:rPr dirty="0" sz="1700" spc="-70">
                <a:latin typeface="Arial MT"/>
                <a:cs typeface="Arial MT"/>
              </a:rPr>
              <a:t> </a:t>
            </a:r>
            <a:r>
              <a:rPr dirty="0" sz="1700" spc="-20">
                <a:latin typeface="Arial MT"/>
                <a:cs typeface="Arial MT"/>
              </a:rPr>
              <a:t>“generic”</a:t>
            </a:r>
            <a:r>
              <a:rPr dirty="0" sz="1700" spc="-60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classes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(+,</a:t>
            </a:r>
            <a:r>
              <a:rPr dirty="0" sz="1700" spc="-6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-</a:t>
            </a:r>
            <a:r>
              <a:rPr dirty="0" sz="1700">
                <a:latin typeface="Arial MT"/>
                <a:cs typeface="Arial MT"/>
              </a:rPr>
              <a:t>)</a:t>
            </a:r>
            <a:r>
              <a:rPr dirty="0" sz="1700" spc="-5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is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shown</a:t>
            </a:r>
            <a:r>
              <a:rPr dirty="0" sz="1700" spc="-7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above.</a:t>
            </a:r>
            <a:endParaRPr sz="1700">
              <a:latin typeface="Arial MT"/>
              <a:cs typeface="Arial MT"/>
            </a:endParaRPr>
          </a:p>
          <a:p>
            <a:pPr marL="278130" indent="-265430">
              <a:lnSpc>
                <a:spcPct val="100000"/>
              </a:lnSpc>
              <a:spcBef>
                <a:spcPts val="359"/>
              </a:spcBef>
              <a:buChar char="•"/>
              <a:tabLst>
                <a:tab pos="278130" algn="l"/>
              </a:tabLst>
            </a:pPr>
            <a:r>
              <a:rPr dirty="0" sz="1700" spc="-20">
                <a:latin typeface="Arial MT"/>
                <a:cs typeface="Arial MT"/>
              </a:rPr>
              <a:t>There</a:t>
            </a:r>
            <a:r>
              <a:rPr dirty="0" sz="1700" spc="-7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are</a:t>
            </a:r>
            <a:r>
              <a:rPr dirty="0" sz="1700" spc="-7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four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 spc="-30">
                <a:latin typeface="Arial MT"/>
                <a:cs typeface="Arial MT"/>
              </a:rPr>
              <a:t>quadrants</a:t>
            </a:r>
            <a:r>
              <a:rPr dirty="0" sz="1700" spc="-7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in</a:t>
            </a:r>
            <a:r>
              <a:rPr dirty="0" sz="1700" spc="-7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the</a:t>
            </a:r>
            <a:r>
              <a:rPr dirty="0" sz="1700" spc="-70">
                <a:latin typeface="Arial MT"/>
                <a:cs typeface="Arial MT"/>
              </a:rPr>
              <a:t> </a:t>
            </a:r>
            <a:r>
              <a:rPr dirty="0" sz="1700" spc="-30">
                <a:latin typeface="Arial MT"/>
                <a:cs typeface="Arial MT"/>
              </a:rPr>
              <a:t>confusion</a:t>
            </a:r>
            <a:r>
              <a:rPr dirty="0" sz="1700" spc="-75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matrix:</a:t>
            </a:r>
            <a:endParaRPr sz="1700">
              <a:latin typeface="Arial MT"/>
              <a:cs typeface="Arial MT"/>
            </a:endParaRPr>
          </a:p>
          <a:p>
            <a:pPr lvl="1" marL="589280" marR="57150" indent="-222250">
              <a:lnSpc>
                <a:spcPts val="2020"/>
              </a:lnSpc>
              <a:spcBef>
                <a:spcPts val="1330"/>
              </a:spcBef>
              <a:buFont typeface="Arial MT"/>
              <a:buChar char="–"/>
              <a:tabLst>
                <a:tab pos="589280" algn="l"/>
              </a:tabLst>
            </a:pPr>
            <a:r>
              <a:rPr dirty="0" sz="1700" spc="-20" b="1">
                <a:solidFill>
                  <a:srgbClr val="0B5ED7"/>
                </a:solidFill>
                <a:latin typeface="Arial"/>
                <a:cs typeface="Arial"/>
              </a:rPr>
              <a:t>True</a:t>
            </a:r>
            <a:r>
              <a:rPr dirty="0" sz="1700" spc="-75" b="1">
                <a:solidFill>
                  <a:srgbClr val="0B5ED7"/>
                </a:solidFill>
                <a:latin typeface="Arial"/>
                <a:cs typeface="Arial"/>
              </a:rPr>
              <a:t> </a:t>
            </a:r>
            <a:r>
              <a:rPr dirty="0" sz="1700" spc="-25" b="1">
                <a:solidFill>
                  <a:srgbClr val="0B5ED7"/>
                </a:solidFill>
                <a:latin typeface="Arial"/>
                <a:cs typeface="Arial"/>
              </a:rPr>
              <a:t>Positive</a:t>
            </a:r>
            <a:r>
              <a:rPr dirty="0" sz="1700" spc="-80" b="1">
                <a:solidFill>
                  <a:srgbClr val="0B5ED7"/>
                </a:solidFill>
                <a:latin typeface="Arial"/>
                <a:cs typeface="Arial"/>
              </a:rPr>
              <a:t> </a:t>
            </a:r>
            <a:r>
              <a:rPr dirty="0" sz="1700" spc="-10" b="1">
                <a:latin typeface="Arial"/>
                <a:cs typeface="Arial"/>
              </a:rPr>
              <a:t>(TP)</a:t>
            </a:r>
            <a:r>
              <a:rPr dirty="0" sz="1700" spc="-10">
                <a:latin typeface="Arial MT"/>
                <a:cs typeface="Arial MT"/>
              </a:rPr>
              <a:t>:</a:t>
            </a:r>
            <a:r>
              <a:rPr dirty="0" sz="1700" spc="-6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The</a:t>
            </a:r>
            <a:r>
              <a:rPr dirty="0" sz="1700" spc="-75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number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of</a:t>
            </a:r>
            <a:r>
              <a:rPr dirty="0" sz="1700" spc="-60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instances</a:t>
            </a:r>
            <a:r>
              <a:rPr dirty="0" sz="1700" spc="-7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that</a:t>
            </a:r>
            <a:r>
              <a:rPr dirty="0" sz="1700" spc="-6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were</a:t>
            </a:r>
            <a:r>
              <a:rPr dirty="0" sz="1700" spc="-75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positive</a:t>
            </a:r>
            <a:r>
              <a:rPr dirty="0" sz="1700" spc="-7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(+)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and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c</a:t>
            </a:r>
            <a:r>
              <a:rPr dirty="0" u="heavy" sz="170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orrectly</a:t>
            </a:r>
            <a:r>
              <a:rPr dirty="0" u="heavy" sz="1700" spc="-65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classified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as</a:t>
            </a:r>
            <a:r>
              <a:rPr dirty="0" sz="1700" spc="-55">
                <a:latin typeface="Arial MT"/>
                <a:cs typeface="Arial MT"/>
              </a:rPr>
              <a:t> </a:t>
            </a:r>
            <a:r>
              <a:rPr dirty="0" sz="1700" spc="-20">
                <a:latin typeface="Arial MT"/>
                <a:cs typeface="Arial MT"/>
              </a:rPr>
              <a:t>positive</a:t>
            </a:r>
            <a:r>
              <a:rPr dirty="0" sz="1700" spc="-60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(+)</a:t>
            </a:r>
            <a:endParaRPr sz="1700">
              <a:latin typeface="Arial MT"/>
              <a:cs typeface="Arial MT"/>
            </a:endParaRPr>
          </a:p>
          <a:p>
            <a:pPr lvl="1" marL="589280" marR="796925" indent="-222250">
              <a:lnSpc>
                <a:spcPts val="2020"/>
              </a:lnSpc>
              <a:spcBef>
                <a:spcPts val="1170"/>
              </a:spcBef>
              <a:buFont typeface="Arial MT"/>
              <a:buChar char="–"/>
              <a:tabLst>
                <a:tab pos="589280" algn="l"/>
              </a:tabLst>
            </a:pPr>
            <a:r>
              <a:rPr dirty="0" sz="1700" spc="-20" b="1">
                <a:solidFill>
                  <a:srgbClr val="0070C0"/>
                </a:solidFill>
                <a:latin typeface="Arial"/>
                <a:cs typeface="Arial"/>
              </a:rPr>
              <a:t>False</a:t>
            </a:r>
            <a:r>
              <a:rPr dirty="0" sz="1700" spc="-80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700" spc="-25" b="1">
                <a:solidFill>
                  <a:srgbClr val="0070C0"/>
                </a:solidFill>
                <a:latin typeface="Arial"/>
                <a:cs typeface="Arial"/>
              </a:rPr>
              <a:t>Positive</a:t>
            </a:r>
            <a:r>
              <a:rPr dirty="0" sz="1700" spc="-85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(FP)</a:t>
            </a:r>
            <a:r>
              <a:rPr dirty="0" sz="1700">
                <a:latin typeface="Arial MT"/>
                <a:cs typeface="Arial MT"/>
              </a:rPr>
              <a:t>:</a:t>
            </a:r>
            <a:r>
              <a:rPr dirty="0" sz="1700" spc="36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The</a:t>
            </a:r>
            <a:r>
              <a:rPr dirty="0" sz="1700" spc="-80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number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of</a:t>
            </a:r>
            <a:r>
              <a:rPr dirty="0" sz="1700" spc="-60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instances</a:t>
            </a:r>
            <a:r>
              <a:rPr dirty="0" sz="1700" spc="-7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that</a:t>
            </a:r>
            <a:r>
              <a:rPr dirty="0" sz="1700" spc="-6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were</a:t>
            </a:r>
            <a:r>
              <a:rPr dirty="0" sz="1700" spc="-80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negative</a:t>
            </a:r>
            <a:r>
              <a:rPr dirty="0" sz="1700" spc="-80">
                <a:latin typeface="Arial MT"/>
                <a:cs typeface="Arial MT"/>
              </a:rPr>
              <a:t> </a:t>
            </a:r>
            <a:r>
              <a:rPr dirty="0" sz="1700" spc="-30">
                <a:latin typeface="Arial MT"/>
                <a:cs typeface="Arial MT"/>
              </a:rPr>
              <a:t>(-</a:t>
            </a:r>
            <a:r>
              <a:rPr dirty="0" sz="1700">
                <a:latin typeface="Arial MT"/>
                <a:cs typeface="Arial MT"/>
              </a:rPr>
              <a:t>)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and </a:t>
            </a:r>
            <a:r>
              <a:rPr dirty="0" u="heavy" sz="1700" spc="-25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incorrectly</a:t>
            </a:r>
            <a:r>
              <a:rPr dirty="0" sz="1700" spc="-55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classified</a:t>
            </a:r>
            <a:r>
              <a:rPr dirty="0" sz="1700" spc="-7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as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(+).</a:t>
            </a:r>
            <a:r>
              <a:rPr dirty="0" sz="1700" spc="-55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This</a:t>
            </a:r>
            <a:r>
              <a:rPr dirty="0" sz="1700" spc="-7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also</a:t>
            </a:r>
            <a:r>
              <a:rPr dirty="0" sz="1700" spc="-70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known</a:t>
            </a:r>
            <a:r>
              <a:rPr dirty="0" sz="1700" spc="-7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as</a:t>
            </a:r>
            <a:r>
              <a:rPr dirty="0" sz="1700" spc="-55">
                <a:latin typeface="Arial MT"/>
                <a:cs typeface="Arial MT"/>
              </a:rPr>
              <a:t> </a:t>
            </a:r>
            <a:r>
              <a:rPr dirty="0" sz="1700" spc="-10">
                <a:solidFill>
                  <a:srgbClr val="0B5ED7"/>
                </a:solidFill>
                <a:latin typeface="Arial MT"/>
                <a:cs typeface="Arial MT"/>
              </a:rPr>
              <a:t>Type</a:t>
            </a:r>
            <a:r>
              <a:rPr dirty="0" sz="1700" spc="-75">
                <a:solidFill>
                  <a:srgbClr val="0B5ED7"/>
                </a:solidFill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0B5ED7"/>
                </a:solidFill>
                <a:latin typeface="Arial MT"/>
                <a:cs typeface="Arial MT"/>
              </a:rPr>
              <a:t>1</a:t>
            </a:r>
            <a:r>
              <a:rPr dirty="0" sz="1700" spc="-70">
                <a:solidFill>
                  <a:srgbClr val="0B5ED7"/>
                </a:solidFill>
                <a:latin typeface="Arial MT"/>
                <a:cs typeface="Arial MT"/>
              </a:rPr>
              <a:t> </a:t>
            </a:r>
            <a:r>
              <a:rPr dirty="0" sz="1700" spc="-10">
                <a:solidFill>
                  <a:srgbClr val="0B5ED7"/>
                </a:solidFill>
                <a:latin typeface="Arial MT"/>
                <a:cs typeface="Arial MT"/>
              </a:rPr>
              <a:t>Error</a:t>
            </a:r>
            <a:endParaRPr sz="1700">
              <a:latin typeface="Arial MT"/>
              <a:cs typeface="Arial MT"/>
            </a:endParaRPr>
          </a:p>
          <a:p>
            <a:pPr lvl="1" marL="589280" marR="807085" indent="-222250">
              <a:lnSpc>
                <a:spcPts val="2020"/>
              </a:lnSpc>
              <a:spcBef>
                <a:spcPts val="1260"/>
              </a:spcBef>
              <a:buFont typeface="Arial MT"/>
              <a:buChar char="–"/>
              <a:tabLst>
                <a:tab pos="589280" algn="l"/>
              </a:tabLst>
            </a:pPr>
            <a:r>
              <a:rPr dirty="0" sz="1700" spc="-20" b="1">
                <a:solidFill>
                  <a:srgbClr val="0B5ED7"/>
                </a:solidFill>
                <a:latin typeface="Arial"/>
                <a:cs typeface="Arial"/>
              </a:rPr>
              <a:t>False</a:t>
            </a:r>
            <a:r>
              <a:rPr dirty="0" sz="1700" spc="-90" b="1">
                <a:solidFill>
                  <a:srgbClr val="0B5ED7"/>
                </a:solidFill>
                <a:latin typeface="Arial"/>
                <a:cs typeface="Arial"/>
              </a:rPr>
              <a:t> </a:t>
            </a:r>
            <a:r>
              <a:rPr dirty="0" sz="1700" spc="-25" b="1">
                <a:solidFill>
                  <a:srgbClr val="0B5ED7"/>
                </a:solidFill>
                <a:latin typeface="Arial"/>
                <a:cs typeface="Arial"/>
              </a:rPr>
              <a:t>Negative</a:t>
            </a:r>
            <a:r>
              <a:rPr dirty="0" sz="1700" spc="-90" b="1">
                <a:solidFill>
                  <a:srgbClr val="0B5ED7"/>
                </a:solidFill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(FN)</a:t>
            </a:r>
            <a:r>
              <a:rPr dirty="0" sz="1700">
                <a:latin typeface="Arial MT"/>
                <a:cs typeface="Arial MT"/>
              </a:rPr>
              <a:t>:</a:t>
            </a:r>
            <a:r>
              <a:rPr dirty="0" sz="1700" spc="-7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The</a:t>
            </a:r>
            <a:r>
              <a:rPr dirty="0" sz="1700" spc="-90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number</a:t>
            </a:r>
            <a:r>
              <a:rPr dirty="0" sz="1700" spc="-7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of</a:t>
            </a:r>
            <a:r>
              <a:rPr dirty="0" sz="1700" spc="-70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instances</a:t>
            </a:r>
            <a:r>
              <a:rPr dirty="0" sz="1700" spc="-8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that</a:t>
            </a:r>
            <a:r>
              <a:rPr dirty="0" sz="1700" spc="-7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were</a:t>
            </a:r>
            <a:r>
              <a:rPr dirty="0" sz="1700" spc="-90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positive</a:t>
            </a:r>
            <a:r>
              <a:rPr dirty="0" sz="1700" spc="-8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(+)</a:t>
            </a:r>
            <a:r>
              <a:rPr dirty="0" sz="1700" spc="-75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and </a:t>
            </a:r>
            <a:r>
              <a:rPr dirty="0" u="heavy" sz="1700" spc="-25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incorrectly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classified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as</a:t>
            </a:r>
            <a:r>
              <a:rPr dirty="0" sz="1700" spc="-60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negative</a:t>
            </a:r>
            <a:r>
              <a:rPr dirty="0" sz="1700" spc="-7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(-</a:t>
            </a:r>
            <a:r>
              <a:rPr dirty="0" sz="1700">
                <a:latin typeface="Arial MT"/>
                <a:cs typeface="Arial MT"/>
              </a:rPr>
              <a:t>).</a:t>
            </a:r>
            <a:r>
              <a:rPr dirty="0" sz="1700" spc="-45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This</a:t>
            </a:r>
            <a:r>
              <a:rPr dirty="0" sz="1700" spc="-6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is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also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known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as</a:t>
            </a:r>
            <a:r>
              <a:rPr dirty="0" sz="1700" spc="-60">
                <a:latin typeface="Arial MT"/>
                <a:cs typeface="Arial MT"/>
              </a:rPr>
              <a:t> </a:t>
            </a:r>
            <a:r>
              <a:rPr dirty="0" sz="1700" spc="-10">
                <a:solidFill>
                  <a:srgbClr val="0B5ED7"/>
                </a:solidFill>
                <a:latin typeface="Arial MT"/>
                <a:cs typeface="Arial MT"/>
              </a:rPr>
              <a:t>Type</a:t>
            </a:r>
            <a:r>
              <a:rPr dirty="0" sz="1700" spc="-70">
                <a:solidFill>
                  <a:srgbClr val="0B5ED7"/>
                </a:solidFill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0B5ED7"/>
                </a:solidFill>
                <a:latin typeface="Arial MT"/>
                <a:cs typeface="Arial MT"/>
              </a:rPr>
              <a:t>2</a:t>
            </a:r>
            <a:r>
              <a:rPr dirty="0" sz="1700" spc="-65">
                <a:solidFill>
                  <a:srgbClr val="0B5ED7"/>
                </a:solidFill>
                <a:latin typeface="Arial MT"/>
                <a:cs typeface="Arial MT"/>
              </a:rPr>
              <a:t> </a:t>
            </a:r>
            <a:r>
              <a:rPr dirty="0" sz="1700" spc="-10">
                <a:solidFill>
                  <a:srgbClr val="0B5ED7"/>
                </a:solidFill>
                <a:latin typeface="Arial MT"/>
                <a:cs typeface="Arial MT"/>
              </a:rPr>
              <a:t>Error</a:t>
            </a:r>
            <a:endParaRPr sz="1700">
              <a:latin typeface="Arial MT"/>
              <a:cs typeface="Arial MT"/>
            </a:endParaRPr>
          </a:p>
          <a:p>
            <a:pPr lvl="1" marL="589280" marR="5080" indent="-222250">
              <a:lnSpc>
                <a:spcPts val="1989"/>
              </a:lnSpc>
              <a:spcBef>
                <a:spcPts val="1195"/>
              </a:spcBef>
              <a:buClr>
                <a:srgbClr val="0F6FC6"/>
              </a:buClr>
              <a:buFont typeface="Arial MT"/>
              <a:buChar char="–"/>
              <a:tabLst>
                <a:tab pos="589280" algn="l"/>
              </a:tabLst>
            </a:pPr>
            <a:r>
              <a:rPr dirty="0" sz="1700" spc="-20" b="1">
                <a:solidFill>
                  <a:srgbClr val="0070C0"/>
                </a:solidFill>
                <a:latin typeface="Arial"/>
                <a:cs typeface="Arial"/>
              </a:rPr>
              <a:t>True</a:t>
            </a:r>
            <a:r>
              <a:rPr dirty="0" sz="1700" spc="-90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700" spc="-25" b="1">
                <a:solidFill>
                  <a:srgbClr val="0070C0"/>
                </a:solidFill>
                <a:latin typeface="Arial"/>
                <a:cs typeface="Arial"/>
              </a:rPr>
              <a:t>Negative</a:t>
            </a:r>
            <a:r>
              <a:rPr dirty="0" sz="1700" spc="-90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(TN)</a:t>
            </a:r>
            <a:r>
              <a:rPr dirty="0" sz="1700">
                <a:latin typeface="Arial MT"/>
                <a:cs typeface="Arial MT"/>
              </a:rPr>
              <a:t>: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The</a:t>
            </a:r>
            <a:r>
              <a:rPr dirty="0" sz="1700" spc="-85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number</a:t>
            </a:r>
            <a:r>
              <a:rPr dirty="0" sz="1700" spc="-7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of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instances</a:t>
            </a:r>
            <a:r>
              <a:rPr dirty="0" sz="1700" spc="-8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that</a:t>
            </a:r>
            <a:r>
              <a:rPr dirty="0" sz="1700" spc="-7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were</a:t>
            </a:r>
            <a:r>
              <a:rPr dirty="0" sz="1700" spc="-85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negative</a:t>
            </a:r>
            <a:r>
              <a:rPr dirty="0" sz="1700" spc="-85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(-</a:t>
            </a:r>
            <a:r>
              <a:rPr dirty="0" sz="1700">
                <a:latin typeface="Arial MT"/>
                <a:cs typeface="Arial MT"/>
              </a:rPr>
              <a:t>)</a:t>
            </a:r>
            <a:r>
              <a:rPr dirty="0" sz="1700" spc="-7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and</a:t>
            </a:r>
            <a:r>
              <a:rPr dirty="0" sz="1700" spc="-85">
                <a:latin typeface="Arial MT"/>
                <a:cs typeface="Arial MT"/>
              </a:rPr>
              <a:t> </a:t>
            </a:r>
            <a:r>
              <a:rPr dirty="0" u="heavy" sz="1700" spc="-1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correctly</a:t>
            </a:r>
            <a:r>
              <a:rPr dirty="0" sz="1700" spc="-10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classified</a:t>
            </a:r>
            <a:r>
              <a:rPr dirty="0" sz="1700" spc="-5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as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(-</a:t>
            </a:r>
            <a:r>
              <a:rPr dirty="0" sz="1700" spc="-50">
                <a:latin typeface="Arial MT"/>
                <a:cs typeface="Arial MT"/>
              </a:rPr>
              <a:t>)</a:t>
            </a:r>
            <a:endParaRPr sz="17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34106" y="1054785"/>
            <a:ext cx="3430711" cy="2597375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5661" y="3197651"/>
            <a:ext cx="8777948" cy="364768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9060" rIns="0" bIns="0" rtlCol="0" vert="horz">
            <a:spAutoFit/>
          </a:bodyPr>
          <a:lstStyle/>
          <a:p>
            <a:pPr marL="1601470" marR="5080" indent="-415290">
              <a:lnSpc>
                <a:spcPts val="2900"/>
              </a:lnSpc>
              <a:spcBef>
                <a:spcPts val="780"/>
              </a:spcBef>
            </a:pPr>
            <a:r>
              <a:rPr dirty="0" sz="3000" b="0">
                <a:latin typeface="Arial MT"/>
                <a:cs typeface="Arial MT"/>
              </a:rPr>
              <a:t>Analysis</a:t>
            </a:r>
            <a:r>
              <a:rPr dirty="0" sz="3000" spc="-5" b="0">
                <a:latin typeface="Arial MT"/>
                <a:cs typeface="Arial MT"/>
              </a:rPr>
              <a:t> </a:t>
            </a:r>
            <a:r>
              <a:rPr dirty="0" sz="3000" b="0">
                <a:latin typeface="Arial MT"/>
                <a:cs typeface="Arial MT"/>
              </a:rPr>
              <a:t>with </a:t>
            </a:r>
            <a:r>
              <a:rPr dirty="0" sz="3000" spc="-10" b="0">
                <a:latin typeface="Arial MT"/>
                <a:cs typeface="Arial MT"/>
              </a:rPr>
              <a:t>Performance </a:t>
            </a:r>
            <a:r>
              <a:rPr dirty="0" sz="3000" b="0">
                <a:latin typeface="Arial MT"/>
                <a:cs typeface="Arial MT"/>
              </a:rPr>
              <a:t>Measurement</a:t>
            </a:r>
            <a:r>
              <a:rPr dirty="0" sz="3000" spc="-70" b="0">
                <a:latin typeface="Arial MT"/>
                <a:cs typeface="Arial MT"/>
              </a:rPr>
              <a:t> </a:t>
            </a:r>
            <a:r>
              <a:rPr dirty="0" sz="3000" spc="-10" b="0">
                <a:latin typeface="Arial MT"/>
                <a:cs typeface="Arial MT"/>
              </a:rPr>
              <a:t>Metrics</a:t>
            </a:r>
            <a:endParaRPr sz="30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11037" y="1110642"/>
            <a:ext cx="2911099" cy="1790044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78949" y="228600"/>
            <a:ext cx="1292149" cy="1344265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601" y="7043598"/>
            <a:ext cx="9461500" cy="27608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360871" y="698819"/>
            <a:ext cx="3829685" cy="5289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 b="0">
                <a:solidFill>
                  <a:srgbClr val="A50021"/>
                </a:solidFill>
                <a:latin typeface="Arial MT"/>
                <a:cs typeface="Arial MT"/>
              </a:rPr>
              <a:t>Accuracy</a:t>
            </a:r>
            <a:r>
              <a:rPr dirty="0" sz="3300" spc="-35" b="0">
                <a:solidFill>
                  <a:srgbClr val="A50021"/>
                </a:solidFill>
                <a:latin typeface="Arial MT"/>
                <a:cs typeface="Arial MT"/>
              </a:rPr>
              <a:t> </a:t>
            </a:r>
            <a:r>
              <a:rPr dirty="0" sz="3300" spc="-10" b="0">
                <a:solidFill>
                  <a:srgbClr val="A50021"/>
                </a:solidFill>
                <a:latin typeface="Arial MT"/>
                <a:cs typeface="Arial MT"/>
              </a:rPr>
              <a:t>Estimation</a:t>
            </a:r>
            <a:endParaRPr sz="33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403621" y="1630598"/>
            <a:ext cx="7273925" cy="2399030"/>
          </a:xfrm>
          <a:prstGeom prst="rect">
            <a:avLst/>
          </a:prstGeom>
        </p:spPr>
        <p:txBody>
          <a:bodyPr wrap="square" lIns="0" tIns="77470" rIns="0" bIns="0" rtlCol="0" vert="horz">
            <a:spAutoFit/>
          </a:bodyPr>
          <a:lstStyle/>
          <a:p>
            <a:pPr marL="367030" indent="-354330">
              <a:lnSpc>
                <a:spcPct val="100000"/>
              </a:lnSpc>
              <a:spcBef>
                <a:spcPts val="610"/>
              </a:spcBef>
              <a:buChar char="•"/>
              <a:tabLst>
                <a:tab pos="367030" algn="l"/>
              </a:tabLst>
            </a:pPr>
            <a:r>
              <a:rPr dirty="0" sz="2100">
                <a:latin typeface="Arial MT"/>
                <a:cs typeface="Arial MT"/>
              </a:rPr>
              <a:t>Things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to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be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measured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for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given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classifier</a:t>
            </a:r>
            <a:endParaRPr sz="2100">
              <a:latin typeface="Arial MT"/>
              <a:cs typeface="Arial MT"/>
            </a:endParaRPr>
          </a:p>
          <a:p>
            <a:pPr lvl="1" marL="781050" indent="-295275">
              <a:lnSpc>
                <a:spcPct val="100000"/>
              </a:lnSpc>
              <a:spcBef>
                <a:spcPts val="465"/>
              </a:spcBef>
              <a:buChar char="–"/>
              <a:tabLst>
                <a:tab pos="781050" algn="l"/>
              </a:tabLst>
            </a:pPr>
            <a:r>
              <a:rPr dirty="0" sz="1900" spc="-10">
                <a:latin typeface="Arial MT"/>
                <a:cs typeface="Arial MT"/>
              </a:rPr>
              <a:t>Accuracy</a:t>
            </a:r>
            <a:endParaRPr sz="1900">
              <a:latin typeface="Arial MT"/>
              <a:cs typeface="Arial MT"/>
            </a:endParaRPr>
          </a:p>
          <a:p>
            <a:pPr lvl="1" marL="781050" indent="-295275">
              <a:lnSpc>
                <a:spcPct val="100000"/>
              </a:lnSpc>
              <a:spcBef>
                <a:spcPts val="430"/>
              </a:spcBef>
              <a:buChar char="–"/>
              <a:tabLst>
                <a:tab pos="781050" algn="l"/>
              </a:tabLst>
            </a:pPr>
            <a:r>
              <a:rPr dirty="0" sz="1900" spc="-10">
                <a:latin typeface="Arial MT"/>
                <a:cs typeface="Arial MT"/>
              </a:rPr>
              <a:t>Performance</a:t>
            </a:r>
            <a:endParaRPr sz="1900">
              <a:latin typeface="Arial MT"/>
              <a:cs typeface="Arial MT"/>
            </a:endParaRPr>
          </a:p>
          <a:p>
            <a:pPr marL="367030" indent="-354330">
              <a:lnSpc>
                <a:spcPct val="100000"/>
              </a:lnSpc>
              <a:spcBef>
                <a:spcPts val="425"/>
              </a:spcBef>
              <a:buFont typeface="Arial MT"/>
              <a:buChar char="•"/>
              <a:tabLst>
                <a:tab pos="367030" algn="l"/>
              </a:tabLst>
            </a:pPr>
            <a:r>
              <a:rPr dirty="0" sz="2100" spc="-10" b="1">
                <a:solidFill>
                  <a:srgbClr val="A50021"/>
                </a:solidFill>
                <a:latin typeface="Arial"/>
                <a:cs typeface="Arial"/>
              </a:rPr>
              <a:t>Accuracy</a:t>
            </a:r>
            <a:r>
              <a:rPr dirty="0" sz="2100" spc="-90" b="1">
                <a:solidFill>
                  <a:srgbClr val="A50021"/>
                </a:solidFill>
                <a:latin typeface="Arial"/>
                <a:cs typeface="Arial"/>
              </a:rPr>
              <a:t> </a:t>
            </a:r>
            <a:r>
              <a:rPr dirty="0" sz="2100" spc="-10" b="1">
                <a:solidFill>
                  <a:srgbClr val="A50021"/>
                </a:solidFill>
                <a:latin typeface="Arial"/>
                <a:cs typeface="Arial"/>
              </a:rPr>
              <a:t>estimation</a:t>
            </a:r>
            <a:endParaRPr sz="2100">
              <a:latin typeface="Arial"/>
              <a:cs typeface="Arial"/>
            </a:endParaRPr>
          </a:p>
          <a:p>
            <a:pPr lvl="1" marL="781050" marR="5080" indent="-295910">
              <a:lnSpc>
                <a:spcPct val="98900"/>
              </a:lnSpc>
              <a:spcBef>
                <a:spcPts val="490"/>
              </a:spcBef>
              <a:buChar char="–"/>
              <a:tabLst>
                <a:tab pos="781050" algn="l"/>
              </a:tabLst>
            </a:pPr>
            <a:r>
              <a:rPr dirty="0" sz="1900">
                <a:latin typeface="Arial MT"/>
                <a:cs typeface="Arial MT"/>
              </a:rPr>
              <a:t>If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 i="1">
                <a:latin typeface="Arial"/>
                <a:cs typeface="Arial"/>
              </a:rPr>
              <a:t>N</a:t>
            </a:r>
            <a:r>
              <a:rPr dirty="0" sz="1900" spc="-75" i="1">
                <a:latin typeface="Arial"/>
                <a:cs typeface="Arial"/>
              </a:rPr>
              <a:t> </a:t>
            </a:r>
            <a:r>
              <a:rPr dirty="0" sz="1900">
                <a:latin typeface="Arial MT"/>
                <a:cs typeface="Arial MT"/>
              </a:rPr>
              <a:t>is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the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number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of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instances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with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which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a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classifier</a:t>
            </a:r>
            <a:r>
              <a:rPr dirty="0" sz="1900" spc="-6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is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tested </a:t>
            </a:r>
            <a:r>
              <a:rPr dirty="0" sz="1900">
                <a:latin typeface="Arial MT"/>
                <a:cs typeface="Arial MT"/>
              </a:rPr>
              <a:t>and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i="1">
                <a:latin typeface="Arial"/>
                <a:cs typeface="Arial"/>
              </a:rPr>
              <a:t>p</a:t>
            </a:r>
            <a:r>
              <a:rPr dirty="0" sz="1900" spc="-70" i="1">
                <a:latin typeface="Arial"/>
                <a:cs typeface="Arial"/>
              </a:rPr>
              <a:t> </a:t>
            </a:r>
            <a:r>
              <a:rPr dirty="0" sz="1900">
                <a:latin typeface="Arial MT"/>
                <a:cs typeface="Arial MT"/>
              </a:rPr>
              <a:t>is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the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number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of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correctly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classified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instances,</a:t>
            </a:r>
            <a:r>
              <a:rPr dirty="0" sz="1900" spc="-60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the accuracy</a:t>
            </a:r>
            <a:r>
              <a:rPr dirty="0" sz="1900" spc="-60">
                <a:latin typeface="Arial MT"/>
                <a:cs typeface="Arial MT"/>
              </a:rPr>
              <a:t> </a:t>
            </a:r>
            <a:r>
              <a:rPr dirty="0" sz="1900">
                <a:latin typeface="Cambria Math"/>
                <a:cs typeface="Cambria Math"/>
              </a:rPr>
              <a:t>∈</a:t>
            </a:r>
            <a:r>
              <a:rPr dirty="0" sz="1900" spc="-40">
                <a:latin typeface="Cambria Math"/>
                <a:cs typeface="Cambria Math"/>
              </a:rPr>
              <a:t> </a:t>
            </a:r>
            <a:r>
              <a:rPr dirty="0" sz="1900" spc="-25">
                <a:latin typeface="Arial MT"/>
                <a:cs typeface="Arial MT"/>
              </a:rPr>
              <a:t>is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5112021" y="4275208"/>
            <a:ext cx="177800" cy="12700"/>
          </a:xfrm>
          <a:custGeom>
            <a:avLst/>
            <a:gdLst/>
            <a:ahLst/>
            <a:cxnLst/>
            <a:rect l="l" t="t" r="r" b="b"/>
            <a:pathLst>
              <a:path w="177800" h="12700">
                <a:moveTo>
                  <a:pt x="177800" y="0"/>
                </a:moveTo>
                <a:lnTo>
                  <a:pt x="0" y="0"/>
                </a:lnTo>
                <a:lnTo>
                  <a:pt x="0" y="12705"/>
                </a:lnTo>
                <a:lnTo>
                  <a:pt x="177800" y="12705"/>
                </a:lnTo>
                <a:lnTo>
                  <a:pt x="1778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4661691" y="4095387"/>
            <a:ext cx="624205" cy="315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900">
                <a:latin typeface="Cambria Math"/>
                <a:cs typeface="Cambria Math"/>
              </a:rPr>
              <a:t>∈=</a:t>
            </a:r>
            <a:r>
              <a:rPr dirty="0" sz="1900" spc="190">
                <a:latin typeface="Cambria Math"/>
                <a:cs typeface="Cambria Math"/>
              </a:rPr>
              <a:t> </a:t>
            </a:r>
            <a:r>
              <a:rPr dirty="0" baseline="40935" sz="2850" spc="-75">
                <a:latin typeface="Cambria Math"/>
                <a:cs typeface="Cambria Math"/>
              </a:rPr>
              <a:t>𝑝</a:t>
            </a:r>
            <a:endParaRPr baseline="40935" sz="2850">
              <a:latin typeface="Cambria Math"/>
              <a:cs typeface="Cambria Math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078035" y="4253883"/>
            <a:ext cx="202565" cy="315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50">
                <a:latin typeface="Cambria Math"/>
                <a:cs typeface="Cambria Math"/>
              </a:rPr>
              <a:t>𝑁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378221" y="4540395"/>
            <a:ext cx="8501380" cy="28816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11175">
              <a:lnSpc>
                <a:spcPct val="100000"/>
              </a:lnSpc>
              <a:spcBef>
                <a:spcPts val="100"/>
              </a:spcBef>
              <a:tabLst>
                <a:tab pos="806450" algn="l"/>
              </a:tabLst>
            </a:pPr>
            <a:r>
              <a:rPr dirty="0" sz="1900" spc="-50">
                <a:latin typeface="Arial MT"/>
                <a:cs typeface="Arial MT"/>
              </a:rPr>
              <a:t>–</a:t>
            </a:r>
            <a:r>
              <a:rPr dirty="0" sz="1900">
                <a:latin typeface="Arial MT"/>
                <a:cs typeface="Arial MT"/>
              </a:rPr>
              <a:t>	Also,</a:t>
            </a:r>
            <a:r>
              <a:rPr dirty="0" sz="1900" spc="-13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we</a:t>
            </a:r>
            <a:r>
              <a:rPr dirty="0" sz="1900" spc="-114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can</a:t>
            </a:r>
            <a:r>
              <a:rPr dirty="0" sz="1900" spc="-9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say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the</a:t>
            </a:r>
            <a:r>
              <a:rPr dirty="0" sz="1900" spc="-95">
                <a:latin typeface="Arial MT"/>
                <a:cs typeface="Arial MT"/>
              </a:rPr>
              <a:t> </a:t>
            </a:r>
            <a:r>
              <a:rPr dirty="0" sz="1900" spc="-10">
                <a:solidFill>
                  <a:srgbClr val="A50021"/>
                </a:solidFill>
                <a:latin typeface="Arial MT"/>
                <a:cs typeface="Arial MT"/>
              </a:rPr>
              <a:t>error</a:t>
            </a:r>
            <a:r>
              <a:rPr dirty="0" sz="1900" spc="-85">
                <a:solidFill>
                  <a:srgbClr val="A50021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A50021"/>
                </a:solidFill>
                <a:latin typeface="Arial MT"/>
                <a:cs typeface="Arial MT"/>
              </a:rPr>
              <a:t>rate</a:t>
            </a:r>
            <a:r>
              <a:rPr dirty="0" sz="1900" spc="-95">
                <a:solidFill>
                  <a:srgbClr val="A50021"/>
                </a:solidFill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(i.e.,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misclassification</a:t>
            </a:r>
            <a:r>
              <a:rPr dirty="0" sz="1900" spc="-10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rate)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 spc="-1345">
                <a:latin typeface="Cambria Math"/>
                <a:cs typeface="Cambria Math"/>
              </a:rPr>
              <a:t>∈</a:t>
            </a:r>
            <a:r>
              <a:rPr dirty="0" baseline="5847" sz="2850" spc="-300">
                <a:latin typeface="Cambria Math"/>
                <a:cs typeface="Cambria Math"/>
              </a:rPr>
              <a:t>&amp;</a:t>
            </a:r>
            <a:r>
              <a:rPr dirty="0" baseline="5847" sz="2850" spc="195">
                <a:latin typeface="Cambria Math"/>
                <a:cs typeface="Cambria Math"/>
              </a:rPr>
              <a:t> </a:t>
            </a:r>
            <a:r>
              <a:rPr dirty="0" sz="1900" spc="-25">
                <a:latin typeface="Arial MT"/>
                <a:cs typeface="Arial MT"/>
              </a:rPr>
              <a:t>is</a:t>
            </a:r>
            <a:endParaRPr sz="1900">
              <a:latin typeface="Arial MT"/>
              <a:cs typeface="Arial MT"/>
            </a:endParaRPr>
          </a:p>
          <a:p>
            <a:pPr algn="ctr" marR="1277620">
              <a:lnSpc>
                <a:spcPct val="100000"/>
              </a:lnSpc>
              <a:spcBef>
                <a:spcPts val="25"/>
              </a:spcBef>
            </a:pPr>
            <a:r>
              <a:rPr dirty="0" sz="1900" spc="-1250">
                <a:latin typeface="Cambria Math"/>
                <a:cs typeface="Cambria Math"/>
              </a:rPr>
              <a:t>∈</a:t>
            </a:r>
            <a:r>
              <a:rPr dirty="0" baseline="5847" sz="2850" spc="-112">
                <a:latin typeface="Cambria Math"/>
                <a:cs typeface="Cambria Math"/>
              </a:rPr>
              <a:t>&amp;</a:t>
            </a:r>
            <a:r>
              <a:rPr dirty="0" sz="1900" spc="-105">
                <a:latin typeface="Cambria Math"/>
                <a:cs typeface="Cambria Math"/>
              </a:rPr>
              <a:t>=</a:t>
            </a:r>
            <a:r>
              <a:rPr dirty="0" sz="1900" spc="75">
                <a:latin typeface="Cambria Math"/>
                <a:cs typeface="Cambria Math"/>
              </a:rPr>
              <a:t> </a:t>
            </a:r>
            <a:r>
              <a:rPr dirty="0" sz="1900">
                <a:latin typeface="Cambria Math"/>
                <a:cs typeface="Cambria Math"/>
              </a:rPr>
              <a:t>1</a:t>
            </a:r>
            <a:r>
              <a:rPr dirty="0" sz="1900" spc="-20">
                <a:latin typeface="Cambria Math"/>
                <a:cs typeface="Cambria Math"/>
              </a:rPr>
              <a:t> </a:t>
            </a:r>
            <a:r>
              <a:rPr dirty="0" sz="1900" spc="-25">
                <a:latin typeface="Cambria Math"/>
                <a:cs typeface="Cambria Math"/>
              </a:rPr>
              <a:t>−∈</a:t>
            </a:r>
            <a:endParaRPr sz="1900">
              <a:latin typeface="Cambria Math"/>
              <a:cs typeface="Cambria Math"/>
            </a:endParaRPr>
          </a:p>
          <a:p>
            <a:pPr marL="392430" indent="-354330">
              <a:lnSpc>
                <a:spcPct val="100000"/>
              </a:lnSpc>
              <a:spcBef>
                <a:spcPts val="420"/>
              </a:spcBef>
              <a:buFont typeface="Arial MT"/>
              <a:buChar char="•"/>
              <a:tabLst>
                <a:tab pos="392430" algn="l"/>
              </a:tabLst>
            </a:pPr>
            <a:r>
              <a:rPr dirty="0" sz="2100" spc="-20" b="1">
                <a:solidFill>
                  <a:srgbClr val="A50021"/>
                </a:solidFill>
                <a:latin typeface="Arial"/>
                <a:cs typeface="Arial"/>
              </a:rPr>
              <a:t>Peformance</a:t>
            </a:r>
            <a:r>
              <a:rPr dirty="0" sz="2100" spc="-45" b="1">
                <a:solidFill>
                  <a:srgbClr val="A50021"/>
                </a:solidFill>
                <a:latin typeface="Arial"/>
                <a:cs typeface="Arial"/>
              </a:rPr>
              <a:t> </a:t>
            </a:r>
            <a:r>
              <a:rPr dirty="0" sz="2100" spc="-10" b="1">
                <a:solidFill>
                  <a:srgbClr val="A50021"/>
                </a:solidFill>
                <a:latin typeface="Arial"/>
                <a:cs typeface="Arial"/>
              </a:rPr>
              <a:t>estimation</a:t>
            </a:r>
            <a:endParaRPr sz="2100">
              <a:latin typeface="Arial"/>
              <a:cs typeface="Arial"/>
            </a:endParaRPr>
          </a:p>
          <a:p>
            <a:pPr lvl="1" marL="806450" indent="-295275">
              <a:lnSpc>
                <a:spcPct val="100000"/>
              </a:lnSpc>
              <a:spcBef>
                <a:spcPts val="480"/>
              </a:spcBef>
              <a:buChar char="–"/>
              <a:tabLst>
                <a:tab pos="806450" algn="l"/>
              </a:tabLst>
            </a:pPr>
            <a:r>
              <a:rPr dirty="0" sz="2100" spc="-10">
                <a:latin typeface="Arial MT"/>
                <a:cs typeface="Arial MT"/>
              </a:rPr>
              <a:t>Metrics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are</a:t>
            </a:r>
            <a:endParaRPr sz="2100">
              <a:latin typeface="Arial MT"/>
              <a:cs typeface="Arial MT"/>
            </a:endParaRPr>
          </a:p>
          <a:p>
            <a:pPr lvl="2" marL="1220470" indent="-236220">
              <a:lnSpc>
                <a:spcPct val="100000"/>
              </a:lnSpc>
              <a:spcBef>
                <a:spcPts val="480"/>
              </a:spcBef>
              <a:buChar char="•"/>
              <a:tabLst>
                <a:tab pos="1220470" algn="l"/>
              </a:tabLst>
            </a:pPr>
            <a:r>
              <a:rPr dirty="0" sz="2100">
                <a:latin typeface="Arial MT"/>
                <a:cs typeface="Arial MT"/>
              </a:rPr>
              <a:t>True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Positive,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True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Negative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(correct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predictions)</a:t>
            </a:r>
            <a:endParaRPr sz="2100">
              <a:latin typeface="Arial MT"/>
              <a:cs typeface="Arial MT"/>
            </a:endParaRPr>
          </a:p>
          <a:p>
            <a:pPr lvl="2" marL="1220470" indent="-236220">
              <a:lnSpc>
                <a:spcPct val="100000"/>
              </a:lnSpc>
              <a:spcBef>
                <a:spcPts val="480"/>
              </a:spcBef>
              <a:buChar char="•"/>
              <a:tabLst>
                <a:tab pos="1220470" algn="l"/>
              </a:tabLst>
            </a:pPr>
            <a:r>
              <a:rPr dirty="0" sz="2100">
                <a:latin typeface="Arial MT"/>
                <a:cs typeface="Arial MT"/>
              </a:rPr>
              <a:t>False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Positive,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False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Negative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(misclassifications)</a:t>
            </a:r>
            <a:endParaRPr sz="2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65"/>
              </a:spcBef>
            </a:pPr>
            <a:endParaRPr sz="2100">
              <a:latin typeface="Arial MT"/>
              <a:cs typeface="Arial MT"/>
            </a:endParaRPr>
          </a:p>
          <a:p>
            <a:pPr algn="r" marR="17780">
              <a:lnSpc>
                <a:spcPct val="100000"/>
              </a:lnSpc>
              <a:spcBef>
                <a:spcPts val="5"/>
              </a:spcBef>
            </a:pPr>
            <a:r>
              <a:rPr dirty="0" sz="1900">
                <a:solidFill>
                  <a:srgbClr val="045C75"/>
                </a:solidFill>
                <a:latin typeface="Arial MT"/>
                <a:cs typeface="Arial MT"/>
              </a:rPr>
              <a:t>CS</a:t>
            </a:r>
            <a:r>
              <a:rPr dirty="0" sz="1900" spc="-75">
                <a:solidFill>
                  <a:srgbClr val="045C75"/>
                </a:solidFill>
                <a:latin typeface="Arial MT"/>
                <a:cs typeface="Arial MT"/>
              </a:rPr>
              <a:t> </a:t>
            </a:r>
            <a:r>
              <a:rPr dirty="0" sz="1900" spc="-20">
                <a:solidFill>
                  <a:srgbClr val="045C75"/>
                </a:solidFill>
                <a:latin typeface="Arial MT"/>
                <a:cs typeface="Arial MT"/>
              </a:rPr>
              <a:t>40003:</a:t>
            </a:r>
            <a:r>
              <a:rPr dirty="0" sz="1900" spc="-45">
                <a:solidFill>
                  <a:srgbClr val="045C75"/>
                </a:solidFill>
                <a:latin typeface="Arial MT"/>
                <a:cs typeface="Arial MT"/>
              </a:rPr>
              <a:t> </a:t>
            </a:r>
            <a:r>
              <a:rPr dirty="0" sz="1900" spc="-35">
                <a:solidFill>
                  <a:srgbClr val="045C75"/>
                </a:solidFill>
                <a:latin typeface="Arial MT"/>
                <a:cs typeface="Arial MT"/>
              </a:rPr>
              <a:t>Data</a:t>
            </a:r>
            <a:r>
              <a:rPr dirty="0" sz="1900" spc="-135">
                <a:solidFill>
                  <a:srgbClr val="045C75"/>
                </a:solidFill>
                <a:latin typeface="Arial MT"/>
                <a:cs typeface="Arial MT"/>
              </a:rPr>
              <a:t> </a:t>
            </a:r>
            <a:r>
              <a:rPr dirty="0" sz="1900" spc="-10">
                <a:solidFill>
                  <a:srgbClr val="045C75"/>
                </a:solidFill>
                <a:latin typeface="Arial MT"/>
                <a:cs typeface="Arial MT"/>
              </a:rPr>
              <a:t>Analytics</a:t>
            </a:r>
            <a:endParaRPr sz="1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892928" y="3731100"/>
            <a:ext cx="1011555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10">
                <a:latin typeface="Arial MT"/>
                <a:cs typeface="Arial MT"/>
              </a:rPr>
              <a:t>Recall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594180" y="1482224"/>
            <a:ext cx="7047865" cy="1781810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278765" marR="514350" indent="-266700">
              <a:lnSpc>
                <a:spcPts val="2500"/>
              </a:lnSpc>
              <a:spcBef>
                <a:spcPts val="200"/>
              </a:spcBef>
              <a:buChar char="•"/>
              <a:tabLst>
                <a:tab pos="278765" algn="l"/>
                <a:tab pos="3458845" algn="l"/>
              </a:tabLst>
            </a:pPr>
            <a:r>
              <a:rPr dirty="0" sz="2100" spc="-10">
                <a:latin typeface="Arial MT"/>
                <a:cs typeface="Arial MT"/>
              </a:rPr>
              <a:t>Precision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number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of</a:t>
            </a:r>
            <a:r>
              <a:rPr dirty="0" sz="2100">
                <a:latin typeface="Arial MT"/>
                <a:cs typeface="Arial MT"/>
              </a:rPr>
              <a:t>	proper</a:t>
            </a:r>
            <a:r>
              <a:rPr dirty="0" sz="2100" spc="-13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positive</a:t>
            </a:r>
            <a:r>
              <a:rPr dirty="0" sz="2100" spc="-14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predictions </a:t>
            </a:r>
            <a:r>
              <a:rPr dirty="0" sz="2100">
                <a:latin typeface="Arial MT"/>
                <a:cs typeface="Arial MT"/>
              </a:rPr>
              <a:t>divided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by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total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number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positive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predictions.</a:t>
            </a:r>
            <a:endParaRPr sz="2100">
              <a:latin typeface="Arial MT"/>
              <a:cs typeface="Arial MT"/>
            </a:endParaRPr>
          </a:p>
          <a:p>
            <a:pPr marL="278765" marR="179070" indent="-266700">
              <a:lnSpc>
                <a:spcPts val="2500"/>
              </a:lnSpc>
              <a:spcBef>
                <a:spcPts val="710"/>
              </a:spcBef>
              <a:buChar char="•"/>
              <a:tabLst>
                <a:tab pos="278765" algn="l"/>
              </a:tabLst>
            </a:pPr>
            <a:r>
              <a:rPr dirty="0" sz="2100" spc="-10">
                <a:latin typeface="Arial MT"/>
                <a:cs typeface="Arial MT"/>
              </a:rPr>
              <a:t>Precision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can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be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thought</a:t>
            </a:r>
            <a:r>
              <a:rPr dirty="0" sz="2100" spc="-6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as</a:t>
            </a:r>
            <a:r>
              <a:rPr dirty="0" sz="2100" spc="-6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measure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6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classifiers exactness.</a:t>
            </a:r>
            <a:endParaRPr sz="2100">
              <a:latin typeface="Arial MT"/>
              <a:cs typeface="Arial MT"/>
            </a:endParaRPr>
          </a:p>
          <a:p>
            <a:pPr marL="278130" indent="-265430">
              <a:lnSpc>
                <a:spcPct val="100000"/>
              </a:lnSpc>
              <a:spcBef>
                <a:spcPts val="495"/>
              </a:spcBef>
              <a:buFont typeface="Arial MT"/>
              <a:buChar char="•"/>
              <a:tabLst>
                <a:tab pos="278130" algn="l"/>
              </a:tabLst>
            </a:pPr>
            <a:r>
              <a:rPr dirty="0" sz="2100" b="1">
                <a:solidFill>
                  <a:srgbClr val="0070C0"/>
                </a:solidFill>
                <a:latin typeface="Arial"/>
                <a:cs typeface="Arial"/>
              </a:rPr>
              <a:t>Low</a:t>
            </a:r>
            <a:r>
              <a:rPr dirty="0" sz="2100" spc="-110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2100" spc="-25" b="1">
                <a:solidFill>
                  <a:srgbClr val="0070C0"/>
                </a:solidFill>
                <a:latin typeface="Arial"/>
                <a:cs typeface="Arial"/>
              </a:rPr>
              <a:t>precision</a:t>
            </a:r>
            <a:r>
              <a:rPr dirty="0" sz="2100" spc="-95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2100" spc="-20" b="1">
                <a:solidFill>
                  <a:srgbClr val="0070C0"/>
                </a:solidFill>
                <a:latin typeface="Arial"/>
                <a:cs typeface="Arial"/>
              </a:rPr>
              <a:t>usually</a:t>
            </a:r>
            <a:r>
              <a:rPr dirty="0" sz="2100" spc="-95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2100" spc="-20" b="1">
                <a:solidFill>
                  <a:srgbClr val="0070C0"/>
                </a:solidFill>
                <a:latin typeface="Arial"/>
                <a:cs typeface="Arial"/>
              </a:rPr>
              <a:t>indicates</a:t>
            </a:r>
            <a:r>
              <a:rPr dirty="0" sz="2100" spc="-95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0070C0"/>
                </a:solidFill>
                <a:latin typeface="Arial"/>
                <a:cs typeface="Arial"/>
              </a:rPr>
              <a:t>many</a:t>
            </a:r>
            <a:r>
              <a:rPr dirty="0" sz="2100" spc="-100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0070C0"/>
                </a:solidFill>
                <a:latin typeface="Arial"/>
                <a:cs typeface="Arial"/>
              </a:rPr>
              <a:t>False</a:t>
            </a:r>
            <a:r>
              <a:rPr dirty="0" sz="2100" spc="-95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2100" spc="-10" b="1">
                <a:solidFill>
                  <a:srgbClr val="0070C0"/>
                </a:solidFill>
                <a:latin typeface="Arial"/>
                <a:cs typeface="Arial"/>
              </a:rPr>
              <a:t>Positives</a:t>
            </a:r>
            <a:r>
              <a:rPr dirty="0" sz="2100" spc="-10">
                <a:latin typeface="Arial MT"/>
                <a:cs typeface="Arial MT"/>
              </a:rPr>
              <a:t>.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672137" y="901973"/>
            <a:ext cx="2465070" cy="382905"/>
          </a:xfrm>
          <a:prstGeom prst="rect">
            <a:avLst/>
          </a:prstGeom>
          <a:solidFill>
            <a:srgbClr val="FFFF99"/>
          </a:solidFill>
          <a:ln w="32866">
            <a:solidFill>
              <a:srgbClr val="C00000"/>
            </a:solidFill>
          </a:ln>
        </p:spPr>
        <p:txBody>
          <a:bodyPr wrap="square" lIns="0" tIns="33020" rIns="0" bIns="0" rtlCol="0" vert="horz">
            <a:spAutoFit/>
          </a:bodyPr>
          <a:lstStyle/>
          <a:p>
            <a:pPr marL="471170">
              <a:lnSpc>
                <a:spcPct val="100000"/>
              </a:lnSpc>
              <a:spcBef>
                <a:spcPts val="260"/>
              </a:spcBef>
            </a:pPr>
            <a:r>
              <a:rPr dirty="0" sz="1900">
                <a:latin typeface="Arial MT"/>
                <a:cs typeface="Arial MT"/>
              </a:rPr>
              <a:t>TP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/</a:t>
            </a:r>
            <a:r>
              <a:rPr dirty="0" sz="1900" spc="-5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(TP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+</a:t>
            </a:r>
            <a:r>
              <a:rPr dirty="0" sz="1900" spc="-5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F</a:t>
            </a:r>
            <a:r>
              <a:rPr dirty="0" sz="1900" spc="-25" b="1">
                <a:solidFill>
                  <a:srgbClr val="FF0000"/>
                </a:solidFill>
                <a:latin typeface="Arial"/>
                <a:cs typeface="Arial"/>
              </a:rPr>
              <a:t>P</a:t>
            </a:r>
            <a:r>
              <a:rPr dirty="0" sz="1900" spc="-25">
                <a:latin typeface="Arial MT"/>
                <a:cs typeface="Arial MT"/>
              </a:rPr>
              <a:t>)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830680" y="853787"/>
            <a:ext cx="1484630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 b="0">
                <a:latin typeface="Arial MT"/>
                <a:cs typeface="Arial MT"/>
              </a:rPr>
              <a:t>Precision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1594180" y="4310768"/>
            <a:ext cx="7078345" cy="2174875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278765" marR="100965" indent="-266700">
              <a:lnSpc>
                <a:spcPts val="2500"/>
              </a:lnSpc>
              <a:spcBef>
                <a:spcPts val="200"/>
              </a:spcBef>
              <a:buChar char="•"/>
              <a:tabLst>
                <a:tab pos="278765" algn="l"/>
              </a:tabLst>
            </a:pPr>
            <a:r>
              <a:rPr dirty="0" sz="2100">
                <a:latin typeface="Arial MT"/>
                <a:cs typeface="Arial MT"/>
              </a:rPr>
              <a:t>Recall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number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positive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predictions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divided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by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the </a:t>
            </a:r>
            <a:r>
              <a:rPr dirty="0" sz="2100">
                <a:latin typeface="Arial MT"/>
                <a:cs typeface="Arial MT"/>
              </a:rPr>
              <a:t>number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observations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that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class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in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test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data.</a:t>
            </a:r>
            <a:endParaRPr sz="2100">
              <a:latin typeface="Arial MT"/>
              <a:cs typeface="Arial MT"/>
            </a:endParaRPr>
          </a:p>
          <a:p>
            <a:pPr marL="278130" indent="-265430">
              <a:lnSpc>
                <a:spcPct val="100000"/>
              </a:lnSpc>
              <a:spcBef>
                <a:spcPts val="610"/>
              </a:spcBef>
              <a:buChar char="•"/>
              <a:tabLst>
                <a:tab pos="278130" algn="l"/>
              </a:tabLst>
            </a:pPr>
            <a:r>
              <a:rPr dirty="0" sz="2100">
                <a:latin typeface="Arial MT"/>
                <a:cs typeface="Arial MT"/>
              </a:rPr>
              <a:t>It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also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called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Sensitivity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or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114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True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Positive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Rate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(TPR).</a:t>
            </a:r>
            <a:endParaRPr sz="2100">
              <a:latin typeface="Arial MT"/>
              <a:cs typeface="Arial MT"/>
            </a:endParaRPr>
          </a:p>
          <a:p>
            <a:pPr marL="278765" marR="559435" indent="-266700">
              <a:lnSpc>
                <a:spcPts val="2500"/>
              </a:lnSpc>
              <a:spcBef>
                <a:spcPts val="675"/>
              </a:spcBef>
              <a:buChar char="•"/>
              <a:tabLst>
                <a:tab pos="278765" algn="l"/>
              </a:tabLst>
            </a:pPr>
            <a:r>
              <a:rPr dirty="0" sz="2100">
                <a:latin typeface="Arial MT"/>
                <a:cs typeface="Arial MT"/>
              </a:rPr>
              <a:t>Recall</a:t>
            </a:r>
            <a:r>
              <a:rPr dirty="0" sz="2100" spc="-5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can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be</a:t>
            </a:r>
            <a:r>
              <a:rPr dirty="0" sz="2100" spc="-6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thought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as</a:t>
            </a:r>
            <a:r>
              <a:rPr dirty="0" sz="2100" spc="-6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measure</a:t>
            </a:r>
            <a:r>
              <a:rPr dirty="0" sz="2100" spc="-6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classifiers completeness.</a:t>
            </a:r>
            <a:endParaRPr sz="2100">
              <a:latin typeface="Arial MT"/>
              <a:cs typeface="Arial MT"/>
            </a:endParaRPr>
          </a:p>
          <a:p>
            <a:pPr marL="278130" indent="-265430">
              <a:lnSpc>
                <a:spcPct val="100000"/>
              </a:lnSpc>
              <a:spcBef>
                <a:spcPts val="495"/>
              </a:spcBef>
              <a:buFont typeface="Arial MT"/>
              <a:buChar char="•"/>
              <a:tabLst>
                <a:tab pos="278130" algn="l"/>
              </a:tabLst>
            </a:pPr>
            <a:r>
              <a:rPr dirty="0" sz="2100" b="1">
                <a:solidFill>
                  <a:srgbClr val="0070C0"/>
                </a:solidFill>
                <a:latin typeface="Arial"/>
                <a:cs typeface="Arial"/>
              </a:rPr>
              <a:t>Low</a:t>
            </a:r>
            <a:r>
              <a:rPr dirty="0" sz="2100" spc="-125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0070C0"/>
                </a:solidFill>
                <a:latin typeface="Arial"/>
                <a:cs typeface="Arial"/>
              </a:rPr>
              <a:t>recall</a:t>
            </a:r>
            <a:r>
              <a:rPr dirty="0" sz="2100" spc="-105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2100" spc="-20" b="1">
                <a:solidFill>
                  <a:srgbClr val="0070C0"/>
                </a:solidFill>
                <a:latin typeface="Arial"/>
                <a:cs typeface="Arial"/>
              </a:rPr>
              <a:t>usually</a:t>
            </a:r>
            <a:r>
              <a:rPr dirty="0" sz="2100" spc="-110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2100" spc="-20" b="1">
                <a:solidFill>
                  <a:srgbClr val="0070C0"/>
                </a:solidFill>
                <a:latin typeface="Arial"/>
                <a:cs typeface="Arial"/>
              </a:rPr>
              <a:t>indicates</a:t>
            </a:r>
            <a:r>
              <a:rPr dirty="0" sz="2100" spc="-105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0070C0"/>
                </a:solidFill>
                <a:latin typeface="Arial"/>
                <a:cs typeface="Arial"/>
              </a:rPr>
              <a:t>many</a:t>
            </a:r>
            <a:r>
              <a:rPr dirty="0" sz="2100" spc="-105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0070C0"/>
                </a:solidFill>
                <a:latin typeface="Arial"/>
                <a:cs typeface="Arial"/>
              </a:rPr>
              <a:t>False</a:t>
            </a:r>
            <a:r>
              <a:rPr dirty="0" sz="2100" spc="-110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2100" spc="-10" b="1">
                <a:solidFill>
                  <a:srgbClr val="0070C0"/>
                </a:solidFill>
                <a:latin typeface="Arial"/>
                <a:cs typeface="Arial"/>
              </a:rPr>
              <a:t>Negatives.</a:t>
            </a:r>
            <a:endParaRPr sz="21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584992" y="3765246"/>
            <a:ext cx="2552700" cy="382905"/>
          </a:xfrm>
          <a:prstGeom prst="rect">
            <a:avLst/>
          </a:prstGeom>
          <a:solidFill>
            <a:srgbClr val="FFFF99"/>
          </a:solidFill>
          <a:ln w="32866">
            <a:solidFill>
              <a:srgbClr val="C00000"/>
            </a:solidFill>
          </a:ln>
        </p:spPr>
        <p:txBody>
          <a:bodyPr wrap="square" lIns="0" tIns="34925" rIns="0" bIns="0" rtlCol="0" vert="horz">
            <a:spAutoFit/>
          </a:bodyPr>
          <a:lstStyle/>
          <a:p>
            <a:pPr marL="508000">
              <a:lnSpc>
                <a:spcPct val="100000"/>
              </a:lnSpc>
              <a:spcBef>
                <a:spcPts val="275"/>
              </a:spcBef>
            </a:pPr>
            <a:r>
              <a:rPr dirty="0" sz="1900">
                <a:latin typeface="Arial MT"/>
                <a:cs typeface="Arial MT"/>
              </a:rPr>
              <a:t>TP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/</a:t>
            </a:r>
            <a:r>
              <a:rPr dirty="0" sz="1900" spc="-5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(TP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+</a:t>
            </a:r>
            <a:r>
              <a:rPr dirty="0" sz="1900" spc="-5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F</a:t>
            </a:r>
            <a:r>
              <a:rPr dirty="0" sz="1900" spc="-25" b="1">
                <a:solidFill>
                  <a:srgbClr val="FF0000"/>
                </a:solidFill>
                <a:latin typeface="Arial"/>
                <a:cs typeface="Arial"/>
              </a:rPr>
              <a:t>N</a:t>
            </a:r>
            <a:r>
              <a:rPr dirty="0" sz="1900" spc="-25">
                <a:latin typeface="Arial MT"/>
                <a:cs typeface="Arial MT"/>
              </a:rPr>
              <a:t>)</a:t>
            </a:r>
            <a:endParaRPr sz="1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26536" y="734915"/>
            <a:ext cx="3258820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="0">
                <a:latin typeface="Arial MT"/>
                <a:cs typeface="Arial MT"/>
              </a:rPr>
              <a:t>Precision</a:t>
            </a:r>
            <a:r>
              <a:rPr dirty="0" spc="-105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and</a:t>
            </a:r>
            <a:r>
              <a:rPr dirty="0" spc="-100" b="0">
                <a:latin typeface="Arial MT"/>
                <a:cs typeface="Arial MT"/>
              </a:rPr>
              <a:t> </a:t>
            </a:r>
            <a:r>
              <a:rPr dirty="0" spc="-10" b="0">
                <a:latin typeface="Arial MT"/>
                <a:cs typeface="Arial MT"/>
              </a:rPr>
              <a:t>Recall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637" y="2695279"/>
            <a:ext cx="5340767" cy="404161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996611" y="1497100"/>
            <a:ext cx="7935595" cy="1196340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278130" indent="-26543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78130" algn="l"/>
              </a:tabLst>
            </a:pPr>
            <a:r>
              <a:rPr dirty="0" sz="2200" spc="-10" b="1">
                <a:solidFill>
                  <a:srgbClr val="7030A0"/>
                </a:solidFill>
                <a:latin typeface="Arial"/>
                <a:cs typeface="Arial"/>
              </a:rPr>
              <a:t>Excellent</a:t>
            </a:r>
            <a:r>
              <a:rPr dirty="0" sz="2200" spc="-100" b="1">
                <a:solidFill>
                  <a:srgbClr val="7030A0"/>
                </a:solidFill>
                <a:latin typeface="Arial"/>
                <a:cs typeface="Arial"/>
              </a:rPr>
              <a:t> </a:t>
            </a:r>
            <a:r>
              <a:rPr dirty="0" sz="2200" spc="-20" b="1">
                <a:solidFill>
                  <a:srgbClr val="7030A0"/>
                </a:solidFill>
                <a:latin typeface="Arial"/>
                <a:cs typeface="Arial"/>
              </a:rPr>
              <a:t>predictions</a:t>
            </a:r>
            <a:r>
              <a:rPr dirty="0" sz="2200" spc="-105" b="1">
                <a:solidFill>
                  <a:srgbClr val="7030A0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7030A0"/>
                </a:solidFill>
                <a:latin typeface="Arial"/>
                <a:cs typeface="Arial"/>
              </a:rPr>
              <a:t>mean</a:t>
            </a:r>
            <a:r>
              <a:rPr dirty="0" sz="2200" spc="-95" b="1">
                <a:solidFill>
                  <a:srgbClr val="7030A0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7030A0"/>
                </a:solidFill>
                <a:latin typeface="Arial"/>
                <a:cs typeface="Arial"/>
              </a:rPr>
              <a:t>high</a:t>
            </a:r>
            <a:r>
              <a:rPr dirty="0" sz="2200" spc="-95" b="1">
                <a:solidFill>
                  <a:srgbClr val="7030A0"/>
                </a:solidFill>
                <a:latin typeface="Arial"/>
                <a:cs typeface="Arial"/>
              </a:rPr>
              <a:t> </a:t>
            </a:r>
            <a:r>
              <a:rPr dirty="0" sz="2200" spc="-20" b="1">
                <a:solidFill>
                  <a:srgbClr val="7030A0"/>
                </a:solidFill>
                <a:latin typeface="Arial"/>
                <a:cs typeface="Arial"/>
              </a:rPr>
              <a:t>precision</a:t>
            </a:r>
            <a:r>
              <a:rPr dirty="0" sz="2200" spc="-95" b="1">
                <a:solidFill>
                  <a:srgbClr val="7030A0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7030A0"/>
                </a:solidFill>
                <a:latin typeface="Arial"/>
                <a:cs typeface="Arial"/>
              </a:rPr>
              <a:t>and</a:t>
            </a:r>
            <a:r>
              <a:rPr dirty="0" sz="2200" spc="-95" b="1">
                <a:solidFill>
                  <a:srgbClr val="7030A0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7030A0"/>
                </a:solidFill>
                <a:latin typeface="Arial"/>
                <a:cs typeface="Arial"/>
              </a:rPr>
              <a:t>high</a:t>
            </a:r>
            <a:r>
              <a:rPr dirty="0" sz="2200" spc="-100" b="1">
                <a:solidFill>
                  <a:srgbClr val="7030A0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7030A0"/>
                </a:solidFill>
                <a:latin typeface="Arial"/>
                <a:cs typeface="Arial"/>
              </a:rPr>
              <a:t>recall</a:t>
            </a:r>
            <a:r>
              <a:rPr dirty="0" sz="2200" spc="-10">
                <a:latin typeface="Arial MT"/>
                <a:cs typeface="Arial MT"/>
              </a:rPr>
              <a:t>.</a:t>
            </a:r>
            <a:endParaRPr sz="2200">
              <a:latin typeface="Arial MT"/>
              <a:cs typeface="Arial MT"/>
            </a:endParaRPr>
          </a:p>
          <a:p>
            <a:pPr marL="278765" marR="102870" indent="-266700">
              <a:lnSpc>
                <a:spcPts val="2590"/>
              </a:lnSpc>
              <a:spcBef>
                <a:spcPts val="800"/>
              </a:spcBef>
              <a:buChar char="•"/>
              <a:tabLst>
                <a:tab pos="278765" algn="l"/>
              </a:tabLst>
            </a:pPr>
            <a:r>
              <a:rPr dirty="0" sz="2200" spc="-35">
                <a:latin typeface="Arial MT"/>
                <a:cs typeface="Arial MT"/>
              </a:rPr>
              <a:t>However,</a:t>
            </a:r>
            <a:r>
              <a:rPr dirty="0" sz="2200" spc="-75">
                <a:latin typeface="Arial MT"/>
                <a:cs typeface="Arial MT"/>
              </a:rPr>
              <a:t> </a:t>
            </a:r>
            <a:r>
              <a:rPr dirty="0" sz="2200" spc="-20" b="1">
                <a:solidFill>
                  <a:srgbClr val="C00000"/>
                </a:solidFill>
                <a:latin typeface="Arial"/>
                <a:cs typeface="Arial"/>
              </a:rPr>
              <a:t>increases</a:t>
            </a:r>
            <a:r>
              <a:rPr dirty="0" sz="2200" spc="-8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C00000"/>
                </a:solidFill>
                <a:latin typeface="Arial"/>
                <a:cs typeface="Arial"/>
              </a:rPr>
              <a:t>in</a:t>
            </a:r>
            <a:r>
              <a:rPr dirty="0" sz="2200" spc="-8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C00000"/>
                </a:solidFill>
                <a:latin typeface="Arial"/>
                <a:cs typeface="Arial"/>
              </a:rPr>
              <a:t>one</a:t>
            </a:r>
            <a:r>
              <a:rPr dirty="0" sz="2200" spc="-9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C00000"/>
                </a:solidFill>
                <a:latin typeface="Arial"/>
                <a:cs typeface="Arial"/>
              </a:rPr>
              <a:t>usually</a:t>
            </a:r>
            <a:r>
              <a:rPr dirty="0" sz="2200" spc="-8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C00000"/>
                </a:solidFill>
                <a:latin typeface="Arial"/>
                <a:cs typeface="Arial"/>
              </a:rPr>
              <a:t>come</a:t>
            </a:r>
            <a:r>
              <a:rPr dirty="0" sz="2200" spc="-9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C00000"/>
                </a:solidFill>
                <a:latin typeface="Arial"/>
                <a:cs typeface="Arial"/>
              </a:rPr>
              <a:t>at</a:t>
            </a:r>
            <a:r>
              <a:rPr dirty="0" sz="2200" spc="-8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C00000"/>
                </a:solidFill>
                <a:latin typeface="Arial"/>
                <a:cs typeface="Arial"/>
              </a:rPr>
              <a:t>the</a:t>
            </a:r>
            <a:r>
              <a:rPr dirty="0" sz="2200" spc="-9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200" spc="-20" b="1">
                <a:solidFill>
                  <a:srgbClr val="C00000"/>
                </a:solidFill>
                <a:latin typeface="Arial"/>
                <a:cs typeface="Arial"/>
              </a:rPr>
              <a:t>expense</a:t>
            </a:r>
            <a:r>
              <a:rPr dirty="0" sz="2200" spc="-8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200" spc="-25" b="1">
                <a:solidFill>
                  <a:srgbClr val="C00000"/>
                </a:solidFill>
                <a:latin typeface="Arial"/>
                <a:cs typeface="Arial"/>
              </a:rPr>
              <a:t>of decreases</a:t>
            </a:r>
            <a:r>
              <a:rPr dirty="0" sz="2200" spc="-7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C00000"/>
                </a:solidFill>
                <a:latin typeface="Arial"/>
                <a:cs typeface="Arial"/>
              </a:rPr>
              <a:t>in</a:t>
            </a:r>
            <a:r>
              <a:rPr dirty="0" sz="2200" spc="-6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C00000"/>
                </a:solidFill>
                <a:latin typeface="Arial"/>
                <a:cs typeface="Arial"/>
              </a:rPr>
              <a:t>the</a:t>
            </a:r>
            <a:r>
              <a:rPr dirty="0" sz="2200" spc="-7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C00000"/>
                </a:solidFill>
                <a:latin typeface="Arial"/>
                <a:cs typeface="Arial"/>
              </a:rPr>
              <a:t>other</a:t>
            </a:r>
            <a:r>
              <a:rPr dirty="0" sz="2200" spc="-10">
                <a:latin typeface="Arial MT"/>
                <a:cs typeface="Arial MT"/>
              </a:rPr>
              <a:t>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281270" y="3563494"/>
            <a:ext cx="3305810" cy="219011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278765" marR="5080" indent="-266700">
              <a:lnSpc>
                <a:spcPct val="100499"/>
              </a:lnSpc>
              <a:spcBef>
                <a:spcPts val="85"/>
              </a:spcBef>
              <a:buChar char="•"/>
              <a:tabLst>
                <a:tab pos="278765" algn="l"/>
              </a:tabLst>
            </a:pPr>
            <a:r>
              <a:rPr dirty="0" sz="2200" spc="-20">
                <a:latin typeface="Arial MT"/>
                <a:cs typeface="Arial MT"/>
              </a:rPr>
              <a:t>Maximizing</a:t>
            </a:r>
            <a:r>
              <a:rPr dirty="0" sz="2200" spc="-7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precision</a:t>
            </a:r>
            <a:r>
              <a:rPr dirty="0" sz="2200" spc="-7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will minimize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number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of </a:t>
            </a:r>
            <a:r>
              <a:rPr dirty="0" sz="2200">
                <a:latin typeface="Arial MT"/>
                <a:cs typeface="Arial MT"/>
              </a:rPr>
              <a:t>false</a:t>
            </a:r>
            <a:r>
              <a:rPr dirty="0" sz="2200" spc="-12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positives</a:t>
            </a:r>
            <a:endParaRPr sz="2200">
              <a:latin typeface="Arial MT"/>
              <a:cs typeface="Arial MT"/>
            </a:endParaRPr>
          </a:p>
          <a:p>
            <a:pPr marL="278765" marR="154940" indent="-266700">
              <a:lnSpc>
                <a:spcPct val="98600"/>
              </a:lnSpc>
              <a:spcBef>
                <a:spcPts val="1285"/>
              </a:spcBef>
              <a:buChar char="•"/>
              <a:tabLst>
                <a:tab pos="278765" algn="l"/>
              </a:tabLst>
            </a:pPr>
            <a:r>
              <a:rPr dirty="0" sz="2200" spc="-20">
                <a:latin typeface="Arial MT"/>
                <a:cs typeface="Arial MT"/>
              </a:rPr>
              <a:t>Maximizing</a:t>
            </a:r>
            <a:r>
              <a:rPr dirty="0" sz="2200" spc="-12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recall</a:t>
            </a:r>
            <a:r>
              <a:rPr dirty="0" sz="2200" spc="-11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will minimize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number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of </a:t>
            </a:r>
            <a:r>
              <a:rPr dirty="0" sz="2200">
                <a:latin typeface="Arial MT"/>
                <a:cs typeface="Arial MT"/>
              </a:rPr>
              <a:t>false</a:t>
            </a:r>
            <a:r>
              <a:rPr dirty="0" sz="2200" spc="-12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negatives.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74208" y="744539"/>
            <a:ext cx="1800860" cy="5289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 b="0">
                <a:solidFill>
                  <a:srgbClr val="A50021"/>
                </a:solidFill>
                <a:latin typeface="Arial MT"/>
                <a:cs typeface="Arial MT"/>
              </a:rPr>
              <a:t>ROC </a:t>
            </a:r>
            <a:r>
              <a:rPr dirty="0" sz="3300" spc="-20" b="0">
                <a:solidFill>
                  <a:srgbClr val="A50021"/>
                </a:solidFill>
                <a:latin typeface="Arial MT"/>
                <a:cs typeface="Arial MT"/>
              </a:rPr>
              <a:t>Plot</a:t>
            </a:r>
            <a:endParaRPr sz="33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164594" y="1521484"/>
            <a:ext cx="7827645" cy="117157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278130" indent="-265430">
              <a:lnSpc>
                <a:spcPct val="100000"/>
              </a:lnSpc>
              <a:spcBef>
                <a:spcPts val="675"/>
              </a:spcBef>
              <a:buChar char="•"/>
              <a:tabLst>
                <a:tab pos="278130" algn="l"/>
              </a:tabLst>
            </a:pP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diagonal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line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corresponds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to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0B5ED7"/>
                </a:solidFill>
                <a:latin typeface="Arial MT"/>
                <a:cs typeface="Arial MT"/>
              </a:rPr>
              <a:t>random</a:t>
            </a:r>
            <a:r>
              <a:rPr dirty="0" sz="2200" spc="-100">
                <a:solidFill>
                  <a:srgbClr val="0B5ED7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0B5ED7"/>
                </a:solidFill>
                <a:latin typeface="Arial MT"/>
                <a:cs typeface="Arial MT"/>
              </a:rPr>
              <a:t>guessing</a:t>
            </a:r>
            <a:endParaRPr sz="2200">
              <a:latin typeface="Arial MT"/>
              <a:cs typeface="Arial MT"/>
            </a:endParaRPr>
          </a:p>
          <a:p>
            <a:pPr marL="278765" marR="5080" indent="-266700">
              <a:lnSpc>
                <a:spcPts val="2590"/>
              </a:lnSpc>
              <a:spcBef>
                <a:spcPts val="705"/>
              </a:spcBef>
              <a:buChar char="•"/>
              <a:tabLst>
                <a:tab pos="278765" algn="l"/>
              </a:tabLst>
            </a:pPr>
            <a:r>
              <a:rPr dirty="0" sz="2200">
                <a:latin typeface="Arial MT"/>
                <a:cs typeface="Arial MT"/>
              </a:rPr>
              <a:t>That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means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same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proportion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of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positive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instances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and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negative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instances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are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classified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correctly,</a:t>
            </a:r>
            <a:r>
              <a:rPr dirty="0" sz="2200" spc="-7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so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 i="1">
                <a:latin typeface="Arial"/>
                <a:cs typeface="Arial"/>
              </a:rPr>
              <a:t>TPR</a:t>
            </a:r>
            <a:r>
              <a:rPr dirty="0" sz="2200" spc="-90" i="1">
                <a:latin typeface="Arial"/>
                <a:cs typeface="Arial"/>
              </a:rPr>
              <a:t> </a:t>
            </a:r>
            <a:r>
              <a:rPr dirty="0" sz="2200">
                <a:latin typeface="Arial MT"/>
                <a:cs typeface="Arial MT"/>
              </a:rPr>
              <a:t>=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 spc="-25" i="1">
                <a:latin typeface="Arial"/>
                <a:cs typeface="Arial"/>
              </a:rPr>
              <a:t>FPR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027273" y="2918861"/>
            <a:ext cx="4330065" cy="3662045"/>
            <a:chOff x="1027273" y="2918861"/>
            <a:chExt cx="4330065" cy="366204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7273" y="2918861"/>
              <a:ext cx="4329604" cy="3661951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2178108" y="5335115"/>
              <a:ext cx="1003935" cy="835025"/>
            </a:xfrm>
            <a:custGeom>
              <a:avLst/>
              <a:gdLst/>
              <a:ahLst/>
              <a:cxnLst/>
              <a:rect l="l" t="t" r="r" b="b"/>
              <a:pathLst>
                <a:path w="1003935" h="835025">
                  <a:moveTo>
                    <a:pt x="774686" y="348736"/>
                  </a:moveTo>
                  <a:lnTo>
                    <a:pt x="542279" y="348736"/>
                  </a:lnTo>
                  <a:lnTo>
                    <a:pt x="1003565" y="834952"/>
                  </a:lnTo>
                  <a:lnTo>
                    <a:pt x="774686" y="348736"/>
                  </a:lnTo>
                  <a:close/>
                </a:path>
                <a:path w="1003935" h="835025">
                  <a:moveTo>
                    <a:pt x="871524" y="0"/>
                  </a:moveTo>
                  <a:lnTo>
                    <a:pt x="58098" y="0"/>
                  </a:lnTo>
                  <a:lnTo>
                    <a:pt x="35484" y="4567"/>
                  </a:lnTo>
                  <a:lnTo>
                    <a:pt x="17016" y="17023"/>
                  </a:lnTo>
                  <a:lnTo>
                    <a:pt x="4565" y="35499"/>
                  </a:lnTo>
                  <a:lnTo>
                    <a:pt x="0" y="58124"/>
                  </a:lnTo>
                  <a:lnTo>
                    <a:pt x="0" y="290614"/>
                  </a:lnTo>
                  <a:lnTo>
                    <a:pt x="4565" y="313237"/>
                  </a:lnTo>
                  <a:lnTo>
                    <a:pt x="17016" y="331712"/>
                  </a:lnTo>
                  <a:lnTo>
                    <a:pt x="35484" y="344169"/>
                  </a:lnTo>
                  <a:lnTo>
                    <a:pt x="58098" y="348736"/>
                  </a:lnTo>
                  <a:lnTo>
                    <a:pt x="871524" y="348736"/>
                  </a:lnTo>
                  <a:lnTo>
                    <a:pt x="894139" y="344169"/>
                  </a:lnTo>
                  <a:lnTo>
                    <a:pt x="912606" y="331712"/>
                  </a:lnTo>
                  <a:lnTo>
                    <a:pt x="925057" y="313237"/>
                  </a:lnTo>
                  <a:lnTo>
                    <a:pt x="929623" y="290614"/>
                  </a:lnTo>
                  <a:lnTo>
                    <a:pt x="929623" y="58124"/>
                  </a:lnTo>
                  <a:lnTo>
                    <a:pt x="925057" y="35499"/>
                  </a:lnTo>
                  <a:lnTo>
                    <a:pt x="912606" y="17023"/>
                  </a:lnTo>
                  <a:lnTo>
                    <a:pt x="894139" y="4567"/>
                  </a:lnTo>
                  <a:lnTo>
                    <a:pt x="871524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178108" y="5335115"/>
              <a:ext cx="1003935" cy="835025"/>
            </a:xfrm>
            <a:custGeom>
              <a:avLst/>
              <a:gdLst/>
              <a:ahLst/>
              <a:cxnLst/>
              <a:rect l="l" t="t" r="r" b="b"/>
              <a:pathLst>
                <a:path w="1003935" h="835025">
                  <a:moveTo>
                    <a:pt x="0" y="58124"/>
                  </a:moveTo>
                  <a:lnTo>
                    <a:pt x="4565" y="35499"/>
                  </a:lnTo>
                  <a:lnTo>
                    <a:pt x="17016" y="17024"/>
                  </a:lnTo>
                  <a:lnTo>
                    <a:pt x="35483" y="4567"/>
                  </a:lnTo>
                  <a:lnTo>
                    <a:pt x="58098" y="0"/>
                  </a:lnTo>
                  <a:lnTo>
                    <a:pt x="542280" y="0"/>
                  </a:lnTo>
                  <a:lnTo>
                    <a:pt x="774686" y="0"/>
                  </a:lnTo>
                  <a:lnTo>
                    <a:pt x="871524" y="0"/>
                  </a:lnTo>
                  <a:lnTo>
                    <a:pt x="894139" y="4567"/>
                  </a:lnTo>
                  <a:lnTo>
                    <a:pt x="912606" y="17024"/>
                  </a:lnTo>
                  <a:lnTo>
                    <a:pt x="925057" y="35499"/>
                  </a:lnTo>
                  <a:lnTo>
                    <a:pt x="929623" y="58124"/>
                  </a:lnTo>
                  <a:lnTo>
                    <a:pt x="929623" y="203429"/>
                  </a:lnTo>
                  <a:lnTo>
                    <a:pt x="929623" y="290614"/>
                  </a:lnTo>
                  <a:lnTo>
                    <a:pt x="925057" y="313237"/>
                  </a:lnTo>
                  <a:lnTo>
                    <a:pt x="912606" y="331713"/>
                  </a:lnTo>
                  <a:lnTo>
                    <a:pt x="894139" y="344169"/>
                  </a:lnTo>
                  <a:lnTo>
                    <a:pt x="871524" y="348737"/>
                  </a:lnTo>
                  <a:lnTo>
                    <a:pt x="774686" y="348737"/>
                  </a:lnTo>
                  <a:lnTo>
                    <a:pt x="1003565" y="834953"/>
                  </a:lnTo>
                  <a:lnTo>
                    <a:pt x="542280" y="348737"/>
                  </a:lnTo>
                  <a:lnTo>
                    <a:pt x="58098" y="348737"/>
                  </a:lnTo>
                  <a:lnTo>
                    <a:pt x="35483" y="344169"/>
                  </a:lnTo>
                  <a:lnTo>
                    <a:pt x="17016" y="331713"/>
                  </a:lnTo>
                  <a:lnTo>
                    <a:pt x="4565" y="313237"/>
                  </a:lnTo>
                  <a:lnTo>
                    <a:pt x="0" y="290612"/>
                  </a:lnTo>
                  <a:lnTo>
                    <a:pt x="0" y="203429"/>
                  </a:lnTo>
                  <a:lnTo>
                    <a:pt x="0" y="58124"/>
                  </a:lnTo>
                  <a:close/>
                </a:path>
              </a:pathLst>
            </a:custGeom>
            <a:ln w="13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2291019" y="5387259"/>
            <a:ext cx="70421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latin typeface="Arial"/>
                <a:cs typeface="Arial"/>
              </a:rPr>
              <a:t>FPR=56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3280328" y="3635056"/>
            <a:ext cx="1083310" cy="748030"/>
            <a:chOff x="3280328" y="3635056"/>
            <a:chExt cx="1083310" cy="748030"/>
          </a:xfrm>
        </p:grpSpPr>
        <p:sp>
          <p:nvSpPr>
            <p:cNvPr id="10" name="object 10" descr=""/>
            <p:cNvSpPr/>
            <p:nvPr/>
          </p:nvSpPr>
          <p:spPr>
            <a:xfrm>
              <a:off x="3286996" y="3641723"/>
              <a:ext cx="1069975" cy="734695"/>
            </a:xfrm>
            <a:custGeom>
              <a:avLst/>
              <a:gdLst/>
              <a:ahLst/>
              <a:cxnLst/>
              <a:rect l="l" t="t" r="r" b="b"/>
              <a:pathLst>
                <a:path w="1069975" h="734695">
                  <a:moveTo>
                    <a:pt x="1011758" y="385624"/>
                  </a:moveTo>
                  <a:lnTo>
                    <a:pt x="198330" y="385624"/>
                  </a:lnTo>
                  <a:lnTo>
                    <a:pt x="175716" y="390191"/>
                  </a:lnTo>
                  <a:lnTo>
                    <a:pt x="157249" y="402647"/>
                  </a:lnTo>
                  <a:lnTo>
                    <a:pt x="144798" y="421123"/>
                  </a:lnTo>
                  <a:lnTo>
                    <a:pt x="140233" y="443748"/>
                  </a:lnTo>
                  <a:lnTo>
                    <a:pt x="140233" y="676236"/>
                  </a:lnTo>
                  <a:lnTo>
                    <a:pt x="144798" y="698861"/>
                  </a:lnTo>
                  <a:lnTo>
                    <a:pt x="157249" y="717336"/>
                  </a:lnTo>
                  <a:lnTo>
                    <a:pt x="175716" y="729793"/>
                  </a:lnTo>
                  <a:lnTo>
                    <a:pt x="198330" y="734360"/>
                  </a:lnTo>
                  <a:lnTo>
                    <a:pt x="1011758" y="734360"/>
                  </a:lnTo>
                  <a:lnTo>
                    <a:pt x="1034372" y="729793"/>
                  </a:lnTo>
                  <a:lnTo>
                    <a:pt x="1052840" y="717336"/>
                  </a:lnTo>
                  <a:lnTo>
                    <a:pt x="1065291" y="698861"/>
                  </a:lnTo>
                  <a:lnTo>
                    <a:pt x="1069856" y="676236"/>
                  </a:lnTo>
                  <a:lnTo>
                    <a:pt x="1069856" y="443748"/>
                  </a:lnTo>
                  <a:lnTo>
                    <a:pt x="1065291" y="421123"/>
                  </a:lnTo>
                  <a:lnTo>
                    <a:pt x="1052840" y="402647"/>
                  </a:lnTo>
                  <a:lnTo>
                    <a:pt x="1034372" y="390191"/>
                  </a:lnTo>
                  <a:lnTo>
                    <a:pt x="1011758" y="385624"/>
                  </a:lnTo>
                  <a:close/>
                </a:path>
                <a:path w="1069975" h="734695">
                  <a:moveTo>
                    <a:pt x="0" y="0"/>
                  </a:moveTo>
                  <a:lnTo>
                    <a:pt x="295170" y="385624"/>
                  </a:lnTo>
                  <a:lnTo>
                    <a:pt x="527575" y="3856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286996" y="3641724"/>
              <a:ext cx="1069975" cy="734695"/>
            </a:xfrm>
            <a:custGeom>
              <a:avLst/>
              <a:gdLst/>
              <a:ahLst/>
              <a:cxnLst/>
              <a:rect l="l" t="t" r="r" b="b"/>
              <a:pathLst>
                <a:path w="1069975" h="734695">
                  <a:moveTo>
                    <a:pt x="140233" y="443747"/>
                  </a:moveTo>
                  <a:lnTo>
                    <a:pt x="144799" y="421123"/>
                  </a:lnTo>
                  <a:lnTo>
                    <a:pt x="157250" y="402647"/>
                  </a:lnTo>
                  <a:lnTo>
                    <a:pt x="175717" y="390191"/>
                  </a:lnTo>
                  <a:lnTo>
                    <a:pt x="198331" y="385623"/>
                  </a:lnTo>
                  <a:lnTo>
                    <a:pt x="295170" y="385623"/>
                  </a:lnTo>
                  <a:lnTo>
                    <a:pt x="0" y="0"/>
                  </a:lnTo>
                  <a:lnTo>
                    <a:pt x="527576" y="385623"/>
                  </a:lnTo>
                  <a:lnTo>
                    <a:pt x="1011758" y="385623"/>
                  </a:lnTo>
                  <a:lnTo>
                    <a:pt x="1034372" y="390191"/>
                  </a:lnTo>
                  <a:lnTo>
                    <a:pt x="1052840" y="402647"/>
                  </a:lnTo>
                  <a:lnTo>
                    <a:pt x="1065291" y="421123"/>
                  </a:lnTo>
                  <a:lnTo>
                    <a:pt x="1069856" y="443747"/>
                  </a:lnTo>
                  <a:lnTo>
                    <a:pt x="1069856" y="530931"/>
                  </a:lnTo>
                  <a:lnTo>
                    <a:pt x="1069856" y="676236"/>
                  </a:lnTo>
                  <a:lnTo>
                    <a:pt x="1065291" y="698861"/>
                  </a:lnTo>
                  <a:lnTo>
                    <a:pt x="1052840" y="717336"/>
                  </a:lnTo>
                  <a:lnTo>
                    <a:pt x="1034372" y="729793"/>
                  </a:lnTo>
                  <a:lnTo>
                    <a:pt x="1011758" y="734360"/>
                  </a:lnTo>
                  <a:lnTo>
                    <a:pt x="527576" y="734360"/>
                  </a:lnTo>
                  <a:lnTo>
                    <a:pt x="295170" y="734360"/>
                  </a:lnTo>
                  <a:lnTo>
                    <a:pt x="198331" y="734360"/>
                  </a:lnTo>
                  <a:lnTo>
                    <a:pt x="175717" y="729793"/>
                  </a:lnTo>
                  <a:lnTo>
                    <a:pt x="157250" y="717336"/>
                  </a:lnTo>
                  <a:lnTo>
                    <a:pt x="144799" y="698861"/>
                  </a:lnTo>
                  <a:lnTo>
                    <a:pt x="140233" y="676236"/>
                  </a:lnTo>
                  <a:lnTo>
                    <a:pt x="140233" y="530931"/>
                  </a:lnTo>
                  <a:lnTo>
                    <a:pt x="140233" y="443746"/>
                  </a:lnTo>
                  <a:close/>
                </a:path>
              </a:pathLst>
            </a:custGeom>
            <a:ln w="13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3526159" y="4079668"/>
            <a:ext cx="70421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latin typeface="Arial"/>
                <a:cs typeface="Arial"/>
              </a:rPr>
              <a:t>TPR=98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3204253" y="3018500"/>
            <a:ext cx="40005" cy="3388360"/>
            <a:chOff x="3204253" y="3018500"/>
            <a:chExt cx="40005" cy="3388360"/>
          </a:xfrm>
        </p:grpSpPr>
        <p:sp>
          <p:nvSpPr>
            <p:cNvPr id="14" name="object 14" descr=""/>
            <p:cNvSpPr/>
            <p:nvPr/>
          </p:nvSpPr>
          <p:spPr>
            <a:xfrm>
              <a:off x="3223964" y="3018500"/>
              <a:ext cx="0" cy="3388360"/>
            </a:xfrm>
            <a:custGeom>
              <a:avLst/>
              <a:gdLst/>
              <a:ahLst/>
              <a:cxnLst/>
              <a:rect l="l" t="t" r="r" b="b"/>
              <a:pathLst>
                <a:path w="0" h="3388360">
                  <a:moveTo>
                    <a:pt x="0" y="0"/>
                  </a:moveTo>
                  <a:lnTo>
                    <a:pt x="0" y="3387735"/>
                  </a:lnTo>
                </a:path>
              </a:pathLst>
            </a:custGeom>
            <a:solidFill>
              <a:srgbClr val="BBE0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223964" y="3018500"/>
              <a:ext cx="0" cy="3388360"/>
            </a:xfrm>
            <a:custGeom>
              <a:avLst/>
              <a:gdLst/>
              <a:ahLst/>
              <a:cxnLst/>
              <a:rect l="l" t="t" r="r" b="b"/>
              <a:pathLst>
                <a:path w="0" h="3388360">
                  <a:moveTo>
                    <a:pt x="0" y="0"/>
                  </a:moveTo>
                  <a:lnTo>
                    <a:pt x="1" y="3387735"/>
                  </a:lnTo>
                </a:path>
              </a:pathLst>
            </a:custGeom>
            <a:ln w="39422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5472447" y="3088520"/>
            <a:ext cx="3747770" cy="15030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2510"/>
              </a:lnSpc>
              <a:spcBef>
                <a:spcPts val="100"/>
              </a:spcBef>
            </a:pPr>
            <a:r>
              <a:rPr dirty="0" sz="2100" spc="-10">
                <a:latin typeface="Arial MT"/>
                <a:cs typeface="Arial MT"/>
              </a:rPr>
              <a:t>Given</a:t>
            </a:r>
            <a:r>
              <a:rPr dirty="0" sz="2100" spc="-13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TPR=0.98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and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FPR=0.56</a:t>
            </a:r>
            <a:endParaRPr sz="2100">
              <a:latin typeface="Arial MT"/>
              <a:cs typeface="Arial MT"/>
            </a:endParaRPr>
          </a:p>
          <a:p>
            <a:pPr algn="ctr">
              <a:lnSpc>
                <a:spcPts val="2510"/>
              </a:lnSpc>
            </a:pPr>
            <a:r>
              <a:rPr dirty="0" sz="2100" spc="-10">
                <a:latin typeface="Arial MT"/>
                <a:cs typeface="Arial MT"/>
              </a:rPr>
              <a:t>Calculate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precision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and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recall</a:t>
            </a:r>
            <a:endParaRPr sz="2100">
              <a:latin typeface="Arial MT"/>
              <a:cs typeface="Arial MT"/>
            </a:endParaRPr>
          </a:p>
          <a:p>
            <a:pPr algn="ctr" marL="399415" marR="391795" indent="-635">
              <a:lnSpc>
                <a:spcPts val="1989"/>
              </a:lnSpc>
              <a:spcBef>
                <a:spcPts val="700"/>
              </a:spcBef>
            </a:pPr>
            <a:r>
              <a:rPr dirty="0" sz="1700" spc="-10">
                <a:latin typeface="Arial MT"/>
                <a:cs typeface="Arial MT"/>
              </a:rPr>
              <a:t>TPR</a:t>
            </a:r>
            <a:r>
              <a:rPr dirty="0" sz="1700" spc="-8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=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“recall”</a:t>
            </a:r>
            <a:r>
              <a:rPr dirty="0" sz="1700" spc="-5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=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“sensitivity” TNR</a:t>
            </a:r>
            <a:r>
              <a:rPr dirty="0" sz="1700" spc="-6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=</a:t>
            </a:r>
            <a:r>
              <a:rPr dirty="0" sz="1700" spc="-40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“precision”</a:t>
            </a:r>
            <a:r>
              <a:rPr dirty="0" sz="1700" spc="-3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=</a:t>
            </a:r>
            <a:r>
              <a:rPr dirty="0" sz="1700" spc="-40">
                <a:latin typeface="Arial MT"/>
                <a:cs typeface="Arial MT"/>
              </a:rPr>
              <a:t> </a:t>
            </a:r>
            <a:r>
              <a:rPr dirty="0" sz="1700" spc="-20">
                <a:latin typeface="Arial MT"/>
                <a:cs typeface="Arial MT"/>
              </a:rPr>
              <a:t>“specificity” </a:t>
            </a:r>
            <a:r>
              <a:rPr dirty="0" sz="1700" spc="-10">
                <a:latin typeface="Arial MT"/>
                <a:cs typeface="Arial MT"/>
              </a:rPr>
              <a:t>FPR</a:t>
            </a:r>
            <a:r>
              <a:rPr dirty="0" sz="1700" spc="-8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=</a:t>
            </a:r>
            <a:r>
              <a:rPr dirty="0" sz="1700" spc="-7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one</a:t>
            </a:r>
            <a:r>
              <a:rPr dirty="0" sz="1700" spc="-70">
                <a:latin typeface="Arial MT"/>
                <a:cs typeface="Arial MT"/>
              </a:rPr>
              <a:t> </a:t>
            </a:r>
            <a:r>
              <a:rPr dirty="0" sz="1700" spc="-20">
                <a:latin typeface="Arial MT"/>
                <a:cs typeface="Arial MT"/>
              </a:rPr>
              <a:t>minus</a:t>
            </a:r>
            <a:r>
              <a:rPr dirty="0" sz="1700" spc="-7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the</a:t>
            </a:r>
            <a:r>
              <a:rPr dirty="0" sz="1700" spc="-100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TNR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5289529" y="5180465"/>
            <a:ext cx="4110354" cy="1370330"/>
          </a:xfrm>
          <a:prstGeom prst="rect">
            <a:avLst/>
          </a:prstGeom>
          <a:ln w="26292">
            <a:solidFill>
              <a:srgbClr val="C00000"/>
            </a:solidFill>
          </a:ln>
        </p:spPr>
        <p:txBody>
          <a:bodyPr wrap="square" lIns="0" tIns="48894" rIns="0" bIns="0" rtlCol="0" vert="horz">
            <a:spAutoFit/>
          </a:bodyPr>
          <a:lstStyle/>
          <a:p>
            <a:pPr algn="ctr" marL="179705" marR="171450">
              <a:lnSpc>
                <a:spcPts val="2500"/>
              </a:lnSpc>
              <a:spcBef>
                <a:spcPts val="384"/>
              </a:spcBef>
            </a:pP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area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under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curve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(AUC) </a:t>
            </a: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commonly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used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to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summarize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ROC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curve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information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as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50">
                <a:latin typeface="Arial MT"/>
                <a:cs typeface="Arial MT"/>
              </a:rPr>
              <a:t>a </a:t>
            </a:r>
            <a:r>
              <a:rPr dirty="0" sz="2100">
                <a:latin typeface="Arial MT"/>
                <a:cs typeface="Arial MT"/>
              </a:rPr>
              <a:t>single</a:t>
            </a:r>
            <a:r>
              <a:rPr dirty="0" sz="2100" spc="-114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number</a:t>
            </a:r>
            <a:endParaRPr sz="2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16647" rIns="0" bIns="0" rtlCol="0" vert="horz">
            <a:spAutoFit/>
          </a:bodyPr>
          <a:lstStyle/>
          <a:p>
            <a:pPr marL="525145">
              <a:lnSpc>
                <a:spcPct val="100000"/>
              </a:lnSpc>
              <a:spcBef>
                <a:spcPts val="100"/>
              </a:spcBef>
            </a:pPr>
            <a:r>
              <a:rPr dirty="0" b="0">
                <a:latin typeface="Arial MT"/>
                <a:cs typeface="Arial MT"/>
              </a:rPr>
              <a:t>F</a:t>
            </a:r>
            <a:r>
              <a:rPr dirty="0" baseline="-17543" sz="2850" b="0">
                <a:latin typeface="Arial MT"/>
                <a:cs typeface="Arial MT"/>
              </a:rPr>
              <a:t>1</a:t>
            </a:r>
            <a:r>
              <a:rPr dirty="0" baseline="-17543" sz="2850" spc="277" b="0">
                <a:latin typeface="Arial MT"/>
                <a:cs typeface="Arial MT"/>
              </a:rPr>
              <a:t> </a:t>
            </a:r>
            <a:r>
              <a:rPr dirty="0" sz="2800" b="0">
                <a:latin typeface="Arial MT"/>
                <a:cs typeface="Arial MT"/>
              </a:rPr>
              <a:t>Score</a:t>
            </a:r>
            <a:r>
              <a:rPr dirty="0" sz="2800" spc="-50" b="0">
                <a:latin typeface="Arial MT"/>
                <a:cs typeface="Arial MT"/>
              </a:rPr>
              <a:t> </a:t>
            </a:r>
            <a:r>
              <a:rPr dirty="0" sz="2800" b="0">
                <a:latin typeface="Arial MT"/>
                <a:cs typeface="Arial MT"/>
              </a:rPr>
              <a:t>(or</a:t>
            </a:r>
            <a:r>
              <a:rPr dirty="0" sz="2800" spc="-50" b="0">
                <a:latin typeface="Arial MT"/>
                <a:cs typeface="Arial MT"/>
              </a:rPr>
              <a:t> </a:t>
            </a:r>
            <a:r>
              <a:rPr dirty="0" sz="2800" b="0">
                <a:latin typeface="Arial MT"/>
                <a:cs typeface="Arial MT"/>
              </a:rPr>
              <a:t>F</a:t>
            </a:r>
            <a:r>
              <a:rPr dirty="0" sz="2800" spc="-45" b="0">
                <a:latin typeface="Arial MT"/>
                <a:cs typeface="Arial MT"/>
              </a:rPr>
              <a:t> </a:t>
            </a:r>
            <a:r>
              <a:rPr dirty="0" sz="2800" b="0">
                <a:latin typeface="Arial MT"/>
                <a:cs typeface="Arial MT"/>
              </a:rPr>
              <a:t>Score</a:t>
            </a:r>
            <a:r>
              <a:rPr dirty="0" sz="2800" spc="-50" b="0">
                <a:latin typeface="Arial MT"/>
                <a:cs typeface="Arial MT"/>
              </a:rPr>
              <a:t> </a:t>
            </a:r>
            <a:r>
              <a:rPr dirty="0" sz="2800" b="0">
                <a:latin typeface="Arial MT"/>
                <a:cs typeface="Arial MT"/>
              </a:rPr>
              <a:t>or</a:t>
            </a:r>
            <a:r>
              <a:rPr dirty="0" sz="2800" spc="-45" b="0">
                <a:latin typeface="Arial MT"/>
                <a:cs typeface="Arial MT"/>
              </a:rPr>
              <a:t> </a:t>
            </a:r>
            <a:r>
              <a:rPr dirty="0" sz="2800" b="0">
                <a:latin typeface="Arial MT"/>
                <a:cs typeface="Arial MT"/>
              </a:rPr>
              <a:t>F</a:t>
            </a:r>
            <a:r>
              <a:rPr dirty="0" sz="2800" spc="-45" b="0">
                <a:latin typeface="Arial MT"/>
                <a:cs typeface="Arial MT"/>
              </a:rPr>
              <a:t> </a:t>
            </a:r>
            <a:r>
              <a:rPr dirty="0" sz="2800" spc="-10" b="0">
                <a:latin typeface="Arial MT"/>
                <a:cs typeface="Arial MT"/>
              </a:rPr>
              <a:t>Measure)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536167" y="2728342"/>
            <a:ext cx="7518400" cy="283591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algn="just" marL="277495" marR="142875" indent="-265430">
              <a:lnSpc>
                <a:spcPct val="101800"/>
              </a:lnSpc>
              <a:spcBef>
                <a:spcPts val="50"/>
              </a:spcBef>
              <a:buChar char="•"/>
              <a:tabLst>
                <a:tab pos="278765" algn="l"/>
              </a:tabLst>
            </a:pP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F1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Score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conveys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balance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between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precision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and </a:t>
            </a:r>
            <a:r>
              <a:rPr dirty="0" sz="2200" spc="-25">
                <a:latin typeface="Arial MT"/>
                <a:cs typeface="Arial MT"/>
              </a:rPr>
              <a:t>	</a:t>
            </a:r>
            <a:r>
              <a:rPr dirty="0" sz="2200" spc="-10">
                <a:latin typeface="Arial MT"/>
                <a:cs typeface="Arial MT"/>
              </a:rPr>
              <a:t>recall.</a:t>
            </a:r>
            <a:endParaRPr sz="2200">
              <a:latin typeface="Arial MT"/>
              <a:cs typeface="Arial MT"/>
            </a:endParaRPr>
          </a:p>
          <a:p>
            <a:pPr algn="just" marL="277495" marR="232410" indent="-265430">
              <a:lnSpc>
                <a:spcPct val="98600"/>
              </a:lnSpc>
              <a:spcBef>
                <a:spcPts val="1885"/>
              </a:spcBef>
              <a:buChar char="•"/>
              <a:tabLst>
                <a:tab pos="278765" algn="l"/>
              </a:tabLst>
            </a:pPr>
            <a:r>
              <a:rPr dirty="0" sz="2200" spc="-10">
                <a:latin typeface="Arial MT"/>
                <a:cs typeface="Arial MT"/>
              </a:rPr>
              <a:t>Alone,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neither</a:t>
            </a:r>
            <a:r>
              <a:rPr dirty="0" sz="2200" spc="-11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precision</a:t>
            </a:r>
            <a:r>
              <a:rPr dirty="0" sz="2200" spc="-114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or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recall</a:t>
            </a:r>
            <a:r>
              <a:rPr dirty="0" sz="2200" spc="-11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tells</a:t>
            </a:r>
            <a:r>
              <a:rPr dirty="0" sz="2200" spc="-11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114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whole</a:t>
            </a:r>
            <a:r>
              <a:rPr dirty="0" sz="2200" spc="-114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story.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We </a:t>
            </a:r>
            <a:r>
              <a:rPr dirty="0" sz="2200" spc="-25">
                <a:latin typeface="Arial MT"/>
                <a:cs typeface="Arial MT"/>
              </a:rPr>
              <a:t>	</a:t>
            </a:r>
            <a:r>
              <a:rPr dirty="0" sz="2200">
                <a:latin typeface="Arial MT"/>
                <a:cs typeface="Arial MT"/>
              </a:rPr>
              <a:t>can</a:t>
            </a:r>
            <a:r>
              <a:rPr dirty="0" sz="2200" spc="-12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have</a:t>
            </a:r>
            <a:r>
              <a:rPr dirty="0" sz="2200" spc="-114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excellent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precision</a:t>
            </a:r>
            <a:r>
              <a:rPr dirty="0" sz="2200" spc="-114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with</a:t>
            </a:r>
            <a:r>
              <a:rPr dirty="0" sz="2200" spc="-114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terrible</a:t>
            </a:r>
            <a:r>
              <a:rPr dirty="0" sz="2200" spc="-12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recall,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or</a:t>
            </a:r>
            <a:r>
              <a:rPr dirty="0" sz="2200" spc="-11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terrible </a:t>
            </a:r>
            <a:r>
              <a:rPr dirty="0" sz="2200" spc="-10">
                <a:latin typeface="Arial MT"/>
                <a:cs typeface="Arial MT"/>
              </a:rPr>
              <a:t>	</a:t>
            </a:r>
            <a:r>
              <a:rPr dirty="0" sz="2200" spc="-20">
                <a:latin typeface="Arial MT"/>
                <a:cs typeface="Arial MT"/>
              </a:rPr>
              <a:t>precision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with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excellent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recall.</a:t>
            </a:r>
            <a:endParaRPr sz="2200">
              <a:latin typeface="Arial MT"/>
              <a:cs typeface="Arial MT"/>
            </a:endParaRPr>
          </a:p>
          <a:p>
            <a:pPr algn="just" marL="277495" marR="5080" indent="-265430">
              <a:lnSpc>
                <a:spcPts val="2590"/>
              </a:lnSpc>
              <a:spcBef>
                <a:spcPts val="2000"/>
              </a:spcBef>
              <a:buChar char="•"/>
              <a:tabLst>
                <a:tab pos="278765" algn="l"/>
              </a:tabLst>
            </a:pP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75">
                <a:latin typeface="Arial MT"/>
                <a:cs typeface="Arial MT"/>
              </a:rPr>
              <a:t> </a:t>
            </a:r>
            <a:r>
              <a:rPr dirty="0" sz="2200" spc="-30">
                <a:latin typeface="Arial MT"/>
                <a:cs typeface="Arial MT"/>
              </a:rPr>
              <a:t>F-</a:t>
            </a:r>
            <a:r>
              <a:rPr dirty="0" sz="2200" spc="-20">
                <a:latin typeface="Arial MT"/>
                <a:cs typeface="Arial MT"/>
              </a:rPr>
              <a:t>Measure</a:t>
            </a:r>
            <a:r>
              <a:rPr dirty="0" sz="2200" spc="-7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is</a:t>
            </a:r>
            <a:r>
              <a:rPr dirty="0" sz="2200" spc="-7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7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accepted</a:t>
            </a:r>
            <a:r>
              <a:rPr dirty="0" sz="2200" spc="-7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way</a:t>
            </a:r>
            <a:r>
              <a:rPr dirty="0" sz="2200" spc="-7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to</a:t>
            </a:r>
            <a:r>
              <a:rPr dirty="0" sz="2200" spc="-7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combine</a:t>
            </a:r>
            <a:r>
              <a:rPr dirty="0" sz="2200" spc="-7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precision </a:t>
            </a:r>
            <a:r>
              <a:rPr dirty="0" sz="2200" spc="-10">
                <a:latin typeface="Arial MT"/>
                <a:cs typeface="Arial MT"/>
              </a:rPr>
              <a:t>	</a:t>
            </a:r>
            <a:r>
              <a:rPr dirty="0" sz="2200">
                <a:latin typeface="Arial MT"/>
                <a:cs typeface="Arial MT"/>
              </a:rPr>
              <a:t>and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recall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into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single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metric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that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captures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both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properties.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078621" y="1887280"/>
            <a:ext cx="6031865" cy="382905"/>
          </a:xfrm>
          <a:prstGeom prst="rect">
            <a:avLst/>
          </a:prstGeom>
          <a:solidFill>
            <a:srgbClr val="FFFF99"/>
          </a:solidFill>
          <a:ln w="32867">
            <a:solidFill>
              <a:srgbClr val="C00000"/>
            </a:solidFill>
          </a:ln>
        </p:spPr>
        <p:txBody>
          <a:bodyPr wrap="square" lIns="0" tIns="35560" rIns="0" bIns="0" rtlCol="0" vert="horz">
            <a:spAutoFit/>
          </a:bodyPr>
          <a:lstStyle/>
          <a:p>
            <a:pPr marL="561340">
              <a:lnSpc>
                <a:spcPct val="100000"/>
              </a:lnSpc>
              <a:spcBef>
                <a:spcPts val="280"/>
              </a:spcBef>
            </a:pPr>
            <a:r>
              <a:rPr dirty="0" sz="1900">
                <a:latin typeface="Arial MT"/>
                <a:cs typeface="Arial MT"/>
              </a:rPr>
              <a:t>(</a:t>
            </a:r>
            <a:r>
              <a:rPr dirty="0" sz="1900" spc="-40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(Precision</a:t>
            </a:r>
            <a:r>
              <a:rPr dirty="0" sz="1900" spc="-4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*</a:t>
            </a:r>
            <a:r>
              <a:rPr dirty="0" sz="1900" spc="-4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Recall)</a:t>
            </a:r>
            <a:r>
              <a:rPr dirty="0" sz="1900" spc="-3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/</a:t>
            </a:r>
            <a:r>
              <a:rPr dirty="0" sz="1900" spc="-3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(Precision</a:t>
            </a:r>
            <a:r>
              <a:rPr dirty="0" sz="1900" spc="-4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+</a:t>
            </a:r>
            <a:r>
              <a:rPr dirty="0" sz="1900" spc="-4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Recall)</a:t>
            </a:r>
            <a:r>
              <a:rPr dirty="0" sz="1900" spc="-3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)</a:t>
            </a:r>
            <a:r>
              <a:rPr dirty="0" sz="1900" spc="-4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*</a:t>
            </a:r>
            <a:r>
              <a:rPr dirty="0" sz="1900" spc="-40">
                <a:latin typeface="Arial MT"/>
                <a:cs typeface="Arial MT"/>
              </a:rPr>
              <a:t> </a:t>
            </a:r>
            <a:r>
              <a:rPr dirty="0" sz="1900" spc="-50">
                <a:latin typeface="Arial MT"/>
                <a:cs typeface="Arial MT"/>
              </a:rPr>
              <a:t>2</a:t>
            </a:r>
            <a:endParaRPr sz="1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01054" y="862931"/>
            <a:ext cx="2510155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="0">
                <a:latin typeface="Arial MT"/>
                <a:cs typeface="Arial MT"/>
              </a:rPr>
              <a:t>Accuracy</a:t>
            </a:r>
            <a:r>
              <a:rPr dirty="0" spc="-100" b="0">
                <a:latin typeface="Arial MT"/>
                <a:cs typeface="Arial MT"/>
              </a:rPr>
              <a:t> </a:t>
            </a:r>
            <a:r>
              <a:rPr dirty="0" spc="-20" b="0">
                <a:latin typeface="Arial MT"/>
                <a:cs typeface="Arial MT"/>
              </a:rPr>
              <a:t>Score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595688" y="2222374"/>
            <a:ext cx="5175250" cy="103505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278765" marR="5080" indent="-266700">
              <a:lnSpc>
                <a:spcPct val="100499"/>
              </a:lnSpc>
              <a:spcBef>
                <a:spcPts val="85"/>
              </a:spcBef>
              <a:buChar char="•"/>
              <a:tabLst>
                <a:tab pos="278765" algn="l"/>
              </a:tabLst>
            </a:pPr>
            <a:r>
              <a:rPr dirty="0" sz="2200" spc="-20">
                <a:latin typeface="Arial MT"/>
                <a:cs typeface="Arial MT"/>
              </a:rPr>
              <a:t>Classification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Accuracy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is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number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of </a:t>
            </a:r>
            <a:r>
              <a:rPr dirty="0" sz="2200" spc="-10">
                <a:latin typeface="Arial MT"/>
                <a:cs typeface="Arial MT"/>
              </a:rPr>
              <a:t>correct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predictions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made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divided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by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the </a:t>
            </a:r>
            <a:r>
              <a:rPr dirty="0" sz="2200">
                <a:latin typeface="Arial MT"/>
                <a:cs typeface="Arial MT"/>
              </a:rPr>
              <a:t>total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number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of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predictions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made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813132" y="1504953"/>
            <a:ext cx="3896995" cy="382905"/>
          </a:xfrm>
          <a:prstGeom prst="rect">
            <a:avLst/>
          </a:prstGeom>
          <a:solidFill>
            <a:srgbClr val="FFFF99"/>
          </a:solidFill>
          <a:ln w="32866">
            <a:solidFill>
              <a:srgbClr val="C00000"/>
            </a:solidFill>
          </a:ln>
        </p:spPr>
        <p:txBody>
          <a:bodyPr wrap="square" lIns="0" tIns="33655" rIns="0" bIns="0" rtlCol="0" vert="horz">
            <a:spAutoFit/>
          </a:bodyPr>
          <a:lstStyle/>
          <a:p>
            <a:pPr marL="237490">
              <a:lnSpc>
                <a:spcPct val="100000"/>
              </a:lnSpc>
              <a:spcBef>
                <a:spcPts val="265"/>
              </a:spcBef>
            </a:pPr>
            <a:r>
              <a:rPr dirty="0" sz="1900">
                <a:latin typeface="Arial MT"/>
                <a:cs typeface="Arial MT"/>
              </a:rPr>
              <a:t>(TP</a:t>
            </a:r>
            <a:r>
              <a:rPr dirty="0" sz="1900" spc="-10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+</a:t>
            </a:r>
            <a:r>
              <a:rPr dirty="0" sz="1900" spc="-10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TN)</a:t>
            </a:r>
            <a:r>
              <a:rPr dirty="0" sz="1900" spc="-6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/</a:t>
            </a:r>
            <a:r>
              <a:rPr dirty="0" sz="1900" spc="-5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(TP</a:t>
            </a:r>
            <a:r>
              <a:rPr dirty="0" sz="1900" spc="-10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+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FP</a:t>
            </a:r>
            <a:r>
              <a:rPr dirty="0" sz="1900" spc="-10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+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FN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+</a:t>
            </a:r>
            <a:r>
              <a:rPr dirty="0" sz="1900" spc="-100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TN)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214990" y="3567125"/>
            <a:ext cx="5894705" cy="3248660"/>
          </a:xfrm>
          <a:prstGeom prst="rect">
            <a:avLst/>
          </a:prstGeom>
          <a:ln w="26290">
            <a:solidFill>
              <a:srgbClr val="000000"/>
            </a:solidFill>
          </a:ln>
        </p:spPr>
        <p:txBody>
          <a:bodyPr wrap="square" lIns="0" tIns="31750" rIns="0" bIns="0" rtlCol="0" vert="horz">
            <a:spAutoFit/>
          </a:bodyPr>
          <a:lstStyle/>
          <a:p>
            <a:pPr algn="just" marL="359410" marR="777875" indent="-265430">
              <a:lnSpc>
                <a:spcPct val="100499"/>
              </a:lnSpc>
              <a:spcBef>
                <a:spcPts val="250"/>
              </a:spcBef>
              <a:buChar char="•"/>
              <a:tabLst>
                <a:tab pos="360680" algn="l"/>
              </a:tabLst>
            </a:pPr>
            <a:r>
              <a:rPr dirty="0" sz="2200" spc="-10">
                <a:latin typeface="Arial MT"/>
                <a:cs typeface="Arial MT"/>
              </a:rPr>
              <a:t>Accuracy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score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can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be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misleading</a:t>
            </a:r>
            <a:r>
              <a:rPr dirty="0" sz="2200" spc="-7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-</a:t>
            </a:r>
            <a:r>
              <a:rPr dirty="0" sz="2200" spc="465">
                <a:latin typeface="Arial MT"/>
                <a:cs typeface="Arial MT"/>
              </a:rPr>
              <a:t> </a:t>
            </a:r>
            <a:r>
              <a:rPr dirty="0" sz="2200" spc="-50">
                <a:latin typeface="Arial MT"/>
                <a:cs typeface="Arial MT"/>
              </a:rPr>
              <a:t>a </a:t>
            </a:r>
            <a:r>
              <a:rPr dirty="0" sz="2200" spc="-50">
                <a:latin typeface="Arial MT"/>
                <a:cs typeface="Arial MT"/>
              </a:rPr>
              <a:t>	</a:t>
            </a:r>
            <a:r>
              <a:rPr dirty="0" sz="2200">
                <a:latin typeface="Arial MT"/>
                <a:cs typeface="Arial MT"/>
              </a:rPr>
              <a:t>simple</a:t>
            </a:r>
            <a:r>
              <a:rPr dirty="0" sz="2200" spc="-12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model</a:t>
            </a:r>
            <a:r>
              <a:rPr dirty="0" sz="2200" spc="-11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may</a:t>
            </a:r>
            <a:r>
              <a:rPr dirty="0" sz="2200" spc="-114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have</a:t>
            </a:r>
            <a:r>
              <a:rPr dirty="0" sz="2200" spc="-12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</a:t>
            </a:r>
            <a:r>
              <a:rPr dirty="0" sz="2200" spc="-114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high</a:t>
            </a:r>
            <a:r>
              <a:rPr dirty="0" sz="2200" spc="-12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level</a:t>
            </a:r>
            <a:r>
              <a:rPr dirty="0" sz="2200" spc="-110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of </a:t>
            </a:r>
            <a:r>
              <a:rPr dirty="0" sz="2200" spc="-25">
                <a:latin typeface="Arial MT"/>
                <a:cs typeface="Arial MT"/>
              </a:rPr>
              <a:t>	</a:t>
            </a:r>
            <a:r>
              <a:rPr dirty="0" sz="2200" spc="-20">
                <a:latin typeface="Arial MT"/>
                <a:cs typeface="Arial MT"/>
              </a:rPr>
              <a:t>accuracy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but</a:t>
            </a:r>
            <a:r>
              <a:rPr dirty="0" sz="2200" spc="-6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be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too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crude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to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be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useful.</a:t>
            </a:r>
            <a:endParaRPr sz="2200">
              <a:latin typeface="Arial MT"/>
              <a:cs typeface="Arial MT"/>
            </a:endParaRPr>
          </a:p>
          <a:p>
            <a:pPr lvl="1" marL="669925" marR="88265" indent="-220979">
              <a:lnSpc>
                <a:spcPct val="98900"/>
              </a:lnSpc>
              <a:spcBef>
                <a:spcPts val="590"/>
              </a:spcBef>
              <a:buChar char="–"/>
              <a:tabLst>
                <a:tab pos="671195" algn="l"/>
              </a:tabLst>
            </a:pPr>
            <a:r>
              <a:rPr dirty="0" sz="1900">
                <a:latin typeface="Arial MT"/>
                <a:cs typeface="Arial MT"/>
              </a:rPr>
              <a:t>For</a:t>
            </a:r>
            <a:r>
              <a:rPr dirty="0" sz="1900" spc="-9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example,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if</a:t>
            </a:r>
            <a:r>
              <a:rPr dirty="0" sz="1900" spc="-6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96%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of</a:t>
            </a:r>
            <a:r>
              <a:rPr dirty="0" sz="1900" spc="-6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the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sample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is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35">
                <a:latin typeface="Arial MT"/>
                <a:cs typeface="Arial MT"/>
              </a:rPr>
              <a:t>Category</a:t>
            </a:r>
            <a:r>
              <a:rPr dirty="0" sz="1900" spc="-13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A, </a:t>
            </a:r>
            <a:r>
              <a:rPr dirty="0" sz="1900" spc="-25">
                <a:latin typeface="Arial MT"/>
                <a:cs typeface="Arial MT"/>
              </a:rPr>
              <a:t>	</a:t>
            </a:r>
            <a:r>
              <a:rPr dirty="0" sz="1900" spc="-10">
                <a:latin typeface="Arial MT"/>
                <a:cs typeface="Arial MT"/>
              </a:rPr>
              <a:t>then</a:t>
            </a:r>
            <a:r>
              <a:rPr dirty="0" sz="1900" spc="-12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predicting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that</a:t>
            </a:r>
            <a:r>
              <a:rPr dirty="0" sz="1900" spc="-6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every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case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is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 spc="-35">
                <a:latin typeface="Arial MT"/>
                <a:cs typeface="Arial MT"/>
              </a:rPr>
              <a:t>category</a:t>
            </a:r>
            <a:r>
              <a:rPr dirty="0" sz="1900" spc="-13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A</a:t>
            </a:r>
            <a:r>
              <a:rPr dirty="0" sz="1900" spc="-14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will </a:t>
            </a:r>
            <a:r>
              <a:rPr dirty="0" sz="1900" spc="-20">
                <a:latin typeface="Arial MT"/>
                <a:cs typeface="Arial MT"/>
              </a:rPr>
              <a:t>	</a:t>
            </a:r>
            <a:r>
              <a:rPr dirty="0" sz="1900" spc="-10">
                <a:latin typeface="Arial MT"/>
                <a:cs typeface="Arial MT"/>
              </a:rPr>
              <a:t>have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an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accuracy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of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96%.</a:t>
            </a:r>
            <a:endParaRPr sz="1900">
              <a:latin typeface="Arial MT"/>
              <a:cs typeface="Arial MT"/>
            </a:endParaRPr>
          </a:p>
          <a:p>
            <a:pPr lvl="1" marL="669925" indent="-220979">
              <a:lnSpc>
                <a:spcPct val="100000"/>
              </a:lnSpc>
              <a:spcBef>
                <a:spcPts val="625"/>
              </a:spcBef>
              <a:buChar char="–"/>
              <a:tabLst>
                <a:tab pos="669925" algn="l"/>
              </a:tabLst>
            </a:pPr>
            <a:r>
              <a:rPr dirty="0" sz="1900" spc="-30">
                <a:latin typeface="Arial MT"/>
                <a:cs typeface="Arial MT"/>
              </a:rPr>
              <a:t>Scikit-</a:t>
            </a:r>
            <a:r>
              <a:rPr dirty="0" sz="1900" spc="-10">
                <a:latin typeface="Arial MT"/>
                <a:cs typeface="Arial MT"/>
              </a:rPr>
              <a:t>learn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dummy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classifier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does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this</a:t>
            </a:r>
            <a:endParaRPr sz="1900">
              <a:latin typeface="Arial MT"/>
              <a:cs typeface="Arial MT"/>
            </a:endParaRPr>
          </a:p>
          <a:p>
            <a:pPr marL="360680" marR="368935" indent="-266700">
              <a:lnSpc>
                <a:spcPts val="2590"/>
              </a:lnSpc>
              <a:spcBef>
                <a:spcPts val="740"/>
              </a:spcBef>
              <a:buChar char="•"/>
              <a:tabLst>
                <a:tab pos="360680" algn="l"/>
              </a:tabLst>
            </a:pP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underlying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issue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is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imbalance between</a:t>
            </a:r>
            <a:r>
              <a:rPr dirty="0" sz="2200" spc="-12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12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positive</a:t>
            </a:r>
            <a:r>
              <a:rPr dirty="0" sz="2200" spc="-114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and</a:t>
            </a:r>
            <a:r>
              <a:rPr dirty="0" sz="2200" spc="-12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negative</a:t>
            </a:r>
            <a:r>
              <a:rPr dirty="0" sz="2200" spc="-114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classes</a:t>
            </a:r>
            <a:endParaRPr sz="2200">
              <a:latin typeface="Arial MT"/>
              <a:cs typeface="Arial MT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43462" y="1611919"/>
            <a:ext cx="1915725" cy="117335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59285" y="4618762"/>
            <a:ext cx="1915725" cy="1308757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8103843" y="5107221"/>
            <a:ext cx="396875" cy="31877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48895" rIns="0" bIns="0" rtlCol="0" vert="horz">
            <a:spAutoFit/>
          </a:bodyPr>
          <a:lstStyle/>
          <a:p>
            <a:pPr marL="94615">
              <a:lnSpc>
                <a:spcPct val="100000"/>
              </a:lnSpc>
              <a:spcBef>
                <a:spcPts val="385"/>
              </a:spcBef>
            </a:pPr>
            <a:r>
              <a:rPr dirty="0" sz="1400" spc="-25">
                <a:latin typeface="Arial MT"/>
                <a:cs typeface="Arial MT"/>
              </a:rPr>
              <a:t>96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8781188" y="5107721"/>
            <a:ext cx="294005" cy="31877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48260" rIns="0" bIns="0" rtlCol="0" vert="horz">
            <a:spAutoFit/>
          </a:bodyPr>
          <a:lstStyle/>
          <a:p>
            <a:pPr marL="94615">
              <a:lnSpc>
                <a:spcPct val="100000"/>
              </a:lnSpc>
              <a:spcBef>
                <a:spcPts val="380"/>
              </a:spcBef>
            </a:pPr>
            <a:r>
              <a:rPr dirty="0" sz="1400" spc="-50">
                <a:latin typeface="Arial MT"/>
                <a:cs typeface="Arial MT"/>
              </a:rPr>
              <a:t>4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8159360" y="5515486"/>
            <a:ext cx="294005" cy="31877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48895" rIns="0" bIns="0" rtlCol="0" vert="horz">
            <a:spAutoFit/>
          </a:bodyPr>
          <a:lstStyle/>
          <a:p>
            <a:pPr marL="94615">
              <a:lnSpc>
                <a:spcPct val="100000"/>
              </a:lnSpc>
              <a:spcBef>
                <a:spcPts val="385"/>
              </a:spcBef>
            </a:pPr>
            <a:r>
              <a:rPr dirty="0" sz="1400" spc="-50">
                <a:latin typeface="Arial MT"/>
                <a:cs typeface="Arial MT"/>
              </a:rPr>
              <a:t>0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8781188" y="5515486"/>
            <a:ext cx="294005" cy="31877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48895" rIns="0" bIns="0" rtlCol="0" vert="horz">
            <a:spAutoFit/>
          </a:bodyPr>
          <a:lstStyle/>
          <a:p>
            <a:pPr marL="94615">
              <a:lnSpc>
                <a:spcPct val="100000"/>
              </a:lnSpc>
              <a:spcBef>
                <a:spcPts val="385"/>
              </a:spcBef>
            </a:pPr>
            <a:r>
              <a:rPr dirty="0" sz="1400" spc="-50">
                <a:latin typeface="Arial MT"/>
                <a:cs typeface="Arial MT"/>
              </a:rPr>
              <a:t>0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8550" y="808067"/>
            <a:ext cx="2609215" cy="882650"/>
          </a:xfrm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12700" marR="5080" indent="203200">
              <a:lnSpc>
                <a:spcPct val="100699"/>
              </a:lnSpc>
              <a:spcBef>
                <a:spcPts val="75"/>
              </a:spcBef>
            </a:pPr>
            <a:r>
              <a:rPr dirty="0" b="0">
                <a:latin typeface="Arial MT"/>
                <a:cs typeface="Arial MT"/>
              </a:rPr>
              <a:t>ML</a:t>
            </a:r>
            <a:r>
              <a:rPr dirty="0" spc="-155" b="0">
                <a:latin typeface="Arial MT"/>
                <a:cs typeface="Arial MT"/>
              </a:rPr>
              <a:t> </a:t>
            </a:r>
            <a:r>
              <a:rPr dirty="0" spc="-10" b="0">
                <a:latin typeface="Arial MT"/>
                <a:cs typeface="Arial MT"/>
              </a:rPr>
              <a:t>Concepts: </a:t>
            </a:r>
            <a:r>
              <a:rPr dirty="0" b="0">
                <a:latin typeface="Arial MT"/>
                <a:cs typeface="Arial MT"/>
              </a:rPr>
              <a:t>Underfit</a:t>
            </a:r>
            <a:r>
              <a:rPr dirty="0" spc="-65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/</a:t>
            </a:r>
            <a:r>
              <a:rPr dirty="0" spc="-65" b="0">
                <a:latin typeface="Arial MT"/>
                <a:cs typeface="Arial MT"/>
              </a:rPr>
              <a:t> </a:t>
            </a:r>
            <a:r>
              <a:rPr dirty="0" spc="-10" b="0">
                <a:latin typeface="Arial MT"/>
                <a:cs typeface="Arial MT"/>
              </a:rPr>
              <a:t>Overfit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23595" y="2490570"/>
            <a:ext cx="4139503" cy="3318728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8500829" y="3418731"/>
            <a:ext cx="749935" cy="315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10" b="1">
                <a:solidFill>
                  <a:srgbClr val="7030A0"/>
                </a:solidFill>
                <a:latin typeface="Arial"/>
                <a:cs typeface="Arial"/>
              </a:rPr>
              <a:t>overfit</a:t>
            </a:r>
            <a:endParaRPr sz="19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268886" y="2891427"/>
            <a:ext cx="907415" cy="315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20" b="1">
                <a:solidFill>
                  <a:srgbClr val="7030A0"/>
                </a:solidFill>
                <a:latin typeface="Arial"/>
                <a:cs typeface="Arial"/>
              </a:rPr>
              <a:t>underfit</a:t>
            </a:r>
            <a:endParaRPr sz="19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087818" y="1939424"/>
            <a:ext cx="4086225" cy="662940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278765" marR="5080" indent="-266700">
              <a:lnSpc>
                <a:spcPts val="2500"/>
              </a:lnSpc>
              <a:spcBef>
                <a:spcPts val="200"/>
              </a:spcBef>
              <a:buChar char="•"/>
              <a:tabLst>
                <a:tab pos="278765" algn="l"/>
              </a:tabLst>
            </a:pP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model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fit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to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population </a:t>
            </a:r>
            <a:r>
              <a:rPr dirty="0" sz="2100">
                <a:latin typeface="Arial MT"/>
                <a:cs typeface="Arial MT"/>
              </a:rPr>
              <a:t>using</a:t>
            </a:r>
            <a:r>
              <a:rPr dirty="0" sz="2100" spc="-114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sample</a:t>
            </a:r>
            <a:r>
              <a:rPr dirty="0" sz="2100" spc="-110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data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087818" y="2814200"/>
            <a:ext cx="4013835" cy="9829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just" marL="278765" marR="5080" indent="-266700">
              <a:lnSpc>
                <a:spcPct val="99500"/>
              </a:lnSpc>
              <a:spcBef>
                <a:spcPts val="110"/>
              </a:spcBef>
              <a:buChar char="•"/>
              <a:tabLst>
                <a:tab pos="278765" algn="l"/>
              </a:tabLst>
            </a:pPr>
            <a:r>
              <a:rPr dirty="0" sz="2100">
                <a:latin typeface="Arial MT"/>
                <a:cs typeface="Arial MT"/>
              </a:rPr>
              <a:t>Main</a:t>
            </a:r>
            <a:r>
              <a:rPr dirty="0" sz="2100" spc="-10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Idea:</a:t>
            </a:r>
            <a:r>
              <a:rPr dirty="0" sz="2100" spc="-10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10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model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should</a:t>
            </a:r>
            <a:r>
              <a:rPr dirty="0" sz="2100" spc="-105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be </a:t>
            </a:r>
            <a:r>
              <a:rPr dirty="0" sz="2100">
                <a:latin typeface="Arial MT"/>
                <a:cs typeface="Arial MT"/>
              </a:rPr>
              <a:t>generic</a:t>
            </a:r>
            <a:r>
              <a:rPr dirty="0" sz="2100" spc="-10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enough</a:t>
            </a:r>
            <a:r>
              <a:rPr dirty="0" sz="2100" spc="-10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to</a:t>
            </a:r>
            <a:r>
              <a:rPr dirty="0" sz="2100" spc="-11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represent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the </a:t>
            </a:r>
            <a:r>
              <a:rPr dirty="0" sz="2100" spc="-10">
                <a:latin typeface="Arial MT"/>
                <a:cs typeface="Arial MT"/>
              </a:rPr>
              <a:t>population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087818" y="4009016"/>
            <a:ext cx="4173220" cy="2494915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278765" marR="382270" indent="-266700">
              <a:lnSpc>
                <a:spcPts val="2500"/>
              </a:lnSpc>
              <a:spcBef>
                <a:spcPts val="200"/>
              </a:spcBef>
              <a:buChar char="•"/>
              <a:tabLst>
                <a:tab pos="278765" algn="l"/>
              </a:tabLst>
            </a:pPr>
            <a:r>
              <a:rPr dirty="0" sz="2100" spc="-25">
                <a:latin typeface="Arial MT"/>
                <a:cs typeface="Arial MT"/>
              </a:rPr>
              <a:t>However,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this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may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result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in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an </a:t>
            </a:r>
            <a:r>
              <a:rPr dirty="0" sz="2100" spc="-20" b="1">
                <a:solidFill>
                  <a:srgbClr val="0070C0"/>
                </a:solidFill>
                <a:latin typeface="Arial"/>
                <a:cs typeface="Arial"/>
              </a:rPr>
              <a:t>underfit</a:t>
            </a:r>
            <a:r>
              <a:rPr dirty="0" sz="2100" spc="-100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2100">
                <a:latin typeface="Arial MT"/>
                <a:cs typeface="Arial MT"/>
              </a:rPr>
              <a:t>(loose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fit)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between sample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data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and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model.</a:t>
            </a:r>
            <a:endParaRPr sz="2100">
              <a:latin typeface="Arial MT"/>
              <a:cs typeface="Arial MT"/>
            </a:endParaRPr>
          </a:p>
          <a:p>
            <a:pPr marL="278765" marR="5080" indent="-266700">
              <a:lnSpc>
                <a:spcPct val="99700"/>
              </a:lnSpc>
              <a:spcBef>
                <a:spcPts val="1789"/>
              </a:spcBef>
              <a:buChar char="•"/>
              <a:tabLst>
                <a:tab pos="278765" algn="l"/>
              </a:tabLst>
            </a:pPr>
            <a:r>
              <a:rPr dirty="0" sz="2100">
                <a:latin typeface="Arial MT"/>
                <a:cs typeface="Arial MT"/>
              </a:rPr>
              <a:t>On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other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hand,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if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model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is </a:t>
            </a:r>
            <a:r>
              <a:rPr dirty="0" sz="2100" spc="-10" b="1">
                <a:solidFill>
                  <a:srgbClr val="0070C0"/>
                </a:solidFill>
                <a:latin typeface="Arial"/>
                <a:cs typeface="Arial"/>
              </a:rPr>
              <a:t>overfit</a:t>
            </a:r>
            <a:r>
              <a:rPr dirty="0" sz="2100" spc="-85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2100">
                <a:latin typeface="Arial MT"/>
                <a:cs typeface="Arial MT"/>
              </a:rPr>
              <a:t>(tight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fit)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to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sample, </a:t>
            </a:r>
            <a:r>
              <a:rPr dirty="0" sz="2100">
                <a:latin typeface="Arial MT"/>
                <a:cs typeface="Arial MT"/>
              </a:rPr>
              <a:t>there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danger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that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it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may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not </a:t>
            </a:r>
            <a:r>
              <a:rPr dirty="0" sz="2100" spc="-10">
                <a:latin typeface="Arial MT"/>
                <a:cs typeface="Arial MT"/>
              </a:rPr>
              <a:t>represent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population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well.</a:t>
            </a:r>
            <a:endParaRPr sz="2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26780" y="862931"/>
            <a:ext cx="4658995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="0">
                <a:latin typeface="Arial MT"/>
                <a:cs typeface="Arial MT"/>
              </a:rPr>
              <a:t>Bias</a:t>
            </a:r>
            <a:r>
              <a:rPr dirty="0" spc="-105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Variance</a:t>
            </a:r>
            <a:r>
              <a:rPr dirty="0" spc="-110" b="0">
                <a:latin typeface="Arial MT"/>
                <a:cs typeface="Arial MT"/>
              </a:rPr>
              <a:t> </a:t>
            </a:r>
            <a:r>
              <a:rPr dirty="0" spc="-10" b="0">
                <a:latin typeface="Arial MT"/>
                <a:cs typeface="Arial MT"/>
              </a:rPr>
              <a:t>Decomposition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195800" y="1641713"/>
            <a:ext cx="8794750" cy="57804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8765" marR="1753235" indent="-266700">
              <a:lnSpc>
                <a:spcPct val="100000"/>
              </a:lnSpc>
              <a:spcBef>
                <a:spcPts val="100"/>
              </a:spcBef>
              <a:buChar char="•"/>
              <a:tabLst>
                <a:tab pos="278765" algn="l"/>
              </a:tabLst>
            </a:pPr>
            <a:r>
              <a:rPr dirty="0" sz="2500">
                <a:latin typeface="Arial MT"/>
                <a:cs typeface="Arial MT"/>
              </a:rPr>
              <a:t>This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function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returns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measure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of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bias,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 spc="-25">
                <a:latin typeface="Arial MT"/>
                <a:cs typeface="Arial MT"/>
              </a:rPr>
              <a:t>the </a:t>
            </a:r>
            <a:r>
              <a:rPr dirty="0" sz="2500">
                <a:latin typeface="Arial MT"/>
                <a:cs typeface="Arial MT"/>
              </a:rPr>
              <a:t>variance,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and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overall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“goodness”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of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model.</a:t>
            </a:r>
            <a:endParaRPr sz="2500">
              <a:latin typeface="Arial MT"/>
              <a:cs typeface="Arial MT"/>
            </a:endParaRPr>
          </a:p>
          <a:p>
            <a:pPr marL="278765" marR="687070" indent="-266700">
              <a:lnSpc>
                <a:spcPct val="100400"/>
              </a:lnSpc>
              <a:spcBef>
                <a:spcPts val="1885"/>
              </a:spcBef>
              <a:buChar char="•"/>
              <a:tabLst>
                <a:tab pos="278765" algn="l"/>
              </a:tabLst>
            </a:pP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average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of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value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returned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by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loss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function </a:t>
            </a:r>
            <a:r>
              <a:rPr dirty="0" sz="2500">
                <a:latin typeface="Arial MT"/>
                <a:cs typeface="Arial MT"/>
              </a:rPr>
              <a:t>for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all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observations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over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all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of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bootstrap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training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 spc="-20">
                <a:latin typeface="Arial MT"/>
                <a:cs typeface="Arial MT"/>
              </a:rPr>
              <a:t>sets </a:t>
            </a:r>
            <a:r>
              <a:rPr dirty="0" sz="2500">
                <a:latin typeface="Arial MT"/>
                <a:cs typeface="Arial MT"/>
              </a:rPr>
              <a:t>is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reported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as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 i="1">
                <a:latin typeface="Arial"/>
                <a:cs typeface="Arial"/>
              </a:rPr>
              <a:t>expected</a:t>
            </a:r>
            <a:r>
              <a:rPr dirty="0" sz="2500" spc="-55" i="1">
                <a:latin typeface="Arial"/>
                <a:cs typeface="Arial"/>
              </a:rPr>
              <a:t> </a:t>
            </a:r>
            <a:r>
              <a:rPr dirty="0" sz="2500" spc="-10" i="1">
                <a:latin typeface="Arial"/>
                <a:cs typeface="Arial"/>
              </a:rPr>
              <a:t>loss.</a:t>
            </a:r>
            <a:endParaRPr sz="2500">
              <a:latin typeface="Arial"/>
              <a:cs typeface="Arial"/>
            </a:endParaRPr>
          </a:p>
          <a:p>
            <a:pPr marL="278765" marR="1038225" indent="-266700">
              <a:lnSpc>
                <a:spcPct val="100800"/>
              </a:lnSpc>
              <a:spcBef>
                <a:spcPts val="1845"/>
              </a:spcBef>
              <a:buChar char="•"/>
              <a:tabLst>
                <a:tab pos="278765" algn="l"/>
              </a:tabLst>
            </a:pPr>
            <a:r>
              <a:rPr dirty="0" sz="2500">
                <a:latin typeface="Arial MT"/>
                <a:cs typeface="Arial MT"/>
              </a:rPr>
              <a:t>Turning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this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around,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one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minus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expected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loss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is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 spc="-50">
                <a:latin typeface="Arial MT"/>
                <a:cs typeface="Arial MT"/>
              </a:rPr>
              <a:t>a </a:t>
            </a:r>
            <a:r>
              <a:rPr dirty="0" sz="2500">
                <a:latin typeface="Arial MT"/>
                <a:cs typeface="Arial MT"/>
              </a:rPr>
              <a:t>measure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of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“goodness”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of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model</a:t>
            </a:r>
            <a:endParaRPr sz="2500">
              <a:latin typeface="Arial MT"/>
              <a:cs typeface="Arial MT"/>
            </a:endParaRPr>
          </a:p>
          <a:p>
            <a:pPr marL="278765" marR="739140" indent="-266700">
              <a:lnSpc>
                <a:spcPct val="100000"/>
              </a:lnSpc>
              <a:spcBef>
                <a:spcPts val="1900"/>
              </a:spcBef>
              <a:buChar char="•"/>
              <a:tabLst>
                <a:tab pos="278765" algn="l"/>
              </a:tabLst>
            </a:pP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expected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loss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can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be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decomposed (mathematically)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into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separate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measures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of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bias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 spc="-25">
                <a:latin typeface="Arial MT"/>
                <a:cs typeface="Arial MT"/>
              </a:rPr>
              <a:t>and </a:t>
            </a:r>
            <a:r>
              <a:rPr dirty="0" sz="2500">
                <a:latin typeface="Arial MT"/>
                <a:cs typeface="Arial MT"/>
              </a:rPr>
              <a:t>variance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(and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an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implicit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“noise”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term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to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account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for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 spc="-25">
                <a:latin typeface="Arial MT"/>
                <a:cs typeface="Arial MT"/>
              </a:rPr>
              <a:t>any </a:t>
            </a:r>
            <a:r>
              <a:rPr dirty="0" sz="2500">
                <a:latin typeface="Arial MT"/>
                <a:cs typeface="Arial MT"/>
              </a:rPr>
              <a:t>difference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between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expected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loss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and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bias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+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variance)</a:t>
            </a:r>
            <a:endParaRPr sz="2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40"/>
              </a:spcBef>
            </a:pPr>
            <a:endParaRPr sz="25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5"/>
              </a:spcBef>
            </a:pPr>
            <a:r>
              <a:rPr dirty="0" sz="1900" spc="-10">
                <a:latin typeface="Arial MT"/>
                <a:cs typeface="Arial MT"/>
              </a:rPr>
              <a:t>Slide</a:t>
            </a:r>
            <a:r>
              <a:rPr dirty="0" sz="1900" spc="-9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&lt;#&gt;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of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50">
                <a:latin typeface="Arial MT"/>
                <a:cs typeface="Arial MT"/>
              </a:rPr>
              <a:t>9</a:t>
            </a:r>
            <a:endParaRPr sz="1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38566" rIns="0" bIns="0" rtlCol="0" vert="horz">
            <a:spAutoFit/>
          </a:bodyPr>
          <a:lstStyle/>
          <a:p>
            <a:pPr marL="1136015">
              <a:lnSpc>
                <a:spcPct val="100000"/>
              </a:lnSpc>
              <a:spcBef>
                <a:spcPts val="100"/>
              </a:spcBef>
            </a:pPr>
            <a:r>
              <a:rPr dirty="0" spc="-10" b="0" i="1">
                <a:latin typeface="Arial"/>
                <a:cs typeface="Arial"/>
              </a:rPr>
              <a:t>k</a:t>
            </a:r>
            <a:r>
              <a:rPr dirty="0" spc="-10" b="0">
                <a:latin typeface="Arial MT"/>
                <a:cs typeface="Arial MT"/>
              </a:rPr>
              <a:t>-</a:t>
            </a:r>
            <a:r>
              <a:rPr dirty="0" b="0">
                <a:latin typeface="Arial MT"/>
                <a:cs typeface="Arial MT"/>
              </a:rPr>
              <a:t>Fold</a:t>
            </a:r>
            <a:r>
              <a:rPr dirty="0" spc="-90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Cross</a:t>
            </a:r>
            <a:r>
              <a:rPr dirty="0" spc="-85" b="0">
                <a:latin typeface="Arial MT"/>
                <a:cs typeface="Arial MT"/>
              </a:rPr>
              <a:t> </a:t>
            </a:r>
            <a:r>
              <a:rPr dirty="0" spc="-10" b="0">
                <a:latin typeface="Arial MT"/>
                <a:cs typeface="Arial MT"/>
              </a:rPr>
              <a:t>Validation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143357" y="1863224"/>
            <a:ext cx="8173720" cy="4399915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algn="just" marL="63500" marR="187960" indent="-6350">
              <a:lnSpc>
                <a:spcPts val="2500"/>
              </a:lnSpc>
              <a:spcBef>
                <a:spcPts val="200"/>
              </a:spcBef>
              <a:buSzPct val="95238"/>
              <a:buAutoNum type="alphaLcPeriod" startAt="11"/>
              <a:tabLst>
                <a:tab pos="280670" algn="l"/>
              </a:tabLst>
            </a:pPr>
            <a:r>
              <a:rPr dirty="0" sz="2100">
                <a:latin typeface="Arial MT"/>
                <a:cs typeface="Arial MT"/>
              </a:rPr>
              <a:t>	</a:t>
            </a:r>
            <a:r>
              <a:rPr dirty="0" sz="2100">
                <a:latin typeface="Arial MT"/>
                <a:cs typeface="Arial MT"/>
              </a:rPr>
              <a:t>Fold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divides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all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samples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into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b="1">
                <a:solidFill>
                  <a:srgbClr val="FF0000"/>
                </a:solidFill>
                <a:latin typeface="Arial"/>
                <a:cs typeface="Arial"/>
              </a:rPr>
              <a:t>k</a:t>
            </a:r>
            <a:r>
              <a:rPr dirty="0" sz="2100" spc="-8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100">
                <a:latin typeface="Arial MT"/>
                <a:cs typeface="Arial MT"/>
              </a:rPr>
              <a:t>groups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samples,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called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spc="-10">
                <a:solidFill>
                  <a:srgbClr val="FF0000"/>
                </a:solidFill>
                <a:latin typeface="Arial MT"/>
                <a:cs typeface="Arial MT"/>
              </a:rPr>
              <a:t>folds</a:t>
            </a:r>
            <a:r>
              <a:rPr dirty="0" sz="2100" spc="-10">
                <a:latin typeface="Arial MT"/>
                <a:cs typeface="Arial MT"/>
              </a:rPr>
              <a:t>.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prediction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function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learned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using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35">
                <a:solidFill>
                  <a:srgbClr val="C00000"/>
                </a:solidFill>
                <a:latin typeface="Arial MT"/>
                <a:cs typeface="Arial MT"/>
              </a:rPr>
              <a:t>k-</a:t>
            </a:r>
            <a:r>
              <a:rPr dirty="0" sz="2100">
                <a:solidFill>
                  <a:srgbClr val="C00000"/>
                </a:solidFill>
                <a:latin typeface="Arial MT"/>
                <a:cs typeface="Arial MT"/>
              </a:rPr>
              <a:t>1</a:t>
            </a:r>
            <a:r>
              <a:rPr dirty="0" sz="2100" spc="-85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folds,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and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remaining </a:t>
            </a:r>
            <a:r>
              <a:rPr dirty="0" sz="2100">
                <a:latin typeface="Arial MT"/>
                <a:cs typeface="Arial MT"/>
              </a:rPr>
              <a:t>fold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used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as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test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set.</a:t>
            </a:r>
            <a:endParaRPr sz="2100">
              <a:latin typeface="Arial MT"/>
              <a:cs typeface="Arial MT"/>
            </a:endParaRPr>
          </a:p>
          <a:p>
            <a:pPr algn="just" marL="640080" marR="495300" indent="-222250">
              <a:lnSpc>
                <a:spcPts val="2500"/>
              </a:lnSpc>
              <a:spcBef>
                <a:spcPts val="705"/>
              </a:spcBef>
            </a:pPr>
            <a:r>
              <a:rPr dirty="0" sz="2100">
                <a:solidFill>
                  <a:srgbClr val="FF0000"/>
                </a:solidFill>
                <a:latin typeface="Arial MT"/>
                <a:cs typeface="Arial MT"/>
              </a:rPr>
              <a:t>–</a:t>
            </a:r>
            <a:r>
              <a:rPr dirty="0" sz="2100" spc="52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100" b="1">
                <a:solidFill>
                  <a:srgbClr val="FF0000"/>
                </a:solidFill>
                <a:latin typeface="Arial"/>
                <a:cs typeface="Arial"/>
              </a:rPr>
              <a:t>k</a:t>
            </a:r>
            <a:r>
              <a:rPr dirty="0" sz="2100" spc="-5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5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typically</a:t>
            </a:r>
            <a:r>
              <a:rPr dirty="0" sz="2100" spc="-5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3,</a:t>
            </a:r>
            <a:r>
              <a:rPr dirty="0" sz="2100" spc="-5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5</a:t>
            </a:r>
            <a:r>
              <a:rPr dirty="0" sz="2100" spc="-5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or</a:t>
            </a:r>
            <a:r>
              <a:rPr dirty="0" sz="2100" spc="-5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10</a:t>
            </a:r>
            <a:r>
              <a:rPr dirty="0" sz="2100" spc="-5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for</a:t>
            </a:r>
            <a:r>
              <a:rPr dirty="0" sz="2100" spc="-5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5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balance</a:t>
            </a:r>
            <a:r>
              <a:rPr dirty="0" sz="2100" spc="-5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between</a:t>
            </a:r>
            <a:r>
              <a:rPr dirty="0" sz="2100" spc="-5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computational complexity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and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validation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accuracy</a:t>
            </a:r>
            <a:endParaRPr sz="2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2100">
              <a:latin typeface="Arial MT"/>
              <a:cs typeface="Arial MT"/>
            </a:endParaRPr>
          </a:p>
          <a:p>
            <a:pPr lvl="1" marL="535940" indent="-472440">
              <a:lnSpc>
                <a:spcPct val="100000"/>
              </a:lnSpc>
              <a:buAutoNum type="arabicPeriod"/>
              <a:tabLst>
                <a:tab pos="535940" algn="l"/>
              </a:tabLst>
            </a:pP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model</a:t>
            </a:r>
            <a:r>
              <a:rPr dirty="0" sz="2100" spc="-6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trained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using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35">
                <a:solidFill>
                  <a:srgbClr val="C00000"/>
                </a:solidFill>
                <a:latin typeface="Arial MT"/>
                <a:cs typeface="Arial MT"/>
              </a:rPr>
              <a:t>k-</a:t>
            </a:r>
            <a:r>
              <a:rPr dirty="0" sz="2100">
                <a:solidFill>
                  <a:srgbClr val="C00000"/>
                </a:solidFill>
                <a:latin typeface="Arial MT"/>
                <a:cs typeface="Arial MT"/>
              </a:rPr>
              <a:t>1</a:t>
            </a:r>
            <a:r>
              <a:rPr dirty="0" sz="2100" spc="-8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folds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as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training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data</a:t>
            </a:r>
            <a:endParaRPr sz="2100">
              <a:latin typeface="Arial MT"/>
              <a:cs typeface="Arial MT"/>
            </a:endParaRPr>
          </a:p>
          <a:p>
            <a:pPr lvl="1" marL="417830" indent="-354965">
              <a:lnSpc>
                <a:spcPct val="100000"/>
              </a:lnSpc>
              <a:spcBef>
                <a:spcPts val="1175"/>
              </a:spcBef>
              <a:buAutoNum type="arabicPeriod"/>
              <a:tabLst>
                <a:tab pos="417830" algn="l"/>
                <a:tab pos="535940" algn="l"/>
              </a:tabLst>
            </a:pPr>
            <a:r>
              <a:rPr dirty="0" sz="2100">
                <a:latin typeface="Arial MT"/>
                <a:cs typeface="Arial MT"/>
              </a:rPr>
              <a:t>	The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resulting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model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validated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on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remaining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part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data</a:t>
            </a:r>
            <a:endParaRPr sz="2100">
              <a:latin typeface="Arial MT"/>
              <a:cs typeface="Arial MT"/>
            </a:endParaRPr>
          </a:p>
          <a:p>
            <a:pPr marL="640080" marR="135890" indent="-222250">
              <a:lnSpc>
                <a:spcPts val="2500"/>
              </a:lnSpc>
              <a:spcBef>
                <a:spcPts val="800"/>
              </a:spcBef>
            </a:pPr>
            <a:r>
              <a:rPr dirty="0" sz="2100">
                <a:latin typeface="Arial MT"/>
                <a:cs typeface="Arial MT"/>
              </a:rPr>
              <a:t>–</a:t>
            </a:r>
            <a:r>
              <a:rPr dirty="0" sz="2100" spc="-4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It</a:t>
            </a:r>
            <a:r>
              <a:rPr dirty="0" sz="2100" spc="-6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6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used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as</a:t>
            </a:r>
            <a:r>
              <a:rPr dirty="0" sz="2100" spc="-6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test</a:t>
            </a:r>
            <a:r>
              <a:rPr dirty="0" sz="2100" spc="-6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set</a:t>
            </a:r>
            <a:r>
              <a:rPr dirty="0" sz="2100" spc="-6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to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compute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performance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measure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such </a:t>
            </a:r>
            <a:r>
              <a:rPr dirty="0" sz="2100">
                <a:latin typeface="Arial MT"/>
                <a:cs typeface="Arial MT"/>
              </a:rPr>
              <a:t>as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accuracy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for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classification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or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i="1">
                <a:latin typeface="Arial"/>
                <a:cs typeface="Arial"/>
              </a:rPr>
              <a:t>r</a:t>
            </a:r>
            <a:r>
              <a:rPr dirty="0" baseline="23809" sz="2100" i="1">
                <a:latin typeface="Arial"/>
                <a:cs typeface="Arial"/>
              </a:rPr>
              <a:t>2</a:t>
            </a:r>
            <a:r>
              <a:rPr dirty="0" baseline="23809" sz="2100" spc="187" i="1">
                <a:latin typeface="Arial"/>
                <a:cs typeface="Arial"/>
              </a:rPr>
              <a:t> </a:t>
            </a:r>
            <a:r>
              <a:rPr dirty="0" sz="2100">
                <a:latin typeface="Arial MT"/>
                <a:cs typeface="Arial MT"/>
              </a:rPr>
              <a:t>for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regression</a:t>
            </a:r>
            <a:endParaRPr sz="2100">
              <a:latin typeface="Arial MT"/>
              <a:cs typeface="Arial MT"/>
            </a:endParaRPr>
          </a:p>
          <a:p>
            <a:pPr lvl="1" marL="535940" marR="259079" indent="-473075">
              <a:lnSpc>
                <a:spcPct val="100000"/>
              </a:lnSpc>
              <a:spcBef>
                <a:spcPts val="1090"/>
              </a:spcBef>
              <a:buAutoNum type="arabicPeriod" startAt="3"/>
              <a:tabLst>
                <a:tab pos="535940" algn="l"/>
              </a:tabLst>
            </a:pP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performance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measure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reported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by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 spc="-40">
                <a:latin typeface="Arial MT"/>
                <a:cs typeface="Arial MT"/>
              </a:rPr>
              <a:t>k-</a:t>
            </a:r>
            <a:r>
              <a:rPr dirty="0" sz="2100">
                <a:latin typeface="Arial MT"/>
                <a:cs typeface="Arial MT"/>
              </a:rPr>
              <a:t>fold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 spc="-30">
                <a:latin typeface="Arial MT"/>
                <a:cs typeface="Arial MT"/>
              </a:rPr>
              <a:t>cross-</a:t>
            </a:r>
            <a:r>
              <a:rPr dirty="0" sz="2100" spc="-10">
                <a:latin typeface="Arial MT"/>
                <a:cs typeface="Arial MT"/>
              </a:rPr>
              <a:t>validation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is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average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values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computed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in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loop.</a:t>
            </a:r>
            <a:endParaRPr sz="2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9260" y="2204135"/>
            <a:ext cx="4269789" cy="28750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12232" rIns="0" bIns="0" rtlCol="0" vert="horz">
            <a:spAutoFit/>
          </a:bodyPr>
          <a:lstStyle/>
          <a:p>
            <a:pPr marL="340360">
              <a:lnSpc>
                <a:spcPct val="100000"/>
              </a:lnSpc>
              <a:spcBef>
                <a:spcPts val="100"/>
              </a:spcBef>
            </a:pPr>
            <a:r>
              <a:rPr dirty="0" sz="2700" spc="-20" b="0" i="1">
                <a:latin typeface="Arial"/>
                <a:cs typeface="Arial"/>
              </a:rPr>
              <a:t>K</a:t>
            </a:r>
            <a:r>
              <a:rPr dirty="0" sz="2700" spc="-20" b="0">
                <a:latin typeface="Arial MT"/>
                <a:cs typeface="Arial MT"/>
              </a:rPr>
              <a:t>-</a:t>
            </a:r>
            <a:r>
              <a:rPr dirty="0" sz="2700" b="0">
                <a:latin typeface="Arial MT"/>
                <a:cs typeface="Arial MT"/>
              </a:rPr>
              <a:t>fold</a:t>
            </a:r>
            <a:r>
              <a:rPr dirty="0" sz="2700" spc="-85" b="0">
                <a:latin typeface="Arial MT"/>
                <a:cs typeface="Arial MT"/>
              </a:rPr>
              <a:t> </a:t>
            </a:r>
            <a:r>
              <a:rPr dirty="0" sz="2700" b="0">
                <a:latin typeface="Arial MT"/>
                <a:cs typeface="Arial MT"/>
              </a:rPr>
              <a:t>Cross</a:t>
            </a:r>
            <a:r>
              <a:rPr dirty="0" sz="2700" spc="-75" b="0">
                <a:latin typeface="Arial MT"/>
                <a:cs typeface="Arial MT"/>
              </a:rPr>
              <a:t> </a:t>
            </a:r>
            <a:r>
              <a:rPr dirty="0" sz="2700" spc="-10" b="0">
                <a:latin typeface="Arial MT"/>
                <a:cs typeface="Arial MT"/>
              </a:rPr>
              <a:t>Validation</a:t>
            </a:r>
            <a:r>
              <a:rPr dirty="0" sz="2700" spc="-70" b="0">
                <a:latin typeface="Arial MT"/>
                <a:cs typeface="Arial MT"/>
              </a:rPr>
              <a:t> </a:t>
            </a:r>
            <a:r>
              <a:rPr dirty="0" sz="2700" spc="-10" b="0">
                <a:latin typeface="Arial MT"/>
                <a:cs typeface="Arial MT"/>
              </a:rPr>
              <a:t>Example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446524" y="2101111"/>
            <a:ext cx="3991610" cy="3073400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algn="just" marL="546100" indent="-533400">
              <a:lnSpc>
                <a:spcPct val="100000"/>
              </a:lnSpc>
              <a:spcBef>
                <a:spcPts val="580"/>
              </a:spcBef>
              <a:buAutoNum type="arabicPeriod"/>
              <a:tabLst>
                <a:tab pos="546100" algn="l"/>
              </a:tabLst>
            </a:pPr>
            <a:r>
              <a:rPr dirty="0" sz="2100">
                <a:latin typeface="Arial MT"/>
                <a:cs typeface="Arial MT"/>
              </a:rPr>
              <a:t>Split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data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into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5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samples</a:t>
            </a:r>
            <a:endParaRPr sz="2100">
              <a:latin typeface="Arial MT"/>
              <a:cs typeface="Arial MT"/>
            </a:endParaRPr>
          </a:p>
          <a:p>
            <a:pPr algn="just" marL="544830" marR="476250" indent="-532765">
              <a:lnSpc>
                <a:spcPts val="2500"/>
              </a:lnSpc>
              <a:spcBef>
                <a:spcPts val="580"/>
              </a:spcBef>
              <a:buAutoNum type="arabicPeriod"/>
              <a:tabLst>
                <a:tab pos="544830" algn="l"/>
              </a:tabLst>
            </a:pPr>
            <a:r>
              <a:rPr dirty="0" sz="2100">
                <a:latin typeface="Arial MT"/>
                <a:cs typeface="Arial MT"/>
              </a:rPr>
              <a:t>Fit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model</a:t>
            </a:r>
            <a:r>
              <a:rPr dirty="0" sz="2100" spc="-6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to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training samples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and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use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test </a:t>
            </a:r>
            <a:r>
              <a:rPr dirty="0" sz="2100" spc="-10">
                <a:latin typeface="Arial MT"/>
                <a:cs typeface="Arial MT"/>
              </a:rPr>
              <a:t>sample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to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calculate</a:t>
            </a:r>
            <a:r>
              <a:rPr dirty="0" sz="2100" spc="-6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CV </a:t>
            </a:r>
            <a:r>
              <a:rPr dirty="0" sz="2100" spc="-10">
                <a:latin typeface="Arial MT"/>
                <a:cs typeface="Arial MT"/>
              </a:rPr>
              <a:t>metric.</a:t>
            </a:r>
            <a:endParaRPr sz="2100">
              <a:latin typeface="Arial MT"/>
              <a:cs typeface="Arial MT"/>
            </a:endParaRPr>
          </a:p>
          <a:p>
            <a:pPr marL="544830" marR="5080" indent="-532765">
              <a:lnSpc>
                <a:spcPct val="99400"/>
              </a:lnSpc>
              <a:spcBef>
                <a:spcPts val="400"/>
              </a:spcBef>
              <a:buAutoNum type="arabicPeriod"/>
              <a:tabLst>
                <a:tab pos="544830" algn="l"/>
              </a:tabLst>
            </a:pPr>
            <a:r>
              <a:rPr dirty="0" sz="2100">
                <a:latin typeface="Arial MT"/>
                <a:cs typeface="Arial MT"/>
              </a:rPr>
              <a:t>Repeat</a:t>
            </a:r>
            <a:r>
              <a:rPr dirty="0" sz="2100" spc="-10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10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process</a:t>
            </a:r>
            <a:r>
              <a:rPr dirty="0" sz="2100" spc="-10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for</a:t>
            </a:r>
            <a:r>
              <a:rPr dirty="0" sz="2100" spc="-105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the </a:t>
            </a:r>
            <a:r>
              <a:rPr dirty="0" sz="2100">
                <a:latin typeface="Arial MT"/>
                <a:cs typeface="Arial MT"/>
              </a:rPr>
              <a:t>next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sample,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until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all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samples </a:t>
            </a:r>
            <a:r>
              <a:rPr dirty="0" sz="2100">
                <a:latin typeface="Arial MT"/>
                <a:cs typeface="Arial MT"/>
              </a:rPr>
              <a:t>have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been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used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to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either </a:t>
            </a:r>
            <a:r>
              <a:rPr dirty="0" sz="2100">
                <a:latin typeface="Arial MT"/>
                <a:cs typeface="Arial MT"/>
              </a:rPr>
              <a:t>train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or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test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model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253694" y="5454795"/>
            <a:ext cx="7484745" cy="1257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>
                <a:latin typeface="Arial MT"/>
                <a:cs typeface="Arial MT"/>
              </a:rPr>
              <a:t>The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30">
                <a:latin typeface="Arial MT"/>
                <a:cs typeface="Arial MT"/>
              </a:rPr>
              <a:t>advantages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are</a:t>
            </a:r>
            <a:endParaRPr sz="1900">
              <a:latin typeface="Arial MT"/>
              <a:cs typeface="Arial MT"/>
            </a:endParaRPr>
          </a:p>
          <a:p>
            <a:pPr marL="307975" marR="198120" indent="-295910">
              <a:lnSpc>
                <a:spcPts val="2210"/>
              </a:lnSpc>
              <a:spcBef>
                <a:spcPts val="155"/>
              </a:spcBef>
              <a:buChar char="•"/>
              <a:tabLst>
                <a:tab pos="307975" algn="l"/>
              </a:tabLst>
            </a:pPr>
            <a:r>
              <a:rPr dirty="0" sz="1900">
                <a:latin typeface="Arial MT"/>
                <a:cs typeface="Arial MT"/>
              </a:rPr>
              <a:t>all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observations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are</a:t>
            </a:r>
            <a:r>
              <a:rPr dirty="0" sz="1900" spc="-9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used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for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both</a:t>
            </a:r>
            <a:r>
              <a:rPr dirty="0" sz="1900" spc="-9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training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and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validation,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and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each </a:t>
            </a:r>
            <a:r>
              <a:rPr dirty="0" sz="1900" spc="-25">
                <a:latin typeface="Arial MT"/>
                <a:cs typeface="Arial MT"/>
              </a:rPr>
              <a:t>observation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is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used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once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for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validation</a:t>
            </a:r>
            <a:endParaRPr sz="1900">
              <a:latin typeface="Arial MT"/>
              <a:cs typeface="Arial MT"/>
            </a:endParaRPr>
          </a:p>
          <a:p>
            <a:pPr marL="307975" indent="-295275">
              <a:lnSpc>
                <a:spcPct val="100000"/>
              </a:lnSpc>
              <a:spcBef>
                <a:spcPts val="560"/>
              </a:spcBef>
              <a:buChar char="•"/>
              <a:tabLst>
                <a:tab pos="307975" algn="l"/>
              </a:tabLst>
            </a:pPr>
            <a:r>
              <a:rPr dirty="0" sz="1900">
                <a:latin typeface="Arial MT"/>
                <a:cs typeface="Arial MT"/>
              </a:rPr>
              <a:t>This</a:t>
            </a:r>
            <a:r>
              <a:rPr dirty="0" sz="1900" spc="-10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can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be</a:t>
            </a:r>
            <a:r>
              <a:rPr dirty="0" sz="1900" spc="-9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done</a:t>
            </a:r>
            <a:r>
              <a:rPr dirty="0" sz="1900" spc="-9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using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the</a:t>
            </a:r>
            <a:r>
              <a:rPr dirty="0" sz="1900" spc="-120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Train</a:t>
            </a:r>
            <a:r>
              <a:rPr dirty="0" sz="1900" spc="-9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set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from</a:t>
            </a:r>
            <a:r>
              <a:rPr dirty="0" sz="1900" spc="-10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the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original</a:t>
            </a:r>
            <a:r>
              <a:rPr dirty="0" sz="1900" spc="-110">
                <a:latin typeface="Arial MT"/>
                <a:cs typeface="Arial MT"/>
              </a:rPr>
              <a:t> </a:t>
            </a:r>
            <a:r>
              <a:rPr dirty="0" sz="1900" spc="-80">
                <a:latin typeface="Arial MT"/>
                <a:cs typeface="Arial MT"/>
              </a:rPr>
              <a:t>Test-</a:t>
            </a:r>
            <a:r>
              <a:rPr dirty="0" sz="1900" spc="-25">
                <a:latin typeface="Arial MT"/>
                <a:cs typeface="Arial MT"/>
              </a:rPr>
              <a:t>Train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split</a:t>
            </a:r>
            <a:endParaRPr sz="1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22742" rIns="0" bIns="0" rtlCol="0" vert="horz">
            <a:spAutoFit/>
          </a:bodyPr>
          <a:lstStyle/>
          <a:p>
            <a:pPr marL="1971039">
              <a:lnSpc>
                <a:spcPct val="100000"/>
              </a:lnSpc>
              <a:spcBef>
                <a:spcPts val="100"/>
              </a:spcBef>
            </a:pPr>
            <a:r>
              <a:rPr dirty="0" spc="-10" b="0">
                <a:latin typeface="Arial MT"/>
                <a:cs typeface="Arial MT"/>
              </a:rPr>
              <a:t>random_state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361705" y="1716920"/>
            <a:ext cx="7882255" cy="4399915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278765" marR="253365" indent="-266700">
              <a:lnSpc>
                <a:spcPts val="2500"/>
              </a:lnSpc>
              <a:spcBef>
                <a:spcPts val="200"/>
              </a:spcBef>
              <a:buChar char="•"/>
              <a:tabLst>
                <a:tab pos="278765" algn="l"/>
              </a:tabLst>
            </a:pPr>
            <a:r>
              <a:rPr dirty="0" sz="2100">
                <a:latin typeface="Arial MT"/>
                <a:cs typeface="Arial MT"/>
              </a:rPr>
              <a:t>Most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classifiers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make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use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randomness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during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process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of </a:t>
            </a:r>
            <a:r>
              <a:rPr dirty="0" sz="2100" spc="-20">
                <a:latin typeface="Arial MT"/>
                <a:cs typeface="Arial MT"/>
              </a:rPr>
              <a:t>constructing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model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from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training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data</a:t>
            </a:r>
            <a:endParaRPr sz="2100">
              <a:latin typeface="Arial MT"/>
              <a:cs typeface="Arial MT"/>
            </a:endParaRPr>
          </a:p>
          <a:p>
            <a:pPr marL="278765" marR="515620" indent="-266700">
              <a:lnSpc>
                <a:spcPct val="100000"/>
              </a:lnSpc>
              <a:spcBef>
                <a:spcPts val="1185"/>
              </a:spcBef>
              <a:buChar char="•"/>
              <a:tabLst>
                <a:tab pos="278765" algn="l"/>
              </a:tabLst>
            </a:pPr>
            <a:r>
              <a:rPr dirty="0" sz="2100">
                <a:latin typeface="Arial MT"/>
                <a:cs typeface="Arial MT"/>
              </a:rPr>
              <a:t>This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has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effect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fitting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different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model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each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time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same </a:t>
            </a:r>
            <a:r>
              <a:rPr dirty="0" sz="2100" spc="-10">
                <a:latin typeface="Arial MT"/>
                <a:cs typeface="Arial MT"/>
              </a:rPr>
              <a:t>algorithm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run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on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same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data.</a:t>
            </a:r>
            <a:endParaRPr sz="2100">
              <a:latin typeface="Arial MT"/>
              <a:cs typeface="Arial MT"/>
            </a:endParaRPr>
          </a:p>
          <a:p>
            <a:pPr marL="278765" marR="329565" indent="-266700">
              <a:lnSpc>
                <a:spcPts val="2500"/>
              </a:lnSpc>
              <a:spcBef>
                <a:spcPts val="1280"/>
              </a:spcBef>
              <a:buChar char="•"/>
              <a:tabLst>
                <a:tab pos="278765" algn="l"/>
              </a:tabLst>
            </a:pPr>
            <a:r>
              <a:rPr dirty="0" sz="2100">
                <a:latin typeface="Arial MT"/>
                <a:cs typeface="Arial MT"/>
              </a:rPr>
              <a:t>In</a:t>
            </a:r>
            <a:r>
              <a:rPr dirty="0" sz="2100" spc="-10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turn,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slightly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different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models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have</a:t>
            </a:r>
            <a:r>
              <a:rPr dirty="0" sz="2100" spc="-10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different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performance </a:t>
            </a:r>
            <a:r>
              <a:rPr dirty="0" sz="2100">
                <a:latin typeface="Arial MT"/>
                <a:cs typeface="Arial MT"/>
              </a:rPr>
              <a:t>when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evaluated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on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same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test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dataset.</a:t>
            </a:r>
            <a:endParaRPr sz="2100">
              <a:latin typeface="Arial MT"/>
              <a:cs typeface="Arial MT"/>
            </a:endParaRPr>
          </a:p>
          <a:p>
            <a:pPr marL="278765" marR="184150" indent="-266700">
              <a:lnSpc>
                <a:spcPct val="100000"/>
              </a:lnSpc>
              <a:spcBef>
                <a:spcPts val="1185"/>
              </a:spcBef>
              <a:buChar char="•"/>
              <a:tabLst>
                <a:tab pos="278765" algn="l"/>
              </a:tabLst>
            </a:pP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proper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name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for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this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difference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or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random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behavior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within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50">
                <a:latin typeface="Arial MT"/>
                <a:cs typeface="Arial MT"/>
              </a:rPr>
              <a:t>a </a:t>
            </a:r>
            <a:r>
              <a:rPr dirty="0" sz="2100">
                <a:latin typeface="Arial MT"/>
                <a:cs typeface="Arial MT"/>
              </a:rPr>
              <a:t>range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u="heavy" sz="2100" spc="-1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stochastic</a:t>
            </a:r>
            <a:r>
              <a:rPr dirty="0" sz="2100" spc="-10">
                <a:latin typeface="Arial MT"/>
                <a:cs typeface="Arial MT"/>
              </a:rPr>
              <a:t>.</a:t>
            </a:r>
            <a:endParaRPr sz="2100">
              <a:latin typeface="Arial MT"/>
              <a:cs typeface="Arial MT"/>
            </a:endParaRPr>
          </a:p>
          <a:p>
            <a:pPr marL="278130" indent="-265430">
              <a:lnSpc>
                <a:spcPct val="100000"/>
              </a:lnSpc>
              <a:spcBef>
                <a:spcPts val="1875"/>
              </a:spcBef>
              <a:buFont typeface="Wingdings"/>
              <a:buChar char=""/>
              <a:tabLst>
                <a:tab pos="278130" algn="l"/>
              </a:tabLst>
            </a:pPr>
            <a:r>
              <a:rPr dirty="0" sz="2100" b="1">
                <a:solidFill>
                  <a:srgbClr val="FF0000"/>
                </a:solidFill>
                <a:latin typeface="Arial"/>
                <a:cs typeface="Arial"/>
              </a:rPr>
              <a:t>Expect</a:t>
            </a:r>
            <a:r>
              <a:rPr dirty="0" sz="2100" spc="-8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dirty="0" sz="2100" spc="-8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100" spc="-20" b="1">
                <a:solidFill>
                  <a:srgbClr val="FF0000"/>
                </a:solidFill>
                <a:latin typeface="Arial"/>
                <a:cs typeface="Arial"/>
              </a:rPr>
              <a:t>performance</a:t>
            </a:r>
            <a:r>
              <a:rPr dirty="0" sz="2100" spc="-9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dirty="0" sz="2100" spc="-8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FF0000"/>
                </a:solidFill>
                <a:latin typeface="Arial"/>
                <a:cs typeface="Arial"/>
              </a:rPr>
              <a:t>be</a:t>
            </a:r>
            <a:r>
              <a:rPr dirty="0" sz="2100" spc="-9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dirty="0" sz="2100" spc="-8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FF0000"/>
                </a:solidFill>
                <a:latin typeface="Arial"/>
                <a:cs typeface="Arial"/>
              </a:rPr>
              <a:t>range</a:t>
            </a:r>
            <a:r>
              <a:rPr dirty="0" sz="2100" spc="-8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FF0000"/>
                </a:solidFill>
                <a:latin typeface="Arial"/>
                <a:cs typeface="Arial"/>
              </a:rPr>
              <a:t>and</a:t>
            </a:r>
            <a:r>
              <a:rPr dirty="0" sz="2100" spc="-8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FF0000"/>
                </a:solidFill>
                <a:latin typeface="Arial"/>
                <a:cs typeface="Arial"/>
              </a:rPr>
              <a:t>not</a:t>
            </a:r>
            <a:r>
              <a:rPr dirty="0" sz="2100" spc="-8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dirty="0" sz="2100" spc="-9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FF0000"/>
                </a:solidFill>
                <a:latin typeface="Arial"/>
                <a:cs typeface="Arial"/>
              </a:rPr>
              <a:t>single</a:t>
            </a:r>
            <a:r>
              <a:rPr dirty="0" sz="2100" spc="-8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100" spc="-10" b="1">
                <a:solidFill>
                  <a:srgbClr val="FF0000"/>
                </a:solidFill>
                <a:latin typeface="Arial"/>
                <a:cs typeface="Arial"/>
              </a:rPr>
              <a:t>value.</a:t>
            </a:r>
            <a:endParaRPr sz="2100">
              <a:latin typeface="Arial"/>
              <a:cs typeface="Arial"/>
            </a:endParaRPr>
          </a:p>
          <a:p>
            <a:pPr marL="277495" marR="5080" indent="-265430">
              <a:lnSpc>
                <a:spcPct val="100000"/>
              </a:lnSpc>
              <a:spcBef>
                <a:spcPts val="1175"/>
              </a:spcBef>
              <a:buFont typeface="Wingdings"/>
              <a:buChar char=""/>
              <a:tabLst>
                <a:tab pos="278765" algn="l"/>
              </a:tabLst>
            </a:pPr>
            <a:r>
              <a:rPr dirty="0" sz="2100" b="1">
                <a:solidFill>
                  <a:srgbClr val="FF0000"/>
                </a:solidFill>
                <a:latin typeface="Arial"/>
                <a:cs typeface="Arial"/>
              </a:rPr>
              <a:t>Expect</a:t>
            </a:r>
            <a:r>
              <a:rPr dirty="0" sz="2100" spc="-9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FF0000"/>
                </a:solidFill>
                <a:latin typeface="Arial"/>
                <a:cs typeface="Arial"/>
              </a:rPr>
              <a:t>there</a:t>
            </a:r>
            <a:r>
              <a:rPr dirty="0" sz="2100" spc="-9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dirty="0" sz="2100" spc="-9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FF0000"/>
                </a:solidFill>
                <a:latin typeface="Arial"/>
                <a:cs typeface="Arial"/>
              </a:rPr>
              <a:t>be</a:t>
            </a:r>
            <a:r>
              <a:rPr dirty="0" sz="2100" spc="-9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dirty="0" sz="2100" spc="-9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FF0000"/>
                </a:solidFill>
                <a:latin typeface="Arial"/>
                <a:cs typeface="Arial"/>
              </a:rPr>
              <a:t>range</a:t>
            </a:r>
            <a:r>
              <a:rPr dirty="0" sz="2100" spc="-9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FF0000"/>
                </a:solidFill>
                <a:latin typeface="Arial"/>
                <a:cs typeface="Arial"/>
              </a:rPr>
              <a:t>of</a:t>
            </a:r>
            <a:r>
              <a:rPr dirty="0" sz="2100" spc="-9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100" spc="-10" b="1">
                <a:solidFill>
                  <a:srgbClr val="FF0000"/>
                </a:solidFill>
                <a:latin typeface="Arial"/>
                <a:cs typeface="Arial"/>
              </a:rPr>
              <a:t>models</a:t>
            </a:r>
            <a:r>
              <a:rPr dirty="0" sz="2100" spc="-9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dirty="0" sz="2100" spc="-9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100" spc="-10" b="1">
                <a:solidFill>
                  <a:srgbClr val="FF0000"/>
                </a:solidFill>
                <a:latin typeface="Arial"/>
                <a:cs typeface="Arial"/>
              </a:rPr>
              <a:t>choose</a:t>
            </a:r>
            <a:r>
              <a:rPr dirty="0" sz="2100" spc="-9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FF0000"/>
                </a:solidFill>
                <a:latin typeface="Arial"/>
                <a:cs typeface="Arial"/>
              </a:rPr>
              <a:t>from</a:t>
            </a:r>
            <a:r>
              <a:rPr dirty="0" sz="2100" spc="-10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FF0000"/>
                </a:solidFill>
                <a:latin typeface="Arial"/>
                <a:cs typeface="Arial"/>
              </a:rPr>
              <a:t>and</a:t>
            </a:r>
            <a:r>
              <a:rPr dirty="0" sz="2100" spc="-8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100" spc="-25" b="1">
                <a:solidFill>
                  <a:srgbClr val="FF0000"/>
                </a:solidFill>
                <a:latin typeface="Arial"/>
                <a:cs typeface="Arial"/>
              </a:rPr>
              <a:t>not </a:t>
            </a:r>
            <a:r>
              <a:rPr dirty="0" sz="2100" spc="-25" b="1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dirty="0" sz="2100" b="1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dirty="0" sz="2100" spc="-7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100" spc="-10" b="1">
                <a:solidFill>
                  <a:srgbClr val="FF0000"/>
                </a:solidFill>
                <a:latin typeface="Arial"/>
                <a:cs typeface="Arial"/>
              </a:rPr>
              <a:t>single</a:t>
            </a:r>
            <a:r>
              <a:rPr dirty="0" sz="2100" spc="-6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100" spc="-10" b="1">
                <a:solidFill>
                  <a:srgbClr val="FF0000"/>
                </a:solidFill>
                <a:latin typeface="Arial"/>
                <a:cs typeface="Arial"/>
              </a:rPr>
              <a:t>model.</a:t>
            </a:r>
            <a:endParaRPr sz="2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22742" rIns="0" bIns="0" rtlCol="0" vert="horz">
            <a:spAutoFit/>
          </a:bodyPr>
          <a:lstStyle/>
          <a:p>
            <a:pPr marL="1971039">
              <a:lnSpc>
                <a:spcPct val="100000"/>
              </a:lnSpc>
              <a:spcBef>
                <a:spcPts val="100"/>
              </a:spcBef>
            </a:pPr>
            <a:r>
              <a:rPr dirty="0" spc="-10" b="0">
                <a:latin typeface="Arial MT"/>
                <a:cs typeface="Arial MT"/>
              </a:rPr>
              <a:t>random_state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361705" y="1716920"/>
            <a:ext cx="7595870" cy="400685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78765" marR="72390" indent="-266700">
              <a:lnSpc>
                <a:spcPct val="99400"/>
              </a:lnSpc>
              <a:spcBef>
                <a:spcPts val="114"/>
              </a:spcBef>
              <a:buChar char="•"/>
              <a:tabLst>
                <a:tab pos="278765" algn="l"/>
              </a:tabLst>
            </a:pPr>
            <a:r>
              <a:rPr dirty="0" sz="2100">
                <a:latin typeface="Arial MT"/>
                <a:cs typeface="Arial MT"/>
              </a:rPr>
              <a:t>Random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numbers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are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generated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in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software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using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pseudo random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number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generator.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It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simple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math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function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that </a:t>
            </a:r>
            <a:r>
              <a:rPr dirty="0" sz="2100" spc="-10">
                <a:latin typeface="Arial MT"/>
                <a:cs typeface="Arial MT"/>
              </a:rPr>
              <a:t>generates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sequence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numbers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that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are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random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enough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for </a:t>
            </a:r>
            <a:r>
              <a:rPr dirty="0" sz="2100">
                <a:latin typeface="Arial MT"/>
                <a:cs typeface="Arial MT"/>
              </a:rPr>
              <a:t>most</a:t>
            </a:r>
            <a:r>
              <a:rPr dirty="0" sz="2100" spc="-114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applications.</a:t>
            </a:r>
            <a:endParaRPr sz="2100">
              <a:latin typeface="Arial MT"/>
              <a:cs typeface="Arial MT"/>
            </a:endParaRPr>
          </a:p>
          <a:p>
            <a:pPr marL="278765" marR="149225" indent="-266700">
              <a:lnSpc>
                <a:spcPct val="99500"/>
              </a:lnSpc>
              <a:spcBef>
                <a:spcPts val="1285"/>
              </a:spcBef>
              <a:buChar char="•"/>
              <a:tabLst>
                <a:tab pos="278765" algn="l"/>
              </a:tabLst>
            </a:pPr>
            <a:r>
              <a:rPr dirty="0" sz="2100">
                <a:latin typeface="Arial MT"/>
                <a:cs typeface="Arial MT"/>
              </a:rPr>
              <a:t>This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math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function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deterministic.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If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it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uses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same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starting </a:t>
            </a:r>
            <a:r>
              <a:rPr dirty="0" sz="2100">
                <a:latin typeface="Arial MT"/>
                <a:cs typeface="Arial MT"/>
              </a:rPr>
              <a:t>point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called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seed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number,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it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will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give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same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sequence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of </a:t>
            </a:r>
            <a:r>
              <a:rPr dirty="0" sz="2100" spc="-10">
                <a:latin typeface="Arial MT"/>
                <a:cs typeface="Arial MT"/>
              </a:rPr>
              <a:t>random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numbers.</a:t>
            </a:r>
            <a:endParaRPr sz="2100">
              <a:latin typeface="Arial MT"/>
              <a:cs typeface="Arial MT"/>
            </a:endParaRPr>
          </a:p>
          <a:p>
            <a:pPr marL="278765" marR="219710" indent="-266700">
              <a:lnSpc>
                <a:spcPct val="100000"/>
              </a:lnSpc>
              <a:spcBef>
                <a:spcPts val="1150"/>
              </a:spcBef>
              <a:buChar char="•"/>
              <a:tabLst>
                <a:tab pos="278765" algn="l"/>
              </a:tabLst>
            </a:pPr>
            <a:r>
              <a:rPr dirty="0" sz="2100">
                <a:latin typeface="Arial MT"/>
                <a:cs typeface="Arial MT"/>
              </a:rPr>
              <a:t>We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can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get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reproducible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results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by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fixing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random</a:t>
            </a:r>
            <a:r>
              <a:rPr dirty="0" sz="2100" spc="-10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number generator’s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seed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before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each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model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we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construct.</a:t>
            </a:r>
            <a:endParaRPr sz="2100">
              <a:latin typeface="Arial MT"/>
              <a:cs typeface="Arial MT"/>
            </a:endParaRPr>
          </a:p>
          <a:p>
            <a:pPr marL="278765" marR="5080" indent="-266700">
              <a:lnSpc>
                <a:spcPct val="100000"/>
              </a:lnSpc>
              <a:spcBef>
                <a:spcPts val="1275"/>
              </a:spcBef>
              <a:buChar char="•"/>
              <a:tabLst>
                <a:tab pos="278765" algn="l"/>
              </a:tabLst>
            </a:pPr>
            <a:r>
              <a:rPr dirty="0" sz="2100">
                <a:latin typeface="Arial MT"/>
                <a:cs typeface="Arial MT"/>
              </a:rPr>
              <a:t>We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do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this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by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setting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 spc="-20" b="1" i="1">
                <a:latin typeface="Arial"/>
                <a:cs typeface="Arial"/>
              </a:rPr>
              <a:t>random_state</a:t>
            </a:r>
            <a:r>
              <a:rPr dirty="0" sz="2100" spc="-70" b="1" i="1">
                <a:latin typeface="Arial"/>
                <a:cs typeface="Arial"/>
              </a:rPr>
              <a:t> </a:t>
            </a:r>
            <a:r>
              <a:rPr dirty="0" sz="2100" spc="-20">
                <a:latin typeface="Arial MT"/>
                <a:cs typeface="Arial MT"/>
              </a:rPr>
              <a:t>hyperparameter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in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the </a:t>
            </a:r>
            <a:r>
              <a:rPr dirty="0" sz="2100">
                <a:latin typeface="Arial MT"/>
                <a:cs typeface="Arial MT"/>
              </a:rPr>
              <a:t>call</a:t>
            </a:r>
            <a:r>
              <a:rPr dirty="0" sz="2100" spc="-6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to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classifier.</a:t>
            </a:r>
            <a:endParaRPr sz="2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8908" rIns="0" bIns="0" rtlCol="0" vert="horz">
            <a:spAutoFit/>
          </a:bodyPr>
          <a:lstStyle/>
          <a:p>
            <a:pPr marL="2116455" marR="5080" indent="-1104265">
              <a:lnSpc>
                <a:spcPct val="101400"/>
              </a:lnSpc>
              <a:spcBef>
                <a:spcPts val="55"/>
              </a:spcBef>
            </a:pPr>
            <a:r>
              <a:rPr dirty="0" b="0">
                <a:latin typeface="Arial MT"/>
                <a:cs typeface="Arial MT"/>
              </a:rPr>
              <a:t>Why</a:t>
            </a:r>
            <a:r>
              <a:rPr dirty="0" spc="-75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Are</a:t>
            </a:r>
            <a:r>
              <a:rPr dirty="0" spc="-80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Results</a:t>
            </a:r>
            <a:r>
              <a:rPr dirty="0" spc="-75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Different</a:t>
            </a:r>
            <a:r>
              <a:rPr dirty="0" spc="-75" b="0">
                <a:latin typeface="Arial MT"/>
                <a:cs typeface="Arial MT"/>
              </a:rPr>
              <a:t> </a:t>
            </a:r>
            <a:r>
              <a:rPr dirty="0" spc="-20" b="0">
                <a:latin typeface="Arial MT"/>
                <a:cs typeface="Arial MT"/>
              </a:rPr>
              <a:t>With </a:t>
            </a:r>
            <a:r>
              <a:rPr dirty="0" b="0">
                <a:latin typeface="Arial MT"/>
                <a:cs typeface="Arial MT"/>
              </a:rPr>
              <a:t>The</a:t>
            </a:r>
            <a:r>
              <a:rPr dirty="0" spc="-75" b="0">
                <a:latin typeface="Arial MT"/>
                <a:cs typeface="Arial MT"/>
              </a:rPr>
              <a:t> </a:t>
            </a:r>
            <a:r>
              <a:rPr dirty="0" b="0">
                <a:latin typeface="Arial MT"/>
                <a:cs typeface="Arial MT"/>
              </a:rPr>
              <a:t>Same</a:t>
            </a:r>
            <a:r>
              <a:rPr dirty="0" spc="-70" b="0">
                <a:latin typeface="Arial MT"/>
                <a:cs typeface="Arial MT"/>
              </a:rPr>
              <a:t> </a:t>
            </a:r>
            <a:r>
              <a:rPr dirty="0" spc="-10" b="0">
                <a:latin typeface="Arial MT"/>
                <a:cs typeface="Arial MT"/>
              </a:rPr>
              <a:t>Data?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839706" y="2392901"/>
            <a:ext cx="3929379" cy="4325620"/>
          </a:xfrm>
          <a:prstGeom prst="rect">
            <a:avLst/>
          </a:prstGeom>
          <a:ln w="39430">
            <a:solidFill>
              <a:srgbClr val="C00000"/>
            </a:solidFill>
          </a:ln>
        </p:spPr>
        <p:txBody>
          <a:bodyPr wrap="square" lIns="0" tIns="27940" rIns="0" bIns="0" rtlCol="0" vert="horz">
            <a:spAutoFit/>
          </a:bodyPr>
          <a:lstStyle/>
          <a:p>
            <a:pPr marL="360680" marR="120014" indent="-266700">
              <a:lnSpc>
                <a:spcPct val="101800"/>
              </a:lnSpc>
              <a:spcBef>
                <a:spcPts val="220"/>
              </a:spcBef>
              <a:buChar char="•"/>
              <a:tabLst>
                <a:tab pos="360680" algn="l"/>
              </a:tabLst>
            </a:pPr>
            <a:r>
              <a:rPr dirty="0" sz="2200" spc="-20">
                <a:latin typeface="Arial MT"/>
                <a:cs typeface="Arial MT"/>
              </a:rPr>
              <a:t>Machine</a:t>
            </a:r>
            <a:r>
              <a:rPr dirty="0" sz="2200" spc="-11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learning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algorithms </a:t>
            </a:r>
            <a:r>
              <a:rPr dirty="0" sz="2200">
                <a:latin typeface="Arial MT"/>
                <a:cs typeface="Arial MT"/>
              </a:rPr>
              <a:t>are</a:t>
            </a:r>
            <a:r>
              <a:rPr dirty="0" sz="2200" spc="-7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stochastic</a:t>
            </a:r>
            <a:r>
              <a:rPr dirty="0" sz="2200" spc="-6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in</a:t>
            </a:r>
            <a:r>
              <a:rPr dirty="0" sz="2200" spc="-6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practice</a:t>
            </a:r>
            <a:endParaRPr sz="2200">
              <a:latin typeface="Arial MT"/>
              <a:cs typeface="Arial MT"/>
            </a:endParaRPr>
          </a:p>
          <a:p>
            <a:pPr marL="360680" marR="311150" indent="-266700">
              <a:lnSpc>
                <a:spcPct val="100499"/>
              </a:lnSpc>
              <a:spcBef>
                <a:spcPts val="1165"/>
              </a:spcBef>
              <a:buChar char="•"/>
              <a:tabLst>
                <a:tab pos="360680" algn="l"/>
              </a:tabLst>
            </a:pPr>
            <a:r>
              <a:rPr dirty="0" sz="2200">
                <a:latin typeface="Arial MT"/>
                <a:cs typeface="Arial MT"/>
              </a:rPr>
              <a:t>Expect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there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to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be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range </a:t>
            </a:r>
            <a:r>
              <a:rPr dirty="0" sz="2200">
                <a:latin typeface="Arial MT"/>
                <a:cs typeface="Arial MT"/>
              </a:rPr>
              <a:t>of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models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to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choose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from </a:t>
            </a:r>
            <a:r>
              <a:rPr dirty="0" sz="2200">
                <a:latin typeface="Arial MT"/>
                <a:cs typeface="Arial MT"/>
              </a:rPr>
              <a:t>and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not</a:t>
            </a:r>
            <a:r>
              <a:rPr dirty="0" sz="2200" spc="-7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single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model.</a:t>
            </a:r>
            <a:endParaRPr sz="2200">
              <a:latin typeface="Arial MT"/>
              <a:cs typeface="Arial MT"/>
            </a:endParaRPr>
          </a:p>
          <a:p>
            <a:pPr marL="360680" marR="222250" indent="-266700">
              <a:lnSpc>
                <a:spcPct val="98600"/>
              </a:lnSpc>
              <a:spcBef>
                <a:spcPts val="1285"/>
              </a:spcBef>
              <a:buChar char="•"/>
              <a:tabLst>
                <a:tab pos="360680" algn="l"/>
              </a:tabLst>
            </a:pPr>
            <a:r>
              <a:rPr dirty="0" sz="2200">
                <a:latin typeface="Arial MT"/>
                <a:cs typeface="Arial MT"/>
              </a:rPr>
              <a:t>Expect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performance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to </a:t>
            </a:r>
            <a:r>
              <a:rPr dirty="0" sz="2200">
                <a:latin typeface="Arial MT"/>
                <a:cs typeface="Arial MT"/>
              </a:rPr>
              <a:t>be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range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and</a:t>
            </a:r>
            <a:r>
              <a:rPr dirty="0" sz="2200" spc="-7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not</a:t>
            </a:r>
            <a:r>
              <a:rPr dirty="0" sz="2200" spc="-6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single value.</a:t>
            </a:r>
            <a:endParaRPr sz="2200">
              <a:latin typeface="Arial MT"/>
              <a:cs typeface="Arial MT"/>
            </a:endParaRPr>
          </a:p>
          <a:p>
            <a:pPr marL="360680" marR="236220" indent="-266700">
              <a:lnSpc>
                <a:spcPct val="98600"/>
              </a:lnSpc>
              <a:spcBef>
                <a:spcPts val="1285"/>
              </a:spcBef>
              <a:buChar char="•"/>
              <a:tabLst>
                <a:tab pos="360680" algn="l"/>
              </a:tabLst>
            </a:pPr>
            <a:r>
              <a:rPr dirty="0" sz="2200" spc="-10">
                <a:latin typeface="Arial MT"/>
                <a:cs typeface="Arial MT"/>
              </a:rPr>
              <a:t>These</a:t>
            </a:r>
            <a:r>
              <a:rPr dirty="0" sz="2200" spc="-11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are</a:t>
            </a:r>
            <a:r>
              <a:rPr dirty="0" sz="2200" spc="-11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very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real </a:t>
            </a:r>
            <a:r>
              <a:rPr dirty="0" sz="2200" spc="-25">
                <a:latin typeface="Arial MT"/>
                <a:cs typeface="Arial MT"/>
              </a:rPr>
              <a:t>expectations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that</a:t>
            </a:r>
            <a:r>
              <a:rPr dirty="0" sz="2200" spc="-7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MUST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be addressed</a:t>
            </a:r>
            <a:r>
              <a:rPr dirty="0" sz="2200" spc="-6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in</a:t>
            </a:r>
            <a:r>
              <a:rPr dirty="0" sz="2200" spc="-6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practice.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11842" y="2033005"/>
            <a:ext cx="4581525" cy="4151629"/>
          </a:xfrm>
          <a:prstGeom prst="rect">
            <a:avLst/>
          </a:prstGeom>
          <a:ln w="39432">
            <a:solidFill>
              <a:srgbClr val="000000"/>
            </a:solidFill>
          </a:ln>
        </p:spPr>
        <p:txBody>
          <a:bodyPr wrap="square" lIns="0" tIns="34290" rIns="0" bIns="0" rtlCol="0" vert="horz">
            <a:spAutoFit/>
          </a:bodyPr>
          <a:lstStyle/>
          <a:p>
            <a:pPr marL="360045" indent="-265430">
              <a:lnSpc>
                <a:spcPct val="100000"/>
              </a:lnSpc>
              <a:spcBef>
                <a:spcPts val="270"/>
              </a:spcBef>
              <a:buChar char="•"/>
              <a:tabLst>
                <a:tab pos="360045" algn="l"/>
              </a:tabLst>
            </a:pPr>
            <a:r>
              <a:rPr dirty="0" sz="2200" spc="-10">
                <a:latin typeface="Arial MT"/>
                <a:cs typeface="Arial MT"/>
              </a:rPr>
              <a:t>Different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runs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of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an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algorithm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with</a:t>
            </a:r>
            <a:endParaRPr sz="2200">
              <a:latin typeface="Arial MT"/>
              <a:cs typeface="Arial MT"/>
            </a:endParaRPr>
          </a:p>
          <a:p>
            <a:pPr marL="360045" indent="-265430">
              <a:lnSpc>
                <a:spcPct val="100000"/>
              </a:lnSpc>
              <a:spcBef>
                <a:spcPts val="555"/>
              </a:spcBef>
              <a:buChar char="•"/>
              <a:tabLst>
                <a:tab pos="360045" algn="l"/>
              </a:tabLst>
            </a:pPr>
            <a:r>
              <a:rPr dirty="0" sz="2200" spc="-10">
                <a:latin typeface="Arial MT"/>
                <a:cs typeface="Arial MT"/>
              </a:rPr>
              <a:t>Different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random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numbers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give</a:t>
            </a:r>
            <a:endParaRPr sz="2200">
              <a:latin typeface="Arial MT"/>
              <a:cs typeface="Arial MT"/>
            </a:endParaRPr>
          </a:p>
          <a:p>
            <a:pPr marL="360045" indent="-265430">
              <a:lnSpc>
                <a:spcPct val="100000"/>
              </a:lnSpc>
              <a:spcBef>
                <a:spcPts val="455"/>
              </a:spcBef>
              <a:buChar char="•"/>
              <a:tabLst>
                <a:tab pos="360045" algn="l"/>
              </a:tabLst>
            </a:pPr>
            <a:r>
              <a:rPr dirty="0" sz="2200" spc="-10">
                <a:latin typeface="Arial MT"/>
                <a:cs typeface="Arial MT"/>
              </a:rPr>
              <a:t>Different</a:t>
            </a:r>
            <a:r>
              <a:rPr dirty="0" sz="2200" spc="-13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models</a:t>
            </a:r>
            <a:r>
              <a:rPr dirty="0" sz="2200" spc="-13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with</a:t>
            </a:r>
            <a:endParaRPr sz="2200">
              <a:latin typeface="Arial MT"/>
              <a:cs typeface="Arial MT"/>
            </a:endParaRPr>
          </a:p>
          <a:p>
            <a:pPr marL="360680" marR="1546225" indent="-266700">
              <a:lnSpc>
                <a:spcPts val="2590"/>
              </a:lnSpc>
              <a:spcBef>
                <a:spcPts val="705"/>
              </a:spcBef>
              <a:buChar char="•"/>
              <a:tabLst>
                <a:tab pos="360680" algn="l"/>
              </a:tabLst>
            </a:pPr>
            <a:r>
              <a:rPr dirty="0" sz="2200" spc="-10">
                <a:latin typeface="Arial MT"/>
                <a:cs typeface="Arial MT"/>
              </a:rPr>
              <a:t>Different</a:t>
            </a:r>
            <a:r>
              <a:rPr dirty="0" sz="2200" spc="-12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performance </a:t>
            </a:r>
            <a:r>
              <a:rPr dirty="0" sz="2200" spc="-10">
                <a:latin typeface="Arial MT"/>
                <a:cs typeface="Arial MT"/>
              </a:rPr>
              <a:t>characteristics</a:t>
            </a:r>
            <a:endParaRPr sz="2200">
              <a:latin typeface="Arial MT"/>
              <a:cs typeface="Arial MT"/>
            </a:endParaRPr>
          </a:p>
          <a:p>
            <a:pPr marL="360680" marR="302260" indent="-266700">
              <a:lnSpc>
                <a:spcPts val="2620"/>
              </a:lnSpc>
              <a:spcBef>
                <a:spcPts val="580"/>
              </a:spcBef>
              <a:buChar char="•"/>
              <a:tabLst>
                <a:tab pos="360680" algn="l"/>
              </a:tabLst>
            </a:pPr>
            <a:r>
              <a:rPr dirty="0" sz="2200">
                <a:latin typeface="Arial MT"/>
                <a:cs typeface="Arial MT"/>
              </a:rPr>
              <a:t>…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But</a:t>
            </a:r>
            <a:r>
              <a:rPr dirty="0" sz="2200" spc="-6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7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differences</a:t>
            </a:r>
            <a:r>
              <a:rPr dirty="0" sz="2200" spc="-7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are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within </a:t>
            </a:r>
            <a:r>
              <a:rPr dirty="0" sz="2200">
                <a:latin typeface="Arial MT"/>
                <a:cs typeface="Arial MT"/>
              </a:rPr>
              <a:t>a</a:t>
            </a:r>
            <a:r>
              <a:rPr dirty="0" sz="2200" spc="-4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range.</a:t>
            </a:r>
            <a:endParaRPr sz="2200">
              <a:latin typeface="Arial MT"/>
              <a:cs typeface="Arial MT"/>
            </a:endParaRPr>
          </a:p>
          <a:p>
            <a:pPr marL="360680" marR="541655" indent="-266700">
              <a:lnSpc>
                <a:spcPct val="100499"/>
              </a:lnSpc>
              <a:spcBef>
                <a:spcPts val="2345"/>
              </a:spcBef>
              <a:buChar char="•"/>
              <a:tabLst>
                <a:tab pos="360680" algn="l"/>
              </a:tabLst>
            </a:pP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11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proper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name</a:t>
            </a:r>
            <a:r>
              <a:rPr dirty="0" sz="2200" spc="-11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for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this difference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or</a:t>
            </a:r>
            <a:r>
              <a:rPr dirty="0" sz="2200" spc="-6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random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behavior </a:t>
            </a:r>
            <a:r>
              <a:rPr dirty="0" sz="2200">
                <a:latin typeface="Arial MT"/>
                <a:cs typeface="Arial MT"/>
              </a:rPr>
              <a:t>within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range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is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 spc="-10" i="1">
                <a:latin typeface="Arial"/>
                <a:cs typeface="Arial"/>
              </a:rPr>
              <a:t>stochastic</a:t>
            </a:r>
            <a:r>
              <a:rPr dirty="0" sz="2200" spc="-10">
                <a:latin typeface="Arial MT"/>
                <a:cs typeface="Arial MT"/>
              </a:rPr>
              <a:t>.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22229" rIns="0" bIns="0" rtlCol="0" vert="horz">
            <a:spAutoFit/>
          </a:bodyPr>
          <a:lstStyle/>
          <a:p>
            <a:pPr marL="1297940">
              <a:lnSpc>
                <a:spcPct val="100000"/>
              </a:lnSpc>
              <a:spcBef>
                <a:spcPts val="100"/>
              </a:spcBef>
            </a:pPr>
            <a:r>
              <a:rPr dirty="0" sz="2900" b="0">
                <a:latin typeface="Arial MT"/>
                <a:cs typeface="Arial MT"/>
              </a:rPr>
              <a:t>Feature</a:t>
            </a:r>
            <a:r>
              <a:rPr dirty="0" sz="2900" spc="-45" b="0">
                <a:latin typeface="Arial MT"/>
                <a:cs typeface="Arial MT"/>
              </a:rPr>
              <a:t> </a:t>
            </a:r>
            <a:r>
              <a:rPr dirty="0" sz="2900" spc="-10" b="0">
                <a:latin typeface="Arial MT"/>
                <a:cs typeface="Arial MT"/>
              </a:rPr>
              <a:t>Engineering</a:t>
            </a:r>
            <a:endParaRPr sz="29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85681" rIns="0" bIns="0" rtlCol="0" vert="horz">
            <a:spAutoFit/>
          </a:bodyPr>
          <a:lstStyle/>
          <a:p>
            <a:pPr marL="313690" marR="110489" indent="-266700">
              <a:lnSpc>
                <a:spcPct val="100000"/>
              </a:lnSpc>
              <a:spcBef>
                <a:spcPts val="100"/>
              </a:spcBef>
              <a:buChar char="•"/>
              <a:tabLst>
                <a:tab pos="313690" algn="l"/>
              </a:tabLst>
            </a:pP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The</a:t>
            </a:r>
            <a:r>
              <a:rPr dirty="0" spc="-8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feature</a:t>
            </a:r>
            <a:r>
              <a:rPr dirty="0" spc="-8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engineering</a:t>
            </a:r>
            <a:r>
              <a:rPr dirty="0" spc="-8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process</a:t>
            </a:r>
            <a:r>
              <a:rPr dirty="0" spc="-8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involves</a:t>
            </a:r>
            <a:r>
              <a:rPr dirty="0" spc="-8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selecting</a:t>
            </a:r>
            <a:r>
              <a:rPr dirty="0" spc="-8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pc="-25" b="0">
                <a:solidFill>
                  <a:srgbClr val="000000"/>
                </a:solidFill>
                <a:latin typeface="Arial MT"/>
                <a:cs typeface="Arial MT"/>
              </a:rPr>
              <a:t>the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minimum</a:t>
            </a:r>
            <a:r>
              <a:rPr dirty="0" spc="-8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required</a:t>
            </a:r>
            <a:r>
              <a:rPr dirty="0" spc="-7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features</a:t>
            </a:r>
            <a:r>
              <a:rPr dirty="0" spc="-7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to</a:t>
            </a:r>
            <a:r>
              <a:rPr dirty="0" spc="-8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produce</a:t>
            </a:r>
            <a:r>
              <a:rPr dirty="0" spc="-7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a</a:t>
            </a:r>
            <a:r>
              <a:rPr dirty="0" spc="-7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valid</a:t>
            </a:r>
            <a:r>
              <a:rPr dirty="0" spc="-8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pc="-10" b="0">
                <a:solidFill>
                  <a:srgbClr val="000000"/>
                </a:solidFill>
                <a:latin typeface="Arial MT"/>
                <a:cs typeface="Arial MT"/>
              </a:rPr>
              <a:t>model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because</a:t>
            </a:r>
            <a:r>
              <a:rPr dirty="0" spc="-7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the</a:t>
            </a:r>
            <a:r>
              <a:rPr dirty="0" spc="-7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more</a:t>
            </a:r>
            <a:r>
              <a:rPr dirty="0" spc="-6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features</a:t>
            </a:r>
            <a:r>
              <a:rPr dirty="0" spc="-7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a</a:t>
            </a:r>
            <a:r>
              <a:rPr dirty="0" spc="-6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model</a:t>
            </a:r>
            <a:r>
              <a:rPr dirty="0" spc="-6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contains,</a:t>
            </a:r>
            <a:r>
              <a:rPr dirty="0" spc="-7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the</a:t>
            </a:r>
            <a:r>
              <a:rPr dirty="0" spc="-6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pc="-20" b="0">
                <a:solidFill>
                  <a:srgbClr val="000000"/>
                </a:solidFill>
                <a:latin typeface="Arial MT"/>
                <a:cs typeface="Arial MT"/>
              </a:rPr>
              <a:t>more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complex</a:t>
            </a:r>
            <a:r>
              <a:rPr dirty="0" spc="-7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it</a:t>
            </a:r>
            <a:r>
              <a:rPr dirty="0" spc="-7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is</a:t>
            </a:r>
            <a:r>
              <a:rPr dirty="0" spc="-6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(and</a:t>
            </a:r>
            <a:r>
              <a:rPr dirty="0" spc="-6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the</a:t>
            </a:r>
            <a:r>
              <a:rPr dirty="0" spc="-6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more</a:t>
            </a:r>
            <a:r>
              <a:rPr dirty="0" spc="-6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sparse</a:t>
            </a:r>
            <a:r>
              <a:rPr dirty="0" spc="-7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the</a:t>
            </a:r>
            <a:r>
              <a:rPr dirty="0" spc="-6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data),</a:t>
            </a:r>
            <a:r>
              <a:rPr dirty="0" spc="-6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pc="-10" b="0">
                <a:solidFill>
                  <a:srgbClr val="000000"/>
                </a:solidFill>
                <a:latin typeface="Arial MT"/>
                <a:cs typeface="Arial MT"/>
              </a:rPr>
              <a:t>therefore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the</a:t>
            </a:r>
            <a:r>
              <a:rPr dirty="0" spc="-6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more</a:t>
            </a:r>
            <a:r>
              <a:rPr dirty="0" spc="-6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sensitive</a:t>
            </a:r>
            <a:r>
              <a:rPr dirty="0" spc="-6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the</a:t>
            </a:r>
            <a:r>
              <a:rPr dirty="0" spc="-6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model</a:t>
            </a:r>
            <a:r>
              <a:rPr dirty="0" spc="-5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is</a:t>
            </a:r>
            <a:r>
              <a:rPr dirty="0" spc="-6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to</a:t>
            </a:r>
            <a:r>
              <a:rPr dirty="0" spc="-6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errors</a:t>
            </a:r>
            <a:r>
              <a:rPr dirty="0" spc="-6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due</a:t>
            </a:r>
            <a:r>
              <a:rPr dirty="0" spc="-6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to</a:t>
            </a:r>
            <a:r>
              <a:rPr dirty="0" spc="-6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pc="-10" b="0">
                <a:solidFill>
                  <a:srgbClr val="000000"/>
                </a:solidFill>
                <a:latin typeface="Arial MT"/>
                <a:cs typeface="Arial MT"/>
              </a:rPr>
              <a:t>variance.</a:t>
            </a:r>
          </a:p>
          <a:p>
            <a:pPr marL="313690" marR="5080" indent="-266700">
              <a:lnSpc>
                <a:spcPct val="100000"/>
              </a:lnSpc>
              <a:spcBef>
                <a:spcPts val="1895"/>
              </a:spcBef>
              <a:buChar char="•"/>
              <a:tabLst>
                <a:tab pos="313690" algn="l"/>
              </a:tabLst>
            </a:pP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A</a:t>
            </a:r>
            <a:r>
              <a:rPr dirty="0" spc="-7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common</a:t>
            </a:r>
            <a:r>
              <a:rPr dirty="0" spc="-6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approach</a:t>
            </a:r>
            <a:r>
              <a:rPr dirty="0" spc="-6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to</a:t>
            </a:r>
            <a:r>
              <a:rPr dirty="0" spc="-6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eliminating</a:t>
            </a:r>
            <a:r>
              <a:rPr dirty="0" spc="-6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features</a:t>
            </a:r>
            <a:r>
              <a:rPr dirty="0" spc="-6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is</a:t>
            </a:r>
            <a:r>
              <a:rPr dirty="0" spc="-6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to</a:t>
            </a:r>
            <a:r>
              <a:rPr dirty="0" spc="-6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find</a:t>
            </a:r>
            <a:r>
              <a:rPr dirty="0" spc="-6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pc="-10" b="0">
                <a:solidFill>
                  <a:srgbClr val="000000"/>
                </a:solidFill>
                <a:latin typeface="Arial MT"/>
                <a:cs typeface="Arial MT"/>
              </a:rPr>
              <a:t>their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relative</a:t>
            </a:r>
            <a:r>
              <a:rPr dirty="0" spc="-10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importance,</a:t>
            </a:r>
            <a:r>
              <a:rPr dirty="0" spc="-10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then</a:t>
            </a:r>
            <a:r>
              <a:rPr dirty="0" spc="-8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pc="-10">
                <a:solidFill>
                  <a:srgbClr val="000000"/>
                </a:solidFill>
              </a:rPr>
              <a:t>eliminate</a:t>
            </a:r>
            <a:r>
              <a:rPr dirty="0" spc="-9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weak</a:t>
            </a:r>
            <a:r>
              <a:rPr dirty="0" spc="-9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features</a:t>
            </a:r>
            <a:r>
              <a:rPr dirty="0" spc="-110">
                <a:solidFill>
                  <a:srgbClr val="000000"/>
                </a:solidFill>
              </a:rPr>
              <a:t> </a:t>
            </a:r>
            <a:r>
              <a:rPr dirty="0" spc="-25" b="0">
                <a:solidFill>
                  <a:srgbClr val="000000"/>
                </a:solidFill>
                <a:latin typeface="Arial MT"/>
                <a:cs typeface="Arial MT"/>
              </a:rPr>
              <a:t>or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combinations</a:t>
            </a:r>
            <a:r>
              <a:rPr dirty="0" spc="-7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of</a:t>
            </a:r>
            <a:r>
              <a:rPr dirty="0" spc="-7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features</a:t>
            </a:r>
            <a:r>
              <a:rPr dirty="0" spc="-6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and</a:t>
            </a:r>
            <a:r>
              <a:rPr dirty="0" spc="-6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pc="-20" b="0">
                <a:solidFill>
                  <a:srgbClr val="000000"/>
                </a:solidFill>
                <a:latin typeface="Arial MT"/>
                <a:cs typeface="Arial MT"/>
              </a:rPr>
              <a:t>re-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evalute</a:t>
            </a:r>
            <a:r>
              <a:rPr dirty="0" spc="-6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to</a:t>
            </a:r>
            <a:r>
              <a:rPr dirty="0" spc="-7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see</a:t>
            </a:r>
            <a:r>
              <a:rPr dirty="0" spc="-6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if</a:t>
            </a:r>
            <a:r>
              <a:rPr dirty="0" spc="-6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pc="-25" b="0">
                <a:solidFill>
                  <a:srgbClr val="000000"/>
                </a:solidFill>
                <a:latin typeface="Arial MT"/>
                <a:cs typeface="Arial MT"/>
              </a:rPr>
              <a:t>the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model</a:t>
            </a:r>
            <a:r>
              <a:rPr dirty="0" spc="-7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fares</a:t>
            </a:r>
            <a:r>
              <a:rPr dirty="0" spc="-7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better</a:t>
            </a:r>
            <a:r>
              <a:rPr dirty="0" spc="-7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during</a:t>
            </a:r>
            <a:r>
              <a:rPr dirty="0" spc="-7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pc="-20" b="0">
                <a:solidFill>
                  <a:srgbClr val="000000"/>
                </a:solidFill>
                <a:latin typeface="Arial MT"/>
                <a:cs typeface="Arial MT"/>
              </a:rPr>
              <a:t>cross-</a:t>
            </a:r>
            <a:r>
              <a:rPr dirty="0" spc="-10" b="0">
                <a:solidFill>
                  <a:srgbClr val="000000"/>
                </a:solidFill>
                <a:latin typeface="Arial MT"/>
                <a:cs typeface="Arial MT"/>
              </a:rPr>
              <a:t>validation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28839" rIns="0" bIns="0" rtlCol="0" vert="horz">
            <a:spAutoFit/>
          </a:bodyPr>
          <a:lstStyle/>
          <a:p>
            <a:pPr marL="184531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262673"/>
                </a:solidFill>
              </a:rPr>
              <a:t>Feature</a:t>
            </a:r>
            <a:r>
              <a:rPr dirty="0" spc="-140">
                <a:solidFill>
                  <a:srgbClr val="262673"/>
                </a:solidFill>
              </a:rPr>
              <a:t> </a:t>
            </a:r>
            <a:r>
              <a:rPr dirty="0" spc="-10">
                <a:solidFill>
                  <a:srgbClr val="262673"/>
                </a:solidFill>
              </a:rPr>
              <a:t>Filter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195800" y="1812401"/>
            <a:ext cx="7867015" cy="45612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8765" marR="495934" indent="-266700">
              <a:lnSpc>
                <a:spcPct val="100000"/>
              </a:lnSpc>
              <a:spcBef>
                <a:spcPts val="100"/>
              </a:spcBef>
              <a:buChar char="•"/>
              <a:tabLst>
                <a:tab pos="278765" algn="l"/>
              </a:tabLst>
            </a:pPr>
            <a:r>
              <a:rPr dirty="0" sz="2500">
                <a:latin typeface="Arial MT"/>
                <a:cs typeface="Arial MT"/>
              </a:rPr>
              <a:t>There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is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FF0000"/>
                </a:solidFill>
                <a:latin typeface="Arial MT"/>
                <a:cs typeface="Arial MT"/>
              </a:rPr>
              <a:t>feature</a:t>
            </a:r>
            <a:r>
              <a:rPr dirty="0" sz="2500" spc="-6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FF0000"/>
                </a:solidFill>
                <a:latin typeface="Arial MT"/>
                <a:cs typeface="Arial MT"/>
              </a:rPr>
              <a:t>filter</a:t>
            </a:r>
            <a:r>
              <a:rPr dirty="0" sz="2500" spc="-5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function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in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sample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 spc="-20">
                <a:latin typeface="Arial MT"/>
                <a:cs typeface="Arial MT"/>
              </a:rPr>
              <a:t>code </a:t>
            </a:r>
            <a:r>
              <a:rPr dirty="0" sz="2500">
                <a:latin typeface="Arial MT"/>
                <a:cs typeface="Arial MT"/>
              </a:rPr>
              <a:t>local</a:t>
            </a:r>
            <a:r>
              <a:rPr dirty="0" sz="2500" spc="-4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library</a:t>
            </a:r>
            <a:endParaRPr sz="2500">
              <a:latin typeface="Arial MT"/>
              <a:cs typeface="Arial MT"/>
            </a:endParaRPr>
          </a:p>
          <a:p>
            <a:pPr algn="just" marL="278765" marR="249554" indent="-266700">
              <a:lnSpc>
                <a:spcPct val="100400"/>
              </a:lnSpc>
              <a:spcBef>
                <a:spcPts val="1885"/>
              </a:spcBef>
              <a:buChar char="•"/>
              <a:tabLst>
                <a:tab pos="278765" algn="l"/>
              </a:tabLst>
            </a:pPr>
            <a:r>
              <a:rPr dirty="0" sz="2500">
                <a:latin typeface="Arial MT"/>
                <a:cs typeface="Arial MT"/>
              </a:rPr>
              <a:t>It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selects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all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of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features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with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FF0000"/>
                </a:solidFill>
                <a:latin typeface="Arial MT"/>
                <a:cs typeface="Arial MT"/>
              </a:rPr>
              <a:t>Pearson</a:t>
            </a:r>
            <a:r>
              <a:rPr dirty="0" sz="2500" spc="-5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or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 spc="-10">
                <a:solidFill>
                  <a:srgbClr val="FF0000"/>
                </a:solidFill>
                <a:latin typeface="Arial MT"/>
                <a:cs typeface="Arial MT"/>
              </a:rPr>
              <a:t>Mutual </a:t>
            </a:r>
            <a:r>
              <a:rPr dirty="0" sz="2500">
                <a:solidFill>
                  <a:srgbClr val="FF0000"/>
                </a:solidFill>
                <a:latin typeface="Arial MT"/>
                <a:cs typeface="Arial MT"/>
              </a:rPr>
              <a:t>Information</a:t>
            </a:r>
            <a:r>
              <a:rPr dirty="0" sz="2500" spc="-9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correlation</a:t>
            </a:r>
            <a:r>
              <a:rPr dirty="0" sz="2500" spc="-9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with</a:t>
            </a:r>
            <a:r>
              <a:rPr dirty="0" sz="2500" spc="-9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9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target</a:t>
            </a:r>
            <a:r>
              <a:rPr dirty="0" sz="2500" spc="-10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variable</a:t>
            </a:r>
            <a:r>
              <a:rPr dirty="0" sz="2500" spc="-9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that</a:t>
            </a:r>
            <a:r>
              <a:rPr dirty="0" sz="2500" spc="-100">
                <a:latin typeface="Arial MT"/>
                <a:cs typeface="Arial MT"/>
              </a:rPr>
              <a:t> </a:t>
            </a:r>
            <a:r>
              <a:rPr dirty="0" sz="2500" spc="-25">
                <a:latin typeface="Arial MT"/>
                <a:cs typeface="Arial MT"/>
              </a:rPr>
              <a:t>is </a:t>
            </a:r>
            <a:r>
              <a:rPr dirty="0" sz="2500">
                <a:latin typeface="Arial MT"/>
                <a:cs typeface="Arial MT"/>
              </a:rPr>
              <a:t>less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than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</a:t>
            </a:r>
            <a:r>
              <a:rPr dirty="0" sz="2500" spc="-4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given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threshold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(or</a:t>
            </a:r>
            <a:r>
              <a:rPr dirty="0" sz="2500" spc="-4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“floor”)</a:t>
            </a:r>
            <a:endParaRPr sz="2500">
              <a:latin typeface="Arial MT"/>
              <a:cs typeface="Arial MT"/>
            </a:endParaRPr>
          </a:p>
          <a:p>
            <a:pPr marL="278765" marR="5080" indent="-266700">
              <a:lnSpc>
                <a:spcPct val="100299"/>
              </a:lnSpc>
              <a:spcBef>
                <a:spcPts val="1860"/>
              </a:spcBef>
              <a:buChar char="•"/>
              <a:tabLst>
                <a:tab pos="278765" algn="l"/>
              </a:tabLst>
            </a:pPr>
            <a:r>
              <a:rPr dirty="0" sz="2500">
                <a:latin typeface="Arial MT"/>
                <a:cs typeface="Arial MT"/>
              </a:rPr>
              <a:t>Low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correlation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with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target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variable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means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these </a:t>
            </a:r>
            <a:r>
              <a:rPr dirty="0" sz="2500">
                <a:latin typeface="Arial MT"/>
                <a:cs typeface="Arial MT"/>
              </a:rPr>
              <a:t>features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FF0000"/>
                </a:solidFill>
                <a:latin typeface="Arial MT"/>
                <a:cs typeface="Arial MT"/>
              </a:rPr>
              <a:t>are</a:t>
            </a:r>
            <a:r>
              <a:rPr dirty="0" sz="2500" spc="-7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FF0000"/>
                </a:solidFill>
                <a:latin typeface="Arial MT"/>
                <a:cs typeface="Arial MT"/>
              </a:rPr>
              <a:t>not</a:t>
            </a:r>
            <a:r>
              <a:rPr dirty="0" sz="2500" spc="-7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FF0000"/>
                </a:solidFill>
                <a:latin typeface="Arial MT"/>
                <a:cs typeface="Arial MT"/>
              </a:rPr>
              <a:t>very</a:t>
            </a:r>
            <a:r>
              <a:rPr dirty="0" sz="2500" spc="-8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FF0000"/>
                </a:solidFill>
                <a:latin typeface="Arial MT"/>
                <a:cs typeface="Arial MT"/>
              </a:rPr>
              <a:t>valuable</a:t>
            </a:r>
            <a:r>
              <a:rPr dirty="0" sz="2500" spc="-8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as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predictors</a:t>
            </a:r>
            <a:r>
              <a:rPr dirty="0" sz="2500" spc="-85">
                <a:latin typeface="Arial MT"/>
                <a:cs typeface="Arial MT"/>
              </a:rPr>
              <a:t> </a:t>
            </a:r>
            <a:r>
              <a:rPr dirty="0" sz="2500" spc="-25" i="1">
                <a:latin typeface="Arial"/>
                <a:cs typeface="Arial"/>
              </a:rPr>
              <a:t>by </a:t>
            </a:r>
            <a:r>
              <a:rPr dirty="0" sz="2500" i="1">
                <a:latin typeface="Arial"/>
                <a:cs typeface="Arial"/>
              </a:rPr>
              <a:t>themselves</a:t>
            </a:r>
            <a:r>
              <a:rPr dirty="0" sz="2500" spc="-70" i="1">
                <a:latin typeface="Arial"/>
                <a:cs typeface="Arial"/>
              </a:rPr>
              <a:t> </a:t>
            </a:r>
            <a:r>
              <a:rPr dirty="0" sz="2500" i="1">
                <a:latin typeface="Arial"/>
                <a:cs typeface="Arial"/>
              </a:rPr>
              <a:t>(we</a:t>
            </a:r>
            <a:r>
              <a:rPr dirty="0" sz="2500" spc="-65" i="1">
                <a:latin typeface="Arial"/>
                <a:cs typeface="Arial"/>
              </a:rPr>
              <a:t> </a:t>
            </a:r>
            <a:r>
              <a:rPr dirty="0" sz="2500" i="1">
                <a:latin typeface="Arial"/>
                <a:cs typeface="Arial"/>
              </a:rPr>
              <a:t>can’t</a:t>
            </a:r>
            <a:r>
              <a:rPr dirty="0" sz="2500" spc="-65" i="1">
                <a:latin typeface="Arial"/>
                <a:cs typeface="Arial"/>
              </a:rPr>
              <a:t> </a:t>
            </a:r>
            <a:r>
              <a:rPr dirty="0" sz="2500" i="1">
                <a:latin typeface="Arial"/>
                <a:cs typeface="Arial"/>
              </a:rPr>
              <a:t>say</a:t>
            </a:r>
            <a:r>
              <a:rPr dirty="0" sz="2500" spc="-70" i="1">
                <a:latin typeface="Arial"/>
                <a:cs typeface="Arial"/>
              </a:rPr>
              <a:t> </a:t>
            </a:r>
            <a:r>
              <a:rPr dirty="0" sz="2500" i="1">
                <a:latin typeface="Arial"/>
                <a:cs typeface="Arial"/>
              </a:rPr>
              <a:t>if</a:t>
            </a:r>
            <a:r>
              <a:rPr dirty="0" sz="2500" spc="-65" i="1">
                <a:latin typeface="Arial"/>
                <a:cs typeface="Arial"/>
              </a:rPr>
              <a:t> </a:t>
            </a:r>
            <a:r>
              <a:rPr dirty="0" sz="2500" i="1">
                <a:latin typeface="Arial"/>
                <a:cs typeface="Arial"/>
              </a:rPr>
              <a:t>they</a:t>
            </a:r>
            <a:r>
              <a:rPr dirty="0" sz="2500" spc="-65" i="1">
                <a:latin typeface="Arial"/>
                <a:cs typeface="Arial"/>
              </a:rPr>
              <a:t> </a:t>
            </a:r>
            <a:r>
              <a:rPr dirty="0" sz="2500" i="1">
                <a:latin typeface="Arial"/>
                <a:cs typeface="Arial"/>
              </a:rPr>
              <a:t>are</a:t>
            </a:r>
            <a:r>
              <a:rPr dirty="0" sz="2500" spc="-65" i="1">
                <a:latin typeface="Arial"/>
                <a:cs typeface="Arial"/>
              </a:rPr>
              <a:t> </a:t>
            </a:r>
            <a:r>
              <a:rPr dirty="0" sz="2500" i="1">
                <a:latin typeface="Arial"/>
                <a:cs typeface="Arial"/>
              </a:rPr>
              <a:t>more</a:t>
            </a:r>
            <a:r>
              <a:rPr dirty="0" sz="2500" spc="-70" i="1">
                <a:latin typeface="Arial"/>
                <a:cs typeface="Arial"/>
              </a:rPr>
              <a:t> </a:t>
            </a:r>
            <a:r>
              <a:rPr dirty="0" sz="2500" i="1">
                <a:latin typeface="Arial"/>
                <a:cs typeface="Arial"/>
              </a:rPr>
              <a:t>useful</a:t>
            </a:r>
            <a:r>
              <a:rPr dirty="0" sz="2500" spc="-55" i="1">
                <a:latin typeface="Arial"/>
                <a:cs typeface="Arial"/>
              </a:rPr>
              <a:t> </a:t>
            </a:r>
            <a:r>
              <a:rPr dirty="0" sz="2500" spc="-20" i="1">
                <a:latin typeface="Arial"/>
                <a:cs typeface="Arial"/>
              </a:rPr>
              <a:t>when </a:t>
            </a:r>
            <a:r>
              <a:rPr dirty="0" sz="2500" i="1">
                <a:latin typeface="Arial"/>
                <a:cs typeface="Arial"/>
              </a:rPr>
              <a:t>combined</a:t>
            </a:r>
            <a:r>
              <a:rPr dirty="0" sz="2500" spc="-80" i="1">
                <a:latin typeface="Arial"/>
                <a:cs typeface="Arial"/>
              </a:rPr>
              <a:t> </a:t>
            </a:r>
            <a:r>
              <a:rPr dirty="0" sz="2500" i="1">
                <a:latin typeface="Arial"/>
                <a:cs typeface="Arial"/>
              </a:rPr>
              <a:t>with</a:t>
            </a:r>
            <a:r>
              <a:rPr dirty="0" sz="2500" spc="-80" i="1">
                <a:latin typeface="Arial"/>
                <a:cs typeface="Arial"/>
              </a:rPr>
              <a:t> </a:t>
            </a:r>
            <a:r>
              <a:rPr dirty="0" sz="2500" i="1">
                <a:latin typeface="Arial"/>
                <a:cs typeface="Arial"/>
              </a:rPr>
              <a:t>other</a:t>
            </a:r>
            <a:r>
              <a:rPr dirty="0" sz="2500" spc="-80" i="1">
                <a:latin typeface="Arial"/>
                <a:cs typeface="Arial"/>
              </a:rPr>
              <a:t> </a:t>
            </a:r>
            <a:r>
              <a:rPr dirty="0" sz="2500" spc="-10" i="1">
                <a:latin typeface="Arial"/>
                <a:cs typeface="Arial"/>
              </a:rPr>
              <a:t>variables)</a:t>
            </a:r>
            <a:endParaRPr sz="2500">
              <a:latin typeface="Arial"/>
              <a:cs typeface="Arial"/>
            </a:endParaRPr>
          </a:p>
          <a:p>
            <a:pPr marL="278130" indent="-265430">
              <a:lnSpc>
                <a:spcPct val="100000"/>
              </a:lnSpc>
              <a:spcBef>
                <a:spcPts val="1900"/>
              </a:spcBef>
              <a:buFont typeface="Arial MT"/>
              <a:buChar char="•"/>
              <a:tabLst>
                <a:tab pos="278130" algn="l"/>
              </a:tabLst>
            </a:pPr>
            <a:r>
              <a:rPr dirty="0" sz="2500" i="1">
                <a:latin typeface="Arial"/>
                <a:cs typeface="Arial"/>
              </a:rPr>
              <a:t>Nonetheless,</a:t>
            </a:r>
            <a:r>
              <a:rPr dirty="0" sz="2500" spc="-75" i="1">
                <a:latin typeface="Arial"/>
                <a:cs typeface="Arial"/>
              </a:rPr>
              <a:t> </a:t>
            </a:r>
            <a:r>
              <a:rPr dirty="0" sz="2500" i="1">
                <a:latin typeface="Arial"/>
                <a:cs typeface="Arial"/>
              </a:rPr>
              <a:t>this</a:t>
            </a:r>
            <a:r>
              <a:rPr dirty="0" sz="2500" spc="-75" i="1">
                <a:latin typeface="Arial"/>
                <a:cs typeface="Arial"/>
              </a:rPr>
              <a:t> </a:t>
            </a:r>
            <a:r>
              <a:rPr dirty="0" sz="2500" i="1">
                <a:latin typeface="Arial"/>
                <a:cs typeface="Arial"/>
              </a:rPr>
              <a:t>is</a:t>
            </a:r>
            <a:r>
              <a:rPr dirty="0" sz="2500" spc="-75" i="1">
                <a:latin typeface="Arial"/>
                <a:cs typeface="Arial"/>
              </a:rPr>
              <a:t> </a:t>
            </a:r>
            <a:r>
              <a:rPr dirty="0" sz="2500" i="1">
                <a:latin typeface="Arial"/>
                <a:cs typeface="Arial"/>
              </a:rPr>
              <a:t>a</a:t>
            </a:r>
            <a:r>
              <a:rPr dirty="0" sz="2500" spc="-70" i="1">
                <a:latin typeface="Arial"/>
                <a:cs typeface="Arial"/>
              </a:rPr>
              <a:t> </a:t>
            </a:r>
            <a:r>
              <a:rPr dirty="0" sz="2500" i="1">
                <a:latin typeface="Arial"/>
                <a:cs typeface="Arial"/>
              </a:rPr>
              <a:t>commonly</a:t>
            </a:r>
            <a:r>
              <a:rPr dirty="0" sz="2500" spc="-75" i="1">
                <a:latin typeface="Arial"/>
                <a:cs typeface="Arial"/>
              </a:rPr>
              <a:t> </a:t>
            </a:r>
            <a:r>
              <a:rPr dirty="0" sz="2500" i="1">
                <a:latin typeface="Arial"/>
                <a:cs typeface="Arial"/>
              </a:rPr>
              <a:t>used</a:t>
            </a:r>
            <a:r>
              <a:rPr dirty="0" sz="2500" spc="-70" i="1">
                <a:latin typeface="Arial"/>
                <a:cs typeface="Arial"/>
              </a:rPr>
              <a:t> </a:t>
            </a:r>
            <a:r>
              <a:rPr dirty="0" sz="2500" spc="-10" i="1">
                <a:latin typeface="Arial"/>
                <a:cs typeface="Arial"/>
              </a:rPr>
              <a:t>technique</a:t>
            </a:r>
            <a:endParaRPr sz="2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32400" rIns="0" bIns="0" rtlCol="0" vert="horz">
            <a:spAutoFit/>
          </a:bodyPr>
          <a:lstStyle/>
          <a:p>
            <a:pPr marL="1110615">
              <a:lnSpc>
                <a:spcPct val="100000"/>
              </a:lnSpc>
              <a:spcBef>
                <a:spcPts val="100"/>
              </a:spcBef>
            </a:pPr>
            <a:r>
              <a:rPr dirty="0" sz="2700"/>
              <a:t>Hyperparameter</a:t>
            </a:r>
            <a:r>
              <a:rPr dirty="0" sz="2700" spc="-140"/>
              <a:t> </a:t>
            </a:r>
            <a:r>
              <a:rPr dirty="0" sz="2700" spc="-10"/>
              <a:t>tuning</a:t>
            </a:r>
            <a:endParaRPr sz="2700"/>
          </a:p>
        </p:txBody>
      </p:sp>
      <p:sp>
        <p:nvSpPr>
          <p:cNvPr id="3" name="object 3" descr=""/>
          <p:cNvSpPr txBox="1"/>
          <p:nvPr/>
        </p:nvSpPr>
        <p:spPr>
          <a:xfrm>
            <a:off x="1678796" y="1802264"/>
            <a:ext cx="7204075" cy="4716780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278765" marR="5080" indent="-266700">
              <a:lnSpc>
                <a:spcPts val="2500"/>
              </a:lnSpc>
              <a:spcBef>
                <a:spcPts val="200"/>
              </a:spcBef>
              <a:buChar char="•"/>
              <a:tabLst>
                <a:tab pos="278765" algn="l"/>
              </a:tabLst>
            </a:pPr>
            <a:r>
              <a:rPr dirty="0" sz="2100">
                <a:latin typeface="Arial MT"/>
                <a:cs typeface="Arial MT"/>
              </a:rPr>
              <a:t>Creating</a:t>
            </a:r>
            <a:r>
              <a:rPr dirty="0" sz="2100" spc="-10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10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machine</a:t>
            </a:r>
            <a:r>
              <a:rPr dirty="0" sz="2100" spc="-10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learning</a:t>
            </a:r>
            <a:r>
              <a:rPr dirty="0" sz="2100" spc="-10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model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requires</a:t>
            </a:r>
            <a:r>
              <a:rPr dirty="0" sz="2100" spc="-10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design</a:t>
            </a:r>
            <a:r>
              <a:rPr dirty="0" sz="2100" spc="-10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choices </a:t>
            </a:r>
            <a:r>
              <a:rPr dirty="0" sz="2100">
                <a:latin typeface="Arial MT"/>
                <a:cs typeface="Arial MT"/>
              </a:rPr>
              <a:t>as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to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how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to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define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model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architecture</a:t>
            </a:r>
            <a:endParaRPr sz="2100">
              <a:latin typeface="Arial MT"/>
              <a:cs typeface="Arial MT"/>
            </a:endParaRPr>
          </a:p>
          <a:p>
            <a:pPr marL="278765" marR="19685" indent="-266700">
              <a:lnSpc>
                <a:spcPct val="99500"/>
              </a:lnSpc>
              <a:spcBef>
                <a:spcPts val="1800"/>
              </a:spcBef>
              <a:buChar char="•"/>
              <a:tabLst>
                <a:tab pos="278765" algn="l"/>
              </a:tabLst>
            </a:pPr>
            <a:r>
              <a:rPr dirty="0" sz="2100" spc="-10">
                <a:latin typeface="Arial MT"/>
                <a:cs typeface="Arial MT"/>
              </a:rPr>
              <a:t>Where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 spc="-10" b="1" i="1">
                <a:latin typeface="Arial"/>
                <a:cs typeface="Arial"/>
              </a:rPr>
              <a:t>model</a:t>
            </a:r>
            <a:r>
              <a:rPr dirty="0" sz="2100" spc="-80" b="1" i="1">
                <a:latin typeface="Arial"/>
                <a:cs typeface="Arial"/>
              </a:rPr>
              <a:t> </a:t>
            </a:r>
            <a:r>
              <a:rPr dirty="0" sz="2100" spc="-20" b="1" i="1">
                <a:latin typeface="Arial"/>
                <a:cs typeface="Arial"/>
              </a:rPr>
              <a:t>parameters</a:t>
            </a:r>
            <a:r>
              <a:rPr dirty="0" sz="2100" spc="-75" b="1" i="1">
                <a:latin typeface="Arial"/>
                <a:cs typeface="Arial"/>
              </a:rPr>
              <a:t> </a:t>
            </a:r>
            <a:r>
              <a:rPr dirty="0" sz="2100" spc="-10">
                <a:latin typeface="Arial MT"/>
                <a:cs typeface="Arial MT"/>
              </a:rPr>
              <a:t>specify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how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to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transform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the </a:t>
            </a:r>
            <a:r>
              <a:rPr dirty="0" sz="2100">
                <a:latin typeface="Arial MT"/>
                <a:cs typeface="Arial MT"/>
              </a:rPr>
              <a:t>input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data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into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desired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output,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 spc="-10" b="1" i="1">
                <a:latin typeface="Arial"/>
                <a:cs typeface="Arial"/>
              </a:rPr>
              <a:t>hyperparameters </a:t>
            </a:r>
            <a:r>
              <a:rPr dirty="0" sz="2100">
                <a:latin typeface="Arial MT"/>
                <a:cs typeface="Arial MT"/>
              </a:rPr>
              <a:t>define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how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our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model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actually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structured.</a:t>
            </a:r>
            <a:endParaRPr sz="2100">
              <a:latin typeface="Arial MT"/>
              <a:cs typeface="Arial MT"/>
            </a:endParaRPr>
          </a:p>
          <a:p>
            <a:pPr lvl="1" marL="588645" indent="-221615">
              <a:lnSpc>
                <a:spcPct val="100000"/>
              </a:lnSpc>
              <a:spcBef>
                <a:spcPts val="575"/>
              </a:spcBef>
              <a:buChar char="–"/>
              <a:tabLst>
                <a:tab pos="588645" algn="l"/>
              </a:tabLst>
            </a:pPr>
            <a:r>
              <a:rPr dirty="0" sz="2100" spc="-20">
                <a:latin typeface="Arial MT"/>
                <a:cs typeface="Arial MT"/>
              </a:rPr>
              <a:t>hyperparameters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define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model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architecture</a:t>
            </a:r>
            <a:endParaRPr sz="2100">
              <a:latin typeface="Arial MT"/>
              <a:cs typeface="Arial MT"/>
            </a:endParaRPr>
          </a:p>
          <a:p>
            <a:pPr lvl="1" marL="589280" marR="729615" indent="-222250">
              <a:lnSpc>
                <a:spcPts val="2500"/>
              </a:lnSpc>
              <a:spcBef>
                <a:spcPts val="775"/>
              </a:spcBef>
              <a:buChar char="–"/>
              <a:tabLst>
                <a:tab pos="589280" algn="l"/>
              </a:tabLst>
            </a:pPr>
            <a:r>
              <a:rPr dirty="0" sz="2100">
                <a:latin typeface="Arial MT"/>
                <a:cs typeface="Arial MT"/>
              </a:rPr>
              <a:t>In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scikit-</a:t>
            </a:r>
            <a:r>
              <a:rPr dirty="0" sz="2100">
                <a:latin typeface="Arial MT"/>
                <a:cs typeface="Arial MT"/>
              </a:rPr>
              <a:t>learn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they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are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passed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as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arguments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to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the </a:t>
            </a:r>
            <a:r>
              <a:rPr dirty="0" sz="2100" spc="-20">
                <a:latin typeface="Arial MT"/>
                <a:cs typeface="Arial MT"/>
              </a:rPr>
              <a:t>constructor</a:t>
            </a:r>
            <a:r>
              <a:rPr dirty="0" sz="2100" spc="-5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5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55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estimator</a:t>
            </a:r>
            <a:r>
              <a:rPr dirty="0" sz="2100" spc="-5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classes.</a:t>
            </a:r>
            <a:endParaRPr sz="2100">
              <a:latin typeface="Arial MT"/>
              <a:cs typeface="Arial MT"/>
            </a:endParaRPr>
          </a:p>
          <a:p>
            <a:pPr marL="278765" marR="26034" indent="-266700">
              <a:lnSpc>
                <a:spcPct val="100000"/>
              </a:lnSpc>
              <a:spcBef>
                <a:spcPts val="1689"/>
              </a:spcBef>
              <a:buChar char="•"/>
              <a:tabLst>
                <a:tab pos="278765" algn="l"/>
              </a:tabLst>
            </a:pP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process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searching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for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ideal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model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architecture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is </a:t>
            </a:r>
            <a:r>
              <a:rPr dirty="0" sz="2100" spc="-10">
                <a:latin typeface="Arial MT"/>
                <a:cs typeface="Arial MT"/>
              </a:rPr>
              <a:t>referred</a:t>
            </a:r>
            <a:r>
              <a:rPr dirty="0" sz="2100" spc="-4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to</a:t>
            </a:r>
            <a:r>
              <a:rPr dirty="0" sz="2100" spc="-4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as</a:t>
            </a:r>
            <a:r>
              <a:rPr dirty="0" sz="2100" spc="-50">
                <a:latin typeface="Arial MT"/>
                <a:cs typeface="Arial MT"/>
              </a:rPr>
              <a:t> </a:t>
            </a:r>
            <a:r>
              <a:rPr dirty="0" sz="2100" spc="-20" i="1">
                <a:latin typeface="Arial"/>
                <a:cs typeface="Arial"/>
              </a:rPr>
              <a:t>hyperparameter</a:t>
            </a:r>
            <a:r>
              <a:rPr dirty="0" sz="2100" spc="-50" i="1">
                <a:latin typeface="Arial"/>
                <a:cs typeface="Arial"/>
              </a:rPr>
              <a:t> </a:t>
            </a:r>
            <a:r>
              <a:rPr dirty="0" sz="2100" spc="-10" i="1">
                <a:latin typeface="Arial"/>
                <a:cs typeface="Arial"/>
              </a:rPr>
              <a:t>tuning</a:t>
            </a:r>
            <a:endParaRPr sz="2100">
              <a:latin typeface="Arial"/>
              <a:cs typeface="Arial"/>
            </a:endParaRPr>
          </a:p>
          <a:p>
            <a:pPr marL="278765" marR="26670" indent="-266700">
              <a:lnSpc>
                <a:spcPct val="100000"/>
              </a:lnSpc>
              <a:spcBef>
                <a:spcPts val="1870"/>
              </a:spcBef>
              <a:buChar char="•"/>
              <a:tabLst>
                <a:tab pos="278765" algn="l"/>
              </a:tabLst>
            </a:pP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training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time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and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accuracy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can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sometimes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be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sensitive </a:t>
            </a:r>
            <a:r>
              <a:rPr dirty="0" sz="2100">
                <a:latin typeface="Arial MT"/>
                <a:cs typeface="Arial MT"/>
              </a:rPr>
              <a:t>to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getting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just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right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settings.</a:t>
            </a:r>
            <a:endParaRPr sz="2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156873" y="7106810"/>
            <a:ext cx="1487170" cy="315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10">
                <a:latin typeface="Arial MT"/>
                <a:cs typeface="Arial MT"/>
              </a:rPr>
              <a:t>Slide</a:t>
            </a:r>
            <a:r>
              <a:rPr dirty="0" sz="1900" spc="-9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&lt;#&gt;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of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50">
                <a:latin typeface="Arial MT"/>
                <a:cs typeface="Arial MT"/>
              </a:rPr>
              <a:t>9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7607" rIns="0" bIns="0" rtlCol="0" vert="horz">
            <a:spAutoFit/>
          </a:bodyPr>
          <a:lstStyle/>
          <a:p>
            <a:pPr marL="925194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Hyperparameter</a:t>
            </a:r>
            <a:r>
              <a:rPr dirty="0" spc="-155"/>
              <a:t> </a:t>
            </a:r>
            <a:r>
              <a:rPr dirty="0" spc="-10"/>
              <a:t>Tuning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125167" y="1909937"/>
            <a:ext cx="7781290" cy="4472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8765" marR="508634" indent="-266700">
              <a:lnSpc>
                <a:spcPct val="100000"/>
              </a:lnSpc>
              <a:spcBef>
                <a:spcPts val="100"/>
              </a:spcBef>
              <a:buChar char="•"/>
              <a:tabLst>
                <a:tab pos="278765" algn="l"/>
              </a:tabLst>
            </a:pPr>
            <a:r>
              <a:rPr dirty="0" sz="2500" spc="-10">
                <a:latin typeface="Arial MT"/>
                <a:cs typeface="Arial MT"/>
              </a:rPr>
              <a:t>Hyperparameter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tuning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methods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allow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us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 spc="-25">
                <a:latin typeface="Arial MT"/>
                <a:cs typeface="Arial MT"/>
              </a:rPr>
              <a:t>to </a:t>
            </a:r>
            <a:r>
              <a:rPr dirty="0" sz="2500">
                <a:latin typeface="Arial MT"/>
                <a:cs typeface="Arial MT"/>
              </a:rPr>
              <a:t>automatically</a:t>
            </a:r>
            <a:r>
              <a:rPr dirty="0" sz="2500" spc="-10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test</a:t>
            </a:r>
            <a:r>
              <a:rPr dirty="0" sz="2500" spc="-10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possible</a:t>
            </a:r>
            <a:r>
              <a:rPr dirty="0" sz="2500" spc="-9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combinations</a:t>
            </a:r>
            <a:r>
              <a:rPr dirty="0" sz="2500" spc="-10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of</a:t>
            </a:r>
            <a:r>
              <a:rPr dirty="0" sz="2500" spc="-10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values</a:t>
            </a:r>
            <a:endParaRPr sz="2500">
              <a:latin typeface="Arial MT"/>
              <a:cs typeface="Arial MT"/>
            </a:endParaRPr>
          </a:p>
          <a:p>
            <a:pPr algn="just" marL="278765" marR="157480" indent="-266700">
              <a:lnSpc>
                <a:spcPct val="100400"/>
              </a:lnSpc>
              <a:spcBef>
                <a:spcPts val="1885"/>
              </a:spcBef>
              <a:buChar char="•"/>
              <a:tabLst>
                <a:tab pos="278765" algn="l"/>
              </a:tabLst>
            </a:pPr>
            <a:r>
              <a:rPr dirty="0" sz="2500">
                <a:latin typeface="Arial MT"/>
                <a:cs typeface="Arial MT"/>
              </a:rPr>
              <a:t>Tuning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 spc="-20">
                <a:latin typeface="Arial MT"/>
                <a:cs typeface="Arial MT"/>
              </a:rPr>
              <a:t>hyper-</a:t>
            </a:r>
            <a:r>
              <a:rPr dirty="0" sz="2500" spc="-10">
                <a:latin typeface="Arial MT"/>
                <a:cs typeface="Arial MT"/>
              </a:rPr>
              <a:t>parameters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of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an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estimator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is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often </a:t>
            </a:r>
            <a:r>
              <a:rPr dirty="0" sz="2500">
                <a:latin typeface="Arial MT"/>
                <a:cs typeface="Arial MT"/>
              </a:rPr>
              <a:t>referred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to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as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"searching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hyperparameter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space” </a:t>
            </a:r>
            <a:r>
              <a:rPr dirty="0" sz="2500">
                <a:latin typeface="Arial MT"/>
                <a:cs typeface="Arial MT"/>
              </a:rPr>
              <a:t>for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optimum</a:t>
            </a:r>
            <a:r>
              <a:rPr dirty="0" sz="2500" spc="-9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values.</a:t>
            </a:r>
            <a:endParaRPr sz="2500">
              <a:latin typeface="Arial MT"/>
              <a:cs typeface="Arial MT"/>
            </a:endParaRPr>
          </a:p>
          <a:p>
            <a:pPr algn="just" marL="279400" marR="5080" indent="-267335">
              <a:lnSpc>
                <a:spcPct val="120800"/>
              </a:lnSpc>
              <a:spcBef>
                <a:spcPts val="1245"/>
              </a:spcBef>
              <a:buChar char="•"/>
              <a:tabLst>
                <a:tab pos="367030" algn="l"/>
              </a:tabLst>
            </a:pPr>
            <a:r>
              <a:rPr dirty="0" sz="2500" spc="-10">
                <a:latin typeface="Arial MT"/>
                <a:cs typeface="Arial MT"/>
              </a:rPr>
              <a:t>Two</a:t>
            </a:r>
            <a:r>
              <a:rPr dirty="0" sz="2500" spc="-10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methods:</a:t>
            </a:r>
            <a:r>
              <a:rPr dirty="0" sz="2500" spc="-10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Grid</a:t>
            </a:r>
            <a:r>
              <a:rPr dirty="0" sz="2500" spc="-9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Search</a:t>
            </a:r>
            <a:r>
              <a:rPr dirty="0" sz="2500" spc="-9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and</a:t>
            </a:r>
            <a:r>
              <a:rPr dirty="0" sz="2500" spc="-9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Randomised</a:t>
            </a:r>
            <a:r>
              <a:rPr dirty="0" sz="2500" spc="-9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Search </a:t>
            </a:r>
            <a:r>
              <a:rPr dirty="0" sz="2500" spc="-10">
                <a:latin typeface="Arial MT"/>
                <a:cs typeface="Arial MT"/>
              </a:rPr>
              <a:t>	</a:t>
            </a:r>
            <a:r>
              <a:rPr dirty="0" sz="2500">
                <a:latin typeface="Arial MT"/>
                <a:cs typeface="Arial MT"/>
              </a:rPr>
              <a:t>–</a:t>
            </a:r>
            <a:r>
              <a:rPr dirty="0" sz="2500" spc="-340">
                <a:latin typeface="Arial MT"/>
                <a:cs typeface="Arial MT"/>
              </a:rPr>
              <a:t> </a:t>
            </a:r>
            <a:r>
              <a:rPr dirty="0" sz="2500" spc="-10" b="1">
                <a:latin typeface="Arial"/>
                <a:cs typeface="Arial"/>
              </a:rPr>
              <a:t>GridSearchCV</a:t>
            </a:r>
            <a:r>
              <a:rPr dirty="0" sz="2500" spc="-85" b="1">
                <a:latin typeface="Arial"/>
                <a:cs typeface="Arial"/>
              </a:rPr>
              <a:t> </a:t>
            </a:r>
            <a:r>
              <a:rPr dirty="0" sz="2500">
                <a:latin typeface="Arial MT"/>
                <a:cs typeface="Arial MT"/>
              </a:rPr>
              <a:t>evaluates</a:t>
            </a:r>
            <a:r>
              <a:rPr dirty="0" sz="2500" spc="-6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all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possible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combinations</a:t>
            </a:r>
            <a:endParaRPr sz="2500">
              <a:latin typeface="Arial MT"/>
              <a:cs typeface="Arial MT"/>
            </a:endParaRPr>
          </a:p>
          <a:p>
            <a:pPr algn="just" marL="589280">
              <a:lnSpc>
                <a:spcPct val="100000"/>
              </a:lnSpc>
            </a:pPr>
            <a:r>
              <a:rPr dirty="0" sz="2500">
                <a:latin typeface="Arial MT"/>
                <a:cs typeface="Arial MT"/>
              </a:rPr>
              <a:t>of</a:t>
            </a:r>
            <a:r>
              <a:rPr dirty="0" sz="2500" spc="-8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parameter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values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from</a:t>
            </a:r>
            <a:r>
              <a:rPr dirty="0" sz="2500" spc="-8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 spc="-20">
                <a:latin typeface="Arial MT"/>
                <a:cs typeface="Arial MT"/>
              </a:rPr>
              <a:t>list</a:t>
            </a:r>
            <a:endParaRPr sz="2500">
              <a:latin typeface="Arial MT"/>
              <a:cs typeface="Arial MT"/>
            </a:endParaRPr>
          </a:p>
          <a:p>
            <a:pPr algn="just" marL="589280" marR="46990" indent="-222250">
              <a:lnSpc>
                <a:spcPct val="100000"/>
              </a:lnSpc>
              <a:spcBef>
                <a:spcPts val="600"/>
              </a:spcBef>
            </a:pPr>
            <a:r>
              <a:rPr dirty="0" sz="2500">
                <a:latin typeface="Arial MT"/>
                <a:cs typeface="Arial MT"/>
              </a:rPr>
              <a:t>–</a:t>
            </a:r>
            <a:r>
              <a:rPr dirty="0" sz="2500" spc="-340">
                <a:latin typeface="Arial MT"/>
                <a:cs typeface="Arial MT"/>
              </a:rPr>
              <a:t> </a:t>
            </a:r>
            <a:r>
              <a:rPr dirty="0" sz="2500" spc="-15" b="1">
                <a:latin typeface="Arial"/>
                <a:cs typeface="Arial"/>
              </a:rPr>
              <a:t>RandomizedSearchCV</a:t>
            </a:r>
            <a:r>
              <a:rPr dirty="0" sz="2500" spc="-30" b="1">
                <a:latin typeface="Arial"/>
                <a:cs typeface="Arial"/>
              </a:rPr>
              <a:t> </a:t>
            </a:r>
            <a:r>
              <a:rPr dirty="0" sz="2500" spc="-15">
                <a:latin typeface="Arial MT"/>
                <a:cs typeface="Arial MT"/>
              </a:rPr>
              <a:t>samples</a:t>
            </a:r>
            <a:r>
              <a:rPr dirty="0" sz="2500" spc="-2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eac</a:t>
            </a:r>
            <a:r>
              <a:rPr dirty="0" sz="2500">
                <a:latin typeface="Arial MT"/>
                <a:cs typeface="Arial MT"/>
              </a:rPr>
              <a:t>h</a:t>
            </a:r>
            <a:r>
              <a:rPr dirty="0" sz="2500" spc="-20">
                <a:latin typeface="Arial MT"/>
                <a:cs typeface="Arial MT"/>
              </a:rPr>
              <a:t> </a:t>
            </a:r>
            <a:r>
              <a:rPr dirty="0" sz="2500" spc="-15">
                <a:latin typeface="Arial MT"/>
                <a:cs typeface="Arial MT"/>
              </a:rPr>
              <a:t>setting</a:t>
            </a:r>
            <a:r>
              <a:rPr dirty="0" sz="2500" spc="-20">
                <a:latin typeface="Arial MT"/>
                <a:cs typeface="Arial MT"/>
              </a:rPr>
              <a:t> from</a:t>
            </a:r>
            <a:r>
              <a:rPr dirty="0" sz="2500" spc="-1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</a:t>
            </a:r>
            <a:r>
              <a:rPr dirty="0" sz="2500" spc="-1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distribution</a:t>
            </a:r>
            <a:r>
              <a:rPr dirty="0" sz="2500" spc="-15">
                <a:latin typeface="Arial MT"/>
                <a:cs typeface="Arial MT"/>
              </a:rPr>
              <a:t> </a:t>
            </a:r>
            <a:r>
              <a:rPr dirty="0" sz="2500" spc="-20">
                <a:latin typeface="Arial MT"/>
                <a:cs typeface="Arial MT"/>
              </a:rPr>
              <a:t>of </a:t>
            </a:r>
            <a:r>
              <a:rPr dirty="0" sz="2500" spc="-10">
                <a:latin typeface="Arial MT"/>
                <a:cs typeface="Arial MT"/>
              </a:rPr>
              <a:t>poss</a:t>
            </a:r>
            <a:r>
              <a:rPr dirty="0" sz="2500">
                <a:latin typeface="Arial MT"/>
                <a:cs typeface="Arial MT"/>
              </a:rPr>
              <a:t>i</a:t>
            </a:r>
            <a:r>
              <a:rPr dirty="0" sz="2500" spc="-10">
                <a:latin typeface="Arial MT"/>
                <a:cs typeface="Arial MT"/>
              </a:rPr>
              <a:t>b</a:t>
            </a:r>
            <a:r>
              <a:rPr dirty="0" sz="2500">
                <a:latin typeface="Arial MT"/>
                <a:cs typeface="Arial MT"/>
              </a:rPr>
              <a:t>le</a:t>
            </a:r>
            <a:r>
              <a:rPr dirty="0" sz="2500" spc="-15">
                <a:latin typeface="Arial MT"/>
                <a:cs typeface="Arial MT"/>
              </a:rPr>
              <a:t> </a:t>
            </a:r>
            <a:r>
              <a:rPr dirty="0" sz="2500" spc="-20">
                <a:latin typeface="Arial MT"/>
                <a:cs typeface="Arial MT"/>
              </a:rPr>
              <a:t>parameter</a:t>
            </a:r>
            <a:r>
              <a:rPr dirty="0" sz="2500" spc="-1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values.</a:t>
            </a:r>
            <a:endParaRPr sz="2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28839" rIns="0" bIns="0" rtlCol="0" vert="horz">
            <a:spAutoFit/>
          </a:bodyPr>
          <a:lstStyle/>
          <a:p>
            <a:pPr marL="23876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262673"/>
                </a:solidFill>
              </a:rPr>
              <a:t>Permutation</a:t>
            </a:r>
            <a:r>
              <a:rPr dirty="0" spc="-140">
                <a:solidFill>
                  <a:srgbClr val="262673"/>
                </a:solidFill>
              </a:rPr>
              <a:t> </a:t>
            </a:r>
            <a:r>
              <a:rPr dirty="0">
                <a:solidFill>
                  <a:srgbClr val="262673"/>
                </a:solidFill>
              </a:rPr>
              <a:t>Feature</a:t>
            </a:r>
            <a:r>
              <a:rPr dirty="0" spc="-140">
                <a:solidFill>
                  <a:srgbClr val="262673"/>
                </a:solidFill>
              </a:rPr>
              <a:t> </a:t>
            </a:r>
            <a:r>
              <a:rPr dirty="0" spc="-10">
                <a:solidFill>
                  <a:srgbClr val="262673"/>
                </a:solidFill>
              </a:rPr>
              <a:t>Importance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083116" y="1717913"/>
            <a:ext cx="7938134" cy="5055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8765" marR="370205" indent="-266700">
              <a:lnSpc>
                <a:spcPct val="100000"/>
              </a:lnSpc>
              <a:spcBef>
                <a:spcPts val="100"/>
              </a:spcBef>
              <a:buChar char="•"/>
              <a:tabLst>
                <a:tab pos="278765" algn="l"/>
              </a:tabLst>
            </a:pPr>
            <a:r>
              <a:rPr dirty="0" sz="2500">
                <a:solidFill>
                  <a:srgbClr val="333333"/>
                </a:solidFill>
                <a:latin typeface="Arial MT"/>
                <a:cs typeface="Arial MT"/>
              </a:rPr>
              <a:t>It</a:t>
            </a:r>
            <a:r>
              <a:rPr dirty="0" sz="2500" spc="-7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333333"/>
                </a:solidFill>
                <a:latin typeface="Arial MT"/>
                <a:cs typeface="Arial MT"/>
              </a:rPr>
              <a:t>is</a:t>
            </a:r>
            <a:r>
              <a:rPr dirty="0" sz="2500" spc="-7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333333"/>
                </a:solidFill>
                <a:latin typeface="Arial MT"/>
                <a:cs typeface="Arial MT"/>
              </a:rPr>
              <a:t>a</a:t>
            </a:r>
            <a:r>
              <a:rPr dirty="0" sz="2500" spc="-7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333333"/>
                </a:solidFill>
                <a:latin typeface="Arial MT"/>
                <a:cs typeface="Arial MT"/>
              </a:rPr>
              <a:t>model</a:t>
            </a:r>
            <a:r>
              <a:rPr dirty="0" sz="2500" spc="-6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333333"/>
                </a:solidFill>
                <a:latin typeface="Arial MT"/>
                <a:cs typeface="Arial MT"/>
              </a:rPr>
              <a:t>inspection</a:t>
            </a:r>
            <a:r>
              <a:rPr dirty="0" sz="2500" spc="-6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333333"/>
                </a:solidFill>
                <a:latin typeface="Arial MT"/>
                <a:cs typeface="Arial MT"/>
              </a:rPr>
              <a:t>technique</a:t>
            </a:r>
            <a:r>
              <a:rPr dirty="0" sz="2500" spc="-6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333333"/>
                </a:solidFill>
                <a:latin typeface="Arial MT"/>
                <a:cs typeface="Arial MT"/>
              </a:rPr>
              <a:t>that</a:t>
            </a:r>
            <a:r>
              <a:rPr dirty="0" sz="2500" spc="-6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333333"/>
                </a:solidFill>
                <a:latin typeface="Arial MT"/>
                <a:cs typeface="Arial MT"/>
              </a:rPr>
              <a:t>measures</a:t>
            </a:r>
            <a:r>
              <a:rPr dirty="0" sz="2500" spc="-7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00" spc="-25">
                <a:solidFill>
                  <a:srgbClr val="333333"/>
                </a:solidFill>
                <a:latin typeface="Arial MT"/>
                <a:cs typeface="Arial MT"/>
              </a:rPr>
              <a:t>the </a:t>
            </a:r>
            <a:r>
              <a:rPr dirty="0" sz="2500">
                <a:solidFill>
                  <a:srgbClr val="333333"/>
                </a:solidFill>
                <a:latin typeface="Arial MT"/>
                <a:cs typeface="Arial MT"/>
              </a:rPr>
              <a:t>contribution</a:t>
            </a:r>
            <a:r>
              <a:rPr dirty="0" sz="2500" spc="-7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333333"/>
                </a:solidFill>
                <a:latin typeface="Arial MT"/>
                <a:cs typeface="Arial MT"/>
              </a:rPr>
              <a:t>of</a:t>
            </a:r>
            <a:r>
              <a:rPr dirty="0" sz="2500" spc="-7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333333"/>
                </a:solidFill>
                <a:latin typeface="Arial MT"/>
                <a:cs typeface="Arial MT"/>
              </a:rPr>
              <a:t>each</a:t>
            </a:r>
            <a:r>
              <a:rPr dirty="0" sz="2500" spc="-7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333333"/>
                </a:solidFill>
                <a:latin typeface="Arial MT"/>
                <a:cs typeface="Arial MT"/>
              </a:rPr>
              <a:t>feature</a:t>
            </a:r>
            <a:r>
              <a:rPr dirty="0" sz="2500" spc="-7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333333"/>
                </a:solidFill>
                <a:latin typeface="Arial MT"/>
                <a:cs typeface="Arial MT"/>
              </a:rPr>
              <a:t>to</a:t>
            </a:r>
            <a:r>
              <a:rPr dirty="0" sz="2500" spc="-7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333333"/>
                </a:solidFill>
                <a:latin typeface="Arial MT"/>
                <a:cs typeface="Arial MT"/>
              </a:rPr>
              <a:t>a</a:t>
            </a:r>
            <a:r>
              <a:rPr dirty="0" sz="2500" spc="-7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333333"/>
                </a:solidFill>
                <a:latin typeface="Arial MT"/>
                <a:cs typeface="Arial MT"/>
              </a:rPr>
              <a:t>fitted</a:t>
            </a:r>
            <a:r>
              <a:rPr dirty="0" sz="2500" spc="-7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00" spc="-10">
                <a:solidFill>
                  <a:srgbClr val="333333"/>
                </a:solidFill>
                <a:latin typeface="Arial MT"/>
                <a:cs typeface="Arial MT"/>
              </a:rPr>
              <a:t>model’s </a:t>
            </a:r>
            <a:r>
              <a:rPr dirty="0" sz="2500">
                <a:solidFill>
                  <a:srgbClr val="333333"/>
                </a:solidFill>
                <a:latin typeface="Arial MT"/>
                <a:cs typeface="Arial MT"/>
              </a:rPr>
              <a:t>statistical</a:t>
            </a:r>
            <a:r>
              <a:rPr dirty="0" sz="2500" spc="-8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333333"/>
                </a:solidFill>
                <a:latin typeface="Arial MT"/>
                <a:cs typeface="Arial MT"/>
              </a:rPr>
              <a:t>performance</a:t>
            </a:r>
            <a:r>
              <a:rPr dirty="0" sz="2500" spc="-9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333333"/>
                </a:solidFill>
                <a:latin typeface="Arial MT"/>
                <a:cs typeface="Arial MT"/>
              </a:rPr>
              <a:t>on</a:t>
            </a:r>
            <a:r>
              <a:rPr dirty="0" sz="2500" spc="-8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333333"/>
                </a:solidFill>
                <a:latin typeface="Arial MT"/>
                <a:cs typeface="Arial MT"/>
              </a:rPr>
              <a:t>a</a:t>
            </a:r>
            <a:r>
              <a:rPr dirty="0" sz="2500" spc="-9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333333"/>
                </a:solidFill>
                <a:latin typeface="Arial MT"/>
                <a:cs typeface="Arial MT"/>
              </a:rPr>
              <a:t>given</a:t>
            </a:r>
            <a:r>
              <a:rPr dirty="0" sz="2500" spc="-8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333333"/>
                </a:solidFill>
                <a:latin typeface="Arial MT"/>
                <a:cs typeface="Arial MT"/>
              </a:rPr>
              <a:t>tabular</a:t>
            </a:r>
            <a:r>
              <a:rPr dirty="0" sz="2500" spc="-9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00" spc="-10">
                <a:solidFill>
                  <a:srgbClr val="333333"/>
                </a:solidFill>
                <a:latin typeface="Arial MT"/>
                <a:cs typeface="Arial MT"/>
              </a:rPr>
              <a:t>dataset.</a:t>
            </a:r>
            <a:endParaRPr sz="2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25"/>
              </a:spcBef>
              <a:buClr>
                <a:srgbClr val="333333"/>
              </a:buClr>
              <a:buFont typeface="Arial MT"/>
              <a:buChar char="•"/>
            </a:pPr>
            <a:endParaRPr sz="2500">
              <a:latin typeface="Arial MT"/>
              <a:cs typeface="Arial MT"/>
            </a:endParaRPr>
          </a:p>
          <a:p>
            <a:pPr marL="278765" marR="5080" indent="-266700">
              <a:lnSpc>
                <a:spcPct val="100000"/>
              </a:lnSpc>
              <a:buChar char="•"/>
              <a:tabLst>
                <a:tab pos="278765" algn="l"/>
              </a:tabLst>
            </a:pPr>
            <a:r>
              <a:rPr dirty="0" sz="2500">
                <a:solidFill>
                  <a:srgbClr val="333333"/>
                </a:solidFill>
                <a:latin typeface="Arial MT"/>
                <a:cs typeface="Arial MT"/>
              </a:rPr>
              <a:t>We</a:t>
            </a:r>
            <a:r>
              <a:rPr dirty="0" sz="2500" spc="-6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333333"/>
                </a:solidFill>
                <a:latin typeface="Arial MT"/>
                <a:cs typeface="Arial MT"/>
              </a:rPr>
              <a:t>measure</a:t>
            </a:r>
            <a:r>
              <a:rPr dirty="0" sz="2500" spc="-6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333333"/>
                </a:solidFill>
                <a:latin typeface="Arial MT"/>
                <a:cs typeface="Arial MT"/>
              </a:rPr>
              <a:t>the</a:t>
            </a:r>
            <a:r>
              <a:rPr dirty="0" sz="2500" spc="-6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333333"/>
                </a:solidFill>
                <a:latin typeface="Arial MT"/>
                <a:cs typeface="Arial MT"/>
              </a:rPr>
              <a:t>importance</a:t>
            </a:r>
            <a:r>
              <a:rPr dirty="0" sz="2500" spc="-6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333333"/>
                </a:solidFill>
                <a:latin typeface="Arial MT"/>
                <a:cs typeface="Arial MT"/>
              </a:rPr>
              <a:t>of</a:t>
            </a:r>
            <a:r>
              <a:rPr dirty="0" sz="2500" spc="-6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333333"/>
                </a:solidFill>
                <a:latin typeface="Arial MT"/>
                <a:cs typeface="Arial MT"/>
              </a:rPr>
              <a:t>a</a:t>
            </a:r>
            <a:r>
              <a:rPr dirty="0" sz="2500" spc="-6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333333"/>
                </a:solidFill>
                <a:latin typeface="Arial MT"/>
                <a:cs typeface="Arial MT"/>
              </a:rPr>
              <a:t>feature</a:t>
            </a:r>
            <a:r>
              <a:rPr dirty="0" sz="2500" spc="-6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333333"/>
                </a:solidFill>
                <a:latin typeface="Arial MT"/>
                <a:cs typeface="Arial MT"/>
              </a:rPr>
              <a:t>by</a:t>
            </a:r>
            <a:r>
              <a:rPr dirty="0" sz="2500" spc="-6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00" spc="-10">
                <a:solidFill>
                  <a:srgbClr val="333333"/>
                </a:solidFill>
                <a:latin typeface="Arial MT"/>
                <a:cs typeface="Arial MT"/>
              </a:rPr>
              <a:t>calculating </a:t>
            </a:r>
            <a:r>
              <a:rPr dirty="0" sz="2500">
                <a:solidFill>
                  <a:srgbClr val="333333"/>
                </a:solidFill>
                <a:latin typeface="Arial MT"/>
                <a:cs typeface="Arial MT"/>
              </a:rPr>
              <a:t>the</a:t>
            </a:r>
            <a:r>
              <a:rPr dirty="0" sz="2500" spc="-7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333333"/>
                </a:solidFill>
                <a:latin typeface="Arial MT"/>
                <a:cs typeface="Arial MT"/>
              </a:rPr>
              <a:t>increase</a:t>
            </a:r>
            <a:r>
              <a:rPr dirty="0" sz="2500" spc="-7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333333"/>
                </a:solidFill>
                <a:latin typeface="Arial MT"/>
                <a:cs typeface="Arial MT"/>
              </a:rPr>
              <a:t>in</a:t>
            </a:r>
            <a:r>
              <a:rPr dirty="0" sz="2500" spc="-7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333333"/>
                </a:solidFill>
                <a:latin typeface="Arial MT"/>
                <a:cs typeface="Arial MT"/>
              </a:rPr>
              <a:t>the</a:t>
            </a:r>
            <a:r>
              <a:rPr dirty="0" sz="2500" spc="-6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333333"/>
                </a:solidFill>
                <a:latin typeface="Arial MT"/>
                <a:cs typeface="Arial MT"/>
              </a:rPr>
              <a:t>model’s</a:t>
            </a:r>
            <a:r>
              <a:rPr dirty="0" sz="2500" spc="-7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333333"/>
                </a:solidFill>
                <a:latin typeface="Arial MT"/>
                <a:cs typeface="Arial MT"/>
              </a:rPr>
              <a:t>prediction</a:t>
            </a:r>
            <a:r>
              <a:rPr dirty="0" sz="2500" spc="-7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333333"/>
                </a:solidFill>
                <a:latin typeface="Arial MT"/>
                <a:cs typeface="Arial MT"/>
              </a:rPr>
              <a:t>error</a:t>
            </a:r>
            <a:r>
              <a:rPr dirty="0" sz="2500" spc="-6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00" spc="-10">
                <a:solidFill>
                  <a:srgbClr val="333333"/>
                </a:solidFill>
                <a:latin typeface="Arial MT"/>
                <a:cs typeface="Arial MT"/>
              </a:rPr>
              <a:t>after </a:t>
            </a:r>
            <a:r>
              <a:rPr dirty="0" sz="2500">
                <a:solidFill>
                  <a:srgbClr val="333333"/>
                </a:solidFill>
                <a:latin typeface="Arial MT"/>
                <a:cs typeface="Arial MT"/>
              </a:rPr>
              <a:t>permuting</a:t>
            </a:r>
            <a:r>
              <a:rPr dirty="0" sz="2500" spc="-8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333333"/>
                </a:solidFill>
                <a:latin typeface="Arial MT"/>
                <a:cs typeface="Arial MT"/>
              </a:rPr>
              <a:t>the</a:t>
            </a:r>
            <a:r>
              <a:rPr dirty="0" sz="2500" spc="-8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333333"/>
                </a:solidFill>
                <a:latin typeface="Arial MT"/>
                <a:cs typeface="Arial MT"/>
              </a:rPr>
              <a:t>feature.</a:t>
            </a:r>
            <a:r>
              <a:rPr dirty="0" sz="2500" spc="-9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333333"/>
                </a:solidFill>
                <a:latin typeface="Arial MT"/>
                <a:cs typeface="Arial MT"/>
              </a:rPr>
              <a:t>A</a:t>
            </a:r>
            <a:r>
              <a:rPr dirty="0" sz="2500" spc="-8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333333"/>
                </a:solidFill>
                <a:latin typeface="Arial MT"/>
                <a:cs typeface="Arial MT"/>
              </a:rPr>
              <a:t>feature</a:t>
            </a:r>
            <a:r>
              <a:rPr dirty="0" sz="2500" spc="-8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333333"/>
                </a:solidFill>
                <a:latin typeface="Arial MT"/>
                <a:cs typeface="Arial MT"/>
              </a:rPr>
              <a:t>is</a:t>
            </a:r>
            <a:r>
              <a:rPr dirty="0" sz="2500" spc="-9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333333"/>
                </a:solidFill>
                <a:latin typeface="Arial MT"/>
                <a:cs typeface="Arial MT"/>
              </a:rPr>
              <a:t>“important”</a:t>
            </a:r>
            <a:r>
              <a:rPr dirty="0" sz="2500" spc="-8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00" spc="-35">
                <a:solidFill>
                  <a:srgbClr val="333333"/>
                </a:solidFill>
                <a:latin typeface="Arial MT"/>
                <a:cs typeface="Arial MT"/>
              </a:rPr>
              <a:t>if </a:t>
            </a:r>
            <a:r>
              <a:rPr dirty="0" sz="2500">
                <a:solidFill>
                  <a:srgbClr val="333333"/>
                </a:solidFill>
                <a:latin typeface="Arial MT"/>
                <a:cs typeface="Arial MT"/>
              </a:rPr>
              <a:t>shuffling</a:t>
            </a:r>
            <a:r>
              <a:rPr dirty="0" sz="2500" spc="-8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333333"/>
                </a:solidFill>
                <a:latin typeface="Arial MT"/>
                <a:cs typeface="Arial MT"/>
              </a:rPr>
              <a:t>its</a:t>
            </a:r>
            <a:r>
              <a:rPr dirty="0" sz="2500" spc="-8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333333"/>
                </a:solidFill>
                <a:latin typeface="Arial MT"/>
                <a:cs typeface="Arial MT"/>
              </a:rPr>
              <a:t>values</a:t>
            </a:r>
            <a:r>
              <a:rPr dirty="0" sz="2500" spc="-8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333333"/>
                </a:solidFill>
                <a:latin typeface="Arial MT"/>
                <a:cs typeface="Arial MT"/>
              </a:rPr>
              <a:t>increases</a:t>
            </a:r>
            <a:r>
              <a:rPr dirty="0" sz="2500" spc="-8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333333"/>
                </a:solidFill>
                <a:latin typeface="Arial MT"/>
                <a:cs typeface="Arial MT"/>
              </a:rPr>
              <a:t>the</a:t>
            </a:r>
            <a:r>
              <a:rPr dirty="0" sz="2500" spc="-8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333333"/>
                </a:solidFill>
                <a:latin typeface="Arial MT"/>
                <a:cs typeface="Arial MT"/>
              </a:rPr>
              <a:t>model</a:t>
            </a:r>
            <a:r>
              <a:rPr dirty="0" sz="2500" spc="-7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333333"/>
                </a:solidFill>
                <a:latin typeface="Arial MT"/>
                <a:cs typeface="Arial MT"/>
              </a:rPr>
              <a:t>error,</a:t>
            </a:r>
            <a:r>
              <a:rPr dirty="0" sz="2500" spc="-8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00" spc="-10">
                <a:solidFill>
                  <a:srgbClr val="333333"/>
                </a:solidFill>
                <a:latin typeface="Arial MT"/>
                <a:cs typeface="Arial MT"/>
              </a:rPr>
              <a:t>because </a:t>
            </a:r>
            <a:r>
              <a:rPr dirty="0" sz="2500">
                <a:solidFill>
                  <a:srgbClr val="333333"/>
                </a:solidFill>
                <a:latin typeface="Arial MT"/>
                <a:cs typeface="Arial MT"/>
              </a:rPr>
              <a:t>in</a:t>
            </a:r>
            <a:r>
              <a:rPr dirty="0" sz="2500" spc="-5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333333"/>
                </a:solidFill>
                <a:latin typeface="Arial MT"/>
                <a:cs typeface="Arial MT"/>
              </a:rPr>
              <a:t>this</a:t>
            </a:r>
            <a:r>
              <a:rPr dirty="0" sz="2500" spc="-5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333333"/>
                </a:solidFill>
                <a:latin typeface="Arial MT"/>
                <a:cs typeface="Arial MT"/>
              </a:rPr>
              <a:t>case</a:t>
            </a:r>
            <a:r>
              <a:rPr dirty="0" sz="2500" spc="-4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333333"/>
                </a:solidFill>
                <a:latin typeface="Arial MT"/>
                <a:cs typeface="Arial MT"/>
              </a:rPr>
              <a:t>the</a:t>
            </a:r>
            <a:r>
              <a:rPr dirty="0" sz="2500" spc="-5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333333"/>
                </a:solidFill>
                <a:latin typeface="Arial MT"/>
                <a:cs typeface="Arial MT"/>
              </a:rPr>
              <a:t>model</a:t>
            </a:r>
            <a:r>
              <a:rPr dirty="0" sz="2500" spc="-4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333333"/>
                </a:solidFill>
                <a:latin typeface="Arial MT"/>
                <a:cs typeface="Arial MT"/>
              </a:rPr>
              <a:t>relied</a:t>
            </a:r>
            <a:r>
              <a:rPr dirty="0" sz="2500" spc="-4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333333"/>
                </a:solidFill>
                <a:latin typeface="Arial MT"/>
                <a:cs typeface="Arial MT"/>
              </a:rPr>
              <a:t>on</a:t>
            </a:r>
            <a:r>
              <a:rPr dirty="0" sz="2500" spc="-5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333333"/>
                </a:solidFill>
                <a:latin typeface="Arial MT"/>
                <a:cs typeface="Arial MT"/>
              </a:rPr>
              <a:t>the</a:t>
            </a:r>
            <a:r>
              <a:rPr dirty="0" sz="2500" spc="-5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333333"/>
                </a:solidFill>
                <a:latin typeface="Arial MT"/>
                <a:cs typeface="Arial MT"/>
              </a:rPr>
              <a:t>feature</a:t>
            </a:r>
            <a:r>
              <a:rPr dirty="0" sz="2500" spc="-4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333333"/>
                </a:solidFill>
                <a:latin typeface="Arial MT"/>
                <a:cs typeface="Arial MT"/>
              </a:rPr>
              <a:t>for</a:t>
            </a:r>
            <a:r>
              <a:rPr dirty="0" sz="2500" spc="-5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00" spc="-25">
                <a:solidFill>
                  <a:srgbClr val="333333"/>
                </a:solidFill>
                <a:latin typeface="Arial MT"/>
                <a:cs typeface="Arial MT"/>
              </a:rPr>
              <a:t>the </a:t>
            </a:r>
            <a:r>
              <a:rPr dirty="0" sz="2500">
                <a:solidFill>
                  <a:srgbClr val="333333"/>
                </a:solidFill>
                <a:latin typeface="Arial MT"/>
                <a:cs typeface="Arial MT"/>
              </a:rPr>
              <a:t>prediction.</a:t>
            </a:r>
            <a:r>
              <a:rPr dirty="0" sz="2500" spc="-8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333333"/>
                </a:solidFill>
                <a:latin typeface="Arial MT"/>
                <a:cs typeface="Arial MT"/>
              </a:rPr>
              <a:t>A</a:t>
            </a:r>
            <a:r>
              <a:rPr dirty="0" sz="2500" spc="-8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333333"/>
                </a:solidFill>
                <a:latin typeface="Arial MT"/>
                <a:cs typeface="Arial MT"/>
              </a:rPr>
              <a:t>feature</a:t>
            </a:r>
            <a:r>
              <a:rPr dirty="0" sz="2500" spc="-7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333333"/>
                </a:solidFill>
                <a:latin typeface="Arial MT"/>
                <a:cs typeface="Arial MT"/>
              </a:rPr>
              <a:t>is</a:t>
            </a:r>
            <a:r>
              <a:rPr dirty="0" sz="2500" spc="-8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333333"/>
                </a:solidFill>
                <a:latin typeface="Arial MT"/>
                <a:cs typeface="Arial MT"/>
              </a:rPr>
              <a:t>“unimportant”</a:t>
            </a:r>
            <a:r>
              <a:rPr dirty="0" sz="2500" spc="-7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333333"/>
                </a:solidFill>
                <a:latin typeface="Arial MT"/>
                <a:cs typeface="Arial MT"/>
              </a:rPr>
              <a:t>if</a:t>
            </a:r>
            <a:r>
              <a:rPr dirty="0" sz="2500" spc="-8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333333"/>
                </a:solidFill>
                <a:latin typeface="Arial MT"/>
                <a:cs typeface="Arial MT"/>
              </a:rPr>
              <a:t>shuffling</a:t>
            </a:r>
            <a:r>
              <a:rPr dirty="0" sz="2500" spc="-7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00" spc="-25">
                <a:solidFill>
                  <a:srgbClr val="333333"/>
                </a:solidFill>
                <a:latin typeface="Arial MT"/>
                <a:cs typeface="Arial MT"/>
              </a:rPr>
              <a:t>its </a:t>
            </a:r>
            <a:r>
              <a:rPr dirty="0" sz="2500">
                <a:solidFill>
                  <a:srgbClr val="333333"/>
                </a:solidFill>
                <a:latin typeface="Arial MT"/>
                <a:cs typeface="Arial MT"/>
              </a:rPr>
              <a:t>values</a:t>
            </a:r>
            <a:r>
              <a:rPr dirty="0" sz="2500" spc="-9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333333"/>
                </a:solidFill>
                <a:latin typeface="Arial MT"/>
                <a:cs typeface="Arial MT"/>
              </a:rPr>
              <a:t>leaves</a:t>
            </a:r>
            <a:r>
              <a:rPr dirty="0" sz="2500" spc="-7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333333"/>
                </a:solidFill>
                <a:latin typeface="Arial MT"/>
                <a:cs typeface="Arial MT"/>
              </a:rPr>
              <a:t>the</a:t>
            </a:r>
            <a:r>
              <a:rPr dirty="0" sz="2500" spc="-8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333333"/>
                </a:solidFill>
                <a:latin typeface="Arial MT"/>
                <a:cs typeface="Arial MT"/>
              </a:rPr>
              <a:t>model</a:t>
            </a:r>
            <a:r>
              <a:rPr dirty="0" sz="2500" spc="-6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333333"/>
                </a:solidFill>
                <a:latin typeface="Arial MT"/>
                <a:cs typeface="Arial MT"/>
              </a:rPr>
              <a:t>error</a:t>
            </a:r>
            <a:r>
              <a:rPr dirty="0" sz="2500" spc="-8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333333"/>
                </a:solidFill>
                <a:latin typeface="Arial MT"/>
                <a:cs typeface="Arial MT"/>
              </a:rPr>
              <a:t>unchanged,</a:t>
            </a:r>
            <a:r>
              <a:rPr dirty="0" sz="2500" spc="-8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333333"/>
                </a:solidFill>
                <a:latin typeface="Arial MT"/>
                <a:cs typeface="Arial MT"/>
              </a:rPr>
              <a:t>because</a:t>
            </a:r>
            <a:r>
              <a:rPr dirty="0" sz="2500" spc="-7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00" spc="-25">
                <a:solidFill>
                  <a:srgbClr val="333333"/>
                </a:solidFill>
                <a:latin typeface="Arial MT"/>
                <a:cs typeface="Arial MT"/>
              </a:rPr>
              <a:t>in </a:t>
            </a:r>
            <a:r>
              <a:rPr dirty="0" sz="2500">
                <a:solidFill>
                  <a:srgbClr val="333333"/>
                </a:solidFill>
                <a:latin typeface="Arial MT"/>
                <a:cs typeface="Arial MT"/>
              </a:rPr>
              <a:t>this</a:t>
            </a:r>
            <a:r>
              <a:rPr dirty="0" sz="2500" spc="-7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333333"/>
                </a:solidFill>
                <a:latin typeface="Arial MT"/>
                <a:cs typeface="Arial MT"/>
              </a:rPr>
              <a:t>case</a:t>
            </a:r>
            <a:r>
              <a:rPr dirty="0" sz="2500" spc="-7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333333"/>
                </a:solidFill>
                <a:latin typeface="Arial MT"/>
                <a:cs typeface="Arial MT"/>
              </a:rPr>
              <a:t>the</a:t>
            </a:r>
            <a:r>
              <a:rPr dirty="0" sz="2500" spc="-7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333333"/>
                </a:solidFill>
                <a:latin typeface="Arial MT"/>
                <a:cs typeface="Arial MT"/>
              </a:rPr>
              <a:t>model</a:t>
            </a:r>
            <a:r>
              <a:rPr dirty="0" sz="2500" spc="-6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333333"/>
                </a:solidFill>
                <a:latin typeface="Arial MT"/>
                <a:cs typeface="Arial MT"/>
              </a:rPr>
              <a:t>ignored</a:t>
            </a:r>
            <a:r>
              <a:rPr dirty="0" sz="2500" spc="-7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333333"/>
                </a:solidFill>
                <a:latin typeface="Arial MT"/>
                <a:cs typeface="Arial MT"/>
              </a:rPr>
              <a:t>the</a:t>
            </a:r>
            <a:r>
              <a:rPr dirty="0" sz="2500" spc="-7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333333"/>
                </a:solidFill>
                <a:latin typeface="Arial MT"/>
                <a:cs typeface="Arial MT"/>
              </a:rPr>
              <a:t>feature</a:t>
            </a:r>
            <a:r>
              <a:rPr dirty="0" sz="2500" spc="-7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333333"/>
                </a:solidFill>
                <a:latin typeface="Arial MT"/>
                <a:cs typeface="Arial MT"/>
              </a:rPr>
              <a:t>for</a:t>
            </a:r>
            <a:r>
              <a:rPr dirty="0" sz="2500" spc="-7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500" spc="-25">
                <a:solidFill>
                  <a:srgbClr val="333333"/>
                </a:solidFill>
                <a:latin typeface="Arial MT"/>
                <a:cs typeface="Arial MT"/>
              </a:rPr>
              <a:t>the </a:t>
            </a:r>
            <a:r>
              <a:rPr dirty="0" sz="2500" spc="-10">
                <a:solidFill>
                  <a:srgbClr val="333333"/>
                </a:solidFill>
                <a:latin typeface="Arial MT"/>
                <a:cs typeface="Arial MT"/>
              </a:rPr>
              <a:t>prediction.</a:t>
            </a:r>
            <a:endParaRPr sz="2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8367" y="862931"/>
            <a:ext cx="4876165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262673"/>
                </a:solidFill>
              </a:rPr>
              <a:t>Sequential</a:t>
            </a:r>
            <a:r>
              <a:rPr dirty="0" spc="-165">
                <a:solidFill>
                  <a:srgbClr val="262673"/>
                </a:solidFill>
              </a:rPr>
              <a:t> </a:t>
            </a:r>
            <a:r>
              <a:rPr dirty="0">
                <a:solidFill>
                  <a:srgbClr val="262673"/>
                </a:solidFill>
              </a:rPr>
              <a:t>Feature</a:t>
            </a:r>
            <a:r>
              <a:rPr dirty="0" spc="-160">
                <a:solidFill>
                  <a:srgbClr val="262673"/>
                </a:solidFill>
              </a:rPr>
              <a:t> </a:t>
            </a:r>
            <a:r>
              <a:rPr dirty="0" spc="-10">
                <a:solidFill>
                  <a:srgbClr val="262673"/>
                </a:solidFill>
              </a:rPr>
              <a:t>Selection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039751" y="1564782"/>
            <a:ext cx="8467090" cy="5219065"/>
          </a:xfrm>
          <a:prstGeom prst="rect">
            <a:avLst/>
          </a:prstGeom>
        </p:spPr>
        <p:txBody>
          <a:bodyPr wrap="square" lIns="0" tIns="146685" rIns="0" bIns="0" rtlCol="0" vert="horz">
            <a:spAutoFit/>
          </a:bodyPr>
          <a:lstStyle/>
          <a:p>
            <a:pPr marL="277495" indent="-264795">
              <a:lnSpc>
                <a:spcPct val="100000"/>
              </a:lnSpc>
              <a:spcBef>
                <a:spcPts val="1155"/>
              </a:spcBef>
              <a:buChar char="•"/>
              <a:tabLst>
                <a:tab pos="277495" algn="l"/>
              </a:tabLst>
            </a:pPr>
            <a:r>
              <a:rPr dirty="0" sz="2100" spc="-10">
                <a:latin typeface="Lucida Console"/>
                <a:cs typeface="Lucida Console"/>
              </a:rPr>
              <a:t>mlxtend.feature_selection.SequentialFeatureSelector</a:t>
            </a:r>
            <a:endParaRPr sz="2100">
              <a:latin typeface="Lucida Console"/>
              <a:cs typeface="Lucida Console"/>
            </a:endParaRPr>
          </a:p>
          <a:p>
            <a:pPr marL="278765" marR="5080" indent="-266700">
              <a:lnSpc>
                <a:spcPct val="100400"/>
              </a:lnSpc>
              <a:spcBef>
                <a:spcPts val="1240"/>
              </a:spcBef>
              <a:buChar char="•"/>
              <a:tabLst>
                <a:tab pos="278765" algn="l"/>
              </a:tabLst>
            </a:pPr>
            <a:r>
              <a:rPr dirty="0" sz="2500">
                <a:latin typeface="Arial MT"/>
                <a:cs typeface="Arial MT"/>
              </a:rPr>
              <a:t>Sequential</a:t>
            </a:r>
            <a:r>
              <a:rPr dirty="0" sz="2500" spc="-8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feature</a:t>
            </a:r>
            <a:r>
              <a:rPr dirty="0" sz="2500" spc="-8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selection</a:t>
            </a:r>
            <a:r>
              <a:rPr dirty="0" sz="2500" spc="-9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algorithms</a:t>
            </a:r>
            <a:r>
              <a:rPr dirty="0" sz="2500" spc="-9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remove</a:t>
            </a:r>
            <a:r>
              <a:rPr dirty="0" sz="2500" spc="-9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or</a:t>
            </a:r>
            <a:r>
              <a:rPr dirty="0" sz="2500" spc="-8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add</a:t>
            </a:r>
            <a:r>
              <a:rPr dirty="0" sz="2500" spc="-90">
                <a:latin typeface="Arial MT"/>
                <a:cs typeface="Arial MT"/>
              </a:rPr>
              <a:t> </a:t>
            </a:r>
            <a:r>
              <a:rPr dirty="0" sz="2500" spc="-25">
                <a:latin typeface="Arial MT"/>
                <a:cs typeface="Arial MT"/>
              </a:rPr>
              <a:t>one </a:t>
            </a:r>
            <a:r>
              <a:rPr dirty="0" sz="2500">
                <a:latin typeface="Arial MT"/>
                <a:cs typeface="Arial MT"/>
              </a:rPr>
              <a:t>feature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at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time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based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on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classifier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performance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until </a:t>
            </a:r>
            <a:r>
              <a:rPr dirty="0" sz="2500">
                <a:latin typeface="Arial MT"/>
                <a:cs typeface="Arial MT"/>
              </a:rPr>
              <a:t>a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feature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subset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of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the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desired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size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is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reached.</a:t>
            </a:r>
            <a:endParaRPr sz="2500">
              <a:latin typeface="Arial MT"/>
              <a:cs typeface="Arial MT"/>
            </a:endParaRPr>
          </a:p>
          <a:p>
            <a:pPr marL="278765" marR="216535" indent="-266700">
              <a:lnSpc>
                <a:spcPct val="100400"/>
              </a:lnSpc>
              <a:spcBef>
                <a:spcPts val="1165"/>
              </a:spcBef>
              <a:buChar char="•"/>
              <a:tabLst>
                <a:tab pos="278765" algn="l"/>
              </a:tabLst>
            </a:pPr>
            <a:r>
              <a:rPr dirty="0" sz="2500">
                <a:latin typeface="Arial MT"/>
                <a:cs typeface="Arial MT"/>
              </a:rPr>
              <a:t>Features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are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selected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based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on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performance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metric hyperparameter</a:t>
            </a:r>
            <a:r>
              <a:rPr dirty="0" sz="2500" spc="-95">
                <a:latin typeface="Arial MT"/>
                <a:cs typeface="Arial MT"/>
              </a:rPr>
              <a:t> </a:t>
            </a:r>
            <a:r>
              <a:rPr dirty="0" sz="2500" i="1">
                <a:latin typeface="Arial"/>
                <a:cs typeface="Arial"/>
              </a:rPr>
              <a:t>(like</a:t>
            </a:r>
            <a:r>
              <a:rPr dirty="0" sz="2500" spc="-85" i="1">
                <a:latin typeface="Arial"/>
                <a:cs typeface="Arial"/>
              </a:rPr>
              <a:t> </a:t>
            </a:r>
            <a:r>
              <a:rPr dirty="0" sz="2500" i="1">
                <a:latin typeface="Arial"/>
                <a:cs typeface="Arial"/>
              </a:rPr>
              <a:t>accuracy</a:t>
            </a:r>
            <a:r>
              <a:rPr dirty="0" sz="2500" spc="-90" i="1">
                <a:latin typeface="Arial"/>
                <a:cs typeface="Arial"/>
              </a:rPr>
              <a:t> </a:t>
            </a:r>
            <a:r>
              <a:rPr dirty="0" sz="2500" i="1">
                <a:latin typeface="Arial"/>
                <a:cs typeface="Arial"/>
              </a:rPr>
              <a:t>or</a:t>
            </a:r>
            <a:r>
              <a:rPr dirty="0" sz="2500" spc="-80" i="1">
                <a:latin typeface="Arial"/>
                <a:cs typeface="Arial"/>
              </a:rPr>
              <a:t> </a:t>
            </a:r>
            <a:r>
              <a:rPr dirty="0" sz="2500" i="1">
                <a:latin typeface="Arial"/>
                <a:cs typeface="Arial"/>
              </a:rPr>
              <a:t>AUC_ROC)</a:t>
            </a:r>
            <a:r>
              <a:rPr dirty="0" sz="2500" spc="-80" i="1">
                <a:latin typeface="Arial"/>
                <a:cs typeface="Arial"/>
              </a:rPr>
              <a:t> </a:t>
            </a:r>
            <a:r>
              <a:rPr dirty="0" sz="2500">
                <a:latin typeface="Arial MT"/>
                <a:cs typeface="Arial MT"/>
              </a:rPr>
              <a:t>rather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 spc="-20">
                <a:latin typeface="Arial MT"/>
                <a:cs typeface="Arial MT"/>
              </a:rPr>
              <a:t>than </a:t>
            </a:r>
            <a:r>
              <a:rPr dirty="0" sz="2500">
                <a:latin typeface="Arial MT"/>
                <a:cs typeface="Arial MT"/>
              </a:rPr>
              <a:t>feature</a:t>
            </a:r>
            <a:r>
              <a:rPr dirty="0" sz="2500" spc="-9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weight</a:t>
            </a:r>
            <a:r>
              <a:rPr dirty="0" sz="2500" spc="-8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coefficients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 i="1">
                <a:latin typeface="Arial"/>
                <a:cs typeface="Arial"/>
              </a:rPr>
              <a:t>(</a:t>
            </a:r>
            <a:r>
              <a:rPr dirty="0" sz="2500" spc="-80" i="1">
                <a:latin typeface="Arial"/>
                <a:cs typeface="Arial"/>
              </a:rPr>
              <a:t> </a:t>
            </a:r>
            <a:r>
              <a:rPr dirty="0" sz="2500" i="1">
                <a:latin typeface="Arial"/>
                <a:cs typeface="Arial"/>
              </a:rPr>
              <a:t>coef_</a:t>
            </a:r>
            <a:r>
              <a:rPr dirty="0" sz="2500" spc="-85" i="1">
                <a:latin typeface="Arial"/>
                <a:cs typeface="Arial"/>
              </a:rPr>
              <a:t> </a:t>
            </a:r>
            <a:r>
              <a:rPr dirty="0" sz="2500" spc="-50" i="1">
                <a:latin typeface="Arial"/>
                <a:cs typeface="Arial"/>
              </a:rPr>
              <a:t>)</a:t>
            </a:r>
            <a:endParaRPr sz="2500">
              <a:latin typeface="Arial"/>
              <a:cs typeface="Arial"/>
            </a:endParaRPr>
          </a:p>
          <a:p>
            <a:pPr algn="just" marL="278765" marR="104139" indent="-266700">
              <a:lnSpc>
                <a:spcPct val="100000"/>
              </a:lnSpc>
              <a:spcBef>
                <a:spcPts val="1295"/>
              </a:spcBef>
              <a:buChar char="•"/>
              <a:tabLst>
                <a:tab pos="278765" algn="l"/>
              </a:tabLst>
            </a:pPr>
            <a:r>
              <a:rPr dirty="0" sz="2500">
                <a:latin typeface="Arial MT"/>
                <a:cs typeface="Arial MT"/>
              </a:rPr>
              <a:t>Each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feature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importance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value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has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both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</a:t>
            </a:r>
            <a:r>
              <a:rPr dirty="0" sz="2500" spc="-8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magnitude</a:t>
            </a:r>
            <a:r>
              <a:rPr dirty="0" sz="2500" spc="-75">
                <a:latin typeface="Arial MT"/>
                <a:cs typeface="Arial MT"/>
              </a:rPr>
              <a:t> </a:t>
            </a:r>
            <a:r>
              <a:rPr dirty="0" sz="2500" spc="-25">
                <a:latin typeface="Arial MT"/>
                <a:cs typeface="Arial MT"/>
              </a:rPr>
              <a:t>and </a:t>
            </a:r>
            <a:r>
              <a:rPr dirty="0" sz="2500">
                <a:latin typeface="Arial MT"/>
                <a:cs typeface="Arial MT"/>
              </a:rPr>
              <a:t>a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direction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(positive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or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negative),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which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indicate</a:t>
            </a:r>
            <a:r>
              <a:rPr dirty="0" sz="2500" spc="-6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how</a:t>
            </a:r>
            <a:r>
              <a:rPr dirty="0" sz="2500" spc="-70">
                <a:latin typeface="Arial MT"/>
                <a:cs typeface="Arial MT"/>
              </a:rPr>
              <a:t> </a:t>
            </a:r>
            <a:r>
              <a:rPr dirty="0" sz="2500" spc="-20">
                <a:latin typeface="Arial MT"/>
                <a:cs typeface="Arial MT"/>
              </a:rPr>
              <a:t>each </a:t>
            </a:r>
            <a:r>
              <a:rPr dirty="0" sz="2500">
                <a:latin typeface="Arial MT"/>
                <a:cs typeface="Arial MT"/>
              </a:rPr>
              <a:t>feature</a:t>
            </a:r>
            <a:r>
              <a:rPr dirty="0" sz="2500" spc="-9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affects</a:t>
            </a:r>
            <a:r>
              <a:rPr dirty="0" sz="2500" spc="-9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a</a:t>
            </a:r>
            <a:r>
              <a:rPr dirty="0" sz="2500" spc="-9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particular</a:t>
            </a:r>
            <a:r>
              <a:rPr dirty="0" sz="2500" spc="-8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prediction.</a:t>
            </a:r>
            <a:endParaRPr sz="2500">
              <a:latin typeface="Arial MT"/>
              <a:cs typeface="Arial MT"/>
            </a:endParaRPr>
          </a:p>
          <a:p>
            <a:pPr algn="just" marL="589280" marR="408305" indent="-222250">
              <a:lnSpc>
                <a:spcPct val="102699"/>
              </a:lnSpc>
              <a:spcBef>
                <a:spcPts val="1120"/>
              </a:spcBef>
            </a:pPr>
            <a:r>
              <a:rPr dirty="0" sz="2200">
                <a:latin typeface="Arial MT"/>
                <a:cs typeface="Arial MT"/>
              </a:rPr>
              <a:t>–</a:t>
            </a:r>
            <a:r>
              <a:rPr dirty="0" sz="2200" spc="-15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negative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value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means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that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feature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makes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loss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go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up;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in </a:t>
            </a:r>
            <a:r>
              <a:rPr dirty="0" sz="2200">
                <a:latin typeface="Arial MT"/>
                <a:cs typeface="Arial MT"/>
              </a:rPr>
              <a:t>other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words,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11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feature</a:t>
            </a:r>
            <a:r>
              <a:rPr dirty="0" sz="2200" spc="-11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is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worse</a:t>
            </a:r>
            <a:r>
              <a:rPr dirty="0" sz="2200" spc="-11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than</a:t>
            </a:r>
            <a:r>
              <a:rPr dirty="0" sz="2200" spc="-11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noise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310349" y="7121604"/>
            <a:ext cx="67500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latin typeface="Arial MT"/>
                <a:cs typeface="Arial MT"/>
              </a:rPr>
              <a:t>Slide</a:t>
            </a:r>
            <a:r>
              <a:rPr dirty="0" sz="800" spc="4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&lt;#&gt;</a:t>
            </a:r>
            <a:r>
              <a:rPr dirty="0" sz="800" spc="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of</a:t>
            </a:r>
            <a:r>
              <a:rPr dirty="0" sz="800" spc="35">
                <a:latin typeface="Arial MT"/>
                <a:cs typeface="Arial MT"/>
              </a:rPr>
              <a:t> </a:t>
            </a:r>
            <a:r>
              <a:rPr dirty="0" sz="800" spc="-50">
                <a:latin typeface="Arial MT"/>
                <a:cs typeface="Arial MT"/>
              </a:rPr>
              <a:t>9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72807" rIns="0" bIns="0" rtlCol="0" vert="horz">
            <a:spAutoFit/>
          </a:bodyPr>
          <a:lstStyle/>
          <a:p>
            <a:pPr marL="112395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262673"/>
                </a:solidFill>
              </a:rPr>
              <a:t>Sequential</a:t>
            </a:r>
            <a:r>
              <a:rPr dirty="0" spc="-165">
                <a:solidFill>
                  <a:srgbClr val="262673"/>
                </a:solidFill>
              </a:rPr>
              <a:t> </a:t>
            </a:r>
            <a:r>
              <a:rPr dirty="0">
                <a:solidFill>
                  <a:srgbClr val="262673"/>
                </a:solidFill>
              </a:rPr>
              <a:t>Feature</a:t>
            </a:r>
            <a:r>
              <a:rPr dirty="0" spc="-160">
                <a:solidFill>
                  <a:srgbClr val="262673"/>
                </a:solidFill>
              </a:rPr>
              <a:t> </a:t>
            </a:r>
            <a:r>
              <a:rPr dirty="0" spc="-10">
                <a:solidFill>
                  <a:srgbClr val="262673"/>
                </a:solidFill>
              </a:rPr>
              <a:t>Selection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7756100" y="4765947"/>
            <a:ext cx="1852930" cy="1458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1900" spc="-2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  <a:hlinkClick r:id="rId2"/>
              </a:rPr>
              <a:t>http://rasbt.github</a:t>
            </a:r>
            <a:endParaRPr sz="1900">
              <a:latin typeface="Arial MT"/>
              <a:cs typeface="Arial MT"/>
            </a:endParaRPr>
          </a:p>
          <a:p>
            <a:pPr algn="just" marL="12700" marR="19685">
              <a:lnSpc>
                <a:spcPct val="97900"/>
              </a:lnSpc>
              <a:spcBef>
                <a:spcPts val="70"/>
              </a:spcBef>
            </a:pPr>
            <a:r>
              <a:rPr dirty="0" u="heavy" sz="1900" spc="-25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</a:rPr>
              <a:t>.io/mlxtend/user_</a:t>
            </a:r>
            <a:r>
              <a:rPr dirty="0" sz="1900" spc="-25">
                <a:solidFill>
                  <a:srgbClr val="009999"/>
                </a:solidFill>
                <a:latin typeface="Arial MT"/>
                <a:cs typeface="Arial MT"/>
              </a:rPr>
              <a:t> </a:t>
            </a:r>
            <a:r>
              <a:rPr dirty="0" u="heavy" sz="1900" spc="-3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</a:rPr>
              <a:t>guide/feature_sel</a:t>
            </a:r>
            <a:r>
              <a:rPr dirty="0" sz="1900" spc="-30">
                <a:solidFill>
                  <a:srgbClr val="009999"/>
                </a:solidFill>
                <a:latin typeface="Arial MT"/>
                <a:cs typeface="Arial MT"/>
              </a:rPr>
              <a:t> </a:t>
            </a:r>
            <a:r>
              <a:rPr dirty="0" u="heavy" sz="1900" spc="-3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</a:rPr>
              <a:t>ection/Sequential</a:t>
            </a:r>
            <a:r>
              <a:rPr dirty="0" sz="1900" spc="-30">
                <a:solidFill>
                  <a:srgbClr val="009999"/>
                </a:solidFill>
                <a:latin typeface="Arial MT"/>
                <a:cs typeface="Arial MT"/>
              </a:rPr>
              <a:t> </a:t>
            </a:r>
            <a:r>
              <a:rPr dirty="0" u="heavy" sz="1900" spc="-1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</a:rPr>
              <a:t>FeatureSelector/</a:t>
            </a:r>
            <a:endParaRPr sz="1900">
              <a:latin typeface="Arial MT"/>
              <a:cs typeface="Arial MT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89690" y="1192853"/>
            <a:ext cx="4746456" cy="580382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28839" rIns="0" bIns="0" rtlCol="0" vert="horz">
            <a:spAutoFit/>
          </a:bodyPr>
          <a:lstStyle/>
          <a:p>
            <a:pPr marL="1964055">
              <a:lnSpc>
                <a:spcPct val="100000"/>
              </a:lnSpc>
              <a:spcBef>
                <a:spcPts val="100"/>
              </a:spcBef>
            </a:pPr>
            <a:r>
              <a:rPr dirty="0" spc="-10">
                <a:solidFill>
                  <a:srgbClr val="262673"/>
                </a:solidFill>
              </a:rPr>
              <a:t>Resampling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85725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675"/>
              </a:spcBef>
            </a:pPr>
            <a:r>
              <a:rPr dirty="0"/>
              <a:t>General</a:t>
            </a:r>
            <a:r>
              <a:rPr dirty="0" spc="-145"/>
              <a:t> </a:t>
            </a:r>
            <a:r>
              <a:rPr dirty="0" spc="-10"/>
              <a:t>Principle</a:t>
            </a:r>
          </a:p>
          <a:p>
            <a:pPr marL="313055" indent="-265430">
              <a:lnSpc>
                <a:spcPct val="100000"/>
              </a:lnSpc>
              <a:spcBef>
                <a:spcPts val="575"/>
              </a:spcBef>
              <a:buChar char="•"/>
              <a:tabLst>
                <a:tab pos="313055" algn="l"/>
              </a:tabLst>
            </a:pP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Purpose</a:t>
            </a:r>
            <a:r>
              <a:rPr dirty="0" spc="-6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of</a:t>
            </a:r>
            <a:r>
              <a:rPr dirty="0" spc="-6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the</a:t>
            </a:r>
            <a:r>
              <a:rPr dirty="0" spc="-5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00000"/>
                </a:solidFill>
              </a:rPr>
              <a:t>test</a:t>
            </a:r>
            <a:r>
              <a:rPr dirty="0" spc="-55">
                <a:solidFill>
                  <a:srgbClr val="000000"/>
                </a:solidFill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set</a:t>
            </a:r>
            <a:r>
              <a:rPr dirty="0" spc="-6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is</a:t>
            </a:r>
            <a:r>
              <a:rPr dirty="0" spc="-6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to</a:t>
            </a:r>
            <a:r>
              <a:rPr dirty="0" spc="-6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represent</a:t>
            </a:r>
            <a:r>
              <a:rPr dirty="0" spc="-6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the</a:t>
            </a:r>
            <a:r>
              <a:rPr dirty="0" spc="-5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pc="-10" b="0" i="1">
                <a:solidFill>
                  <a:srgbClr val="000000"/>
                </a:solidFill>
                <a:latin typeface="Arial"/>
                <a:cs typeface="Arial"/>
              </a:rPr>
              <a:t>population</a:t>
            </a:r>
          </a:p>
          <a:p>
            <a:pPr marL="313690" marR="5080" indent="-266700">
              <a:lnSpc>
                <a:spcPct val="100000"/>
              </a:lnSpc>
              <a:spcBef>
                <a:spcPts val="1320"/>
              </a:spcBef>
              <a:buChar char="•"/>
              <a:tabLst>
                <a:tab pos="313690" algn="l"/>
              </a:tabLst>
            </a:pP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Purpose</a:t>
            </a:r>
            <a:r>
              <a:rPr dirty="0" spc="-6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of</a:t>
            </a:r>
            <a:r>
              <a:rPr dirty="0" spc="-6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the</a:t>
            </a:r>
            <a:r>
              <a:rPr dirty="0" spc="-5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00000"/>
                </a:solidFill>
              </a:rPr>
              <a:t>train</a:t>
            </a:r>
            <a:r>
              <a:rPr dirty="0" spc="-65">
                <a:solidFill>
                  <a:srgbClr val="000000"/>
                </a:solidFill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set</a:t>
            </a:r>
            <a:r>
              <a:rPr dirty="0" spc="-6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is</a:t>
            </a:r>
            <a:r>
              <a:rPr dirty="0" spc="-6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to</a:t>
            </a:r>
            <a:r>
              <a:rPr dirty="0" spc="-6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represent</a:t>
            </a:r>
            <a:r>
              <a:rPr dirty="0" spc="-6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the</a:t>
            </a:r>
            <a:r>
              <a:rPr dirty="0" spc="-5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pc="-10" b="0" i="1">
                <a:solidFill>
                  <a:srgbClr val="000000"/>
                </a:solidFill>
                <a:latin typeface="Arial"/>
                <a:cs typeface="Arial"/>
              </a:rPr>
              <a:t>characteristics </a:t>
            </a:r>
            <a:r>
              <a:rPr dirty="0" b="0" i="1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dirty="0" spc="-50" b="0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b="0" i="1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dirty="0" spc="-45" b="0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pc="-10" b="0" i="1">
                <a:solidFill>
                  <a:srgbClr val="000000"/>
                </a:solidFill>
                <a:latin typeface="Arial"/>
                <a:cs typeface="Arial"/>
              </a:rPr>
              <a:t>classes</a:t>
            </a:r>
          </a:p>
          <a:p>
            <a:pPr marL="47625">
              <a:lnSpc>
                <a:spcPct val="100000"/>
              </a:lnSpc>
              <a:spcBef>
                <a:spcPts val="1200"/>
              </a:spcBef>
            </a:pPr>
            <a:r>
              <a:rPr dirty="0" spc="-25"/>
              <a:t>So:</a:t>
            </a:r>
          </a:p>
          <a:p>
            <a:pPr marL="313690" marR="348615" indent="-266700">
              <a:lnSpc>
                <a:spcPct val="100000"/>
              </a:lnSpc>
              <a:spcBef>
                <a:spcPts val="600"/>
              </a:spcBef>
              <a:buChar char="•"/>
              <a:tabLst>
                <a:tab pos="313690" algn="l"/>
              </a:tabLst>
            </a:pP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An</a:t>
            </a:r>
            <a:r>
              <a:rPr dirty="0" spc="-6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imbalanced</a:t>
            </a:r>
            <a:r>
              <a:rPr dirty="0" spc="-5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00000"/>
                </a:solidFill>
              </a:rPr>
              <a:t>test</a:t>
            </a:r>
            <a:r>
              <a:rPr dirty="0" spc="-55">
                <a:solidFill>
                  <a:srgbClr val="000000"/>
                </a:solidFill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set</a:t>
            </a:r>
            <a:r>
              <a:rPr dirty="0" spc="-6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is</a:t>
            </a:r>
            <a:r>
              <a:rPr dirty="0" spc="-5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fine</a:t>
            </a:r>
            <a:r>
              <a:rPr dirty="0" spc="-5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 i="1">
                <a:solidFill>
                  <a:srgbClr val="000000"/>
                </a:solidFill>
                <a:latin typeface="Arial"/>
                <a:cs typeface="Arial"/>
              </a:rPr>
              <a:t>–</a:t>
            </a:r>
            <a:r>
              <a:rPr dirty="0" spc="-60" b="0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b="0" i="1">
                <a:solidFill>
                  <a:srgbClr val="000000"/>
                </a:solidFill>
                <a:latin typeface="Arial"/>
                <a:cs typeface="Arial"/>
              </a:rPr>
              <a:t>some</a:t>
            </a:r>
            <a:r>
              <a:rPr dirty="0" spc="-60" b="0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b="0" i="1">
                <a:solidFill>
                  <a:srgbClr val="000000"/>
                </a:solidFill>
                <a:latin typeface="Arial"/>
                <a:cs typeface="Arial"/>
              </a:rPr>
              <a:t>classes</a:t>
            </a:r>
            <a:r>
              <a:rPr dirty="0" spc="-60" b="0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pc="-10" b="0" i="1">
                <a:solidFill>
                  <a:srgbClr val="000000"/>
                </a:solidFill>
                <a:latin typeface="Arial"/>
                <a:cs typeface="Arial"/>
              </a:rPr>
              <a:t>naturally </a:t>
            </a:r>
            <a:r>
              <a:rPr dirty="0" b="0" i="1">
                <a:solidFill>
                  <a:srgbClr val="000000"/>
                </a:solidFill>
                <a:latin typeface="Arial"/>
                <a:cs typeface="Arial"/>
              </a:rPr>
              <a:t>occur</a:t>
            </a:r>
            <a:r>
              <a:rPr dirty="0" spc="-85" b="0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b="0" i="1">
                <a:solidFill>
                  <a:srgbClr val="000000"/>
                </a:solidFill>
                <a:latin typeface="Arial"/>
                <a:cs typeface="Arial"/>
              </a:rPr>
              <a:t>more</a:t>
            </a:r>
            <a:r>
              <a:rPr dirty="0" spc="-80" b="0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b="0" i="1">
                <a:solidFill>
                  <a:srgbClr val="000000"/>
                </a:solidFill>
                <a:latin typeface="Arial"/>
                <a:cs typeface="Arial"/>
              </a:rPr>
              <a:t>frequently</a:t>
            </a:r>
            <a:r>
              <a:rPr dirty="0" spc="-85" b="0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b="0" i="1">
                <a:solidFill>
                  <a:srgbClr val="000000"/>
                </a:solidFill>
                <a:latin typeface="Arial"/>
                <a:cs typeface="Arial"/>
              </a:rPr>
              <a:t>than</a:t>
            </a:r>
            <a:r>
              <a:rPr dirty="0" spc="-80" b="0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pc="-10" b="0" i="1">
                <a:solidFill>
                  <a:srgbClr val="000000"/>
                </a:solidFill>
                <a:latin typeface="Arial"/>
                <a:cs typeface="Arial"/>
              </a:rPr>
              <a:t>others</a:t>
            </a:r>
          </a:p>
          <a:p>
            <a:pPr marL="313690" marR="134620" indent="-266700">
              <a:lnSpc>
                <a:spcPct val="100400"/>
              </a:lnSpc>
              <a:spcBef>
                <a:spcPts val="1285"/>
              </a:spcBef>
              <a:buChar char="•"/>
              <a:tabLst>
                <a:tab pos="313690" algn="l"/>
              </a:tabLst>
            </a:pP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An</a:t>
            </a:r>
            <a:r>
              <a:rPr dirty="0" spc="-6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imbalanced</a:t>
            </a:r>
            <a:r>
              <a:rPr dirty="0" spc="-5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00000"/>
                </a:solidFill>
              </a:rPr>
              <a:t>train</a:t>
            </a:r>
            <a:r>
              <a:rPr dirty="0" spc="-60">
                <a:solidFill>
                  <a:srgbClr val="000000"/>
                </a:solidFill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set</a:t>
            </a:r>
            <a:r>
              <a:rPr dirty="0" spc="-6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is</a:t>
            </a:r>
            <a:r>
              <a:rPr dirty="0" spc="-5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a</a:t>
            </a:r>
            <a:r>
              <a:rPr dirty="0" spc="-6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>
                <a:solidFill>
                  <a:srgbClr val="000000"/>
                </a:solidFill>
                <a:latin typeface="Arial MT"/>
                <a:cs typeface="Arial MT"/>
              </a:rPr>
              <a:t>problem</a:t>
            </a:r>
            <a:r>
              <a:rPr dirty="0" spc="-5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b="0" i="1">
                <a:solidFill>
                  <a:srgbClr val="000000"/>
                </a:solidFill>
                <a:latin typeface="Arial"/>
                <a:cs typeface="Arial"/>
              </a:rPr>
              <a:t>–</a:t>
            </a:r>
            <a:r>
              <a:rPr dirty="0" spc="-60" b="0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b="0" i="1">
                <a:solidFill>
                  <a:srgbClr val="000000"/>
                </a:solidFill>
                <a:latin typeface="Arial"/>
                <a:cs typeface="Arial"/>
              </a:rPr>
              <a:t>there</a:t>
            </a:r>
            <a:r>
              <a:rPr dirty="0" spc="-60" b="0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b="0" i="1">
                <a:solidFill>
                  <a:srgbClr val="000000"/>
                </a:solidFill>
                <a:latin typeface="Arial"/>
                <a:cs typeface="Arial"/>
              </a:rPr>
              <a:t>are</a:t>
            </a:r>
            <a:r>
              <a:rPr dirty="0" spc="-55" b="0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pc="-25" b="0" i="1">
                <a:solidFill>
                  <a:srgbClr val="000000"/>
                </a:solidFill>
                <a:latin typeface="Arial"/>
                <a:cs typeface="Arial"/>
              </a:rPr>
              <a:t>not </a:t>
            </a:r>
            <a:r>
              <a:rPr dirty="0" b="0" i="1">
                <a:solidFill>
                  <a:srgbClr val="000000"/>
                </a:solidFill>
                <a:latin typeface="Arial"/>
                <a:cs typeface="Arial"/>
              </a:rPr>
              <a:t>enough</a:t>
            </a:r>
            <a:r>
              <a:rPr dirty="0" spc="-80" b="0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b="0" i="1">
                <a:solidFill>
                  <a:srgbClr val="000000"/>
                </a:solidFill>
                <a:latin typeface="Arial"/>
                <a:cs typeface="Arial"/>
              </a:rPr>
              <a:t>observations</a:t>
            </a:r>
            <a:r>
              <a:rPr dirty="0" spc="-80" b="0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b="0" i="1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dirty="0" spc="-85" b="0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b="0" i="1">
                <a:solidFill>
                  <a:srgbClr val="000000"/>
                </a:solidFill>
                <a:latin typeface="Arial"/>
                <a:cs typeface="Arial"/>
              </a:rPr>
              <a:t>some</a:t>
            </a:r>
            <a:r>
              <a:rPr dirty="0" spc="-75" b="0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b="0" i="1">
                <a:solidFill>
                  <a:srgbClr val="000000"/>
                </a:solidFill>
                <a:latin typeface="Arial"/>
                <a:cs typeface="Arial"/>
              </a:rPr>
              <a:t>classes</a:t>
            </a:r>
            <a:r>
              <a:rPr dirty="0" spc="-80" b="0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b="0" i="1">
                <a:solidFill>
                  <a:srgbClr val="000000"/>
                </a:solidFill>
                <a:latin typeface="Arial"/>
                <a:cs typeface="Arial"/>
              </a:rPr>
              <a:t>to</a:t>
            </a:r>
            <a:r>
              <a:rPr dirty="0" spc="-80" b="0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b="0" i="1">
                <a:solidFill>
                  <a:srgbClr val="000000"/>
                </a:solidFill>
                <a:latin typeface="Arial"/>
                <a:cs typeface="Arial"/>
              </a:rPr>
              <a:t>distinguish</a:t>
            </a:r>
            <a:r>
              <a:rPr dirty="0" spc="-75" b="0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pc="-10" b="0" i="1">
                <a:solidFill>
                  <a:srgbClr val="000000"/>
                </a:solidFill>
                <a:latin typeface="Arial"/>
                <a:cs typeface="Arial"/>
              </a:rPr>
              <a:t>their </a:t>
            </a:r>
            <a:r>
              <a:rPr dirty="0" b="0" i="1">
                <a:solidFill>
                  <a:srgbClr val="000000"/>
                </a:solidFill>
                <a:latin typeface="Arial"/>
                <a:cs typeface="Arial"/>
              </a:rPr>
              <a:t>unique</a:t>
            </a:r>
            <a:r>
              <a:rPr dirty="0" spc="-55" b="0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pc="-10" b="0" i="1">
                <a:solidFill>
                  <a:srgbClr val="000000"/>
                </a:solidFill>
                <a:latin typeface="Arial"/>
                <a:cs typeface="Arial"/>
              </a:rPr>
              <a:t>characteristics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28839" rIns="0" bIns="0" rtlCol="0" vert="horz">
            <a:spAutoFit/>
          </a:bodyPr>
          <a:lstStyle/>
          <a:p>
            <a:pPr marL="105727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262673"/>
                </a:solidFill>
              </a:rPr>
              <a:t>Resampling</a:t>
            </a:r>
            <a:r>
              <a:rPr dirty="0" spc="-185">
                <a:solidFill>
                  <a:srgbClr val="262673"/>
                </a:solidFill>
              </a:rPr>
              <a:t> </a:t>
            </a:r>
            <a:r>
              <a:rPr dirty="0" spc="-10">
                <a:solidFill>
                  <a:srgbClr val="262673"/>
                </a:solidFill>
              </a:rPr>
              <a:t>Strategies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8733" y="2454799"/>
            <a:ext cx="9005372" cy="2961353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954456" y="6698379"/>
            <a:ext cx="8688705" cy="315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40">
                <a:latin typeface="Arial MT"/>
                <a:cs typeface="Arial MT"/>
              </a:rPr>
              <a:t>https://</a:t>
            </a:r>
            <a:r>
              <a:rPr dirty="0" sz="1900" spc="-40">
                <a:latin typeface="Arial MT"/>
                <a:cs typeface="Arial MT"/>
                <a:hlinkClick r:id="rId3"/>
              </a:rPr>
              <a:t>www.kaggle.com/code/rafjaa/resampling-</a:t>
            </a:r>
            <a:r>
              <a:rPr dirty="0" sz="1900" spc="-35">
                <a:latin typeface="Arial MT"/>
                <a:cs typeface="Arial MT"/>
                <a:hlinkClick r:id="rId3"/>
              </a:rPr>
              <a:t>strategies-</a:t>
            </a:r>
            <a:r>
              <a:rPr dirty="0" sz="1900" spc="-30">
                <a:latin typeface="Arial MT"/>
                <a:cs typeface="Arial MT"/>
                <a:hlinkClick r:id="rId3"/>
              </a:rPr>
              <a:t>for-</a:t>
            </a:r>
            <a:r>
              <a:rPr dirty="0" sz="1900" spc="-40">
                <a:latin typeface="Arial MT"/>
                <a:cs typeface="Arial MT"/>
                <a:hlinkClick r:id="rId3"/>
              </a:rPr>
              <a:t>imbalanced-</a:t>
            </a:r>
            <a:r>
              <a:rPr dirty="0" sz="1900" spc="-10">
                <a:latin typeface="Arial MT"/>
                <a:cs typeface="Arial MT"/>
                <a:hlinkClick r:id="rId3"/>
              </a:rPr>
              <a:t>datasets</a:t>
            </a:r>
            <a:endParaRPr sz="1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30865" y="862931"/>
            <a:ext cx="3850640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Report</a:t>
            </a:r>
            <a:r>
              <a:rPr dirty="0" spc="-90"/>
              <a:t> </a:t>
            </a:r>
            <a:r>
              <a:rPr dirty="0"/>
              <a:t>the</a:t>
            </a:r>
            <a:r>
              <a:rPr dirty="0" spc="-90"/>
              <a:t> </a:t>
            </a:r>
            <a:r>
              <a:rPr dirty="0" spc="-10"/>
              <a:t>Uncertainty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194157" y="1634260"/>
            <a:ext cx="7414259" cy="3437890"/>
          </a:xfrm>
          <a:prstGeom prst="rect">
            <a:avLst/>
          </a:prstGeom>
        </p:spPr>
        <p:txBody>
          <a:bodyPr wrap="square" lIns="0" tIns="1739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70"/>
              </a:spcBef>
            </a:pPr>
            <a:r>
              <a:rPr dirty="0" sz="2200">
                <a:latin typeface="Arial MT"/>
                <a:cs typeface="Arial MT"/>
              </a:rPr>
              <a:t>Then</a:t>
            </a:r>
            <a:r>
              <a:rPr dirty="0" sz="2200" spc="-114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report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summary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statistics</a:t>
            </a:r>
            <a:r>
              <a:rPr dirty="0" sz="2200" spc="-11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on</a:t>
            </a:r>
            <a:r>
              <a:rPr dirty="0" sz="2200" spc="-11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this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population</a:t>
            </a:r>
            <a:endParaRPr sz="2200">
              <a:latin typeface="Arial MT"/>
              <a:cs typeface="Arial MT"/>
            </a:endParaRPr>
          </a:p>
          <a:p>
            <a:pPr marL="278765" marR="203200" indent="-266700">
              <a:lnSpc>
                <a:spcPct val="100499"/>
              </a:lnSpc>
              <a:spcBef>
                <a:spcPts val="1260"/>
              </a:spcBef>
              <a:buChar char="•"/>
              <a:tabLst>
                <a:tab pos="278765" algn="l"/>
                <a:tab pos="890905" algn="l"/>
              </a:tabLst>
            </a:pPr>
            <a:r>
              <a:rPr dirty="0" sz="2200" spc="-10">
                <a:latin typeface="Arial MT"/>
                <a:cs typeface="Arial MT"/>
              </a:rPr>
              <a:t>Report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mean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and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standard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deviation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of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performance, </a:t>
            </a:r>
            <a:r>
              <a:rPr dirty="0" sz="2200" spc="-25">
                <a:latin typeface="Arial MT"/>
                <a:cs typeface="Arial MT"/>
              </a:rPr>
              <a:t>and</a:t>
            </a:r>
            <a:r>
              <a:rPr dirty="0" sz="2200">
                <a:latin typeface="Arial MT"/>
                <a:cs typeface="Arial MT"/>
              </a:rPr>
              <a:t>	the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highest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and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lowest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performance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observed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(the </a:t>
            </a:r>
            <a:r>
              <a:rPr dirty="0" sz="2200" spc="-10">
                <a:latin typeface="Arial MT"/>
                <a:cs typeface="Arial MT"/>
              </a:rPr>
              <a:t>range)</a:t>
            </a:r>
            <a:endParaRPr sz="2200">
              <a:latin typeface="Arial MT"/>
              <a:cs typeface="Arial MT"/>
            </a:endParaRPr>
          </a:p>
          <a:p>
            <a:pPr lvl="1" marL="588010" marR="59055" indent="-220979">
              <a:lnSpc>
                <a:spcPct val="101099"/>
              </a:lnSpc>
              <a:spcBef>
                <a:spcPts val="1140"/>
              </a:spcBef>
              <a:buChar char="–"/>
              <a:tabLst>
                <a:tab pos="589280" algn="l"/>
              </a:tabLst>
            </a:pPr>
            <a:r>
              <a:rPr dirty="0" sz="1900" spc="-20">
                <a:latin typeface="Arial MT"/>
                <a:cs typeface="Arial MT"/>
              </a:rPr>
              <a:t>Create</a:t>
            </a:r>
            <a:r>
              <a:rPr dirty="0" sz="1900" spc="-9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a</a:t>
            </a:r>
            <a:r>
              <a:rPr dirty="0" sz="1900" spc="-9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figure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with</a:t>
            </a:r>
            <a:r>
              <a:rPr dirty="0" sz="1900" spc="-9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a</a:t>
            </a:r>
            <a:r>
              <a:rPr dirty="0" sz="1900" spc="-9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“box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and</a:t>
            </a:r>
            <a:r>
              <a:rPr dirty="0" sz="1900" spc="-9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whisker”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plot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for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each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algorithm’s </a:t>
            </a:r>
            <a:r>
              <a:rPr dirty="0" sz="1900" spc="-10">
                <a:latin typeface="Arial MT"/>
                <a:cs typeface="Arial MT"/>
              </a:rPr>
              <a:t>	</a:t>
            </a:r>
            <a:r>
              <a:rPr dirty="0" sz="1900" spc="-20">
                <a:latin typeface="Arial MT"/>
                <a:cs typeface="Arial MT"/>
              </a:rPr>
              <a:t>sample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of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results.</a:t>
            </a:r>
            <a:endParaRPr sz="1900">
              <a:latin typeface="Arial MT"/>
              <a:cs typeface="Arial MT"/>
            </a:endParaRPr>
          </a:p>
          <a:p>
            <a:pPr lvl="1" marL="588010" marR="5080" indent="-220979">
              <a:lnSpc>
                <a:spcPct val="98900"/>
              </a:lnSpc>
              <a:spcBef>
                <a:spcPts val="1225"/>
              </a:spcBef>
              <a:buChar char="–"/>
              <a:tabLst>
                <a:tab pos="589280" algn="l"/>
              </a:tabLst>
            </a:pPr>
            <a:r>
              <a:rPr dirty="0" sz="1900">
                <a:latin typeface="Arial MT"/>
                <a:cs typeface="Arial MT"/>
              </a:rPr>
              <a:t>The</a:t>
            </a:r>
            <a:r>
              <a:rPr dirty="0" sz="1900" spc="-9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box</a:t>
            </a:r>
            <a:r>
              <a:rPr dirty="0" sz="1900" spc="-9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shows</a:t>
            </a:r>
            <a:r>
              <a:rPr dirty="0" sz="1900" spc="-9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the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middle</a:t>
            </a:r>
            <a:r>
              <a:rPr dirty="0" sz="1900" spc="-9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50</a:t>
            </a:r>
            <a:r>
              <a:rPr dirty="0" sz="1900" spc="-9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percent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of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the</a:t>
            </a:r>
            <a:r>
              <a:rPr dirty="0" sz="1900" spc="-9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data,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the</a:t>
            </a:r>
            <a:r>
              <a:rPr dirty="0" sz="1900" spc="-9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orange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line </a:t>
            </a:r>
            <a:r>
              <a:rPr dirty="0" sz="1900" spc="-20">
                <a:latin typeface="Arial MT"/>
                <a:cs typeface="Arial MT"/>
              </a:rPr>
              <a:t>	</a:t>
            </a:r>
            <a:r>
              <a:rPr dirty="0" sz="1900">
                <a:latin typeface="Arial MT"/>
                <a:cs typeface="Arial MT"/>
              </a:rPr>
              <a:t>in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the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middle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of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each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box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shows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the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median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of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the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sample,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and </a:t>
            </a:r>
            <a:r>
              <a:rPr dirty="0" sz="1900" spc="-25">
                <a:latin typeface="Arial MT"/>
                <a:cs typeface="Arial MT"/>
              </a:rPr>
              <a:t>	</a:t>
            </a:r>
            <a:r>
              <a:rPr dirty="0" sz="1900">
                <a:latin typeface="Arial MT"/>
                <a:cs typeface="Arial MT"/>
              </a:rPr>
              <a:t>the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green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triangle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in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each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box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shows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the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mean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of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the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sample.</a:t>
            </a:r>
            <a:endParaRPr sz="1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28839" rIns="0" bIns="0" rtlCol="0" vert="horz">
            <a:spAutoFit/>
          </a:bodyPr>
          <a:lstStyle/>
          <a:p>
            <a:pPr marL="445770">
              <a:lnSpc>
                <a:spcPct val="100000"/>
              </a:lnSpc>
              <a:spcBef>
                <a:spcPts val="100"/>
              </a:spcBef>
            </a:pPr>
            <a:r>
              <a:rPr dirty="0"/>
              <a:t>Statistical</a:t>
            </a:r>
            <a:r>
              <a:rPr dirty="0" spc="-135"/>
              <a:t> </a:t>
            </a:r>
            <a:r>
              <a:rPr dirty="0" spc="-10"/>
              <a:t>Hypothesis</a:t>
            </a:r>
            <a:r>
              <a:rPr dirty="0" spc="-135"/>
              <a:t> </a:t>
            </a:r>
            <a:r>
              <a:rPr dirty="0" spc="-10"/>
              <a:t>Testing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067675" y="1716406"/>
            <a:ext cx="8054975" cy="441515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278765" marR="156210" indent="-266700">
              <a:lnSpc>
                <a:spcPct val="100499"/>
              </a:lnSpc>
              <a:spcBef>
                <a:spcPts val="85"/>
              </a:spcBef>
              <a:buChar char="•"/>
              <a:tabLst>
                <a:tab pos="278765" algn="l"/>
              </a:tabLst>
            </a:pPr>
            <a:r>
              <a:rPr dirty="0" sz="2200">
                <a:latin typeface="Arial MT"/>
                <a:cs typeface="Arial MT"/>
              </a:rPr>
              <a:t>A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statistical</a:t>
            </a:r>
            <a:r>
              <a:rPr dirty="0" sz="2200" spc="-6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hypothesis</a:t>
            </a:r>
            <a:r>
              <a:rPr dirty="0" sz="2200" spc="-7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test</a:t>
            </a:r>
            <a:r>
              <a:rPr dirty="0" sz="2200" spc="-6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quantifies</a:t>
            </a:r>
            <a:r>
              <a:rPr dirty="0" sz="2200" spc="-7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how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plausible</a:t>
            </a:r>
            <a:r>
              <a:rPr dirty="0" sz="2200" spc="-7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it</a:t>
            </a:r>
            <a:r>
              <a:rPr dirty="0" sz="2200" spc="-6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is</a:t>
            </a:r>
            <a:r>
              <a:rPr dirty="0" sz="2200" spc="-7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to</a:t>
            </a:r>
            <a:r>
              <a:rPr dirty="0" sz="2200" spc="-75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say </a:t>
            </a:r>
            <a:r>
              <a:rPr dirty="0" sz="2200">
                <a:latin typeface="Arial MT"/>
                <a:cs typeface="Arial MT"/>
              </a:rPr>
              <a:t>two</a:t>
            </a:r>
            <a:r>
              <a:rPr dirty="0" sz="2200" spc="-114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data</a:t>
            </a:r>
            <a:r>
              <a:rPr dirty="0" sz="2200" spc="-114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samples</a:t>
            </a:r>
            <a:r>
              <a:rPr dirty="0" sz="2200" spc="-114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have</a:t>
            </a:r>
            <a:r>
              <a:rPr dirty="0" sz="2200" spc="-114"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FF0000"/>
                </a:solidFill>
                <a:latin typeface="Arial MT"/>
                <a:cs typeface="Arial MT"/>
              </a:rPr>
              <a:t>not</a:t>
            </a:r>
            <a:r>
              <a:rPr dirty="0" sz="2200" spc="-10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been</a:t>
            </a:r>
            <a:r>
              <a:rPr dirty="0" sz="2200" spc="-114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drawn</a:t>
            </a:r>
            <a:r>
              <a:rPr dirty="0" sz="2200" spc="-114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from</a:t>
            </a:r>
            <a:r>
              <a:rPr dirty="0" sz="2200" spc="-12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114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same </a:t>
            </a:r>
            <a:r>
              <a:rPr dirty="0" sz="2200" spc="-10">
                <a:latin typeface="Arial MT"/>
                <a:cs typeface="Arial MT"/>
              </a:rPr>
              <a:t>distribution.</a:t>
            </a:r>
            <a:endParaRPr sz="2200">
              <a:latin typeface="Arial MT"/>
              <a:cs typeface="Arial MT"/>
            </a:endParaRPr>
          </a:p>
          <a:p>
            <a:pPr marL="278765" marR="981075" indent="-266700">
              <a:lnSpc>
                <a:spcPts val="2620"/>
              </a:lnSpc>
              <a:spcBef>
                <a:spcPts val="1955"/>
              </a:spcBef>
              <a:buChar char="•"/>
              <a:tabLst>
                <a:tab pos="278765" algn="l"/>
              </a:tabLst>
            </a:pPr>
            <a:r>
              <a:rPr dirty="0" sz="2200">
                <a:latin typeface="Arial MT"/>
                <a:cs typeface="Arial MT"/>
              </a:rPr>
              <a:t>That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describes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i="1">
                <a:latin typeface="Arial"/>
                <a:cs typeface="Arial"/>
              </a:rPr>
              <a:t>null</a:t>
            </a:r>
            <a:r>
              <a:rPr dirty="0" sz="2200" spc="-85" i="1">
                <a:latin typeface="Arial"/>
                <a:cs typeface="Arial"/>
              </a:rPr>
              <a:t> </a:t>
            </a:r>
            <a:r>
              <a:rPr dirty="0" sz="2200" spc="-20" i="1">
                <a:latin typeface="Arial"/>
                <a:cs typeface="Arial"/>
              </a:rPr>
              <a:t>hypothesis</a:t>
            </a:r>
            <a:r>
              <a:rPr dirty="0" sz="2200" spc="-20">
                <a:latin typeface="Arial MT"/>
                <a:cs typeface="Arial MT"/>
              </a:rPr>
              <a:t>.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We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can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test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this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null hypothesis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by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applying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some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statistical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calculations.</a:t>
            </a:r>
            <a:endParaRPr sz="2200">
              <a:latin typeface="Arial MT"/>
              <a:cs typeface="Arial MT"/>
            </a:endParaRPr>
          </a:p>
          <a:p>
            <a:pPr marL="278765" marR="5080" indent="-266700">
              <a:lnSpc>
                <a:spcPct val="100899"/>
              </a:lnSpc>
              <a:spcBef>
                <a:spcPts val="1735"/>
              </a:spcBef>
              <a:buChar char="•"/>
              <a:tabLst>
                <a:tab pos="278765" algn="l"/>
              </a:tabLst>
            </a:pPr>
            <a:r>
              <a:rPr dirty="0" sz="2200">
                <a:latin typeface="Arial MT"/>
                <a:cs typeface="Arial MT"/>
              </a:rPr>
              <a:t>If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test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result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infers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20">
                <a:solidFill>
                  <a:srgbClr val="FF0000"/>
                </a:solidFill>
                <a:latin typeface="Arial MT"/>
                <a:cs typeface="Arial MT"/>
              </a:rPr>
              <a:t>insufficient</a:t>
            </a:r>
            <a:r>
              <a:rPr dirty="0" sz="2200" spc="-8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200" spc="-20">
                <a:solidFill>
                  <a:srgbClr val="00B0F0"/>
                </a:solidFill>
                <a:latin typeface="Arial MT"/>
                <a:cs typeface="Arial MT"/>
              </a:rPr>
              <a:t>evidence</a:t>
            </a:r>
            <a:r>
              <a:rPr dirty="0" sz="2200" spc="-95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00B0F0"/>
                </a:solidFill>
                <a:latin typeface="Arial MT"/>
                <a:cs typeface="Arial MT"/>
              </a:rPr>
              <a:t>to</a:t>
            </a:r>
            <a:r>
              <a:rPr dirty="0" sz="2200" spc="-9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00B0F0"/>
                </a:solidFill>
                <a:latin typeface="Arial MT"/>
                <a:cs typeface="Arial MT"/>
              </a:rPr>
              <a:t>reject</a:t>
            </a:r>
            <a:r>
              <a:rPr dirty="0" sz="2200" spc="-85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null hypothesis,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then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any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observed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difference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in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model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scores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is </a:t>
            </a:r>
            <a:r>
              <a:rPr dirty="0" sz="2200">
                <a:latin typeface="Arial MT"/>
                <a:cs typeface="Arial MT"/>
              </a:rPr>
              <a:t>a</a:t>
            </a:r>
            <a:r>
              <a:rPr dirty="0" sz="2200" spc="-70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happened</a:t>
            </a:r>
            <a:r>
              <a:rPr dirty="0" sz="2200" spc="-7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by</a:t>
            </a:r>
            <a:r>
              <a:rPr dirty="0" sz="2200" spc="-6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chance.</a:t>
            </a:r>
            <a:endParaRPr sz="2200">
              <a:latin typeface="Arial MT"/>
              <a:cs typeface="Arial MT"/>
            </a:endParaRPr>
          </a:p>
          <a:p>
            <a:pPr marL="278765" marR="464184" indent="-266700">
              <a:lnSpc>
                <a:spcPct val="98600"/>
              </a:lnSpc>
              <a:spcBef>
                <a:spcPts val="1885"/>
              </a:spcBef>
              <a:buChar char="•"/>
              <a:tabLst>
                <a:tab pos="278765" algn="l"/>
              </a:tabLst>
            </a:pPr>
            <a:r>
              <a:rPr dirty="0" sz="2200">
                <a:latin typeface="Arial MT"/>
                <a:cs typeface="Arial MT"/>
              </a:rPr>
              <a:t>If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test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result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infers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FF0000"/>
                </a:solidFill>
                <a:latin typeface="Arial MT"/>
                <a:cs typeface="Arial MT"/>
              </a:rPr>
              <a:t>sufficient</a:t>
            </a:r>
            <a:r>
              <a:rPr dirty="0" sz="2200" spc="-8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200" spc="-20">
                <a:solidFill>
                  <a:srgbClr val="00B0F0"/>
                </a:solidFill>
                <a:latin typeface="Arial MT"/>
                <a:cs typeface="Arial MT"/>
              </a:rPr>
              <a:t>evidence</a:t>
            </a:r>
            <a:r>
              <a:rPr dirty="0" sz="2200" spc="-105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00B0F0"/>
                </a:solidFill>
                <a:latin typeface="Arial MT"/>
                <a:cs typeface="Arial MT"/>
              </a:rPr>
              <a:t>to</a:t>
            </a:r>
            <a:r>
              <a:rPr dirty="0" sz="2200" spc="-10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00B0F0"/>
                </a:solidFill>
                <a:latin typeface="Arial MT"/>
                <a:cs typeface="Arial MT"/>
              </a:rPr>
              <a:t>reject</a:t>
            </a:r>
            <a:r>
              <a:rPr dirty="0" sz="2200" spc="-9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null hypothesis,</a:t>
            </a:r>
            <a:r>
              <a:rPr dirty="0" sz="2200" spc="-8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then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any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observed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difference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in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model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scores</a:t>
            </a:r>
            <a:r>
              <a:rPr dirty="0" sz="2200" spc="-90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is </a:t>
            </a:r>
            <a:r>
              <a:rPr dirty="0" sz="2200" spc="-10">
                <a:latin typeface="Arial MT"/>
                <a:cs typeface="Arial MT"/>
              </a:rPr>
              <a:t>real.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28839" rIns="0" bIns="0" rtlCol="0" vert="horz">
            <a:spAutoFit/>
          </a:bodyPr>
          <a:lstStyle/>
          <a:p>
            <a:pPr marL="161671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McNemar's</a:t>
            </a:r>
            <a:r>
              <a:rPr dirty="0" spc="-114"/>
              <a:t> </a:t>
            </a:r>
            <a:r>
              <a:rPr dirty="0" spc="-20"/>
              <a:t>Test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6972" y="1755616"/>
            <a:ext cx="2809475" cy="2724186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485372" y="1969904"/>
            <a:ext cx="7708900" cy="476631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328670" marR="33020">
              <a:lnSpc>
                <a:spcPct val="99500"/>
              </a:lnSpc>
              <a:spcBef>
                <a:spcPts val="110"/>
              </a:spcBef>
            </a:pPr>
            <a:r>
              <a:rPr dirty="0" sz="2100" spc="-10">
                <a:latin typeface="Arial MT"/>
                <a:cs typeface="Arial MT"/>
              </a:rPr>
              <a:t>McNemar's</a:t>
            </a:r>
            <a:r>
              <a:rPr dirty="0" sz="2100" spc="-12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test</a:t>
            </a:r>
            <a:r>
              <a:rPr dirty="0" sz="2100" spc="-12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compares</a:t>
            </a:r>
            <a:r>
              <a:rPr dirty="0" sz="2100" spc="-120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the </a:t>
            </a:r>
            <a:r>
              <a:rPr dirty="0" sz="2100" spc="-10">
                <a:latin typeface="Arial MT"/>
                <a:cs typeface="Arial MT"/>
              </a:rPr>
              <a:t>predictions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two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models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based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on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50">
                <a:latin typeface="Arial MT"/>
                <a:cs typeface="Arial MT"/>
              </a:rPr>
              <a:t>a </a:t>
            </a:r>
            <a:r>
              <a:rPr dirty="0" sz="2100">
                <a:latin typeface="Arial MT"/>
                <a:cs typeface="Arial MT"/>
              </a:rPr>
              <a:t>version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2x2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confusion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matrix</a:t>
            </a:r>
            <a:endParaRPr sz="2100">
              <a:latin typeface="Arial MT"/>
              <a:cs typeface="Arial MT"/>
            </a:endParaRPr>
          </a:p>
          <a:p>
            <a:pPr marL="3328670" marR="172720">
              <a:lnSpc>
                <a:spcPts val="2500"/>
              </a:lnSpc>
              <a:spcBef>
                <a:spcPts val="1375"/>
              </a:spcBef>
            </a:pPr>
            <a:r>
              <a:rPr dirty="0" sz="2100">
                <a:latin typeface="Arial MT"/>
                <a:cs typeface="Arial MT"/>
              </a:rPr>
              <a:t>Cells</a:t>
            </a:r>
            <a:r>
              <a:rPr dirty="0" sz="2100" spc="-6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B</a:t>
            </a:r>
            <a:r>
              <a:rPr dirty="0" sz="2100" spc="-6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and</a:t>
            </a:r>
            <a:r>
              <a:rPr dirty="0" sz="2100" spc="-5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</a:t>
            </a:r>
            <a:r>
              <a:rPr dirty="0" sz="2100" spc="-5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(the</a:t>
            </a:r>
            <a:r>
              <a:rPr dirty="0" sz="2100" spc="-60">
                <a:latin typeface="Arial MT"/>
                <a:cs typeface="Arial MT"/>
              </a:rPr>
              <a:t> </a:t>
            </a:r>
            <a:r>
              <a:rPr dirty="0" sz="2100" spc="-40">
                <a:latin typeface="Arial MT"/>
                <a:cs typeface="Arial MT"/>
              </a:rPr>
              <a:t>off-</a:t>
            </a:r>
            <a:r>
              <a:rPr dirty="0" sz="2100" spc="-10">
                <a:latin typeface="Arial MT"/>
                <a:cs typeface="Arial MT"/>
              </a:rPr>
              <a:t>diagonal entries)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tell</a:t>
            </a:r>
            <a:r>
              <a:rPr dirty="0" sz="2100" spc="-6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us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how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models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differ</a:t>
            </a:r>
            <a:endParaRPr sz="2100">
              <a:latin typeface="Arial MT"/>
              <a:cs typeface="Arial MT"/>
            </a:endParaRPr>
          </a:p>
          <a:p>
            <a:pPr marL="3328670" marR="239395">
              <a:lnSpc>
                <a:spcPct val="100000"/>
              </a:lnSpc>
              <a:spcBef>
                <a:spcPts val="1090"/>
              </a:spcBef>
            </a:pPr>
            <a:r>
              <a:rPr dirty="0" sz="2100">
                <a:latin typeface="Arial MT"/>
                <a:cs typeface="Arial MT"/>
              </a:rPr>
              <a:t>Null</a:t>
            </a:r>
            <a:r>
              <a:rPr dirty="0" sz="2100" spc="-6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hypothesis: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performance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of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two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models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same</a:t>
            </a:r>
            <a:endParaRPr sz="2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95"/>
              </a:spcBef>
            </a:pPr>
            <a:endParaRPr sz="2100">
              <a:latin typeface="Arial MT"/>
              <a:cs typeface="Arial MT"/>
            </a:endParaRPr>
          </a:p>
          <a:p>
            <a:pPr marL="367030" indent="-35433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367030" algn="l"/>
              </a:tabLst>
            </a:pPr>
            <a:r>
              <a:rPr dirty="0" sz="1900">
                <a:latin typeface="Arial MT"/>
                <a:cs typeface="Arial MT"/>
              </a:rPr>
              <a:t>Set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a</a:t>
            </a:r>
            <a:r>
              <a:rPr dirty="0" sz="1900" spc="-5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significance</a:t>
            </a:r>
            <a:r>
              <a:rPr dirty="0" sz="1900" spc="-60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threshold,</a:t>
            </a:r>
            <a:r>
              <a:rPr dirty="0" sz="1900" spc="-5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normally</a:t>
            </a:r>
            <a:r>
              <a:rPr dirty="0" sz="1900" spc="-50">
                <a:latin typeface="Arial MT"/>
                <a:cs typeface="Arial MT"/>
              </a:rPr>
              <a:t> </a:t>
            </a:r>
            <a:r>
              <a:rPr dirty="0" sz="1900" spc="-819">
                <a:latin typeface="Arial MT"/>
                <a:cs typeface="Arial MT"/>
              </a:rPr>
              <a:t>α</a:t>
            </a:r>
            <a:r>
              <a:rPr dirty="0" sz="1900" spc="-4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=</a:t>
            </a:r>
            <a:r>
              <a:rPr dirty="0" sz="1900" spc="-6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0.05</a:t>
            </a:r>
            <a:endParaRPr sz="1900">
              <a:latin typeface="Arial MT"/>
              <a:cs typeface="Arial MT"/>
            </a:endParaRPr>
          </a:p>
          <a:p>
            <a:pPr marL="367030" marR="144780" indent="-354965">
              <a:lnSpc>
                <a:spcPct val="101099"/>
              </a:lnSpc>
              <a:spcBef>
                <a:spcPts val="1175"/>
              </a:spcBef>
              <a:buAutoNum type="arabicPeriod"/>
              <a:tabLst>
                <a:tab pos="367030" algn="l"/>
              </a:tabLst>
            </a:pPr>
            <a:r>
              <a:rPr dirty="0" sz="1900" spc="-25">
                <a:latin typeface="Arial MT"/>
                <a:cs typeface="Arial MT"/>
              </a:rPr>
              <a:t>Compute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the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 spc="-35">
                <a:latin typeface="Arial MT"/>
                <a:cs typeface="Arial MT"/>
              </a:rPr>
              <a:t>p-</a:t>
            </a:r>
            <a:r>
              <a:rPr dirty="0" sz="1900" spc="-10">
                <a:latin typeface="Arial MT"/>
                <a:cs typeface="Arial MT"/>
              </a:rPr>
              <a:t>value,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the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probability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of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observing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the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given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empirical </a:t>
            </a:r>
            <a:r>
              <a:rPr dirty="0" sz="1900">
                <a:latin typeface="Arial MT"/>
                <a:cs typeface="Arial MT"/>
              </a:rPr>
              <a:t>(or</a:t>
            </a:r>
            <a:r>
              <a:rPr dirty="0" sz="1900" spc="-5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a</a:t>
            </a:r>
            <a:r>
              <a:rPr dirty="0" sz="1900" spc="-6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larger)</a:t>
            </a:r>
            <a:r>
              <a:rPr dirty="0" sz="1900" spc="-50">
                <a:latin typeface="Arial MT"/>
                <a:cs typeface="Arial MT"/>
              </a:rPr>
              <a:t> </a:t>
            </a:r>
            <a:r>
              <a:rPr dirty="0" sz="1900" spc="-35">
                <a:latin typeface="Arial MT"/>
                <a:cs typeface="Arial MT"/>
              </a:rPr>
              <a:t>chi-</a:t>
            </a:r>
            <a:r>
              <a:rPr dirty="0" sz="1900" spc="-25">
                <a:latin typeface="Arial MT"/>
                <a:cs typeface="Arial MT"/>
              </a:rPr>
              <a:t>squared</a:t>
            </a:r>
            <a:r>
              <a:rPr dirty="0" sz="1900" spc="-6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value</a:t>
            </a:r>
            <a:endParaRPr sz="1900">
              <a:latin typeface="Arial MT"/>
              <a:cs typeface="Arial MT"/>
            </a:endParaRPr>
          </a:p>
          <a:p>
            <a:pPr marL="367030" marR="5080" indent="-354965">
              <a:lnSpc>
                <a:spcPts val="2210"/>
              </a:lnSpc>
              <a:spcBef>
                <a:spcPts val="1355"/>
              </a:spcBef>
              <a:buAutoNum type="arabicPeriod"/>
              <a:tabLst>
                <a:tab pos="367030" algn="l"/>
              </a:tabLst>
            </a:pPr>
            <a:r>
              <a:rPr dirty="0" sz="1900">
                <a:latin typeface="Arial MT"/>
                <a:cs typeface="Arial MT"/>
              </a:rPr>
              <a:t>If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the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 spc="-35">
                <a:latin typeface="Arial MT"/>
                <a:cs typeface="Arial MT"/>
              </a:rPr>
              <a:t>p-</a:t>
            </a:r>
            <a:r>
              <a:rPr dirty="0" sz="1900" spc="-10">
                <a:latin typeface="Arial MT"/>
                <a:cs typeface="Arial MT"/>
              </a:rPr>
              <a:t>value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is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lower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than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our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chosen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significance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level,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we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can</a:t>
            </a:r>
            <a:r>
              <a:rPr dirty="0" sz="1900" spc="50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reject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the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null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hypothesis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that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the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two</a:t>
            </a:r>
            <a:r>
              <a:rPr dirty="0" sz="1900" spc="-9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model's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 spc="-30">
                <a:latin typeface="Arial MT"/>
                <a:cs typeface="Arial MT"/>
              </a:rPr>
              <a:t>performances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are</a:t>
            </a:r>
            <a:r>
              <a:rPr dirty="0" sz="1900" spc="-9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equal</a:t>
            </a:r>
            <a:endParaRPr sz="1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42163" y="292955"/>
            <a:ext cx="4026535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5x2cv</a:t>
            </a:r>
            <a:r>
              <a:rPr dirty="0" spc="-65"/>
              <a:t> </a:t>
            </a:r>
            <a:r>
              <a:rPr dirty="0"/>
              <a:t>paired</a:t>
            </a:r>
            <a:r>
              <a:rPr dirty="0" spc="-65"/>
              <a:t> </a:t>
            </a:r>
            <a:r>
              <a:rPr dirty="0"/>
              <a:t>(t</a:t>
            </a:r>
            <a:r>
              <a:rPr dirty="0" spc="-60"/>
              <a:t> </a:t>
            </a:r>
            <a:r>
              <a:rPr dirty="0"/>
              <a:t>or</a:t>
            </a:r>
            <a:r>
              <a:rPr dirty="0" spc="-60"/>
              <a:t> </a:t>
            </a:r>
            <a:r>
              <a:rPr dirty="0"/>
              <a:t>f)</a:t>
            </a:r>
            <a:r>
              <a:rPr dirty="0" spc="-60"/>
              <a:t> </a:t>
            </a:r>
            <a:r>
              <a:rPr dirty="0" spc="-20"/>
              <a:t>test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867626" y="985512"/>
            <a:ext cx="6533515" cy="5958205"/>
          </a:xfrm>
          <a:custGeom>
            <a:avLst/>
            <a:gdLst/>
            <a:ahLst/>
            <a:cxnLst/>
            <a:rect l="l" t="t" r="r" b="b"/>
            <a:pathLst>
              <a:path w="6533515" h="5958205">
                <a:moveTo>
                  <a:pt x="0" y="0"/>
                </a:moveTo>
                <a:lnTo>
                  <a:pt x="6533515" y="0"/>
                </a:lnTo>
                <a:lnTo>
                  <a:pt x="6533515" y="5957842"/>
                </a:lnTo>
                <a:lnTo>
                  <a:pt x="0" y="5957842"/>
                </a:lnTo>
                <a:lnTo>
                  <a:pt x="0" y="0"/>
                </a:lnTo>
                <a:close/>
              </a:path>
            </a:pathLst>
          </a:custGeom>
          <a:ln w="394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49541" y="1006222"/>
            <a:ext cx="6367145" cy="5454650"/>
          </a:xfrm>
          <a:prstGeom prst="rect">
            <a:avLst/>
          </a:prstGeom>
        </p:spPr>
        <p:txBody>
          <a:bodyPr wrap="square" lIns="0" tIns="18415" rIns="0" bIns="0" rtlCol="0" vert="horz">
            <a:spAutoFit/>
          </a:bodyPr>
          <a:lstStyle/>
          <a:p>
            <a:pPr marL="278765" marR="49530" indent="-266700">
              <a:lnSpc>
                <a:spcPct val="98200"/>
              </a:lnSpc>
              <a:spcBef>
                <a:spcPts val="145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2200" spc="-10" b="1">
                <a:solidFill>
                  <a:srgbClr val="0070C0"/>
                </a:solidFill>
                <a:latin typeface="Arial"/>
                <a:cs typeface="Arial"/>
              </a:rPr>
              <a:t>5x2cv</a:t>
            </a:r>
            <a:r>
              <a:rPr dirty="0" sz="2200" spc="-95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0070C0"/>
                </a:solidFill>
                <a:latin typeface="Arial"/>
                <a:cs typeface="Arial"/>
              </a:rPr>
              <a:t>paired</a:t>
            </a:r>
            <a:r>
              <a:rPr dirty="0" sz="2200" spc="-90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2200" spc="-25" b="1">
                <a:solidFill>
                  <a:srgbClr val="0070C0"/>
                </a:solidFill>
                <a:latin typeface="Arial"/>
                <a:cs typeface="Arial"/>
              </a:rPr>
              <a:t>t-</a:t>
            </a:r>
            <a:r>
              <a:rPr dirty="0" sz="2200" b="1">
                <a:solidFill>
                  <a:srgbClr val="0070C0"/>
                </a:solidFill>
                <a:latin typeface="Arial"/>
                <a:cs typeface="Arial"/>
              </a:rPr>
              <a:t>test:</a:t>
            </a:r>
            <a:r>
              <a:rPr dirty="0" sz="2200" spc="-85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700" spc="-25">
                <a:latin typeface="Arial MT"/>
                <a:cs typeface="Arial MT"/>
              </a:rPr>
              <a:t>Dietterich,</a:t>
            </a:r>
            <a:r>
              <a:rPr dirty="0" sz="1700" spc="-7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T.</a:t>
            </a:r>
            <a:r>
              <a:rPr dirty="0" sz="1700" spc="-7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G.</a:t>
            </a:r>
            <a:r>
              <a:rPr dirty="0" sz="1700" spc="-70">
                <a:latin typeface="Arial MT"/>
                <a:cs typeface="Arial MT"/>
              </a:rPr>
              <a:t> </a:t>
            </a:r>
            <a:r>
              <a:rPr dirty="0" sz="1700" spc="-20">
                <a:latin typeface="Arial MT"/>
                <a:cs typeface="Arial MT"/>
              </a:rPr>
              <a:t>(1998).</a:t>
            </a:r>
            <a:r>
              <a:rPr dirty="0" sz="1700" spc="-7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Approximate </a:t>
            </a:r>
            <a:r>
              <a:rPr dirty="0" sz="1700" spc="-25">
                <a:latin typeface="Arial MT"/>
                <a:cs typeface="Arial MT"/>
              </a:rPr>
              <a:t>statistical</a:t>
            </a:r>
            <a:r>
              <a:rPr dirty="0" sz="1700" spc="-45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tests</a:t>
            </a:r>
            <a:r>
              <a:rPr dirty="0" sz="1700" spc="-4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for</a:t>
            </a:r>
            <a:r>
              <a:rPr dirty="0" sz="1700" spc="-35">
                <a:latin typeface="Arial MT"/>
                <a:cs typeface="Arial MT"/>
              </a:rPr>
              <a:t> </a:t>
            </a:r>
            <a:r>
              <a:rPr dirty="0" sz="1700" spc="-30">
                <a:latin typeface="Arial MT"/>
                <a:cs typeface="Arial MT"/>
              </a:rPr>
              <a:t>comparing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 spc="-30">
                <a:latin typeface="Arial MT"/>
                <a:cs typeface="Arial MT"/>
              </a:rPr>
              <a:t>supervised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classification</a:t>
            </a:r>
            <a:r>
              <a:rPr dirty="0" sz="1700" spc="-55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learning </a:t>
            </a:r>
            <a:r>
              <a:rPr dirty="0" sz="1700" spc="-25">
                <a:latin typeface="Arial MT"/>
                <a:cs typeface="Arial MT"/>
              </a:rPr>
              <a:t>algorithms.</a:t>
            </a:r>
            <a:r>
              <a:rPr dirty="0" sz="1700" spc="-45">
                <a:latin typeface="Arial MT"/>
                <a:cs typeface="Arial MT"/>
              </a:rPr>
              <a:t> </a:t>
            </a:r>
            <a:r>
              <a:rPr dirty="0" sz="1700" spc="-20">
                <a:latin typeface="Arial MT"/>
                <a:cs typeface="Arial MT"/>
              </a:rPr>
              <a:t>Neural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 spc="-30">
                <a:latin typeface="Arial MT"/>
                <a:cs typeface="Arial MT"/>
              </a:rPr>
              <a:t>computation,</a:t>
            </a:r>
            <a:r>
              <a:rPr dirty="0" sz="1700" spc="-45">
                <a:latin typeface="Arial MT"/>
                <a:cs typeface="Arial MT"/>
              </a:rPr>
              <a:t> </a:t>
            </a:r>
            <a:r>
              <a:rPr dirty="0" sz="1700" spc="-20">
                <a:latin typeface="Arial MT"/>
                <a:cs typeface="Arial MT"/>
              </a:rPr>
              <a:t>10(7),</a:t>
            </a:r>
            <a:r>
              <a:rPr dirty="0" sz="1700" spc="-40">
                <a:latin typeface="Arial MT"/>
                <a:cs typeface="Arial MT"/>
              </a:rPr>
              <a:t> </a:t>
            </a:r>
            <a:r>
              <a:rPr dirty="0" sz="1700" spc="-45">
                <a:latin typeface="Arial MT"/>
                <a:cs typeface="Arial MT"/>
              </a:rPr>
              <a:t>1895-</a:t>
            </a:r>
            <a:r>
              <a:rPr dirty="0" sz="1700" spc="-20">
                <a:latin typeface="Arial MT"/>
                <a:cs typeface="Arial MT"/>
              </a:rPr>
              <a:t>1923</a:t>
            </a:r>
            <a:endParaRPr sz="1700">
              <a:latin typeface="Arial MT"/>
              <a:cs typeface="Arial MT"/>
            </a:endParaRPr>
          </a:p>
          <a:p>
            <a:pPr marL="278765" marR="209550" indent="-266700">
              <a:lnSpc>
                <a:spcPts val="2500"/>
              </a:lnSpc>
              <a:spcBef>
                <a:spcPts val="660"/>
              </a:spcBef>
              <a:buChar char="•"/>
              <a:tabLst>
                <a:tab pos="278765" algn="l"/>
              </a:tabLst>
            </a:pPr>
            <a:r>
              <a:rPr dirty="0" sz="2100">
                <a:latin typeface="Arial MT"/>
                <a:cs typeface="Arial MT"/>
              </a:rPr>
              <a:t>Low</a:t>
            </a:r>
            <a:r>
              <a:rPr dirty="0" sz="2100" spc="-11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false</a:t>
            </a:r>
            <a:r>
              <a:rPr dirty="0" sz="2100" spc="-11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positive</a:t>
            </a:r>
            <a:r>
              <a:rPr dirty="0" sz="2100" spc="-10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rate,</a:t>
            </a:r>
            <a:r>
              <a:rPr dirty="0" sz="2100" spc="-10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slightly</a:t>
            </a:r>
            <a:r>
              <a:rPr dirty="0" sz="2100" spc="-10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more</a:t>
            </a:r>
            <a:r>
              <a:rPr dirty="0" sz="2100" spc="-10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powerful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than </a:t>
            </a:r>
            <a:r>
              <a:rPr dirty="0" sz="2100" spc="-10">
                <a:latin typeface="Arial MT"/>
                <a:cs typeface="Arial MT"/>
              </a:rPr>
              <a:t>McNemar</a:t>
            </a:r>
            <a:endParaRPr sz="2100">
              <a:latin typeface="Arial MT"/>
              <a:cs typeface="Arial MT"/>
            </a:endParaRPr>
          </a:p>
          <a:p>
            <a:pPr marL="278765" marR="66675" indent="-266700">
              <a:lnSpc>
                <a:spcPct val="101400"/>
              </a:lnSpc>
              <a:spcBef>
                <a:spcPts val="265"/>
              </a:spcBef>
              <a:buChar char="•"/>
              <a:tabLst>
                <a:tab pos="278765" algn="l"/>
              </a:tabLst>
            </a:pPr>
            <a:r>
              <a:rPr dirty="0" sz="2100" spc="-20">
                <a:latin typeface="Arial MT"/>
                <a:cs typeface="Arial MT"/>
              </a:rPr>
              <a:t>Recommended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if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computational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e</a:t>
            </a:r>
            <a:r>
              <a:rPr dirty="0" sz="2100" spc="-10">
                <a:latin typeface="Cambria Math"/>
                <a:cs typeface="Cambria Math"/>
              </a:rPr>
              <a:t>ﬃ</a:t>
            </a:r>
            <a:r>
              <a:rPr dirty="0" sz="2100" spc="-10">
                <a:latin typeface="Arial MT"/>
                <a:cs typeface="Arial MT"/>
              </a:rPr>
              <a:t>ciency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(runtime) </a:t>
            </a: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not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an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issue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(10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times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more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computations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than </a:t>
            </a:r>
            <a:r>
              <a:rPr dirty="0" sz="2100" spc="-10">
                <a:latin typeface="Arial MT"/>
                <a:cs typeface="Arial MT"/>
              </a:rPr>
              <a:t>McNemar)</a:t>
            </a:r>
            <a:endParaRPr sz="2100">
              <a:latin typeface="Arial MT"/>
              <a:cs typeface="Arial MT"/>
            </a:endParaRPr>
          </a:p>
          <a:p>
            <a:pPr marL="278765" marR="138430" indent="-266700">
              <a:lnSpc>
                <a:spcPts val="2500"/>
              </a:lnSpc>
              <a:spcBef>
                <a:spcPts val="580"/>
              </a:spcBef>
              <a:buClr>
                <a:srgbClr val="000000"/>
              </a:buClr>
              <a:buChar char="•"/>
              <a:tabLst>
                <a:tab pos="278765" algn="l"/>
              </a:tabLst>
            </a:pPr>
            <a:r>
              <a:rPr dirty="0" u="heavy" sz="2100" spc="-2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</a:rPr>
              <a:t>https://rasbt.github.io/mlxtend/user_guide/evaluate/</a:t>
            </a:r>
            <a:r>
              <a:rPr dirty="0" sz="2100" spc="-20">
                <a:solidFill>
                  <a:srgbClr val="009999"/>
                </a:solidFill>
                <a:latin typeface="Arial MT"/>
                <a:cs typeface="Arial MT"/>
              </a:rPr>
              <a:t> </a:t>
            </a:r>
            <a:r>
              <a:rPr dirty="0" u="heavy" sz="2100" spc="-1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</a:rPr>
              <a:t>paired_ttest_5x2cv/</a:t>
            </a:r>
            <a:endParaRPr sz="2100">
              <a:latin typeface="Arial MT"/>
              <a:cs typeface="Arial MT"/>
            </a:endParaRPr>
          </a:p>
          <a:p>
            <a:pPr marL="278765" marR="225425" indent="-266700">
              <a:lnSpc>
                <a:spcPct val="98200"/>
              </a:lnSpc>
              <a:spcBef>
                <a:spcPts val="1735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2200" spc="-20" b="1">
                <a:solidFill>
                  <a:srgbClr val="0070C0"/>
                </a:solidFill>
                <a:latin typeface="Arial"/>
                <a:cs typeface="Arial"/>
              </a:rPr>
              <a:t>Combined</a:t>
            </a:r>
            <a:r>
              <a:rPr dirty="0" sz="2200" spc="-90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0070C0"/>
                </a:solidFill>
                <a:latin typeface="Arial"/>
                <a:cs typeface="Arial"/>
              </a:rPr>
              <a:t>5×2cv</a:t>
            </a:r>
            <a:r>
              <a:rPr dirty="0" sz="2200" spc="-95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2200" spc="-25" b="1">
                <a:solidFill>
                  <a:srgbClr val="0070C0"/>
                </a:solidFill>
                <a:latin typeface="Arial"/>
                <a:cs typeface="Arial"/>
              </a:rPr>
              <a:t>f-</a:t>
            </a:r>
            <a:r>
              <a:rPr dirty="0" sz="2200" b="1">
                <a:solidFill>
                  <a:srgbClr val="0070C0"/>
                </a:solidFill>
                <a:latin typeface="Arial"/>
                <a:cs typeface="Arial"/>
              </a:rPr>
              <a:t>test:</a:t>
            </a:r>
            <a:r>
              <a:rPr dirty="0" sz="2200" spc="-85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700" spc="-30">
                <a:latin typeface="Arial MT"/>
                <a:cs typeface="Arial MT"/>
              </a:rPr>
              <a:t>Alpaydin,</a:t>
            </a:r>
            <a:r>
              <a:rPr dirty="0" sz="1700" spc="-70">
                <a:latin typeface="Arial MT"/>
                <a:cs typeface="Arial MT"/>
              </a:rPr>
              <a:t> </a:t>
            </a:r>
            <a:r>
              <a:rPr dirty="0" sz="1700" spc="-20">
                <a:latin typeface="Arial MT"/>
                <a:cs typeface="Arial MT"/>
              </a:rPr>
              <a:t>Ethem</a:t>
            </a:r>
            <a:r>
              <a:rPr dirty="0" sz="1700" spc="-9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(1999). </a:t>
            </a:r>
            <a:r>
              <a:rPr dirty="0" sz="1700" spc="-30">
                <a:latin typeface="Arial MT"/>
                <a:cs typeface="Arial MT"/>
              </a:rPr>
              <a:t>"Combined</a:t>
            </a:r>
            <a:r>
              <a:rPr dirty="0" sz="1700" spc="-75">
                <a:latin typeface="Arial MT"/>
                <a:cs typeface="Arial MT"/>
              </a:rPr>
              <a:t> </a:t>
            </a:r>
            <a:r>
              <a:rPr dirty="0" sz="1700" spc="-20">
                <a:latin typeface="Arial MT"/>
                <a:cs typeface="Arial MT"/>
              </a:rPr>
              <a:t>5×2cv</a:t>
            </a:r>
            <a:r>
              <a:rPr dirty="0" sz="1700" spc="-60">
                <a:latin typeface="Arial MT"/>
                <a:cs typeface="Arial MT"/>
              </a:rPr>
              <a:t> </a:t>
            </a:r>
            <a:r>
              <a:rPr dirty="0" sz="1700" spc="-20">
                <a:latin typeface="Arial MT"/>
                <a:cs typeface="Arial MT"/>
              </a:rPr>
              <a:t>f-</a:t>
            </a:r>
            <a:r>
              <a:rPr dirty="0" sz="1700">
                <a:latin typeface="Arial MT"/>
                <a:cs typeface="Arial MT"/>
              </a:rPr>
              <a:t>test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for</a:t>
            </a:r>
            <a:r>
              <a:rPr dirty="0" sz="1700" spc="-55">
                <a:latin typeface="Arial MT"/>
                <a:cs typeface="Arial MT"/>
              </a:rPr>
              <a:t> </a:t>
            </a:r>
            <a:r>
              <a:rPr dirty="0" sz="1700" spc="-30">
                <a:latin typeface="Arial MT"/>
                <a:cs typeface="Arial MT"/>
              </a:rPr>
              <a:t>comparing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 spc="-30">
                <a:latin typeface="Arial MT"/>
                <a:cs typeface="Arial MT"/>
              </a:rPr>
              <a:t>supervised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classification </a:t>
            </a:r>
            <a:r>
              <a:rPr dirty="0" sz="1700" spc="-25">
                <a:latin typeface="Arial MT"/>
                <a:cs typeface="Arial MT"/>
              </a:rPr>
              <a:t>learning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algorithms."</a:t>
            </a:r>
            <a:r>
              <a:rPr dirty="0" sz="1700" spc="-60">
                <a:latin typeface="Arial MT"/>
                <a:cs typeface="Arial MT"/>
              </a:rPr>
              <a:t> </a:t>
            </a:r>
            <a:r>
              <a:rPr dirty="0" sz="1700" spc="-20">
                <a:latin typeface="Arial MT"/>
                <a:cs typeface="Arial MT"/>
              </a:rPr>
              <a:t>Neural</a:t>
            </a:r>
            <a:r>
              <a:rPr dirty="0" sz="1700" spc="-55">
                <a:latin typeface="Arial MT"/>
                <a:cs typeface="Arial MT"/>
              </a:rPr>
              <a:t> </a:t>
            </a:r>
            <a:r>
              <a:rPr dirty="0" sz="1700" spc="-30">
                <a:latin typeface="Arial MT"/>
                <a:cs typeface="Arial MT"/>
              </a:rPr>
              <a:t>computation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11(8),</a:t>
            </a:r>
            <a:r>
              <a:rPr dirty="0" sz="1700" spc="-45">
                <a:latin typeface="Arial MT"/>
                <a:cs typeface="Arial MT"/>
              </a:rPr>
              <a:t> </a:t>
            </a:r>
            <a:r>
              <a:rPr dirty="0" sz="1700" spc="-40">
                <a:latin typeface="Arial MT"/>
                <a:cs typeface="Arial MT"/>
              </a:rPr>
              <a:t>1885-</a:t>
            </a:r>
            <a:r>
              <a:rPr dirty="0" sz="1700" spc="-20">
                <a:latin typeface="Arial MT"/>
                <a:cs typeface="Arial MT"/>
              </a:rPr>
              <a:t>1892</a:t>
            </a:r>
            <a:endParaRPr sz="1700">
              <a:latin typeface="Arial MT"/>
              <a:cs typeface="Arial MT"/>
            </a:endParaRPr>
          </a:p>
          <a:p>
            <a:pPr marL="278130" indent="-265430">
              <a:lnSpc>
                <a:spcPct val="100000"/>
              </a:lnSpc>
              <a:spcBef>
                <a:spcPts val="560"/>
              </a:spcBef>
              <a:buChar char="•"/>
              <a:tabLst>
                <a:tab pos="278130" algn="l"/>
              </a:tabLst>
            </a:pPr>
            <a:r>
              <a:rPr dirty="0" sz="2100">
                <a:latin typeface="Arial MT"/>
                <a:cs typeface="Arial MT"/>
              </a:rPr>
              <a:t>More</a:t>
            </a:r>
            <a:r>
              <a:rPr dirty="0" sz="2100" spc="-114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robust</a:t>
            </a:r>
            <a:r>
              <a:rPr dirty="0" sz="2100" spc="-114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than</a:t>
            </a:r>
            <a:r>
              <a:rPr dirty="0" sz="2100" spc="-110">
                <a:latin typeface="Arial MT"/>
                <a:cs typeface="Arial MT"/>
              </a:rPr>
              <a:t> </a:t>
            </a:r>
            <a:r>
              <a:rPr dirty="0" sz="2100" b="1">
                <a:solidFill>
                  <a:srgbClr val="0070C0"/>
                </a:solidFill>
                <a:latin typeface="Arial"/>
                <a:cs typeface="Arial"/>
              </a:rPr>
              <a:t>5x2cv</a:t>
            </a:r>
            <a:r>
              <a:rPr dirty="0" sz="2100" spc="-114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2100" spc="-10" b="1">
                <a:solidFill>
                  <a:srgbClr val="0070C0"/>
                </a:solidFill>
                <a:latin typeface="Arial"/>
                <a:cs typeface="Arial"/>
              </a:rPr>
              <a:t>paired</a:t>
            </a:r>
            <a:r>
              <a:rPr dirty="0" sz="2100" spc="-114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2100" spc="-30" b="1">
                <a:solidFill>
                  <a:srgbClr val="0070C0"/>
                </a:solidFill>
                <a:latin typeface="Arial"/>
                <a:cs typeface="Arial"/>
              </a:rPr>
              <a:t>t-</a:t>
            </a:r>
            <a:r>
              <a:rPr dirty="0" sz="2100" spc="-20" b="1">
                <a:solidFill>
                  <a:srgbClr val="0070C0"/>
                </a:solidFill>
                <a:latin typeface="Arial"/>
                <a:cs typeface="Arial"/>
              </a:rPr>
              <a:t>test</a:t>
            </a:r>
            <a:endParaRPr sz="2100">
              <a:latin typeface="Arial"/>
              <a:cs typeface="Arial"/>
            </a:endParaRPr>
          </a:p>
          <a:p>
            <a:pPr marL="278765" marR="5080" indent="-2667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Char char="•"/>
              <a:tabLst>
                <a:tab pos="278765" algn="l"/>
              </a:tabLst>
            </a:pPr>
            <a:r>
              <a:rPr dirty="0" u="heavy" sz="2100" spc="-2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</a:rPr>
              <a:t>https://rasbt.github.io/mlxtend/user_guide/evaluate/c</a:t>
            </a:r>
            <a:r>
              <a:rPr dirty="0" sz="2100" spc="-20">
                <a:solidFill>
                  <a:srgbClr val="009999"/>
                </a:solidFill>
                <a:latin typeface="Arial MT"/>
                <a:cs typeface="Arial MT"/>
              </a:rPr>
              <a:t> </a:t>
            </a:r>
            <a:r>
              <a:rPr dirty="0" u="heavy" sz="2100" spc="-1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</a:rPr>
              <a:t>ombined_ftest_5x2cv/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871885" y="2181243"/>
            <a:ext cx="1803400" cy="11811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99600"/>
              </a:lnSpc>
              <a:spcBef>
                <a:spcPts val="110"/>
              </a:spcBef>
            </a:pPr>
            <a:r>
              <a:rPr dirty="0" sz="1900">
                <a:latin typeface="Arial MT"/>
                <a:cs typeface="Arial MT"/>
              </a:rPr>
              <a:t>The</a:t>
            </a:r>
            <a:r>
              <a:rPr dirty="0" sz="1900" spc="-95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difference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is </a:t>
            </a:r>
            <a:r>
              <a:rPr dirty="0" sz="1900">
                <a:latin typeface="Arial MT"/>
                <a:cs typeface="Arial MT"/>
              </a:rPr>
              <a:t>the</a:t>
            </a:r>
            <a:r>
              <a:rPr dirty="0" sz="1900" spc="-10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distribution used</a:t>
            </a:r>
            <a:r>
              <a:rPr dirty="0" sz="1900" spc="-8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to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calculate </a:t>
            </a:r>
            <a:r>
              <a:rPr dirty="0" sz="1900">
                <a:latin typeface="Arial MT"/>
                <a:cs typeface="Arial MT"/>
              </a:rPr>
              <a:t>the</a:t>
            </a:r>
            <a:r>
              <a:rPr dirty="0" sz="1900" spc="-90">
                <a:latin typeface="Arial MT"/>
                <a:cs typeface="Arial MT"/>
              </a:rPr>
              <a:t> </a:t>
            </a:r>
            <a:r>
              <a:rPr dirty="0" sz="1900" spc="-35">
                <a:latin typeface="Arial MT"/>
                <a:cs typeface="Arial MT"/>
              </a:rPr>
              <a:t>p-</a:t>
            </a:r>
            <a:r>
              <a:rPr dirty="0" sz="1900" spc="-10">
                <a:latin typeface="Arial MT"/>
                <a:cs typeface="Arial MT"/>
              </a:rPr>
              <a:t>value: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144561" y="3616851"/>
            <a:ext cx="1313815" cy="888365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551180" marR="5080" indent="-539115">
              <a:lnSpc>
                <a:spcPts val="2210"/>
              </a:lnSpc>
              <a:spcBef>
                <a:spcPts val="229"/>
              </a:spcBef>
            </a:pPr>
            <a:r>
              <a:rPr dirty="0" sz="1900" spc="-25">
                <a:latin typeface="Arial MT"/>
                <a:cs typeface="Arial MT"/>
              </a:rPr>
              <a:t>t-</a:t>
            </a:r>
            <a:r>
              <a:rPr dirty="0" sz="1900" spc="-30">
                <a:latin typeface="Arial MT"/>
                <a:cs typeface="Arial MT"/>
              </a:rPr>
              <a:t>distribution </a:t>
            </a:r>
            <a:r>
              <a:rPr dirty="0" sz="1900" spc="-25">
                <a:latin typeface="Arial MT"/>
                <a:cs typeface="Arial MT"/>
              </a:rPr>
              <a:t>or</a:t>
            </a:r>
            <a:endParaRPr sz="1900">
              <a:latin typeface="Arial MT"/>
              <a:cs typeface="Arial MT"/>
            </a:endParaRPr>
          </a:p>
          <a:p>
            <a:pPr marL="12700">
              <a:lnSpc>
                <a:spcPts val="2240"/>
              </a:lnSpc>
            </a:pPr>
            <a:r>
              <a:rPr dirty="0" sz="1900" spc="-25">
                <a:latin typeface="Arial MT"/>
                <a:cs typeface="Arial MT"/>
              </a:rPr>
              <a:t>f-</a:t>
            </a:r>
            <a:r>
              <a:rPr dirty="0" sz="1900" spc="-20">
                <a:latin typeface="Arial MT"/>
                <a:cs typeface="Arial MT"/>
              </a:rPr>
              <a:t>distribution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927734" y="4759851"/>
            <a:ext cx="1749425" cy="8883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55270" marR="5080" indent="-243204">
              <a:lnSpc>
                <a:spcPct val="98900"/>
              </a:lnSpc>
              <a:spcBef>
                <a:spcPts val="125"/>
              </a:spcBef>
            </a:pPr>
            <a:r>
              <a:rPr dirty="0" sz="1900" spc="-30">
                <a:latin typeface="Arial MT"/>
                <a:cs typeface="Arial MT"/>
              </a:rPr>
              <a:t>(McNiemar</a:t>
            </a:r>
            <a:r>
              <a:rPr dirty="0" sz="1900" spc="-4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uses </a:t>
            </a:r>
            <a:r>
              <a:rPr dirty="0" sz="1900" spc="-35">
                <a:latin typeface="Arial MT"/>
                <a:cs typeface="Arial MT"/>
              </a:rPr>
              <a:t>chi-</a:t>
            </a:r>
            <a:r>
              <a:rPr dirty="0" sz="1900" spc="-10">
                <a:latin typeface="Arial MT"/>
                <a:cs typeface="Arial MT"/>
              </a:rPr>
              <a:t>squared distribution)</a:t>
            </a:r>
            <a:endParaRPr sz="1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32471" rIns="0" bIns="0" rtlCol="0" vert="horz">
            <a:spAutoFit/>
          </a:bodyPr>
          <a:lstStyle/>
          <a:p>
            <a:pPr marL="633095">
              <a:lnSpc>
                <a:spcPct val="100000"/>
              </a:lnSpc>
              <a:spcBef>
                <a:spcPts val="100"/>
              </a:spcBef>
            </a:pPr>
            <a:r>
              <a:rPr dirty="0"/>
              <a:t>Wilcoxon</a:t>
            </a:r>
            <a:r>
              <a:rPr dirty="0" spc="-80"/>
              <a:t> </a:t>
            </a:r>
            <a:r>
              <a:rPr dirty="0" spc="-25"/>
              <a:t>Signed-</a:t>
            </a:r>
            <a:r>
              <a:rPr dirty="0"/>
              <a:t>Rank</a:t>
            </a:r>
            <a:r>
              <a:rPr dirty="0" spc="-75"/>
              <a:t> </a:t>
            </a:r>
            <a:r>
              <a:rPr dirty="0" spc="-20"/>
              <a:t>Test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195800" y="2006480"/>
            <a:ext cx="7675880" cy="4448810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278765" marR="8890" indent="-266700">
              <a:lnSpc>
                <a:spcPts val="2500"/>
              </a:lnSpc>
              <a:spcBef>
                <a:spcPts val="200"/>
              </a:spcBef>
              <a:buChar char="•"/>
              <a:tabLst>
                <a:tab pos="278765" algn="l"/>
              </a:tabLst>
            </a:pP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Wilcoxon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signed-</a:t>
            </a:r>
            <a:r>
              <a:rPr dirty="0" sz="2100">
                <a:latin typeface="Arial MT"/>
                <a:cs typeface="Arial MT"/>
              </a:rPr>
              <a:t>rank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test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non-</a:t>
            </a:r>
            <a:r>
              <a:rPr dirty="0" sz="2100" spc="-10">
                <a:latin typeface="Arial MT"/>
                <a:cs typeface="Arial MT"/>
              </a:rPr>
              <a:t>parametric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version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of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paired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Student’s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t-</a:t>
            </a:r>
            <a:r>
              <a:rPr dirty="0" sz="2100">
                <a:latin typeface="Arial MT"/>
                <a:cs typeface="Arial MT"/>
              </a:rPr>
              <a:t>test.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It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can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be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used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when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sample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20">
                <a:latin typeface="Arial MT"/>
                <a:cs typeface="Arial MT"/>
              </a:rPr>
              <a:t>size </a:t>
            </a: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small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and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data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does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not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follow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normal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distribution.</a:t>
            </a:r>
            <a:endParaRPr sz="2100">
              <a:latin typeface="Arial MT"/>
              <a:cs typeface="Arial MT"/>
            </a:endParaRPr>
          </a:p>
          <a:p>
            <a:pPr marL="278765" marR="147320" indent="-266700">
              <a:lnSpc>
                <a:spcPct val="100000"/>
              </a:lnSpc>
              <a:spcBef>
                <a:spcPts val="1185"/>
              </a:spcBef>
              <a:buChar char="•"/>
              <a:tabLst>
                <a:tab pos="278765" algn="l"/>
              </a:tabLst>
            </a:pPr>
            <a:r>
              <a:rPr dirty="0" sz="2100">
                <a:latin typeface="Arial MT"/>
                <a:cs typeface="Arial MT"/>
              </a:rPr>
              <a:t>We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can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apply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this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significance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test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for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comparing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two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Machine Learning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models.</a:t>
            </a:r>
            <a:endParaRPr sz="2100">
              <a:latin typeface="Arial MT"/>
              <a:cs typeface="Arial MT"/>
            </a:endParaRPr>
          </a:p>
          <a:p>
            <a:pPr lvl="1" marL="367030" marR="20955" indent="290195">
              <a:lnSpc>
                <a:spcPct val="99500"/>
              </a:lnSpc>
              <a:spcBef>
                <a:spcPts val="1185"/>
              </a:spcBef>
              <a:buAutoNum type="arabicPeriod"/>
              <a:tabLst>
                <a:tab pos="657225" algn="l"/>
              </a:tabLst>
            </a:pPr>
            <a:r>
              <a:rPr dirty="0" sz="2100">
                <a:latin typeface="Arial MT"/>
                <a:cs typeface="Arial MT"/>
              </a:rPr>
              <a:t>Create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set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of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accuracy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scores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for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each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model,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using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spc="-40">
                <a:latin typeface="Arial MT"/>
                <a:cs typeface="Arial MT"/>
              </a:rPr>
              <a:t>k-</a:t>
            </a:r>
            <a:r>
              <a:rPr dirty="0" sz="2100" spc="-20">
                <a:latin typeface="Arial MT"/>
                <a:cs typeface="Arial MT"/>
              </a:rPr>
              <a:t>fold </a:t>
            </a:r>
            <a:r>
              <a:rPr dirty="0" sz="2100" spc="-10">
                <a:latin typeface="Arial MT"/>
                <a:cs typeface="Arial MT"/>
              </a:rPr>
              <a:t>cross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validation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or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several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runs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with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different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random</a:t>
            </a:r>
            <a:r>
              <a:rPr dirty="0" sz="2100" spc="-11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number seeds.</a:t>
            </a:r>
            <a:endParaRPr sz="2100">
              <a:latin typeface="Arial MT"/>
              <a:cs typeface="Arial MT"/>
            </a:endParaRPr>
          </a:p>
          <a:p>
            <a:pPr lvl="2" marL="899160" indent="-177165">
              <a:lnSpc>
                <a:spcPct val="100000"/>
              </a:lnSpc>
              <a:spcBef>
                <a:spcPts val="480"/>
              </a:spcBef>
              <a:buChar char="•"/>
              <a:tabLst>
                <a:tab pos="899160" algn="l"/>
              </a:tabLst>
            </a:pPr>
            <a:r>
              <a:rPr dirty="0" sz="2100">
                <a:latin typeface="Arial MT"/>
                <a:cs typeface="Arial MT"/>
              </a:rPr>
              <a:t>This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gives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us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two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samples,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one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for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each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model.</a:t>
            </a:r>
            <a:endParaRPr sz="2100">
              <a:latin typeface="Arial MT"/>
              <a:cs typeface="Arial MT"/>
            </a:endParaRPr>
          </a:p>
          <a:p>
            <a:pPr lvl="1" marL="367030" marR="5080" indent="290195">
              <a:lnSpc>
                <a:spcPts val="2500"/>
              </a:lnSpc>
              <a:spcBef>
                <a:spcPts val="1375"/>
              </a:spcBef>
              <a:buAutoNum type="arabicPeriod"/>
              <a:tabLst>
                <a:tab pos="657225" algn="l"/>
              </a:tabLst>
            </a:pPr>
            <a:r>
              <a:rPr dirty="0" sz="2100">
                <a:latin typeface="Arial MT"/>
                <a:cs typeface="Arial MT"/>
              </a:rPr>
              <a:t>Then,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we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use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Wilcoxon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signed-</a:t>
            </a:r>
            <a:r>
              <a:rPr dirty="0" sz="2100">
                <a:latin typeface="Arial MT"/>
                <a:cs typeface="Arial MT"/>
              </a:rPr>
              <a:t>rank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test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to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see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if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two </a:t>
            </a:r>
            <a:r>
              <a:rPr dirty="0" sz="2100" spc="-10">
                <a:latin typeface="Arial MT"/>
                <a:cs typeface="Arial MT"/>
              </a:rPr>
              <a:t>accuracy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score</a:t>
            </a:r>
            <a:r>
              <a:rPr dirty="0" sz="2100" spc="-10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samples</a:t>
            </a:r>
            <a:r>
              <a:rPr dirty="0" sz="2100" spc="-10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differ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significantly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from</a:t>
            </a:r>
            <a:r>
              <a:rPr dirty="0" sz="2100" spc="-11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each</a:t>
            </a:r>
            <a:r>
              <a:rPr dirty="0" sz="2100" spc="-95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other.</a:t>
            </a:r>
            <a:endParaRPr sz="2100">
              <a:latin typeface="Arial MT"/>
              <a:cs typeface="Arial MT"/>
            </a:endParaRPr>
          </a:p>
          <a:p>
            <a:pPr lvl="2" marL="899160" indent="-177165">
              <a:lnSpc>
                <a:spcPct val="100000"/>
              </a:lnSpc>
              <a:spcBef>
                <a:spcPts val="395"/>
              </a:spcBef>
              <a:buChar char="•"/>
              <a:tabLst>
                <a:tab pos="899160" algn="l"/>
              </a:tabLst>
            </a:pPr>
            <a:r>
              <a:rPr dirty="0" sz="2100">
                <a:latin typeface="Arial MT"/>
                <a:cs typeface="Arial MT"/>
              </a:rPr>
              <a:t>If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they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do,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then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one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more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accurate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than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other.</a:t>
            </a:r>
            <a:endParaRPr sz="2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9718" y="1794543"/>
            <a:ext cx="8766665" cy="248190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62366" rIns="0" bIns="0" rtlCol="0" vert="horz">
            <a:spAutoFit/>
          </a:bodyPr>
          <a:lstStyle/>
          <a:p>
            <a:pPr marL="633095">
              <a:lnSpc>
                <a:spcPct val="100000"/>
              </a:lnSpc>
              <a:spcBef>
                <a:spcPts val="100"/>
              </a:spcBef>
            </a:pPr>
            <a:r>
              <a:rPr dirty="0"/>
              <a:t>Wilcoxon</a:t>
            </a:r>
            <a:r>
              <a:rPr dirty="0" spc="-80"/>
              <a:t> </a:t>
            </a:r>
            <a:r>
              <a:rPr dirty="0" spc="-25"/>
              <a:t>Signed-</a:t>
            </a:r>
            <a:r>
              <a:rPr dirty="0"/>
              <a:t>Rank</a:t>
            </a:r>
            <a:r>
              <a:rPr dirty="0" spc="-75"/>
              <a:t> </a:t>
            </a:r>
            <a:r>
              <a:rPr dirty="0" spc="-20"/>
              <a:t>Test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057597" y="4572896"/>
            <a:ext cx="7953375" cy="2005330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278765" marR="5080" indent="-266700">
              <a:lnSpc>
                <a:spcPts val="2500"/>
              </a:lnSpc>
              <a:spcBef>
                <a:spcPts val="200"/>
              </a:spcBef>
              <a:buChar char="•"/>
              <a:tabLst>
                <a:tab pos="278765" algn="l"/>
              </a:tabLst>
            </a:pP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result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will</a:t>
            </a:r>
            <a:r>
              <a:rPr dirty="0" sz="2100" spc="-6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be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 spc="-30">
                <a:solidFill>
                  <a:srgbClr val="C00000"/>
                </a:solidFill>
                <a:latin typeface="Arial MT"/>
                <a:cs typeface="Arial MT"/>
              </a:rPr>
              <a:t>p-</a:t>
            </a:r>
            <a:r>
              <a:rPr dirty="0" sz="2100">
                <a:solidFill>
                  <a:srgbClr val="C00000"/>
                </a:solidFill>
                <a:latin typeface="Arial MT"/>
                <a:cs typeface="Arial MT"/>
              </a:rPr>
              <a:t>value</a:t>
            </a:r>
            <a:r>
              <a:rPr dirty="0" sz="2100">
                <a:latin typeface="Arial MT"/>
                <a:cs typeface="Arial MT"/>
              </a:rPr>
              <a:t>.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If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that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value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is</a:t>
            </a:r>
            <a:r>
              <a:rPr dirty="0" sz="2100" spc="-7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lower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than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0.05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we</a:t>
            </a:r>
            <a:r>
              <a:rPr dirty="0" sz="2100" spc="-75">
                <a:latin typeface="Arial MT"/>
                <a:cs typeface="Arial MT"/>
              </a:rPr>
              <a:t> </a:t>
            </a:r>
            <a:r>
              <a:rPr dirty="0" sz="2100" spc="-25">
                <a:latin typeface="Arial MT"/>
                <a:cs typeface="Arial MT"/>
              </a:rPr>
              <a:t>can </a:t>
            </a:r>
            <a:r>
              <a:rPr dirty="0" sz="2100">
                <a:latin typeface="Arial MT"/>
                <a:cs typeface="Arial MT"/>
              </a:rPr>
              <a:t>reject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null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hypothesis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that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there</a:t>
            </a:r>
            <a:r>
              <a:rPr dirty="0" sz="2100" spc="-85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are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no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significant</a:t>
            </a:r>
            <a:r>
              <a:rPr dirty="0" sz="2100" spc="-9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differences between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>
                <a:latin typeface="Arial MT"/>
                <a:cs typeface="Arial MT"/>
              </a:rPr>
              <a:t>the</a:t>
            </a:r>
            <a:r>
              <a:rPr dirty="0" sz="2100" spc="-80">
                <a:latin typeface="Arial MT"/>
                <a:cs typeface="Arial MT"/>
              </a:rPr>
              <a:t> </a:t>
            </a:r>
            <a:r>
              <a:rPr dirty="0" sz="2100" spc="-10">
                <a:latin typeface="Arial MT"/>
                <a:cs typeface="Arial MT"/>
              </a:rPr>
              <a:t>models.</a:t>
            </a:r>
            <a:endParaRPr sz="2100">
              <a:latin typeface="Arial MT"/>
              <a:cs typeface="Arial MT"/>
            </a:endParaRPr>
          </a:p>
          <a:p>
            <a:pPr algn="just" marL="276225" marR="43180" indent="-264160">
              <a:lnSpc>
                <a:spcPct val="98900"/>
              </a:lnSpc>
              <a:spcBef>
                <a:spcPts val="1215"/>
              </a:spcBef>
              <a:buFont typeface="Arial MT"/>
              <a:buChar char="•"/>
              <a:tabLst>
                <a:tab pos="278765" algn="l"/>
              </a:tabLst>
            </a:pPr>
            <a:r>
              <a:rPr dirty="0" sz="1900" spc="-20" b="1" i="1">
                <a:latin typeface="Arial"/>
                <a:cs typeface="Arial"/>
              </a:rPr>
              <a:t>NOTE:</a:t>
            </a:r>
            <a:r>
              <a:rPr dirty="0" sz="1900" spc="-75" b="1" i="1">
                <a:latin typeface="Arial"/>
                <a:cs typeface="Arial"/>
              </a:rPr>
              <a:t> </a:t>
            </a:r>
            <a:r>
              <a:rPr dirty="0" sz="1900" b="1" i="1">
                <a:latin typeface="Arial"/>
                <a:cs typeface="Arial"/>
              </a:rPr>
              <a:t>It</a:t>
            </a:r>
            <a:r>
              <a:rPr dirty="0" sz="1900" spc="-75" b="1" i="1">
                <a:latin typeface="Arial"/>
                <a:cs typeface="Arial"/>
              </a:rPr>
              <a:t> </a:t>
            </a:r>
            <a:r>
              <a:rPr dirty="0" sz="1900" b="1" i="1">
                <a:latin typeface="Arial"/>
                <a:cs typeface="Arial"/>
              </a:rPr>
              <a:t>is</a:t>
            </a:r>
            <a:r>
              <a:rPr dirty="0" sz="1900" spc="-85" b="1" i="1">
                <a:latin typeface="Arial"/>
                <a:cs typeface="Arial"/>
              </a:rPr>
              <a:t> </a:t>
            </a:r>
            <a:r>
              <a:rPr dirty="0" sz="1900" spc="-25" b="1" i="1">
                <a:latin typeface="Arial"/>
                <a:cs typeface="Arial"/>
              </a:rPr>
              <a:t>important</a:t>
            </a:r>
            <a:r>
              <a:rPr dirty="0" sz="1900" spc="-70" b="1" i="1">
                <a:latin typeface="Arial"/>
                <a:cs typeface="Arial"/>
              </a:rPr>
              <a:t> </a:t>
            </a:r>
            <a:r>
              <a:rPr dirty="0" sz="1900" b="1" i="1">
                <a:latin typeface="Arial"/>
                <a:cs typeface="Arial"/>
              </a:rPr>
              <a:t>to</a:t>
            </a:r>
            <a:r>
              <a:rPr dirty="0" sz="1900" spc="-85" b="1" i="1">
                <a:latin typeface="Arial"/>
                <a:cs typeface="Arial"/>
              </a:rPr>
              <a:t> </a:t>
            </a:r>
            <a:r>
              <a:rPr dirty="0" u="heavy" sz="1900" spc="-10" b="1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keep</a:t>
            </a:r>
            <a:r>
              <a:rPr dirty="0" u="heavy" sz="1900" spc="-80" b="1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900" b="1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the</a:t>
            </a:r>
            <a:r>
              <a:rPr dirty="0" u="heavy" sz="1900" spc="-85" b="1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900" spc="-20" b="1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same</a:t>
            </a:r>
            <a:r>
              <a:rPr dirty="0" u="heavy" sz="1900" spc="-80" b="1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900" spc="-10" b="1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folds</a:t>
            </a:r>
            <a:r>
              <a:rPr dirty="0" u="heavy" sz="1900" spc="-85" b="1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900" spc="-25" b="1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between</a:t>
            </a:r>
            <a:r>
              <a:rPr dirty="0" u="heavy" sz="1900" spc="-85" b="1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900" b="1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the</a:t>
            </a:r>
            <a:r>
              <a:rPr dirty="0" u="heavy" sz="1900" spc="-80" b="1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900" spc="-20" b="1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models</a:t>
            </a:r>
            <a:r>
              <a:rPr dirty="0" u="heavy" sz="1900" spc="-85" b="1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900" spc="-25" b="1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</a:t>
            </a:r>
            <a:r>
              <a:rPr dirty="0" sz="1900" spc="-25" b="1" i="1">
                <a:latin typeface="Arial"/>
                <a:cs typeface="Arial"/>
              </a:rPr>
              <a:t>o </a:t>
            </a:r>
            <a:r>
              <a:rPr dirty="0" sz="1900" spc="-25" b="1" i="1">
                <a:latin typeface="Arial"/>
                <a:cs typeface="Arial"/>
              </a:rPr>
              <a:t>	</a:t>
            </a:r>
            <a:r>
              <a:rPr dirty="0" u="heavy" sz="1900" spc="-20" b="1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make</a:t>
            </a:r>
            <a:r>
              <a:rPr dirty="0" u="heavy" sz="1900" spc="-100" b="1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900" spc="-10" b="1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sure</a:t>
            </a:r>
            <a:r>
              <a:rPr dirty="0" u="heavy" sz="1900" spc="-95" b="1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900" b="1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the</a:t>
            </a:r>
            <a:r>
              <a:rPr dirty="0" u="heavy" sz="1900" spc="-100" b="1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900" spc="-25" b="1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samples</a:t>
            </a:r>
            <a:r>
              <a:rPr dirty="0" u="heavy" sz="1900" spc="-95" b="1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900" b="1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are</a:t>
            </a:r>
            <a:r>
              <a:rPr dirty="0" u="heavy" sz="1900" spc="-95" b="1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900" spc="-10" b="1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drawn</a:t>
            </a:r>
            <a:r>
              <a:rPr dirty="0" u="heavy" sz="1900" spc="-100" b="1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900" b="1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from</a:t>
            </a:r>
            <a:r>
              <a:rPr dirty="0" u="heavy" sz="1900" spc="-105" b="1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900" b="1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the</a:t>
            </a:r>
            <a:r>
              <a:rPr dirty="0" u="heavy" sz="1900" spc="-95" b="1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900" spc="-10" b="1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same</a:t>
            </a:r>
            <a:r>
              <a:rPr dirty="0" u="heavy" sz="1900" spc="-100" b="1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900" spc="-25" b="1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population.</a:t>
            </a:r>
            <a:r>
              <a:rPr dirty="0" sz="1900" spc="-85" b="1" i="1">
                <a:latin typeface="Arial"/>
                <a:cs typeface="Arial"/>
              </a:rPr>
              <a:t> </a:t>
            </a:r>
            <a:r>
              <a:rPr dirty="0" sz="1900" spc="-10" b="1" i="1">
                <a:latin typeface="Arial"/>
                <a:cs typeface="Arial"/>
              </a:rPr>
              <a:t>This</a:t>
            </a:r>
            <a:r>
              <a:rPr dirty="0" sz="1900" spc="-100" b="1" i="1">
                <a:latin typeface="Arial"/>
                <a:cs typeface="Arial"/>
              </a:rPr>
              <a:t> </a:t>
            </a:r>
            <a:r>
              <a:rPr dirty="0" sz="1900" spc="-25" b="1" i="1">
                <a:latin typeface="Arial"/>
                <a:cs typeface="Arial"/>
              </a:rPr>
              <a:t>is 	achieved</a:t>
            </a:r>
            <a:r>
              <a:rPr dirty="0" sz="1900" spc="-90" b="1" i="1">
                <a:latin typeface="Arial"/>
                <a:cs typeface="Arial"/>
              </a:rPr>
              <a:t> </a:t>
            </a:r>
            <a:r>
              <a:rPr dirty="0" sz="1900" b="1" i="1">
                <a:latin typeface="Arial"/>
                <a:cs typeface="Arial"/>
              </a:rPr>
              <a:t>by</a:t>
            </a:r>
            <a:r>
              <a:rPr dirty="0" sz="1900" spc="-90" b="1" i="1">
                <a:latin typeface="Arial"/>
                <a:cs typeface="Arial"/>
              </a:rPr>
              <a:t> </a:t>
            </a:r>
            <a:r>
              <a:rPr dirty="0" sz="1900" spc="-10" b="1" i="1">
                <a:latin typeface="Arial"/>
                <a:cs typeface="Arial"/>
              </a:rPr>
              <a:t>simply</a:t>
            </a:r>
            <a:r>
              <a:rPr dirty="0" sz="1900" spc="-85" b="1" i="1">
                <a:latin typeface="Arial"/>
                <a:cs typeface="Arial"/>
              </a:rPr>
              <a:t> </a:t>
            </a:r>
            <a:r>
              <a:rPr dirty="0" sz="1900" spc="-10" b="1" i="1">
                <a:latin typeface="Arial"/>
                <a:cs typeface="Arial"/>
              </a:rPr>
              <a:t>using</a:t>
            </a:r>
            <a:r>
              <a:rPr dirty="0" sz="1900" spc="-90" b="1" i="1">
                <a:latin typeface="Arial"/>
                <a:cs typeface="Arial"/>
              </a:rPr>
              <a:t> </a:t>
            </a:r>
            <a:r>
              <a:rPr dirty="0" sz="1900" b="1" i="1">
                <a:latin typeface="Arial"/>
                <a:cs typeface="Arial"/>
              </a:rPr>
              <a:t>the</a:t>
            </a:r>
            <a:r>
              <a:rPr dirty="0" sz="1900" spc="-85" b="1" i="1">
                <a:latin typeface="Arial"/>
                <a:cs typeface="Arial"/>
              </a:rPr>
              <a:t> </a:t>
            </a:r>
            <a:r>
              <a:rPr dirty="0" sz="1900" spc="-20" b="1" i="1">
                <a:latin typeface="Arial"/>
                <a:cs typeface="Arial"/>
              </a:rPr>
              <a:t>same</a:t>
            </a:r>
            <a:r>
              <a:rPr dirty="0" sz="1900" spc="-90" b="1" i="1">
                <a:latin typeface="Arial"/>
                <a:cs typeface="Arial"/>
              </a:rPr>
              <a:t> </a:t>
            </a:r>
            <a:r>
              <a:rPr dirty="0" sz="1900" spc="-30" b="1" i="1">
                <a:latin typeface="Arial"/>
                <a:cs typeface="Arial"/>
              </a:rPr>
              <a:t>random_state</a:t>
            </a:r>
            <a:r>
              <a:rPr dirty="0" sz="1900" spc="-90" b="1" i="1">
                <a:latin typeface="Arial"/>
                <a:cs typeface="Arial"/>
              </a:rPr>
              <a:t> </a:t>
            </a:r>
            <a:r>
              <a:rPr dirty="0" sz="1900" spc="-10" b="1" i="1">
                <a:latin typeface="Arial"/>
                <a:cs typeface="Arial"/>
              </a:rPr>
              <a:t>value.</a:t>
            </a:r>
            <a:endParaRPr sz="1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 Fei Thang</dc:creator>
  <dc:title>09_ML Review (CT)</dc:title>
  <dcterms:created xsi:type="dcterms:W3CDTF">2025-12-26T00:26:34Z</dcterms:created>
  <dcterms:modified xsi:type="dcterms:W3CDTF">2025-12-26T00:26:34Z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2025-05-09T00:00:00Z</vt:filetime>
  </property>
  <property fmtid="{D5CDD505-2E9C-101B-9397-08002B2CF9AE}" pid="3" name="Creator">
    <vt:lpwstr>PowerPoint</vt:lpwstr>
  </property>
  <property fmtid="{D5CDD505-2E9C-101B-9397-08002B2CF9AE}" pid="4" name="LastSaved">
    <vt:filetime>2025-12-26T00:00:00Z</vt:filetime>
  </property>
  <property fmtid="{D5CDD505-2E9C-101B-9397-08002B2CF9AE}" pid="5" name="Producer">
    <vt:lpwstr>macOS Version 15.4.1 (Build 24E263) Quartz PDFContext</vt:lpwstr>
  </property>
</Properties>
</file>