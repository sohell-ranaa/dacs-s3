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png" ContentType="image/png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1" i="0">
                <a:solidFill>
                  <a:srgbClr val="006FC0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C0F8FB"/>
                </a:solidFill>
                <a:latin typeface="Verdana"/>
                <a:cs typeface="Verdana"/>
              </a:defRPr>
            </a:lvl1pPr>
          </a:lstStyle>
          <a:p>
            <a:pPr marL="101600">
              <a:lnSpc>
                <a:spcPct val="100000"/>
              </a:lnSpc>
              <a:spcBef>
                <a:spcPts val="80"/>
              </a:spcBef>
            </a:pPr>
            <a:r>
              <a:rPr dirty="0" spc="-20"/>
              <a:t>SLIDE</a:t>
            </a:r>
            <a:r>
              <a:rPr dirty="0" spc="-5"/>
              <a:t> </a:t>
            </a: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06FC0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C0F8FB"/>
                </a:solidFill>
                <a:latin typeface="Verdana"/>
                <a:cs typeface="Verdana"/>
              </a:defRPr>
            </a:lvl1pPr>
          </a:lstStyle>
          <a:p>
            <a:pPr marL="101600">
              <a:lnSpc>
                <a:spcPct val="100000"/>
              </a:lnSpc>
              <a:spcBef>
                <a:spcPts val="80"/>
              </a:spcBef>
            </a:pPr>
            <a:r>
              <a:rPr dirty="0" spc="-20"/>
              <a:t>SLIDE</a:t>
            </a:r>
            <a:r>
              <a:rPr dirty="0" spc="-5"/>
              <a:t> </a:t>
            </a: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06FC0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C0F8FB"/>
                </a:solidFill>
                <a:latin typeface="Verdana"/>
                <a:cs typeface="Verdana"/>
              </a:defRPr>
            </a:lvl1pPr>
          </a:lstStyle>
          <a:p>
            <a:pPr marL="101600">
              <a:lnSpc>
                <a:spcPct val="100000"/>
              </a:lnSpc>
              <a:spcBef>
                <a:spcPts val="80"/>
              </a:spcBef>
            </a:pPr>
            <a:r>
              <a:rPr dirty="0" spc="-20"/>
              <a:t>SLIDE</a:t>
            </a:r>
            <a:r>
              <a:rPr dirty="0" spc="-5"/>
              <a:t> </a:t>
            </a: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06FC0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C0F8FB"/>
                </a:solidFill>
                <a:latin typeface="Verdana"/>
                <a:cs typeface="Verdana"/>
              </a:defRPr>
            </a:lvl1pPr>
          </a:lstStyle>
          <a:p>
            <a:pPr marL="101600">
              <a:lnSpc>
                <a:spcPct val="100000"/>
              </a:lnSpc>
              <a:spcBef>
                <a:spcPts val="80"/>
              </a:spcBef>
            </a:pPr>
            <a:r>
              <a:rPr dirty="0" spc="-20"/>
              <a:t>SLIDE</a:t>
            </a:r>
            <a:r>
              <a:rPr dirty="0" spc="-5"/>
              <a:t> </a:t>
            </a: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C0F8FB"/>
                </a:solidFill>
                <a:latin typeface="Verdana"/>
                <a:cs typeface="Verdana"/>
              </a:defRPr>
            </a:lvl1pPr>
          </a:lstStyle>
          <a:p>
            <a:pPr marL="101600">
              <a:lnSpc>
                <a:spcPct val="100000"/>
              </a:lnSpc>
              <a:spcBef>
                <a:spcPts val="80"/>
              </a:spcBef>
            </a:pPr>
            <a:r>
              <a:rPr dirty="0" spc="-20"/>
              <a:t>SLIDE</a:t>
            </a:r>
            <a:r>
              <a:rPr dirty="0" spc="-5"/>
              <a:t> </a:t>
            </a: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891061" y="0"/>
            <a:ext cx="1252938" cy="129857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" y="6583362"/>
            <a:ext cx="9143999" cy="2666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0329" y="250316"/>
            <a:ext cx="7460081" cy="9676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1" i="0">
                <a:solidFill>
                  <a:srgbClr val="006FC0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58723" y="1276858"/>
            <a:ext cx="8026552" cy="1438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478773" y="6622186"/>
            <a:ext cx="586104" cy="1808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C0F8FB"/>
                </a:solidFill>
                <a:latin typeface="Verdana"/>
                <a:cs typeface="Verdana"/>
              </a:defRPr>
            </a:lvl1pPr>
          </a:lstStyle>
          <a:p>
            <a:pPr marL="101600">
              <a:lnSpc>
                <a:spcPct val="100000"/>
              </a:lnSpc>
              <a:spcBef>
                <a:spcPts val="80"/>
              </a:spcBef>
            </a:pPr>
            <a:r>
              <a:rPr dirty="0" spc="-20"/>
              <a:t>SLIDE</a:t>
            </a:r>
            <a:r>
              <a:rPr dirty="0" spc="-5"/>
              <a:t> </a:t>
            </a: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6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scikit-learn.org/stable/modules/generated/sklearn.linear_model.LinearRegression.html" TargetMode="Externa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youtu.be/aPHg1kGeKsg" TargetMode="External"/><Relationship Id="rId3" Type="http://schemas.openxmlformats.org/officeDocument/2006/relationships/image" Target="../media/image10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scikit-learn.org/stable/modules/generated/sklearn.linear_model.LogisticRegression.html#sklearn.linear_model.LogisticRegression" TargetMode="External"/><Relationship Id="rId3" Type="http://schemas.openxmlformats.org/officeDocument/2006/relationships/image" Target="../media/image12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youtu.be/EKm0spFxFG4" TargetMode="External"/><Relationship Id="rId3" Type="http://schemas.openxmlformats.org/officeDocument/2006/relationships/image" Target="../media/image13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scikit-learn.org/stable/modules/generated/sklearn.discriminant_analysis.LinearDiscriminantAnalysis.html#sklearn.discriminant_analysis.LinearDiscriminantAnalysis" TargetMode="External"/><Relationship Id="rId3" Type="http://schemas.openxmlformats.org/officeDocument/2006/relationships/image" Target="../media/image15.jpg"/><Relationship Id="rId4" Type="http://schemas.openxmlformats.org/officeDocument/2006/relationships/image" Target="../media/image16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youtu.be/azXCzI57Yfc?t=34" TargetMode="External"/><Relationship Id="rId3" Type="http://schemas.openxmlformats.org/officeDocument/2006/relationships/image" Target="../media/image19.jp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Relationship Id="rId3" Type="http://schemas.openxmlformats.org/officeDocument/2006/relationships/image" Target="../media/image22.jp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jp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Relationship Id="rId3" Type="http://schemas.openxmlformats.org/officeDocument/2006/relationships/hyperlink" Target="https://scikit-learn.org/stable/modules/generated/sklearn.svm.LinearSVC.html#sklearn.svm.LinearSVC" TargetMode="External"/><Relationship Id="rId4" Type="http://schemas.openxmlformats.org/officeDocument/2006/relationships/image" Target="../media/image26.jp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scikit-learn.org/stable/modules/generated/sklearn.svm.SVC.html#sklearn.svm.SVC" TargetMode="External"/><Relationship Id="rId3" Type="http://schemas.openxmlformats.org/officeDocument/2006/relationships/image" Target="../media/image27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youtu.be/_YPScrckx28" TargetMode="External"/><Relationship Id="rId3" Type="http://schemas.openxmlformats.org/officeDocument/2006/relationships/hyperlink" Target="https://youtu.be/ny1iZ5A8ilA" TargetMode="External"/><Relationship Id="rId4" Type="http://schemas.openxmlformats.org/officeDocument/2006/relationships/image" Target="../media/image30.jp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scikit-learn.org/stable/modules/generated/sklearn.naive_bayes.GaussianNB.html#sklearn.naive_bayes.GaussianNB" TargetMode="Externa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jpg"/><Relationship Id="rId3" Type="http://schemas.openxmlformats.org/officeDocument/2006/relationships/hyperlink" Target="https://youtu.be/H3EjCKtlVog?t=47" TargetMode="Externa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jp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jp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youtu.be/0p0o5cmgLdE" TargetMode="External"/><Relationship Id="rId3" Type="http://schemas.openxmlformats.org/officeDocument/2006/relationships/image" Target="../media/image35.jp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scikit-learn.org/stable/modules/generated/sklearn.neighbors.KNeighborsClassifier.html" TargetMode="Externa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scikit-learn.org/stable/modules/generated/sklearn.tree.DecisionTreeClassifier.html" TargetMode="Externa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6.jpg"/><Relationship Id="rId3" Type="http://schemas.openxmlformats.org/officeDocument/2006/relationships/image" Target="../media/image37.jp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youtu.be/7YTeMIq6-9s" TargetMode="External"/><Relationship Id="rId3" Type="http://schemas.openxmlformats.org/officeDocument/2006/relationships/image" Target="../media/image40.jp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jpg"/><Relationship Id="rId3" Type="http://schemas.openxmlformats.org/officeDocument/2006/relationships/image" Target="../media/image2.jpg"/><Relationship Id="rId4" Type="http://schemas.openxmlformats.org/officeDocument/2006/relationships/hyperlink" Target="https://scikit-learn.org/stable/modules/generated/sklearn.ensemble.RandomForestClassifier.html" TargetMode="External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2.jpg"/><Relationship Id="rId3" Type="http://schemas.openxmlformats.org/officeDocument/2006/relationships/image" Target="../media/image2.jpg"/><Relationship Id="rId4" Type="http://schemas.openxmlformats.org/officeDocument/2006/relationships/image" Target="../media/image43.jpg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jpg"/><Relationship Id="rId3" Type="http://schemas.openxmlformats.org/officeDocument/2006/relationships/image" Target="../media/image2.jpg"/><Relationship Id="rId4" Type="http://schemas.openxmlformats.org/officeDocument/2006/relationships/image" Target="../media/image44.jpg"/><Relationship Id="rId5" Type="http://schemas.openxmlformats.org/officeDocument/2006/relationships/hyperlink" Target="https://youtu.be/J4Wdy0Wc_xQ?t=9" TargetMode="External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5.jpg"/><Relationship Id="rId3" Type="http://schemas.openxmlformats.org/officeDocument/2006/relationships/image" Target="../media/image46.jpg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jpg"/><Relationship Id="rId3" Type="http://schemas.openxmlformats.org/officeDocument/2006/relationships/image" Target="../media/image2.jpg"/><Relationship Id="rId4" Type="http://schemas.openxmlformats.org/officeDocument/2006/relationships/image" Target="../media/image45.jpg"/><Relationship Id="rId5" Type="http://schemas.openxmlformats.org/officeDocument/2006/relationships/hyperlink" Target="https://scikit-learn.org/stable/modules/generated/sklearn.ensemble.AdaBoostClassifier.html" TargetMode="External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jpg"/><Relationship Id="rId3" Type="http://schemas.openxmlformats.org/officeDocument/2006/relationships/image" Target="../media/image2.jpg"/><Relationship Id="rId4" Type="http://schemas.openxmlformats.org/officeDocument/2006/relationships/image" Target="../media/image47.jpg"/><Relationship Id="rId5" Type="http://schemas.openxmlformats.org/officeDocument/2006/relationships/hyperlink" Target="https://youtu.be/LsK-xG1cLYA?t=11" TargetMode="External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jpg"/><Relationship Id="rId3" Type="http://schemas.openxmlformats.org/officeDocument/2006/relationships/image" Target="../media/image2.jpg"/><Relationship Id="rId4" Type="http://schemas.openxmlformats.org/officeDocument/2006/relationships/image" Target="../media/image46.jpg"/><Relationship Id="rId5" Type="http://schemas.openxmlformats.org/officeDocument/2006/relationships/hyperlink" Target="https://scikit-learn.org/stable/modules/generated/sklearn.ensemble.GradientBoostingClassifier.html" TargetMode="External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jpg"/><Relationship Id="rId3" Type="http://schemas.openxmlformats.org/officeDocument/2006/relationships/image" Target="../media/image2.jpg"/><Relationship Id="rId4" Type="http://schemas.openxmlformats.org/officeDocument/2006/relationships/hyperlink" Target="https://youtu.be/3CC4N4z3GJc?t=10" TargetMode="External"/><Relationship Id="rId5" Type="http://schemas.openxmlformats.org/officeDocument/2006/relationships/image" Target="../media/image48.jpg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jpg"/><Relationship Id="rId3" Type="http://schemas.openxmlformats.org/officeDocument/2006/relationships/image" Target="../media/image2.jpg"/><Relationship Id="rId4" Type="http://schemas.openxmlformats.org/officeDocument/2006/relationships/image" Target="../media/image49.jpg"/><Relationship Id="rId5" Type="http://schemas.openxmlformats.org/officeDocument/2006/relationships/hyperlink" Target="https://youtu.be/jxuNLH5dXCs?t=17" TargetMode="External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png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scikit-learn.org/stable/modules/generated/sklearn.neural_network.MLPClassifier.html" TargetMode="External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1.jpg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bfmFfD2RIcg" TargetMode="External"/></Relationships>
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jpg"/><Relationship Id="rId3" Type="http://schemas.openxmlformats.org/officeDocument/2006/relationships/hyperlink" Target="https://www.youtube.com/watch?v=CqOfi41LfDw&amp;t=1s" TargetMode="External"/></Relationships>
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02398"/>
            <a:ext cx="9143999" cy="355597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66027" y="68656"/>
            <a:ext cx="773383" cy="919826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013866" y="3077717"/>
            <a:ext cx="6159500" cy="17183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" marR="1802764">
              <a:lnSpc>
                <a:spcPct val="100000"/>
              </a:lnSpc>
              <a:spcBef>
                <a:spcPts val="95"/>
              </a:spcBef>
            </a:pPr>
            <a:r>
              <a:rPr dirty="0" sz="2500" spc="-60">
                <a:solidFill>
                  <a:srgbClr val="082E50"/>
                </a:solidFill>
                <a:latin typeface="Tahoma"/>
                <a:cs typeface="Tahoma"/>
              </a:rPr>
              <a:t>Data</a:t>
            </a:r>
            <a:r>
              <a:rPr dirty="0" sz="2500" spc="-10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2500" spc="-10">
                <a:solidFill>
                  <a:srgbClr val="082E50"/>
                </a:solidFill>
                <a:latin typeface="Tahoma"/>
                <a:cs typeface="Tahoma"/>
              </a:rPr>
              <a:t>Analytics</a:t>
            </a:r>
            <a:r>
              <a:rPr dirty="0" sz="2500" spc="-12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2500">
                <a:solidFill>
                  <a:srgbClr val="082E50"/>
                </a:solidFill>
                <a:latin typeface="Tahoma"/>
                <a:cs typeface="Tahoma"/>
              </a:rPr>
              <a:t>in</a:t>
            </a:r>
            <a:r>
              <a:rPr dirty="0" sz="2500" spc="-10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2500" spc="-65">
                <a:solidFill>
                  <a:srgbClr val="082E50"/>
                </a:solidFill>
                <a:latin typeface="Tahoma"/>
                <a:cs typeface="Tahoma"/>
              </a:rPr>
              <a:t>Cyber</a:t>
            </a:r>
            <a:r>
              <a:rPr dirty="0" sz="2500" spc="-9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2500" spc="-30">
                <a:solidFill>
                  <a:srgbClr val="082E50"/>
                </a:solidFill>
                <a:latin typeface="Tahoma"/>
                <a:cs typeface="Tahoma"/>
              </a:rPr>
              <a:t>Security </a:t>
            </a:r>
            <a:r>
              <a:rPr dirty="0" sz="2500" spc="-45">
                <a:solidFill>
                  <a:srgbClr val="082E50"/>
                </a:solidFill>
                <a:latin typeface="Tahoma"/>
                <a:cs typeface="Tahoma"/>
              </a:rPr>
              <a:t>CT115-</a:t>
            </a:r>
            <a:r>
              <a:rPr dirty="0" sz="2500" spc="-25">
                <a:solidFill>
                  <a:srgbClr val="082E50"/>
                </a:solidFill>
                <a:latin typeface="Tahoma"/>
                <a:cs typeface="Tahoma"/>
              </a:rPr>
              <a:t>3-</a:t>
            </a:r>
            <a:r>
              <a:rPr dirty="0" sz="2500">
                <a:solidFill>
                  <a:srgbClr val="082E50"/>
                </a:solidFill>
                <a:latin typeface="Tahoma"/>
                <a:cs typeface="Tahoma"/>
              </a:rPr>
              <a:t>M</a:t>
            </a:r>
            <a:r>
              <a:rPr dirty="0" sz="2500" spc="-2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2500" spc="-65">
                <a:solidFill>
                  <a:srgbClr val="082E50"/>
                </a:solidFill>
                <a:latin typeface="Tahoma"/>
                <a:cs typeface="Tahoma"/>
              </a:rPr>
              <a:t>(Version</a:t>
            </a:r>
            <a:r>
              <a:rPr dirty="0" sz="2500" spc="-4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2500" spc="-25">
                <a:solidFill>
                  <a:srgbClr val="082E50"/>
                </a:solidFill>
                <a:latin typeface="Tahoma"/>
                <a:cs typeface="Tahoma"/>
              </a:rPr>
              <a:t>E)</a:t>
            </a:r>
            <a:endParaRPr sz="2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14"/>
              </a:spcBef>
            </a:pPr>
            <a:endParaRPr sz="2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250" spc="-60" b="1">
                <a:solidFill>
                  <a:srgbClr val="006FC0"/>
                </a:solidFill>
                <a:latin typeface="Verdana"/>
                <a:cs typeface="Verdana"/>
              </a:rPr>
              <a:t>Machine</a:t>
            </a:r>
            <a:r>
              <a:rPr dirty="0" sz="2250" spc="-145" b="1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dirty="0" sz="2250" spc="-80" b="1">
                <a:solidFill>
                  <a:srgbClr val="006FC0"/>
                </a:solidFill>
                <a:latin typeface="Verdana"/>
                <a:cs typeface="Verdana"/>
              </a:rPr>
              <a:t>Learning</a:t>
            </a:r>
            <a:r>
              <a:rPr dirty="0" sz="2250" spc="-145" b="1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dirty="0" sz="2250" spc="-75" b="1">
                <a:solidFill>
                  <a:srgbClr val="006FC0"/>
                </a:solidFill>
                <a:latin typeface="Verdana"/>
                <a:cs typeface="Verdana"/>
              </a:rPr>
              <a:t>Algorithms</a:t>
            </a:r>
            <a:r>
              <a:rPr dirty="0" sz="2250" spc="-145" b="1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dirty="0" sz="2250" spc="-80" b="1">
                <a:solidFill>
                  <a:srgbClr val="006FC0"/>
                </a:solidFill>
                <a:latin typeface="Verdana"/>
                <a:cs typeface="Verdana"/>
              </a:rPr>
              <a:t>in</a:t>
            </a:r>
            <a:r>
              <a:rPr dirty="0" sz="2250" spc="-135" b="1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dirty="0" sz="2250" spc="-35" b="1">
                <a:solidFill>
                  <a:srgbClr val="006FC0"/>
                </a:solidFill>
                <a:latin typeface="Verdana"/>
                <a:cs typeface="Verdana"/>
              </a:rPr>
              <a:t>Practice</a:t>
            </a:r>
            <a:endParaRPr sz="225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438269" y="6606337"/>
            <a:ext cx="393065" cy="11874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600" spc="-10">
                <a:solidFill>
                  <a:srgbClr val="C0F8FB"/>
                </a:solidFill>
                <a:latin typeface="Verdana"/>
                <a:cs typeface="Verdana"/>
              </a:rPr>
              <a:t>Slide</a:t>
            </a:r>
            <a:r>
              <a:rPr dirty="0" sz="600" spc="-25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10">
                <a:solidFill>
                  <a:srgbClr val="C0F8FB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08000" y="6622186"/>
            <a:ext cx="1101725" cy="11874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Module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Code</a:t>
            </a:r>
            <a:r>
              <a:rPr dirty="0" sz="600" spc="4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45">
                <a:solidFill>
                  <a:srgbClr val="C0F8FB"/>
                </a:solidFill>
                <a:latin typeface="Verdana"/>
                <a:cs typeface="Verdana"/>
              </a:rPr>
              <a:t>&amp;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Module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20">
                <a:solidFill>
                  <a:srgbClr val="C0F8FB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101600">
              <a:lnSpc>
                <a:spcPct val="100000"/>
              </a:lnSpc>
              <a:spcBef>
                <a:spcPts val="80"/>
              </a:spcBef>
            </a:pPr>
            <a:r>
              <a:rPr dirty="0" spc="-20"/>
              <a:t>SLIDE</a:t>
            </a:r>
            <a:r>
              <a:rPr dirty="0" spc="-5"/>
              <a:t> </a:t>
            </a: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02398"/>
            <a:ext cx="9143999" cy="355597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66027" y="68656"/>
            <a:ext cx="773383" cy="919826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269240" y="1660702"/>
            <a:ext cx="6414135" cy="1054735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At</a:t>
            </a:r>
            <a:r>
              <a:rPr dirty="0" sz="1850" spc="-10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the</a:t>
            </a:r>
            <a:r>
              <a:rPr dirty="0" sz="1850" spc="-9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end</a:t>
            </a:r>
            <a:r>
              <a:rPr dirty="0" sz="1850" spc="-10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of</a:t>
            </a:r>
            <a:r>
              <a:rPr dirty="0" sz="1850" spc="-9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this</a:t>
            </a:r>
            <a:r>
              <a:rPr dirty="0" sz="1850" spc="-9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topic,</a:t>
            </a:r>
            <a:r>
              <a:rPr dirty="0" sz="1850" spc="-10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20">
                <a:solidFill>
                  <a:srgbClr val="082E50"/>
                </a:solidFill>
                <a:latin typeface="Tahoma"/>
                <a:cs typeface="Tahoma"/>
              </a:rPr>
              <a:t>you</a:t>
            </a:r>
            <a:r>
              <a:rPr dirty="0" sz="1850" spc="-9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should</a:t>
            </a:r>
            <a:r>
              <a:rPr dirty="0" sz="1850" spc="-11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be</a:t>
            </a:r>
            <a:r>
              <a:rPr dirty="0" sz="1850" spc="-9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able</a:t>
            </a:r>
            <a:r>
              <a:rPr dirty="0" sz="1850" spc="-9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25">
                <a:solidFill>
                  <a:srgbClr val="082E50"/>
                </a:solidFill>
                <a:latin typeface="Tahoma"/>
                <a:cs typeface="Tahoma"/>
              </a:rPr>
              <a:t>to:</a:t>
            </a:r>
            <a:endParaRPr sz="1850">
              <a:latin typeface="Tahoma"/>
              <a:cs typeface="Tahoma"/>
            </a:endParaRPr>
          </a:p>
          <a:p>
            <a:pPr marL="255904" indent="-243204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255904" algn="l"/>
              </a:tabLst>
            </a:pPr>
            <a:r>
              <a:rPr dirty="0" sz="1850" spc="-20">
                <a:solidFill>
                  <a:srgbClr val="082E50"/>
                </a:solidFill>
                <a:latin typeface="Tahoma"/>
                <a:cs typeface="Tahoma"/>
              </a:rPr>
              <a:t>Understand</a:t>
            </a:r>
            <a:r>
              <a:rPr dirty="0" sz="1850" spc="-6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different</a:t>
            </a:r>
            <a:r>
              <a:rPr dirty="0" sz="1850" spc="-6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25">
                <a:solidFill>
                  <a:srgbClr val="082E50"/>
                </a:solidFill>
                <a:latin typeface="Tahoma"/>
                <a:cs typeface="Tahoma"/>
              </a:rPr>
              <a:t>types</a:t>
            </a:r>
            <a:r>
              <a:rPr dirty="0" sz="1850" spc="-9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of</a:t>
            </a:r>
            <a:r>
              <a:rPr dirty="0" sz="1850" spc="-8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20">
                <a:solidFill>
                  <a:srgbClr val="082E50"/>
                </a:solidFill>
                <a:latin typeface="Tahoma"/>
                <a:cs typeface="Tahoma"/>
              </a:rPr>
              <a:t>supervised</a:t>
            </a:r>
            <a:r>
              <a:rPr dirty="0" sz="1850" spc="-7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learning</a:t>
            </a:r>
            <a:r>
              <a:rPr dirty="0" sz="1850" spc="-8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algorithm.</a:t>
            </a:r>
            <a:endParaRPr sz="1850">
              <a:latin typeface="Tahoma"/>
              <a:cs typeface="Tahoma"/>
            </a:endParaRPr>
          </a:p>
          <a:p>
            <a:pPr marL="254635" indent="-241935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254635" algn="l"/>
              </a:tabLst>
            </a:pPr>
            <a:r>
              <a:rPr dirty="0" sz="1850" spc="-25">
                <a:solidFill>
                  <a:srgbClr val="082E50"/>
                </a:solidFill>
                <a:latin typeface="Tahoma"/>
                <a:cs typeface="Tahoma"/>
              </a:rPr>
              <a:t>Understand</a:t>
            </a:r>
            <a:r>
              <a:rPr dirty="0" sz="1850" spc="-6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the</a:t>
            </a:r>
            <a:r>
              <a:rPr dirty="0" sz="1850" spc="-9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operating</a:t>
            </a:r>
            <a:r>
              <a:rPr dirty="0" sz="1850" spc="-7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details</a:t>
            </a:r>
            <a:r>
              <a:rPr dirty="0" sz="1850" spc="-8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of</a:t>
            </a:r>
            <a:r>
              <a:rPr dirty="0" sz="1850" spc="-9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20">
                <a:solidFill>
                  <a:srgbClr val="082E50"/>
                </a:solidFill>
                <a:latin typeface="Tahoma"/>
                <a:cs typeface="Tahoma"/>
              </a:rPr>
              <a:t>each</a:t>
            </a:r>
            <a:r>
              <a:rPr dirty="0" sz="1850" spc="-8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algorithm.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438269" y="6606337"/>
            <a:ext cx="393065" cy="11874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600" spc="-10">
                <a:solidFill>
                  <a:srgbClr val="C0F8FB"/>
                </a:solidFill>
                <a:latin typeface="Verdana"/>
                <a:cs typeface="Verdana"/>
              </a:rPr>
              <a:t>Slide</a:t>
            </a:r>
            <a:r>
              <a:rPr dirty="0" sz="600" spc="-25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10">
                <a:solidFill>
                  <a:srgbClr val="C0F8FB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8000" y="6622186"/>
            <a:ext cx="1101725" cy="11874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Module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Code</a:t>
            </a:r>
            <a:r>
              <a:rPr dirty="0" sz="600" spc="4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45">
                <a:solidFill>
                  <a:srgbClr val="C0F8FB"/>
                </a:solidFill>
                <a:latin typeface="Verdana"/>
                <a:cs typeface="Verdana"/>
              </a:rPr>
              <a:t>&amp;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Module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20">
                <a:solidFill>
                  <a:srgbClr val="C0F8FB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101600">
              <a:lnSpc>
                <a:spcPct val="100000"/>
              </a:lnSpc>
              <a:spcBef>
                <a:spcPts val="80"/>
              </a:spcBef>
            </a:pPr>
            <a:r>
              <a:rPr dirty="0" spc="-20"/>
              <a:t>SLIDE</a:t>
            </a:r>
            <a:r>
              <a:rPr dirty="0" spc="-5"/>
              <a:t> </a:t>
            </a: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11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35"/>
              <a:t>TOPIC </a:t>
            </a:r>
            <a:r>
              <a:rPr dirty="0" spc="-140"/>
              <a:t>LEARNING</a:t>
            </a:r>
            <a:r>
              <a:rPr dirty="0" spc="-150"/>
              <a:t> </a:t>
            </a:r>
            <a:r>
              <a:rPr dirty="0" spc="-20"/>
              <a:t>OUTCOMES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7513" rIns="0" bIns="0" rtlCol="0" vert="horz">
            <a:spAutoFit/>
          </a:bodyPr>
          <a:lstStyle/>
          <a:p>
            <a:pPr marL="233934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252573"/>
                </a:solidFill>
                <a:latin typeface="Arial"/>
                <a:cs typeface="Arial"/>
              </a:rPr>
              <a:t>Machine</a:t>
            </a:r>
            <a:r>
              <a:rPr dirty="0" sz="3600" spc="-15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600" spc="-10">
                <a:solidFill>
                  <a:srgbClr val="252573"/>
                </a:solidFill>
                <a:latin typeface="Arial"/>
                <a:cs typeface="Arial"/>
              </a:rPr>
              <a:t>Learning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64591" y="1324102"/>
            <a:ext cx="7720965" cy="134302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355600" marR="5080" indent="-342900">
              <a:lnSpc>
                <a:spcPct val="80000"/>
              </a:lnSpc>
              <a:spcBef>
                <a:spcPts val="675"/>
              </a:spcBef>
              <a:buChar char="•"/>
              <a:tabLst>
                <a:tab pos="355600" algn="l"/>
              </a:tabLst>
            </a:pP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perform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tasks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autonomously,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machines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need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to </a:t>
            </a:r>
            <a:r>
              <a:rPr dirty="0" sz="2400" spc="-10">
                <a:latin typeface="Arial MT"/>
                <a:cs typeface="Arial MT"/>
              </a:rPr>
              <a:t>learn.</a:t>
            </a:r>
            <a:endParaRPr sz="2400">
              <a:latin typeface="Arial MT"/>
              <a:cs typeface="Arial MT"/>
            </a:endParaRPr>
          </a:p>
          <a:p>
            <a:pPr marL="355600" marR="325120" indent="-342900">
              <a:lnSpc>
                <a:spcPts val="2300"/>
              </a:lnSpc>
              <a:spcBef>
                <a:spcPts val="565"/>
              </a:spcBef>
              <a:buChar char="•"/>
              <a:tabLst>
                <a:tab pos="355600" algn="l"/>
              </a:tabLst>
            </a:pP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this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they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learn</a:t>
            </a:r>
            <a:r>
              <a:rPr dirty="0" sz="2400" spc="-3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selected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model</a:t>
            </a:r>
            <a:r>
              <a:rPr dirty="0" sz="2400" spc="-4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using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examples 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training</a:t>
            </a:r>
            <a:r>
              <a:rPr dirty="0" sz="2400" spc="-10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FF0000"/>
                </a:solidFill>
                <a:latin typeface="Arial MT"/>
                <a:cs typeface="Arial MT"/>
              </a:rPr>
              <a:t>data</a:t>
            </a:r>
            <a:r>
              <a:rPr dirty="0" sz="2400" spc="-10">
                <a:latin typeface="Arial MT"/>
                <a:cs typeface="Arial MT"/>
              </a:rPr>
              <a:t>)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64591" y="4835728"/>
            <a:ext cx="8248650" cy="10502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ts val="2595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selected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model,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machines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learn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model</a:t>
            </a:r>
            <a:r>
              <a:rPr dirty="0" sz="2400" spc="-8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FF0000"/>
                </a:solidFill>
                <a:latin typeface="Arial"/>
                <a:cs typeface="Arial"/>
              </a:rPr>
              <a:t>parameters</a:t>
            </a:r>
            <a:r>
              <a:rPr dirty="0" sz="2400" spc="-1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ts val="2595"/>
              </a:lnSpc>
            </a:pPr>
            <a:r>
              <a:rPr dirty="0" sz="2400">
                <a:latin typeface="Arial MT"/>
                <a:cs typeface="Arial MT"/>
              </a:rPr>
              <a:t>This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process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commonly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known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as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“</a:t>
            </a: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model</a:t>
            </a:r>
            <a:r>
              <a:rPr dirty="0" sz="2400" spc="-6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FF0000"/>
                </a:solidFill>
                <a:latin typeface="Arial MT"/>
                <a:cs typeface="Arial MT"/>
              </a:rPr>
              <a:t>learning</a:t>
            </a:r>
            <a:r>
              <a:rPr dirty="0" sz="2400" spc="-10">
                <a:latin typeface="Arial MT"/>
                <a:cs typeface="Arial MT"/>
              </a:rPr>
              <a:t>”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dirty="0" sz="2400">
                <a:latin typeface="Arial MT"/>
                <a:cs typeface="Arial MT"/>
              </a:rPr>
              <a:t>But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what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FF0000"/>
                </a:solidFill>
                <a:latin typeface="Arial MT"/>
                <a:cs typeface="Arial MT"/>
              </a:rPr>
              <a:t>model</a:t>
            </a:r>
            <a:r>
              <a:rPr dirty="0" sz="2400" spc="-10">
                <a:latin typeface="Arial MT"/>
                <a:cs typeface="Arial MT"/>
              </a:rPr>
              <a:t>?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3280536" y="3059048"/>
            <a:ext cx="2604770" cy="1268730"/>
            <a:chOff x="3280536" y="3059048"/>
            <a:chExt cx="2604770" cy="1268730"/>
          </a:xfrm>
        </p:grpSpPr>
        <p:sp>
          <p:nvSpPr>
            <p:cNvPr id="6" name="object 6" descr=""/>
            <p:cNvSpPr/>
            <p:nvPr/>
          </p:nvSpPr>
          <p:spPr>
            <a:xfrm>
              <a:off x="3293236" y="3071748"/>
              <a:ext cx="2579370" cy="1243330"/>
            </a:xfrm>
            <a:custGeom>
              <a:avLst/>
              <a:gdLst/>
              <a:ahLst/>
              <a:cxnLst/>
              <a:rect l="l" t="t" r="r" b="b"/>
              <a:pathLst>
                <a:path w="2579370" h="1243329">
                  <a:moveTo>
                    <a:pt x="2371725" y="0"/>
                  </a:moveTo>
                  <a:lnTo>
                    <a:pt x="207263" y="0"/>
                  </a:lnTo>
                  <a:lnTo>
                    <a:pt x="159753" y="5476"/>
                  </a:lnTo>
                  <a:lnTo>
                    <a:pt x="116132" y="21073"/>
                  </a:lnTo>
                  <a:lnTo>
                    <a:pt x="77648" y="45546"/>
                  </a:lnTo>
                  <a:lnTo>
                    <a:pt x="45546" y="77648"/>
                  </a:lnTo>
                  <a:lnTo>
                    <a:pt x="21073" y="116132"/>
                  </a:lnTo>
                  <a:lnTo>
                    <a:pt x="5476" y="159753"/>
                  </a:lnTo>
                  <a:lnTo>
                    <a:pt x="0" y="207263"/>
                  </a:lnTo>
                  <a:lnTo>
                    <a:pt x="0" y="1035938"/>
                  </a:lnTo>
                  <a:lnTo>
                    <a:pt x="5476" y="1083442"/>
                  </a:lnTo>
                  <a:lnTo>
                    <a:pt x="21073" y="1127045"/>
                  </a:lnTo>
                  <a:lnTo>
                    <a:pt x="45546" y="1165504"/>
                  </a:lnTo>
                  <a:lnTo>
                    <a:pt x="77648" y="1197579"/>
                  </a:lnTo>
                  <a:lnTo>
                    <a:pt x="116132" y="1222027"/>
                  </a:lnTo>
                  <a:lnTo>
                    <a:pt x="159753" y="1237606"/>
                  </a:lnTo>
                  <a:lnTo>
                    <a:pt x="207263" y="1243076"/>
                  </a:lnTo>
                  <a:lnTo>
                    <a:pt x="2371725" y="1243076"/>
                  </a:lnTo>
                  <a:lnTo>
                    <a:pt x="2419235" y="1237606"/>
                  </a:lnTo>
                  <a:lnTo>
                    <a:pt x="2462856" y="1222027"/>
                  </a:lnTo>
                  <a:lnTo>
                    <a:pt x="2501340" y="1197579"/>
                  </a:lnTo>
                  <a:lnTo>
                    <a:pt x="2533442" y="1165504"/>
                  </a:lnTo>
                  <a:lnTo>
                    <a:pt x="2557915" y="1127045"/>
                  </a:lnTo>
                  <a:lnTo>
                    <a:pt x="2573512" y="1083442"/>
                  </a:lnTo>
                  <a:lnTo>
                    <a:pt x="2578989" y="1035938"/>
                  </a:lnTo>
                  <a:lnTo>
                    <a:pt x="2578989" y="207263"/>
                  </a:lnTo>
                  <a:lnTo>
                    <a:pt x="2573512" y="159753"/>
                  </a:lnTo>
                  <a:lnTo>
                    <a:pt x="2557915" y="116132"/>
                  </a:lnTo>
                  <a:lnTo>
                    <a:pt x="2533442" y="77648"/>
                  </a:lnTo>
                  <a:lnTo>
                    <a:pt x="2501340" y="45546"/>
                  </a:lnTo>
                  <a:lnTo>
                    <a:pt x="2462856" y="21073"/>
                  </a:lnTo>
                  <a:lnTo>
                    <a:pt x="2419235" y="5476"/>
                  </a:lnTo>
                  <a:lnTo>
                    <a:pt x="2371725" y="0"/>
                  </a:lnTo>
                  <a:close/>
                </a:path>
              </a:pathLst>
            </a:custGeom>
            <a:solidFill>
              <a:srgbClr val="7575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293236" y="3071748"/>
              <a:ext cx="2579370" cy="1243330"/>
            </a:xfrm>
            <a:custGeom>
              <a:avLst/>
              <a:gdLst/>
              <a:ahLst/>
              <a:cxnLst/>
              <a:rect l="l" t="t" r="r" b="b"/>
              <a:pathLst>
                <a:path w="2579370" h="1243329">
                  <a:moveTo>
                    <a:pt x="0" y="207263"/>
                  </a:moveTo>
                  <a:lnTo>
                    <a:pt x="5476" y="159753"/>
                  </a:lnTo>
                  <a:lnTo>
                    <a:pt x="21073" y="116132"/>
                  </a:lnTo>
                  <a:lnTo>
                    <a:pt x="45546" y="77648"/>
                  </a:lnTo>
                  <a:lnTo>
                    <a:pt x="77648" y="45546"/>
                  </a:lnTo>
                  <a:lnTo>
                    <a:pt x="116132" y="21073"/>
                  </a:lnTo>
                  <a:lnTo>
                    <a:pt x="159753" y="5476"/>
                  </a:lnTo>
                  <a:lnTo>
                    <a:pt x="207263" y="0"/>
                  </a:lnTo>
                  <a:lnTo>
                    <a:pt x="2371725" y="0"/>
                  </a:lnTo>
                  <a:lnTo>
                    <a:pt x="2419235" y="5476"/>
                  </a:lnTo>
                  <a:lnTo>
                    <a:pt x="2462856" y="21073"/>
                  </a:lnTo>
                  <a:lnTo>
                    <a:pt x="2501340" y="45546"/>
                  </a:lnTo>
                  <a:lnTo>
                    <a:pt x="2533442" y="77648"/>
                  </a:lnTo>
                  <a:lnTo>
                    <a:pt x="2557915" y="116132"/>
                  </a:lnTo>
                  <a:lnTo>
                    <a:pt x="2573512" y="159753"/>
                  </a:lnTo>
                  <a:lnTo>
                    <a:pt x="2578989" y="207263"/>
                  </a:lnTo>
                  <a:lnTo>
                    <a:pt x="2578989" y="1035938"/>
                  </a:lnTo>
                  <a:lnTo>
                    <a:pt x="2573512" y="1083442"/>
                  </a:lnTo>
                  <a:lnTo>
                    <a:pt x="2557915" y="1127045"/>
                  </a:lnTo>
                  <a:lnTo>
                    <a:pt x="2533442" y="1165504"/>
                  </a:lnTo>
                  <a:lnTo>
                    <a:pt x="2501340" y="1197579"/>
                  </a:lnTo>
                  <a:lnTo>
                    <a:pt x="2462856" y="1222027"/>
                  </a:lnTo>
                  <a:lnTo>
                    <a:pt x="2419235" y="1237606"/>
                  </a:lnTo>
                  <a:lnTo>
                    <a:pt x="2371725" y="1243076"/>
                  </a:lnTo>
                  <a:lnTo>
                    <a:pt x="207263" y="1243076"/>
                  </a:lnTo>
                  <a:lnTo>
                    <a:pt x="159753" y="1237606"/>
                  </a:lnTo>
                  <a:lnTo>
                    <a:pt x="116132" y="1222027"/>
                  </a:lnTo>
                  <a:lnTo>
                    <a:pt x="77648" y="1197579"/>
                  </a:lnTo>
                  <a:lnTo>
                    <a:pt x="45546" y="1165504"/>
                  </a:lnTo>
                  <a:lnTo>
                    <a:pt x="21073" y="1127045"/>
                  </a:lnTo>
                  <a:lnTo>
                    <a:pt x="5476" y="1083442"/>
                  </a:lnTo>
                  <a:lnTo>
                    <a:pt x="0" y="1035938"/>
                  </a:lnTo>
                  <a:lnTo>
                    <a:pt x="0" y="207263"/>
                  </a:lnTo>
                  <a:close/>
                </a:path>
              </a:pathLst>
            </a:custGeom>
            <a:ln w="25400">
              <a:solidFill>
                <a:srgbClr val="88A3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3507994" y="3269595"/>
            <a:ext cx="2145665" cy="737235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760"/>
              </a:spcBef>
            </a:pPr>
            <a:r>
              <a:rPr dirty="0" sz="2100">
                <a:solidFill>
                  <a:srgbClr val="FFFFFF"/>
                </a:solidFill>
                <a:latin typeface="Arial MT"/>
                <a:cs typeface="Arial MT"/>
              </a:rPr>
              <a:t>Machine</a:t>
            </a:r>
            <a:r>
              <a:rPr dirty="0" sz="21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Arial MT"/>
                <a:cs typeface="Arial MT"/>
              </a:rPr>
              <a:t>Learning</a:t>
            </a:r>
            <a:endParaRPr sz="2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1600">
                <a:solidFill>
                  <a:srgbClr val="FFFFFF"/>
                </a:solidFill>
                <a:latin typeface="Arial MT"/>
                <a:cs typeface="Arial MT"/>
              </a:rPr>
              <a:t>(For</a:t>
            </a:r>
            <a:r>
              <a:rPr dirty="0" sz="16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dirty="0" sz="16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FFFFFF"/>
                </a:solidFill>
                <a:latin typeface="Arial MT"/>
                <a:cs typeface="Arial MT"/>
              </a:rPr>
              <a:t>choice</a:t>
            </a:r>
            <a:r>
              <a:rPr dirty="0" sz="16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dirty="0" sz="1600" spc="-10">
                <a:solidFill>
                  <a:srgbClr val="FFFFFF"/>
                </a:solidFill>
                <a:latin typeface="Arial MT"/>
                <a:cs typeface="Arial MT"/>
              </a:rPr>
              <a:t> Model)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1894713" y="3528821"/>
            <a:ext cx="1411605" cy="474980"/>
            <a:chOff x="1894713" y="3528821"/>
            <a:chExt cx="1411605" cy="474980"/>
          </a:xfrm>
        </p:grpSpPr>
        <p:sp>
          <p:nvSpPr>
            <p:cNvPr id="10" name="object 10" descr=""/>
            <p:cNvSpPr/>
            <p:nvPr/>
          </p:nvSpPr>
          <p:spPr>
            <a:xfrm>
              <a:off x="1907413" y="3541521"/>
              <a:ext cx="1386205" cy="449580"/>
            </a:xfrm>
            <a:custGeom>
              <a:avLst/>
              <a:gdLst/>
              <a:ahLst/>
              <a:cxnLst/>
              <a:rect l="l" t="t" r="r" b="b"/>
              <a:pathLst>
                <a:path w="1386204" h="449579">
                  <a:moveTo>
                    <a:pt x="1161034" y="0"/>
                  </a:moveTo>
                  <a:lnTo>
                    <a:pt x="1161034" y="112394"/>
                  </a:lnTo>
                  <a:lnTo>
                    <a:pt x="0" y="112394"/>
                  </a:lnTo>
                  <a:lnTo>
                    <a:pt x="0" y="337184"/>
                  </a:lnTo>
                  <a:lnTo>
                    <a:pt x="1161034" y="337184"/>
                  </a:lnTo>
                  <a:lnTo>
                    <a:pt x="1161034" y="449579"/>
                  </a:lnTo>
                  <a:lnTo>
                    <a:pt x="1385824" y="224789"/>
                  </a:lnTo>
                  <a:lnTo>
                    <a:pt x="1161034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907413" y="3541521"/>
              <a:ext cx="1386205" cy="449580"/>
            </a:xfrm>
            <a:custGeom>
              <a:avLst/>
              <a:gdLst/>
              <a:ahLst/>
              <a:cxnLst/>
              <a:rect l="l" t="t" r="r" b="b"/>
              <a:pathLst>
                <a:path w="1386204" h="449579">
                  <a:moveTo>
                    <a:pt x="0" y="112394"/>
                  </a:moveTo>
                  <a:lnTo>
                    <a:pt x="1161034" y="112394"/>
                  </a:lnTo>
                  <a:lnTo>
                    <a:pt x="1161034" y="0"/>
                  </a:lnTo>
                  <a:lnTo>
                    <a:pt x="1385824" y="224789"/>
                  </a:lnTo>
                  <a:lnTo>
                    <a:pt x="1161034" y="449579"/>
                  </a:lnTo>
                  <a:lnTo>
                    <a:pt x="1161034" y="337184"/>
                  </a:lnTo>
                  <a:lnTo>
                    <a:pt x="0" y="337184"/>
                  </a:lnTo>
                  <a:lnTo>
                    <a:pt x="0" y="112394"/>
                  </a:lnTo>
                  <a:close/>
                </a:path>
              </a:pathLst>
            </a:custGeom>
            <a:ln w="25400">
              <a:solidFill>
                <a:srgbClr val="88A3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1103782" y="3292221"/>
            <a:ext cx="14751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Arial"/>
                <a:cs typeface="Arial"/>
              </a:rPr>
              <a:t>Training</a:t>
            </a:r>
            <a:r>
              <a:rPr dirty="0" sz="1800" spc="-60" b="1">
                <a:latin typeface="Arial"/>
                <a:cs typeface="Arial"/>
              </a:rPr>
              <a:t> </a:t>
            </a:r>
            <a:r>
              <a:rPr dirty="0" sz="1800" spc="-20" b="1">
                <a:latin typeface="Arial"/>
                <a:cs typeface="Arial"/>
              </a:rPr>
              <a:t>Data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5872098" y="3548126"/>
            <a:ext cx="1170940" cy="342900"/>
          </a:xfrm>
          <a:custGeom>
            <a:avLst/>
            <a:gdLst/>
            <a:ahLst/>
            <a:cxnLst/>
            <a:rect l="l" t="t" r="r" b="b"/>
            <a:pathLst>
              <a:path w="1170940" h="342900">
                <a:moveTo>
                  <a:pt x="827531" y="0"/>
                </a:moveTo>
                <a:lnTo>
                  <a:pt x="827531" y="342900"/>
                </a:lnTo>
                <a:lnTo>
                  <a:pt x="1056131" y="228600"/>
                </a:lnTo>
                <a:lnTo>
                  <a:pt x="884681" y="228600"/>
                </a:lnTo>
                <a:lnTo>
                  <a:pt x="884681" y="114300"/>
                </a:lnTo>
                <a:lnTo>
                  <a:pt x="1056131" y="114300"/>
                </a:lnTo>
                <a:lnTo>
                  <a:pt x="827531" y="0"/>
                </a:lnTo>
                <a:close/>
              </a:path>
              <a:path w="1170940" h="342900">
                <a:moveTo>
                  <a:pt x="827531" y="114300"/>
                </a:moveTo>
                <a:lnTo>
                  <a:pt x="0" y="114300"/>
                </a:lnTo>
                <a:lnTo>
                  <a:pt x="0" y="228600"/>
                </a:lnTo>
                <a:lnTo>
                  <a:pt x="827531" y="228600"/>
                </a:lnTo>
                <a:lnTo>
                  <a:pt x="827531" y="114300"/>
                </a:lnTo>
                <a:close/>
              </a:path>
              <a:path w="1170940" h="342900">
                <a:moveTo>
                  <a:pt x="1056131" y="114300"/>
                </a:moveTo>
                <a:lnTo>
                  <a:pt x="884681" y="114300"/>
                </a:lnTo>
                <a:lnTo>
                  <a:pt x="884681" y="228600"/>
                </a:lnTo>
                <a:lnTo>
                  <a:pt x="1056131" y="228600"/>
                </a:lnTo>
                <a:lnTo>
                  <a:pt x="1170431" y="171450"/>
                </a:lnTo>
                <a:lnTo>
                  <a:pt x="1056131" y="114300"/>
                </a:lnTo>
                <a:close/>
              </a:path>
            </a:pathLst>
          </a:custGeom>
          <a:solidFill>
            <a:srgbClr val="B6DC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6450329" y="3241928"/>
            <a:ext cx="19786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Model</a:t>
            </a:r>
            <a:r>
              <a:rPr dirty="0" sz="1800" spc="-4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parameters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35229" rIns="0" bIns="0" rtlCol="0" vert="horz">
            <a:spAutoFit/>
          </a:bodyPr>
          <a:lstStyle/>
          <a:p>
            <a:pPr marL="1453515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Machine</a:t>
            </a:r>
            <a:r>
              <a:rPr dirty="0" sz="3200" spc="-6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Learning</a:t>
            </a:r>
            <a:r>
              <a:rPr dirty="0" sz="3200" spc="-7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 spc="-10">
                <a:solidFill>
                  <a:srgbClr val="252573"/>
                </a:solidFill>
                <a:latin typeface="Arial"/>
                <a:cs typeface="Arial"/>
              </a:rPr>
              <a:t>Models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3582" y="1896571"/>
            <a:ext cx="8190390" cy="34058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35229" rIns="0" bIns="0" rtlCol="0" vert="horz">
            <a:spAutoFit/>
          </a:bodyPr>
          <a:lstStyle/>
          <a:p>
            <a:pPr marL="1453515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Machine</a:t>
            </a:r>
            <a:r>
              <a:rPr dirty="0" sz="3200" spc="-6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Learning</a:t>
            </a:r>
            <a:r>
              <a:rPr dirty="0" sz="3200" spc="-7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 spc="-10">
                <a:solidFill>
                  <a:srgbClr val="252573"/>
                </a:solidFill>
                <a:latin typeface="Arial"/>
                <a:cs typeface="Arial"/>
              </a:rPr>
              <a:t>Models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05129" y="1843227"/>
            <a:ext cx="7759065" cy="3501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00"/>
              </a:spcBef>
              <a:buChar char="•"/>
              <a:tabLst>
                <a:tab pos="269875" algn="l"/>
              </a:tabLst>
            </a:pPr>
            <a:r>
              <a:rPr dirty="0" sz="2400">
                <a:latin typeface="Arial MT"/>
                <a:cs typeface="Arial MT"/>
              </a:rPr>
              <a:t>Learning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process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adapting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79D2"/>
                </a:solidFill>
                <a:latin typeface="Arial MT"/>
                <a:cs typeface="Arial MT"/>
              </a:rPr>
              <a:t>model</a:t>
            </a:r>
            <a:r>
              <a:rPr dirty="0" sz="2400" spc="-60">
                <a:solidFill>
                  <a:srgbClr val="0079D2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006FC0"/>
                </a:solidFill>
                <a:latin typeface="Arial MT"/>
                <a:cs typeface="Arial MT"/>
              </a:rPr>
              <a:t>parameters</a:t>
            </a:r>
            <a:endParaRPr sz="2400">
              <a:latin typeface="Arial MT"/>
              <a:cs typeface="Arial MT"/>
            </a:endParaRPr>
          </a:p>
          <a:p>
            <a:pPr marL="270510">
              <a:lnSpc>
                <a:spcPct val="100000"/>
              </a:lnSpc>
              <a:spcBef>
                <a:spcPts val="5"/>
              </a:spcBef>
            </a:pP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classifier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produce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desired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response.</a:t>
            </a:r>
            <a:endParaRPr sz="2400">
              <a:latin typeface="Arial MT"/>
              <a:cs typeface="Arial MT"/>
            </a:endParaRPr>
          </a:p>
          <a:p>
            <a:pPr marL="269875" indent="-257175">
              <a:lnSpc>
                <a:spcPct val="100000"/>
              </a:lnSpc>
              <a:spcBef>
                <a:spcPts val="1800"/>
              </a:spcBef>
              <a:buChar char="•"/>
              <a:tabLst>
                <a:tab pos="269875" algn="l"/>
              </a:tabLst>
            </a:pPr>
            <a:r>
              <a:rPr dirty="0" sz="2400">
                <a:solidFill>
                  <a:srgbClr val="006FC0"/>
                </a:solidFill>
                <a:latin typeface="Arial MT"/>
                <a:cs typeface="Arial MT"/>
              </a:rPr>
              <a:t>Model</a:t>
            </a:r>
            <a:r>
              <a:rPr dirty="0" sz="2400" spc="-7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6FC0"/>
                </a:solidFill>
                <a:latin typeface="Arial MT"/>
                <a:cs typeface="Arial MT"/>
              </a:rPr>
              <a:t>parameters</a:t>
            </a:r>
            <a:r>
              <a:rPr dirty="0" sz="2400" spc="-65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are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commonly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known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as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0079D2"/>
                </a:solidFill>
                <a:latin typeface="Arial MT"/>
                <a:cs typeface="Arial MT"/>
              </a:rPr>
              <a:t>weights</a:t>
            </a:r>
            <a:endParaRPr sz="2400">
              <a:latin typeface="Arial MT"/>
              <a:cs typeface="Arial MT"/>
            </a:endParaRPr>
          </a:p>
          <a:p>
            <a:pPr marL="269875" indent="-257175">
              <a:lnSpc>
                <a:spcPct val="100000"/>
              </a:lnSpc>
              <a:spcBef>
                <a:spcPts val="1800"/>
              </a:spcBef>
              <a:buChar char="•"/>
              <a:tabLst>
                <a:tab pos="269875" algn="l"/>
              </a:tabLst>
            </a:pPr>
            <a:r>
              <a:rPr dirty="0" sz="2400">
                <a:solidFill>
                  <a:srgbClr val="006FC0"/>
                </a:solidFill>
                <a:latin typeface="Arial MT"/>
                <a:cs typeface="Arial MT"/>
              </a:rPr>
              <a:t>Hyperparameters</a:t>
            </a:r>
            <a:r>
              <a:rPr dirty="0" sz="2400" spc="-35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knobs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data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scientist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gets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to</a:t>
            </a:r>
            <a:endParaRPr sz="2400">
              <a:latin typeface="Arial MT"/>
              <a:cs typeface="Arial MT"/>
            </a:endParaRPr>
          </a:p>
          <a:p>
            <a:pPr marL="270510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turn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when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setting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up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classifier.</a:t>
            </a:r>
            <a:endParaRPr sz="2400">
              <a:latin typeface="Arial MT"/>
              <a:cs typeface="Arial MT"/>
            </a:endParaRPr>
          </a:p>
          <a:p>
            <a:pPr lvl="1" marL="570230" marR="5080" indent="-257810">
              <a:lnSpc>
                <a:spcPct val="100000"/>
              </a:lnSpc>
              <a:spcBef>
                <a:spcPts val="1800"/>
              </a:spcBef>
              <a:buChar char="•"/>
              <a:tabLst>
                <a:tab pos="570230" algn="l"/>
              </a:tabLst>
            </a:pPr>
            <a:r>
              <a:rPr dirty="0" sz="2100">
                <a:latin typeface="Arial MT"/>
                <a:cs typeface="Arial MT"/>
              </a:rPr>
              <a:t>They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are</a:t>
            </a:r>
            <a:r>
              <a:rPr dirty="0" sz="2100" spc="-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arguments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function</a:t>
            </a:r>
            <a:r>
              <a:rPr dirty="0" sz="2100" spc="-4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that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affect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algorithm’s behavior,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such</a:t>
            </a:r>
            <a:r>
              <a:rPr dirty="0" sz="2100" spc="-3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as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number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iterations,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or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options</a:t>
            </a:r>
            <a:r>
              <a:rPr dirty="0" sz="2100" spc="-3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between </a:t>
            </a:r>
            <a:r>
              <a:rPr dirty="0" sz="2100">
                <a:latin typeface="Arial MT"/>
                <a:cs typeface="Arial MT"/>
              </a:rPr>
              <a:t>variants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how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algorithm</a:t>
            </a:r>
            <a:r>
              <a:rPr dirty="0" sz="2100" spc="-5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behaves.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15315" y="1594364"/>
            <a:ext cx="7969884" cy="4674235"/>
            <a:chOff x="315315" y="1594364"/>
            <a:chExt cx="7969884" cy="467423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9112" y="1594364"/>
              <a:ext cx="7765796" cy="4674104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315315" y="2024634"/>
              <a:ext cx="1986914" cy="2554605"/>
            </a:xfrm>
            <a:custGeom>
              <a:avLst/>
              <a:gdLst/>
              <a:ahLst/>
              <a:cxnLst/>
              <a:rect l="l" t="t" r="r" b="b"/>
              <a:pathLst>
                <a:path w="1986914" h="2554604">
                  <a:moveTo>
                    <a:pt x="1986407" y="0"/>
                  </a:moveTo>
                  <a:lnTo>
                    <a:pt x="0" y="0"/>
                  </a:lnTo>
                  <a:lnTo>
                    <a:pt x="0" y="2554605"/>
                  </a:lnTo>
                  <a:lnTo>
                    <a:pt x="1986407" y="2554605"/>
                  </a:lnTo>
                  <a:lnTo>
                    <a:pt x="19864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315315" y="2024633"/>
            <a:ext cx="1986914" cy="255460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38735" rIns="0" bIns="0" rtlCol="0" vert="horz">
            <a:spAutoFit/>
          </a:bodyPr>
          <a:lstStyle/>
          <a:p>
            <a:pPr marL="91440" marR="571500">
              <a:lnSpc>
                <a:spcPct val="100000"/>
              </a:lnSpc>
              <a:spcBef>
                <a:spcPts val="305"/>
              </a:spcBef>
            </a:pPr>
            <a:r>
              <a:rPr dirty="0" sz="2000" spc="-10">
                <a:latin typeface="Arial MT"/>
                <a:cs typeface="Arial MT"/>
              </a:rPr>
              <a:t>Hyper- Parameters</a:t>
            </a:r>
            <a:endParaRPr sz="2000">
              <a:latin typeface="Arial MT"/>
              <a:cs typeface="Arial MT"/>
            </a:endParaRPr>
          </a:p>
          <a:p>
            <a:pPr marL="434340" marR="567055" indent="-342900">
              <a:lnSpc>
                <a:spcPct val="100000"/>
              </a:lnSpc>
              <a:spcBef>
                <a:spcPts val="605"/>
              </a:spcBef>
              <a:buFont typeface="Courier New"/>
              <a:buChar char="o"/>
              <a:tabLst>
                <a:tab pos="434340" algn="l"/>
              </a:tabLst>
            </a:pPr>
            <a:r>
              <a:rPr dirty="0" sz="2000" spc="-20">
                <a:latin typeface="Arial MT"/>
                <a:cs typeface="Arial MT"/>
              </a:rPr>
              <a:t>Loss </a:t>
            </a:r>
            <a:r>
              <a:rPr dirty="0" sz="2000" spc="-10">
                <a:latin typeface="Arial MT"/>
                <a:cs typeface="Arial MT"/>
              </a:rPr>
              <a:t>Function</a:t>
            </a:r>
            <a:endParaRPr sz="2000">
              <a:latin typeface="Arial MT"/>
              <a:cs typeface="Arial MT"/>
            </a:endParaRPr>
          </a:p>
          <a:p>
            <a:pPr marL="433705" indent="-342265">
              <a:lnSpc>
                <a:spcPct val="100000"/>
              </a:lnSpc>
              <a:spcBef>
                <a:spcPts val="600"/>
              </a:spcBef>
              <a:buFont typeface="Courier New"/>
              <a:buChar char="o"/>
              <a:tabLst>
                <a:tab pos="433705" algn="l"/>
              </a:tabLst>
            </a:pPr>
            <a:r>
              <a:rPr dirty="0" sz="2000" spc="-10">
                <a:latin typeface="Arial MT"/>
                <a:cs typeface="Arial MT"/>
              </a:rPr>
              <a:t>Optimiser</a:t>
            </a:r>
            <a:endParaRPr sz="2000">
              <a:latin typeface="Arial MT"/>
              <a:cs typeface="Arial MT"/>
            </a:endParaRPr>
          </a:p>
          <a:p>
            <a:pPr marL="433705" indent="-342265">
              <a:lnSpc>
                <a:spcPct val="100000"/>
              </a:lnSpc>
              <a:spcBef>
                <a:spcPts val="1200"/>
              </a:spcBef>
              <a:buFont typeface="Courier New"/>
              <a:buChar char="o"/>
              <a:tabLst>
                <a:tab pos="433705" algn="l"/>
              </a:tabLst>
            </a:pPr>
            <a:r>
              <a:rPr dirty="0" sz="2000" spc="-10">
                <a:latin typeface="Arial MT"/>
                <a:cs typeface="Arial MT"/>
              </a:rPr>
              <a:t>Behavior</a:t>
            </a:r>
            <a:endParaRPr sz="2000">
              <a:latin typeface="Arial MT"/>
              <a:cs typeface="Arial MT"/>
            </a:endParaRPr>
          </a:p>
          <a:p>
            <a:pPr marL="434340">
              <a:lnSpc>
                <a:spcPct val="100000"/>
              </a:lnSpc>
            </a:pPr>
            <a:r>
              <a:rPr dirty="0" sz="2000" spc="-10">
                <a:latin typeface="Arial MT"/>
                <a:cs typeface="Arial MT"/>
              </a:rPr>
              <a:t>Tuning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470528" y="1128521"/>
            <a:ext cx="139827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0">
                <a:solidFill>
                  <a:srgbClr val="000000"/>
                </a:solidFill>
                <a:latin typeface="Arial MT"/>
                <a:cs typeface="Arial MT"/>
              </a:rPr>
              <a:t>Input</a:t>
            </a:r>
            <a:r>
              <a:rPr dirty="0" sz="2400" spc="-3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400" spc="-25" b="0">
                <a:solidFill>
                  <a:srgbClr val="000000"/>
                </a:solidFill>
                <a:latin typeface="Arial MT"/>
                <a:cs typeface="Arial MT"/>
              </a:rPr>
              <a:t>Row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423284" y="2086737"/>
            <a:ext cx="1506855" cy="6356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2000" spc="-10">
                <a:latin typeface="Arial MT"/>
                <a:cs typeface="Arial MT"/>
              </a:rPr>
              <a:t>Classifier</a:t>
            </a:r>
            <a:endParaRPr sz="20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dirty="0" sz="2000">
                <a:latin typeface="Arial MT"/>
                <a:cs typeface="Arial MT"/>
              </a:rPr>
              <a:t>(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algorithms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 spc="-50">
                <a:latin typeface="Arial MT"/>
                <a:cs typeface="Arial MT"/>
              </a:rPr>
              <a:t>)</a:t>
            </a:r>
            <a:endParaRPr sz="2000">
              <a:latin typeface="Arial MT"/>
              <a:cs typeface="Arial MT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512762" y="223138"/>
          <a:ext cx="3124200" cy="1461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7990"/>
                <a:gridCol w="684530"/>
                <a:gridCol w="528955"/>
                <a:gridCol w="537845"/>
                <a:gridCol w="427989"/>
                <a:gridCol w="427989"/>
              </a:tblGrid>
              <a:tr h="3651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 marR="250190"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 marR="94615"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 marR="103505"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R="250190"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R="94615"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R="103505"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730"/>
                        </a:lnSpc>
                      </a:pPr>
                      <a:r>
                        <a:rPr dirty="0" sz="2400" spc="-25" b="1" i="1">
                          <a:latin typeface="Arial"/>
                          <a:cs typeface="Arial"/>
                        </a:rPr>
                        <a:t>Da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ts val="1730"/>
                        </a:lnSpc>
                      </a:pPr>
                      <a:r>
                        <a:rPr dirty="0" sz="2400" spc="-25" b="1" i="1">
                          <a:latin typeface="Arial"/>
                          <a:cs typeface="Arial"/>
                        </a:rPr>
                        <a:t>ta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730"/>
                        </a:lnSpc>
                      </a:pPr>
                      <a:r>
                        <a:rPr dirty="0" sz="2400" spc="-25" b="1" i="1">
                          <a:latin typeface="Arial"/>
                          <a:cs typeface="Arial"/>
                        </a:rPr>
                        <a:t>set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R="250190"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R="94615"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R="103505"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</a:tr>
            </a:tbl>
          </a:graphicData>
        </a:graphic>
      </p:graphicFrame>
      <p:grpSp>
        <p:nvGrpSpPr>
          <p:cNvPr id="9" name="object 9" descr=""/>
          <p:cNvGrpSpPr/>
          <p:nvPr/>
        </p:nvGrpSpPr>
        <p:grpSpPr>
          <a:xfrm>
            <a:off x="2838830" y="3043173"/>
            <a:ext cx="1991995" cy="2902585"/>
            <a:chOff x="2838830" y="3043173"/>
            <a:chExt cx="1991995" cy="2902585"/>
          </a:xfrm>
        </p:grpSpPr>
        <p:sp>
          <p:nvSpPr>
            <p:cNvPr id="10" name="object 10" descr=""/>
            <p:cNvSpPr/>
            <p:nvPr/>
          </p:nvSpPr>
          <p:spPr>
            <a:xfrm>
              <a:off x="2929000" y="4314824"/>
              <a:ext cx="1885950" cy="1614805"/>
            </a:xfrm>
            <a:custGeom>
              <a:avLst/>
              <a:gdLst/>
              <a:ahLst/>
              <a:cxnLst/>
              <a:rect l="l" t="t" r="r" b="b"/>
              <a:pathLst>
                <a:path w="1885950" h="1614804">
                  <a:moveTo>
                    <a:pt x="0" y="0"/>
                  </a:moveTo>
                  <a:lnTo>
                    <a:pt x="1885950" y="1614487"/>
                  </a:lnTo>
                </a:path>
              </a:pathLst>
            </a:custGeom>
            <a:ln w="317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838830" y="3043173"/>
              <a:ext cx="158750" cy="1272540"/>
            </a:xfrm>
            <a:custGeom>
              <a:avLst/>
              <a:gdLst/>
              <a:ahLst/>
              <a:cxnLst/>
              <a:rect l="l" t="t" r="r" b="b"/>
              <a:pathLst>
                <a:path w="158750" h="1272539">
                  <a:moveTo>
                    <a:pt x="77977" y="95250"/>
                  </a:moveTo>
                  <a:lnTo>
                    <a:pt x="62387" y="108301"/>
                  </a:lnTo>
                  <a:lnTo>
                    <a:pt x="88501" y="1271270"/>
                  </a:lnTo>
                  <a:lnTo>
                    <a:pt x="88518" y="1272032"/>
                  </a:lnTo>
                  <a:lnTo>
                    <a:pt x="120268" y="1271270"/>
                  </a:lnTo>
                  <a:lnTo>
                    <a:pt x="94154" y="108301"/>
                  </a:lnTo>
                  <a:lnTo>
                    <a:pt x="94138" y="107599"/>
                  </a:lnTo>
                  <a:lnTo>
                    <a:pt x="77977" y="95250"/>
                  </a:lnTo>
                  <a:close/>
                </a:path>
                <a:path w="158750" h="1272539">
                  <a:moveTo>
                    <a:pt x="75818" y="0"/>
                  </a:moveTo>
                  <a:lnTo>
                    <a:pt x="0" y="160527"/>
                  </a:lnTo>
                  <a:lnTo>
                    <a:pt x="62387" y="108301"/>
                  </a:lnTo>
                  <a:lnTo>
                    <a:pt x="62102" y="95630"/>
                  </a:lnTo>
                  <a:lnTo>
                    <a:pt x="93852" y="94868"/>
                  </a:lnTo>
                  <a:lnTo>
                    <a:pt x="125939" y="94868"/>
                  </a:lnTo>
                  <a:lnTo>
                    <a:pt x="75818" y="0"/>
                  </a:lnTo>
                  <a:close/>
                </a:path>
                <a:path w="158750" h="1272539">
                  <a:moveTo>
                    <a:pt x="125939" y="94868"/>
                  </a:moveTo>
                  <a:lnTo>
                    <a:pt x="93852" y="94868"/>
                  </a:lnTo>
                  <a:lnTo>
                    <a:pt x="94138" y="107599"/>
                  </a:lnTo>
                  <a:lnTo>
                    <a:pt x="158750" y="156972"/>
                  </a:lnTo>
                  <a:lnTo>
                    <a:pt x="125939" y="94868"/>
                  </a:lnTo>
                  <a:close/>
                </a:path>
                <a:path w="158750" h="1272539">
                  <a:moveTo>
                    <a:pt x="77977" y="95250"/>
                  </a:moveTo>
                  <a:lnTo>
                    <a:pt x="62102" y="95630"/>
                  </a:lnTo>
                  <a:lnTo>
                    <a:pt x="62371" y="107599"/>
                  </a:lnTo>
                  <a:lnTo>
                    <a:pt x="62387" y="108301"/>
                  </a:lnTo>
                  <a:lnTo>
                    <a:pt x="77977" y="95250"/>
                  </a:lnTo>
                  <a:close/>
                </a:path>
                <a:path w="158750" h="1272539">
                  <a:moveTo>
                    <a:pt x="93852" y="94868"/>
                  </a:moveTo>
                  <a:lnTo>
                    <a:pt x="77977" y="95250"/>
                  </a:lnTo>
                  <a:lnTo>
                    <a:pt x="94138" y="107599"/>
                  </a:lnTo>
                  <a:lnTo>
                    <a:pt x="93870" y="95630"/>
                  </a:lnTo>
                  <a:lnTo>
                    <a:pt x="93852" y="948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7224776" y="4754003"/>
            <a:ext cx="1604010" cy="1200785"/>
          </a:xfrm>
          <a:prstGeom prst="rect">
            <a:avLst/>
          </a:prstGeom>
          <a:solidFill>
            <a:srgbClr val="CCFF99"/>
          </a:solidFill>
        </p:spPr>
        <p:txBody>
          <a:bodyPr wrap="square" lIns="0" tIns="40005" rIns="0" bIns="0" rtlCol="0" vert="horz">
            <a:spAutoFit/>
          </a:bodyPr>
          <a:lstStyle/>
          <a:p>
            <a:pPr algn="ctr" marL="96520" marR="88900" indent="1905">
              <a:lnSpc>
                <a:spcPct val="100000"/>
              </a:lnSpc>
              <a:spcBef>
                <a:spcPts val="315"/>
              </a:spcBef>
            </a:pPr>
            <a:r>
              <a:rPr dirty="0" sz="1800">
                <a:latin typeface="Arial MT"/>
                <a:cs typeface="Arial MT"/>
              </a:rPr>
              <a:t>Loss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function </a:t>
            </a:r>
            <a:r>
              <a:rPr dirty="0" sz="1800">
                <a:latin typeface="Arial MT"/>
                <a:cs typeface="Arial MT"/>
              </a:rPr>
              <a:t>is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applied to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50">
                <a:latin typeface="Arial MT"/>
                <a:cs typeface="Arial MT"/>
              </a:rPr>
              <a:t>a </a:t>
            </a:r>
            <a:r>
              <a:rPr dirty="0" sz="1800">
                <a:latin typeface="Arial MT"/>
                <a:cs typeface="Arial MT"/>
              </a:rPr>
              <a:t>single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training example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44373" y="5143106"/>
            <a:ext cx="2993390" cy="1200785"/>
          </a:xfrm>
          <a:prstGeom prst="rect">
            <a:avLst/>
          </a:prstGeom>
          <a:solidFill>
            <a:srgbClr val="FFCCFF"/>
          </a:solidFill>
        </p:spPr>
        <p:txBody>
          <a:bodyPr wrap="square" lIns="0" tIns="40640" rIns="0" bIns="0" rtlCol="0" vert="horz">
            <a:spAutoFit/>
          </a:bodyPr>
          <a:lstStyle/>
          <a:p>
            <a:pPr algn="ctr" marL="126364" marR="117475">
              <a:lnSpc>
                <a:spcPct val="100000"/>
              </a:lnSpc>
              <a:spcBef>
                <a:spcPts val="320"/>
              </a:spcBef>
            </a:pPr>
            <a:r>
              <a:rPr dirty="0" sz="1800">
                <a:latin typeface="Arial MT"/>
                <a:cs typeface="Arial MT"/>
              </a:rPr>
              <a:t>Optimizer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aims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FF0000"/>
                </a:solidFill>
                <a:latin typeface="Arial MT"/>
                <a:cs typeface="Arial MT"/>
              </a:rPr>
              <a:t>minimize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b="1">
                <a:solidFill>
                  <a:srgbClr val="006FC0"/>
                </a:solidFill>
                <a:latin typeface="Arial"/>
                <a:cs typeface="Arial"/>
              </a:rPr>
              <a:t>cost</a:t>
            </a:r>
            <a:r>
              <a:rPr dirty="0" sz="1800" spc="-10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6FC0"/>
                </a:solidFill>
                <a:latin typeface="Arial"/>
                <a:cs typeface="Arial"/>
              </a:rPr>
              <a:t>function</a:t>
            </a:r>
            <a:r>
              <a:rPr dirty="0" sz="1800">
                <a:latin typeface="Arial MT"/>
                <a:cs typeface="Arial MT"/>
              </a:rPr>
              <a:t>: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the </a:t>
            </a:r>
            <a:r>
              <a:rPr dirty="0" sz="1800">
                <a:latin typeface="Arial MT"/>
                <a:cs typeface="Arial MT"/>
              </a:rPr>
              <a:t>average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loss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over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the </a:t>
            </a:r>
            <a:r>
              <a:rPr dirty="0" sz="1800">
                <a:latin typeface="Arial MT"/>
                <a:cs typeface="Arial MT"/>
              </a:rPr>
              <a:t>entire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training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dataset.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071489" y="1446733"/>
            <a:ext cx="2757170" cy="1200785"/>
          </a:xfrm>
          <a:prstGeom prst="rect">
            <a:avLst/>
          </a:prstGeom>
          <a:solidFill>
            <a:srgbClr val="CCFF99"/>
          </a:solidFill>
        </p:spPr>
        <p:txBody>
          <a:bodyPr wrap="square" lIns="0" tIns="40005" rIns="0" bIns="0" rtlCol="0" vert="horz">
            <a:spAutoFit/>
          </a:bodyPr>
          <a:lstStyle/>
          <a:p>
            <a:pPr algn="ctr" marL="123189" marR="113030">
              <a:lnSpc>
                <a:spcPct val="100000"/>
              </a:lnSpc>
              <a:spcBef>
                <a:spcPts val="315"/>
              </a:spcBef>
            </a:pP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125">
                <a:latin typeface="Arial MT"/>
                <a:cs typeface="Arial MT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loss</a:t>
            </a:r>
            <a:r>
              <a:rPr dirty="0" sz="1800" spc="-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function</a:t>
            </a:r>
            <a:r>
              <a:rPr dirty="0" sz="1800" spc="-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(or</a:t>
            </a:r>
            <a:r>
              <a:rPr dirty="0" sz="1800" spc="-20">
                <a:latin typeface="Arial MT"/>
                <a:cs typeface="Arial MT"/>
              </a:rPr>
              <a:t> error </a:t>
            </a:r>
            <a:r>
              <a:rPr dirty="0" sz="1800">
                <a:latin typeface="Arial MT"/>
                <a:cs typeface="Arial MT"/>
              </a:rPr>
              <a:t>function)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measures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how </a:t>
            </a:r>
            <a:r>
              <a:rPr dirty="0" sz="1800">
                <a:latin typeface="Arial MT"/>
                <a:cs typeface="Arial MT"/>
              </a:rPr>
              <a:t>far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estimated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value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is </a:t>
            </a:r>
            <a:r>
              <a:rPr dirty="0" sz="1800">
                <a:latin typeface="Arial MT"/>
                <a:cs typeface="Arial MT"/>
              </a:rPr>
              <a:t>from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its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true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value.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0741" rIns="0" bIns="0" rtlCol="0" vert="horz">
            <a:spAutoFit/>
          </a:bodyPr>
          <a:lstStyle/>
          <a:p>
            <a:pPr marL="2318385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Loss</a:t>
            </a:r>
            <a:r>
              <a:rPr dirty="0" sz="3200" spc="-45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 spc="-10">
                <a:solidFill>
                  <a:srgbClr val="252573"/>
                </a:solidFill>
                <a:latin typeface="Arial"/>
                <a:cs typeface="Arial"/>
              </a:rPr>
              <a:t>Function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90855" y="1535938"/>
            <a:ext cx="8023225" cy="39033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10922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loss</a:t>
            </a:r>
            <a:r>
              <a:rPr dirty="0" sz="2400" spc="-5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function</a:t>
            </a:r>
            <a:r>
              <a:rPr dirty="0" sz="2400" spc="-7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(or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error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function)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measures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how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far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an </a:t>
            </a:r>
            <a:r>
              <a:rPr dirty="0" sz="2400">
                <a:latin typeface="Arial MT"/>
                <a:cs typeface="Arial MT"/>
              </a:rPr>
              <a:t>estimated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value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from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its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true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value.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</a:tabLst>
            </a:pP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loss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function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single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training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example,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50">
                <a:latin typeface="Arial MT"/>
                <a:cs typeface="Arial MT"/>
              </a:rPr>
              <a:t>a </a:t>
            </a:r>
            <a:r>
              <a:rPr dirty="0" sz="2400" b="1">
                <a:solidFill>
                  <a:srgbClr val="006FC0"/>
                </a:solidFill>
                <a:latin typeface="Arial"/>
                <a:cs typeface="Arial"/>
              </a:rPr>
              <a:t>cost</a:t>
            </a:r>
            <a:r>
              <a:rPr dirty="0" sz="2400" spc="-50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6FC0"/>
                </a:solidFill>
                <a:latin typeface="Arial"/>
                <a:cs typeface="Arial"/>
              </a:rPr>
              <a:t>function</a:t>
            </a:r>
            <a:r>
              <a:rPr dirty="0" sz="2400" spc="-75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average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loss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over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entire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training dataset.</a:t>
            </a:r>
            <a:endParaRPr sz="24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580"/>
              </a:spcBef>
            </a:pPr>
            <a:r>
              <a:rPr dirty="0" sz="2400">
                <a:latin typeface="Arial MT"/>
                <a:cs typeface="Arial MT"/>
              </a:rPr>
              <a:t>–</a:t>
            </a:r>
            <a:r>
              <a:rPr dirty="0" sz="2400" spc="1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Classifier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optimization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strategies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aim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minimize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the</a:t>
            </a:r>
            <a:endParaRPr sz="2400">
              <a:latin typeface="Arial MT"/>
              <a:cs typeface="Arial MT"/>
            </a:endParaRPr>
          </a:p>
          <a:p>
            <a:pPr marL="756285">
              <a:lnSpc>
                <a:spcPct val="100000"/>
              </a:lnSpc>
            </a:pPr>
            <a:r>
              <a:rPr dirty="0" sz="2400" b="1">
                <a:solidFill>
                  <a:srgbClr val="006FC0"/>
                </a:solidFill>
                <a:latin typeface="Arial"/>
                <a:cs typeface="Arial"/>
              </a:rPr>
              <a:t>cost</a:t>
            </a:r>
            <a:r>
              <a:rPr dirty="0" sz="2400" spc="5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006FC0"/>
                </a:solidFill>
                <a:latin typeface="Arial"/>
                <a:cs typeface="Arial"/>
              </a:rPr>
              <a:t>function</a:t>
            </a:r>
            <a:endParaRPr sz="2400">
              <a:latin typeface="Arial"/>
              <a:cs typeface="Arial"/>
            </a:endParaRPr>
          </a:p>
          <a:p>
            <a:pPr algn="just" marL="353060" marR="346710" indent="-340360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</a:tabLst>
            </a:pP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essence,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loss</a:t>
            </a:r>
            <a:r>
              <a:rPr dirty="0" sz="2400" spc="-4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function</a:t>
            </a:r>
            <a:r>
              <a:rPr dirty="0" sz="2400" spc="-6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optimizer</a:t>
            </a:r>
            <a:r>
              <a:rPr dirty="0" sz="2400" spc="-5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spc="-20">
                <a:latin typeface="Arial MT"/>
                <a:cs typeface="Arial MT"/>
              </a:rPr>
              <a:t>work </a:t>
            </a:r>
            <a:r>
              <a:rPr dirty="0" sz="2400" spc="-20">
                <a:latin typeface="Arial MT"/>
                <a:cs typeface="Arial MT"/>
              </a:rPr>
              <a:t>	</a:t>
            </a:r>
            <a:r>
              <a:rPr dirty="0" sz="2400">
                <a:latin typeface="Arial MT"/>
                <a:cs typeface="Arial MT"/>
              </a:rPr>
              <a:t>together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fit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algorithm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data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best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way </a:t>
            </a:r>
            <a:r>
              <a:rPr dirty="0" sz="2400" spc="-25">
                <a:latin typeface="Arial MT"/>
                <a:cs typeface="Arial MT"/>
              </a:rPr>
              <a:t>	</a:t>
            </a:r>
            <a:r>
              <a:rPr dirty="0" sz="2400" spc="-10">
                <a:latin typeface="Arial MT"/>
                <a:cs typeface="Arial MT"/>
              </a:rPr>
              <a:t>possible.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24154" y="5747384"/>
            <a:ext cx="7696200" cy="462280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wrap="square" lIns="0" tIns="3873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05"/>
              </a:spcBef>
            </a:pPr>
            <a:r>
              <a:rPr dirty="0" sz="2400">
                <a:latin typeface="Arial MT"/>
                <a:cs typeface="Arial MT"/>
              </a:rPr>
              <a:t>There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many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different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loss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functions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optimisers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02398"/>
            <a:ext cx="9143999" cy="355597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8564626" y="6619747"/>
            <a:ext cx="32448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0">
                <a:solidFill>
                  <a:srgbClr val="C0F8FB"/>
                </a:solidFill>
                <a:latin typeface="Verdana"/>
                <a:cs typeface="Verdana"/>
              </a:rPr>
              <a:t>SLIDE</a:t>
            </a:r>
            <a:r>
              <a:rPr dirty="0" sz="600" spc="-5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50">
                <a:solidFill>
                  <a:srgbClr val="C0F8FB"/>
                </a:solidFill>
                <a:latin typeface="Verdana"/>
                <a:cs typeface="Verdana"/>
              </a:rPr>
              <a:t>8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8000" y="6619747"/>
            <a:ext cx="110172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Module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Code</a:t>
            </a:r>
            <a:r>
              <a:rPr dirty="0" sz="600" spc="4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45">
                <a:solidFill>
                  <a:srgbClr val="C0F8FB"/>
                </a:solidFill>
                <a:latin typeface="Verdana"/>
                <a:cs typeface="Verdana"/>
              </a:rPr>
              <a:t>&amp;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Module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20">
                <a:solidFill>
                  <a:srgbClr val="C0F8FB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438269" y="6603898"/>
            <a:ext cx="39306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C0F8FB"/>
                </a:solidFill>
                <a:latin typeface="Verdana"/>
                <a:cs typeface="Verdana"/>
              </a:rPr>
              <a:t>Slide</a:t>
            </a:r>
            <a:r>
              <a:rPr dirty="0" sz="600" spc="-25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10">
                <a:solidFill>
                  <a:srgbClr val="C0F8FB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66027" y="68656"/>
            <a:ext cx="773383" cy="919826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69240" y="1660702"/>
            <a:ext cx="3796665" cy="711200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575"/>
              </a:spcBef>
              <a:buChar char="•"/>
              <a:tabLst>
                <a:tab pos="269875" algn="l"/>
              </a:tabLst>
            </a:pP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Algorithms</a:t>
            </a:r>
            <a:r>
              <a:rPr dirty="0" sz="1850" spc="-6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for</a:t>
            </a:r>
            <a:r>
              <a:rPr dirty="0" sz="1850" spc="-7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25">
                <a:solidFill>
                  <a:srgbClr val="082E50"/>
                </a:solidFill>
                <a:latin typeface="Tahoma"/>
                <a:cs typeface="Tahoma"/>
              </a:rPr>
              <a:t>supervised</a:t>
            </a:r>
            <a:r>
              <a:rPr dirty="0" sz="1850" spc="-7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learning</a:t>
            </a:r>
            <a:endParaRPr sz="1850">
              <a:latin typeface="Tahoma"/>
              <a:cs typeface="Tahoma"/>
            </a:endParaRPr>
          </a:p>
          <a:p>
            <a:pPr marL="269875" indent="-257175">
              <a:lnSpc>
                <a:spcPct val="100000"/>
              </a:lnSpc>
              <a:spcBef>
                <a:spcPts val="480"/>
              </a:spcBef>
              <a:buChar char="•"/>
              <a:tabLst>
                <a:tab pos="269875" algn="l"/>
              </a:tabLst>
            </a:pP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Five</a:t>
            </a:r>
            <a:r>
              <a:rPr dirty="0" sz="1850" spc="-8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general</a:t>
            </a:r>
            <a:r>
              <a:rPr dirty="0" sz="1850" spc="-7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types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11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65"/>
              <a:t>Contents</a:t>
            </a:r>
            <a:r>
              <a:rPr dirty="0" spc="-150"/>
              <a:t> </a:t>
            </a:r>
            <a:r>
              <a:rPr dirty="0" spc="-310"/>
              <a:t>&amp;</a:t>
            </a:r>
            <a:r>
              <a:rPr dirty="0" spc="-114"/>
              <a:t> </a:t>
            </a:r>
            <a:r>
              <a:rPr dirty="0" spc="-75"/>
              <a:t>Structure</a:t>
            </a: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23714" y="2955798"/>
            <a:ext cx="3975735" cy="20085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7232" rIns="0" bIns="0" rtlCol="0" vert="horz">
            <a:spAutoFit/>
          </a:bodyPr>
          <a:lstStyle/>
          <a:p>
            <a:pPr marL="391795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Algorithms</a:t>
            </a:r>
            <a:r>
              <a:rPr dirty="0" sz="3200" spc="-85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for</a:t>
            </a:r>
            <a:r>
              <a:rPr dirty="0" sz="3200" spc="-55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Supervised</a:t>
            </a:r>
            <a:r>
              <a:rPr dirty="0" sz="3200" spc="-6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 spc="-10">
                <a:solidFill>
                  <a:srgbClr val="252573"/>
                </a:solidFill>
                <a:latin typeface="Arial"/>
                <a:cs typeface="Arial"/>
              </a:rPr>
              <a:t>Learning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383276" y="1522437"/>
            <a:ext cx="3371850" cy="1093470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wrap="square" lIns="0" tIns="3810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00"/>
              </a:spcBef>
            </a:pPr>
            <a:r>
              <a:rPr dirty="0" sz="2400" b="1">
                <a:solidFill>
                  <a:srgbClr val="006FC0"/>
                </a:solidFill>
                <a:latin typeface="Arial"/>
                <a:cs typeface="Arial"/>
              </a:rPr>
              <a:t>Support</a:t>
            </a:r>
            <a:r>
              <a:rPr dirty="0" sz="2400" spc="-20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006FC0"/>
                </a:solidFill>
                <a:latin typeface="Arial"/>
                <a:cs typeface="Arial"/>
              </a:rPr>
              <a:t>Vector</a:t>
            </a:r>
            <a:endParaRPr sz="2400">
              <a:latin typeface="Arial"/>
              <a:cs typeface="Arial"/>
            </a:endParaRPr>
          </a:p>
          <a:p>
            <a:pPr marL="434975" indent="-342900">
              <a:lnSpc>
                <a:spcPct val="100000"/>
              </a:lnSpc>
              <a:spcBef>
                <a:spcPts val="605"/>
              </a:spcBef>
              <a:buFont typeface="Wingdings"/>
              <a:buChar char=""/>
              <a:tabLst>
                <a:tab pos="434975" algn="l"/>
              </a:tabLst>
            </a:pPr>
            <a:r>
              <a:rPr dirty="0" sz="2400">
                <a:latin typeface="Arial MT"/>
                <a:cs typeface="Arial MT"/>
              </a:rPr>
              <a:t>(various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kernels)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00075" y="1688210"/>
            <a:ext cx="4557395" cy="1871980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wrap="square" lIns="0" tIns="3810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dirty="0" sz="2400" b="1">
                <a:solidFill>
                  <a:srgbClr val="006FC0"/>
                </a:solidFill>
                <a:latin typeface="Arial"/>
                <a:cs typeface="Arial"/>
              </a:rPr>
              <a:t>Linear</a:t>
            </a:r>
            <a:r>
              <a:rPr dirty="0" sz="2400" spc="-35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006FC0"/>
                </a:solidFill>
                <a:latin typeface="Arial"/>
                <a:cs typeface="Arial"/>
              </a:rPr>
              <a:t>Models</a:t>
            </a:r>
            <a:endParaRPr sz="2400">
              <a:latin typeface="Arial"/>
              <a:cs typeface="Arial"/>
            </a:endParaRPr>
          </a:p>
          <a:p>
            <a:pPr marL="434340" indent="-34290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434340" algn="l"/>
              </a:tabLst>
            </a:pPr>
            <a:r>
              <a:rPr dirty="0" sz="2400">
                <a:latin typeface="Arial MT"/>
                <a:cs typeface="Arial MT"/>
              </a:rPr>
              <a:t>Linear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Regression</a:t>
            </a:r>
            <a:endParaRPr sz="2400">
              <a:latin typeface="Arial MT"/>
              <a:cs typeface="Arial MT"/>
            </a:endParaRPr>
          </a:p>
          <a:p>
            <a:pPr marL="434340" indent="-342900">
              <a:lnSpc>
                <a:spcPct val="100000"/>
              </a:lnSpc>
              <a:spcBef>
                <a:spcPts val="605"/>
              </a:spcBef>
              <a:buFont typeface="Wingdings"/>
              <a:buChar char=""/>
              <a:tabLst>
                <a:tab pos="434340" algn="l"/>
              </a:tabLst>
            </a:pPr>
            <a:r>
              <a:rPr dirty="0" sz="2400">
                <a:latin typeface="Arial MT"/>
                <a:cs typeface="Arial MT"/>
              </a:rPr>
              <a:t>Logistic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Regression</a:t>
            </a:r>
            <a:endParaRPr sz="2400">
              <a:latin typeface="Arial MT"/>
              <a:cs typeface="Arial MT"/>
            </a:endParaRPr>
          </a:p>
          <a:p>
            <a:pPr marL="434340" indent="-34290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434340" algn="l"/>
              </a:tabLst>
            </a:pPr>
            <a:r>
              <a:rPr dirty="0" sz="2400">
                <a:latin typeface="Arial MT"/>
                <a:cs typeface="Arial MT"/>
              </a:rPr>
              <a:t>Linear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Discriminant</a:t>
            </a:r>
            <a:r>
              <a:rPr dirty="0" sz="2400" spc="-15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Analysis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121150" y="3874236"/>
            <a:ext cx="4557395" cy="2591435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wrap="square" lIns="0" tIns="3873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05"/>
              </a:spcBef>
            </a:pPr>
            <a:r>
              <a:rPr dirty="0" sz="2400" spc="-10" b="1">
                <a:solidFill>
                  <a:srgbClr val="006FC0"/>
                </a:solidFill>
                <a:latin typeface="Arial"/>
                <a:cs typeface="Arial"/>
              </a:rPr>
              <a:t>Ensemble</a:t>
            </a:r>
            <a:endParaRPr sz="2400">
              <a:latin typeface="Arial"/>
              <a:cs typeface="Arial"/>
            </a:endParaRPr>
          </a:p>
          <a:p>
            <a:pPr marL="549275">
              <a:lnSpc>
                <a:spcPct val="100000"/>
              </a:lnSpc>
              <a:spcBef>
                <a:spcPts val="600"/>
              </a:spcBef>
            </a:pPr>
            <a:r>
              <a:rPr dirty="0" sz="2400" spc="-10" b="1">
                <a:solidFill>
                  <a:srgbClr val="C00000"/>
                </a:solidFill>
                <a:latin typeface="Arial"/>
                <a:cs typeface="Arial"/>
              </a:rPr>
              <a:t>Bagging</a:t>
            </a:r>
            <a:endParaRPr sz="2400">
              <a:latin typeface="Arial"/>
              <a:cs typeface="Arial"/>
            </a:endParaRPr>
          </a:p>
          <a:p>
            <a:pPr marL="891540" indent="-34226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891540" algn="l"/>
              </a:tabLst>
            </a:pPr>
            <a:r>
              <a:rPr dirty="0" sz="2400">
                <a:latin typeface="Arial MT"/>
                <a:cs typeface="Arial MT"/>
              </a:rPr>
              <a:t>Random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Forest</a:t>
            </a:r>
            <a:endParaRPr sz="2400">
              <a:latin typeface="Arial MT"/>
              <a:cs typeface="Arial MT"/>
            </a:endParaRPr>
          </a:p>
          <a:p>
            <a:pPr marL="549275">
              <a:lnSpc>
                <a:spcPct val="100000"/>
              </a:lnSpc>
              <a:spcBef>
                <a:spcPts val="600"/>
              </a:spcBef>
            </a:pPr>
            <a:r>
              <a:rPr dirty="0" sz="2400" spc="-10" b="1">
                <a:solidFill>
                  <a:srgbClr val="C00000"/>
                </a:solidFill>
                <a:latin typeface="Arial"/>
                <a:cs typeface="Arial"/>
              </a:rPr>
              <a:t>Boosting</a:t>
            </a:r>
            <a:endParaRPr sz="2400">
              <a:latin typeface="Arial"/>
              <a:cs typeface="Arial"/>
            </a:endParaRPr>
          </a:p>
          <a:p>
            <a:pPr marL="891540" indent="-342265">
              <a:lnSpc>
                <a:spcPct val="100000"/>
              </a:lnSpc>
              <a:spcBef>
                <a:spcPts val="605"/>
              </a:spcBef>
              <a:buFont typeface="Wingdings"/>
              <a:buChar char=""/>
              <a:tabLst>
                <a:tab pos="891540" algn="l"/>
              </a:tabLst>
            </a:pPr>
            <a:r>
              <a:rPr dirty="0" sz="2400" spc="-10">
                <a:latin typeface="Arial MT"/>
                <a:cs typeface="Arial MT"/>
              </a:rPr>
              <a:t>AdaBoost</a:t>
            </a:r>
            <a:endParaRPr sz="2400">
              <a:latin typeface="Arial MT"/>
              <a:cs typeface="Arial MT"/>
            </a:endParaRPr>
          </a:p>
          <a:p>
            <a:pPr marL="891540" indent="-342265">
              <a:lnSpc>
                <a:spcPts val="2695"/>
              </a:lnSpc>
              <a:spcBef>
                <a:spcPts val="600"/>
              </a:spcBef>
              <a:buFont typeface="Wingdings"/>
              <a:buChar char=""/>
              <a:tabLst>
                <a:tab pos="891540" algn="l"/>
              </a:tabLst>
            </a:pPr>
            <a:r>
              <a:rPr dirty="0" sz="2400">
                <a:latin typeface="Arial MT"/>
                <a:cs typeface="Arial MT"/>
              </a:rPr>
              <a:t>Gradient</a:t>
            </a:r>
            <a:r>
              <a:rPr dirty="0" sz="2400" spc="-1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Tree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Boosting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59524" y="3805211"/>
            <a:ext cx="3577590" cy="1885950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wrap="square" lIns="0" tIns="3873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05"/>
              </a:spcBef>
            </a:pPr>
            <a:r>
              <a:rPr dirty="0" sz="2400" spc="-20" b="1">
                <a:solidFill>
                  <a:srgbClr val="006FC0"/>
                </a:solidFill>
                <a:latin typeface="Arial"/>
                <a:cs typeface="Arial"/>
              </a:rPr>
              <a:t>Non-</a:t>
            </a:r>
            <a:r>
              <a:rPr dirty="0" sz="2400" b="1">
                <a:solidFill>
                  <a:srgbClr val="006FC0"/>
                </a:solidFill>
                <a:latin typeface="Arial"/>
                <a:cs typeface="Arial"/>
              </a:rPr>
              <a:t>Linear</a:t>
            </a:r>
            <a:r>
              <a:rPr dirty="0" sz="2400" spc="-10" b="1">
                <a:solidFill>
                  <a:srgbClr val="006FC0"/>
                </a:solidFill>
                <a:latin typeface="Arial"/>
                <a:cs typeface="Arial"/>
              </a:rPr>
              <a:t> Models</a:t>
            </a:r>
            <a:endParaRPr sz="2400">
              <a:latin typeface="Arial"/>
              <a:cs typeface="Arial"/>
            </a:endParaRPr>
          </a:p>
          <a:p>
            <a:pPr marL="434340" indent="-34290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434340" algn="l"/>
              </a:tabLst>
            </a:pPr>
            <a:r>
              <a:rPr dirty="0" sz="2400">
                <a:latin typeface="Arial MT"/>
                <a:cs typeface="Arial MT"/>
              </a:rPr>
              <a:t>Naïve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Bayes</a:t>
            </a:r>
            <a:endParaRPr sz="2400">
              <a:latin typeface="Arial MT"/>
              <a:cs typeface="Arial MT"/>
            </a:endParaRPr>
          </a:p>
          <a:p>
            <a:pPr marL="434340" indent="-34290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434340" algn="l"/>
              </a:tabLst>
            </a:pPr>
            <a:r>
              <a:rPr dirty="0" sz="2400" spc="-10">
                <a:latin typeface="Arial MT"/>
                <a:cs typeface="Arial MT"/>
              </a:rPr>
              <a:t>k-</a:t>
            </a:r>
            <a:r>
              <a:rPr dirty="0" sz="2400">
                <a:latin typeface="Arial MT"/>
                <a:cs typeface="Arial MT"/>
              </a:rPr>
              <a:t>Nearest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Neighbours</a:t>
            </a:r>
            <a:endParaRPr sz="2400">
              <a:latin typeface="Arial MT"/>
              <a:cs typeface="Arial MT"/>
            </a:endParaRPr>
          </a:p>
          <a:p>
            <a:pPr marL="434340" indent="-34290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434340" algn="l"/>
              </a:tabLst>
            </a:pPr>
            <a:r>
              <a:rPr dirty="0" sz="2400">
                <a:latin typeface="Arial MT"/>
                <a:cs typeface="Arial MT"/>
              </a:rPr>
              <a:t>Decision</a:t>
            </a:r>
            <a:r>
              <a:rPr dirty="0" sz="2400" spc="-15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Tree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383276" y="2694774"/>
            <a:ext cx="3371850" cy="1093470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wrap="square" lIns="0" tIns="3873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05"/>
              </a:spcBef>
            </a:pPr>
            <a:r>
              <a:rPr dirty="0" sz="2400" b="1">
                <a:solidFill>
                  <a:srgbClr val="006FC0"/>
                </a:solidFill>
                <a:latin typeface="Arial"/>
                <a:cs typeface="Arial"/>
              </a:rPr>
              <a:t>Neural</a:t>
            </a:r>
            <a:r>
              <a:rPr dirty="0" sz="2400" spc="-50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006FC0"/>
                </a:solidFill>
                <a:latin typeface="Arial"/>
                <a:cs typeface="Arial"/>
              </a:rPr>
              <a:t>Network</a:t>
            </a:r>
            <a:endParaRPr sz="2400">
              <a:latin typeface="Arial"/>
              <a:cs typeface="Arial"/>
            </a:endParaRPr>
          </a:p>
          <a:p>
            <a:pPr marL="434975" indent="-34290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434975" algn="l"/>
              </a:tabLst>
            </a:pPr>
            <a:r>
              <a:rPr dirty="0" sz="2400">
                <a:latin typeface="Arial MT"/>
                <a:cs typeface="Arial MT"/>
              </a:rPr>
              <a:t>Perceptron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&amp;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MLP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0741" rIns="0" bIns="0" rtlCol="0" vert="horz">
            <a:spAutoFit/>
          </a:bodyPr>
          <a:lstStyle/>
          <a:p>
            <a:pPr marL="2059305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Linear</a:t>
            </a:r>
            <a:r>
              <a:rPr dirty="0" sz="3200" spc="-55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 spc="-10">
                <a:solidFill>
                  <a:srgbClr val="252573"/>
                </a:solidFill>
                <a:latin typeface="Arial"/>
                <a:cs typeface="Arial"/>
              </a:rPr>
              <a:t>regression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00811" y="1681632"/>
            <a:ext cx="7214234" cy="415797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69875" marR="48260" indent="-257810">
              <a:lnSpc>
                <a:spcPct val="99700"/>
              </a:lnSpc>
              <a:spcBef>
                <a:spcPts val="135"/>
              </a:spcBef>
              <a:buChar char="•"/>
              <a:tabLst>
                <a:tab pos="269875" algn="l"/>
              </a:tabLst>
            </a:pPr>
            <a:r>
              <a:rPr dirty="0" sz="2400">
                <a:latin typeface="Arial MT"/>
                <a:cs typeface="Arial MT"/>
              </a:rPr>
              <a:t>Linear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Regression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fits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linear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model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500">
                <a:latin typeface="Cambria Math"/>
                <a:cs typeface="Cambria Math"/>
              </a:rPr>
              <a:t>y</a:t>
            </a:r>
            <a:r>
              <a:rPr dirty="0" sz="2500" spc="-7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7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𝒂</a:t>
            </a:r>
            <a:r>
              <a:rPr dirty="0" sz="2400" spc="-4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+</a:t>
            </a:r>
            <a:r>
              <a:rPr dirty="0" sz="2400" spc="-3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𝒃𝑿</a:t>
            </a:r>
            <a:r>
              <a:rPr dirty="0" sz="2400" spc="90">
                <a:latin typeface="Cambria Math"/>
                <a:cs typeface="Cambria Math"/>
              </a:rPr>
              <a:t> </a:t>
            </a:r>
            <a:r>
              <a:rPr dirty="0" sz="2400" spc="-50">
                <a:latin typeface="Arial MT"/>
                <a:cs typeface="Arial MT"/>
              </a:rPr>
              <a:t>)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best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fits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relationship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between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input </a:t>
            </a:r>
            <a:r>
              <a:rPr dirty="0" sz="2400">
                <a:latin typeface="Arial MT"/>
                <a:cs typeface="Arial MT"/>
              </a:rPr>
              <a:t>variables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(X)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variable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will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predict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(y)</a:t>
            </a:r>
            <a:endParaRPr sz="2400">
              <a:latin typeface="Arial MT"/>
              <a:cs typeface="Arial MT"/>
            </a:endParaRPr>
          </a:p>
          <a:p>
            <a:pPr marL="269875" marR="5080" indent="-257810">
              <a:lnSpc>
                <a:spcPct val="100000"/>
              </a:lnSpc>
              <a:spcBef>
                <a:spcPts val="1200"/>
              </a:spcBef>
              <a:buChar char="•"/>
              <a:tabLst>
                <a:tab pos="269875" algn="l"/>
              </a:tabLst>
            </a:pP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slope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line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b="1">
                <a:latin typeface="Arial"/>
                <a:cs typeface="Arial"/>
              </a:rPr>
              <a:t>b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b="1">
                <a:latin typeface="Arial"/>
                <a:cs typeface="Arial"/>
              </a:rPr>
              <a:t>a</a:t>
            </a:r>
            <a:r>
              <a:rPr dirty="0" sz="2400" spc="-40" b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intercept</a:t>
            </a:r>
            <a:r>
              <a:rPr dirty="0" sz="2400" spc="-45" i="1">
                <a:latin typeface="Arial"/>
                <a:cs typeface="Arial"/>
              </a:rPr>
              <a:t> </a:t>
            </a:r>
            <a:r>
              <a:rPr dirty="0" sz="2400" spc="-20">
                <a:latin typeface="Arial MT"/>
                <a:cs typeface="Arial MT"/>
              </a:rPr>
              <a:t>(the </a:t>
            </a:r>
            <a:r>
              <a:rPr dirty="0" sz="2400">
                <a:latin typeface="Arial MT"/>
                <a:cs typeface="Arial MT"/>
              </a:rPr>
              <a:t>value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y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when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X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=</a:t>
            </a:r>
            <a:r>
              <a:rPr dirty="0" sz="2400" spc="-25">
                <a:latin typeface="Arial MT"/>
                <a:cs typeface="Arial MT"/>
              </a:rPr>
              <a:t> 0)</a:t>
            </a:r>
            <a:endParaRPr sz="2400">
              <a:latin typeface="Arial MT"/>
              <a:cs typeface="Arial MT"/>
            </a:endParaRPr>
          </a:p>
          <a:p>
            <a:pPr marL="269875" marR="40005" indent="-257810">
              <a:lnSpc>
                <a:spcPct val="100000"/>
              </a:lnSpc>
              <a:spcBef>
                <a:spcPts val="1205"/>
              </a:spcBef>
              <a:buChar char="•"/>
              <a:tabLst>
                <a:tab pos="269875" algn="l"/>
              </a:tabLst>
            </a:pPr>
            <a:r>
              <a:rPr dirty="0" sz="2400">
                <a:latin typeface="Arial MT"/>
                <a:cs typeface="Arial MT"/>
              </a:rPr>
              <a:t>Different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techniques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can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used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learn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linear </a:t>
            </a:r>
            <a:r>
              <a:rPr dirty="0" sz="2400">
                <a:latin typeface="Arial MT"/>
                <a:cs typeface="Arial MT"/>
              </a:rPr>
              <a:t>regression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model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from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data,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such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as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ordinary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least </a:t>
            </a:r>
            <a:r>
              <a:rPr dirty="0" sz="2400">
                <a:latin typeface="Arial MT"/>
                <a:cs typeface="Arial MT"/>
              </a:rPr>
              <a:t>squares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gradient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descent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optimization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(these </a:t>
            </a:r>
            <a:r>
              <a:rPr dirty="0" sz="2400">
                <a:latin typeface="Arial MT"/>
                <a:cs typeface="Arial MT"/>
              </a:rPr>
              <a:t>are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6FC0"/>
                </a:solidFill>
                <a:latin typeface="Arial MT"/>
                <a:cs typeface="Arial MT"/>
              </a:rPr>
              <a:t>hyperparameters</a:t>
            </a:r>
            <a:r>
              <a:rPr dirty="0" sz="2400" spc="-5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classifier)</a:t>
            </a:r>
            <a:endParaRPr sz="2400">
              <a:latin typeface="Arial MT"/>
              <a:cs typeface="Arial MT"/>
            </a:endParaRPr>
          </a:p>
          <a:p>
            <a:pPr marL="269875" indent="-25717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Char char="•"/>
              <a:tabLst>
                <a:tab pos="269875" algn="l"/>
              </a:tabLst>
            </a:pPr>
            <a:r>
              <a:rPr dirty="0" u="sng" sz="240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2"/>
              </a:rPr>
              <a:t>Scikit</a:t>
            </a:r>
            <a:r>
              <a:rPr dirty="0" u="sng" sz="2400" spc="-8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dirty="0" u="sng" sz="240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2"/>
              </a:rPr>
              <a:t>Learn</a:t>
            </a:r>
            <a:r>
              <a:rPr dirty="0" u="sng" sz="2400" spc="-65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dirty="0" u="sng" sz="240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2"/>
              </a:rPr>
              <a:t>Documentation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410193" y="6654495"/>
            <a:ext cx="65532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latin typeface="Arial MT"/>
                <a:cs typeface="Arial MT"/>
              </a:rPr>
              <a:t>Slide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&lt;#&gt;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50">
                <a:latin typeface="Arial MT"/>
                <a:cs typeface="Arial MT"/>
              </a:rPr>
              <a:t>9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3651" rIns="0" bIns="0" rtlCol="0" vert="horz">
            <a:spAutoFit/>
          </a:bodyPr>
          <a:lstStyle/>
          <a:p>
            <a:pPr marL="1102995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Linear</a:t>
            </a:r>
            <a:r>
              <a:rPr dirty="0" sz="3200" spc="-4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Regression</a:t>
            </a:r>
            <a:r>
              <a:rPr dirty="0" sz="3200" spc="-7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–</a:t>
            </a:r>
            <a:r>
              <a:rPr dirty="0" sz="3200" spc="-15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 spc="-10">
                <a:solidFill>
                  <a:srgbClr val="252573"/>
                </a:solidFill>
                <a:latin typeface="Arial"/>
                <a:cs typeface="Arial"/>
              </a:rPr>
              <a:t>Examples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1987" y="2264041"/>
            <a:ext cx="7453032" cy="38037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3651" rIns="0" bIns="0" rtlCol="0" vert="horz">
            <a:spAutoFit/>
          </a:bodyPr>
          <a:lstStyle/>
          <a:p>
            <a:pPr marL="1102995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Linear</a:t>
            </a:r>
            <a:r>
              <a:rPr dirty="0" sz="3200" spc="-4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Regression</a:t>
            </a:r>
            <a:r>
              <a:rPr dirty="0" sz="3200" spc="-7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–</a:t>
            </a:r>
            <a:r>
              <a:rPr dirty="0" sz="3200" spc="-15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 spc="-10">
                <a:solidFill>
                  <a:srgbClr val="252573"/>
                </a:solidFill>
                <a:latin typeface="Arial"/>
                <a:cs typeface="Arial"/>
              </a:rPr>
              <a:t>Examples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6855" y="1860224"/>
            <a:ext cx="7803399" cy="3562036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973951" y="1599056"/>
            <a:ext cx="1650364" cy="2463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065" marR="508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Arial MT"/>
                <a:cs typeface="Arial MT"/>
              </a:rPr>
              <a:t>In</a:t>
            </a:r>
            <a:r>
              <a:rPr dirty="0" sz="1600" spc="-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most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common </a:t>
            </a:r>
            <a:r>
              <a:rPr dirty="0" sz="1600">
                <a:latin typeface="Arial MT"/>
                <a:cs typeface="Arial MT"/>
              </a:rPr>
              <a:t>case,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the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line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is </a:t>
            </a:r>
            <a:r>
              <a:rPr dirty="0" sz="1600">
                <a:latin typeface="Arial MT"/>
                <a:cs typeface="Arial MT"/>
              </a:rPr>
              <a:t>determined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by </a:t>
            </a:r>
            <a:r>
              <a:rPr dirty="0" sz="1600">
                <a:latin typeface="Arial MT"/>
                <a:cs typeface="Arial MT"/>
              </a:rPr>
              <a:t>minimising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the </a:t>
            </a:r>
            <a:r>
              <a:rPr dirty="0" sz="1600">
                <a:latin typeface="Arial MT"/>
                <a:cs typeface="Arial MT"/>
              </a:rPr>
              <a:t>sum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of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the </a:t>
            </a:r>
            <a:r>
              <a:rPr dirty="0" sz="1600">
                <a:latin typeface="Arial MT"/>
                <a:cs typeface="Arial MT"/>
              </a:rPr>
              <a:t>squares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of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the </a:t>
            </a:r>
            <a:r>
              <a:rPr dirty="0" sz="1600">
                <a:latin typeface="Arial MT"/>
                <a:cs typeface="Arial MT"/>
              </a:rPr>
              <a:t>distances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0" i="1">
                <a:latin typeface="Arial"/>
                <a:cs typeface="Arial"/>
              </a:rPr>
              <a:t>(vertical </a:t>
            </a:r>
            <a:r>
              <a:rPr dirty="0" sz="1600" i="1">
                <a:latin typeface="Arial"/>
                <a:cs typeface="Arial"/>
              </a:rPr>
              <a:t>offset)</a:t>
            </a:r>
            <a:r>
              <a:rPr dirty="0" sz="1600" spc="-10" i="1">
                <a:latin typeface="Arial"/>
                <a:cs typeface="Arial"/>
              </a:rPr>
              <a:t> </a:t>
            </a:r>
            <a:r>
              <a:rPr dirty="0" sz="1600">
                <a:latin typeface="Arial MT"/>
                <a:cs typeface="Arial MT"/>
              </a:rPr>
              <a:t>of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all</a:t>
            </a:r>
            <a:r>
              <a:rPr dirty="0" sz="1600" spc="50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points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to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points</a:t>
            </a:r>
            <a:r>
              <a:rPr dirty="0" sz="1600" spc="50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on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the</a:t>
            </a:r>
            <a:r>
              <a:rPr dirty="0" sz="1600" spc="-10">
                <a:latin typeface="Arial MT"/>
                <a:cs typeface="Arial MT"/>
              </a:rPr>
              <a:t> line.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3651" rIns="0" bIns="0" rtlCol="0" vert="horz">
            <a:spAutoFit/>
          </a:bodyPr>
          <a:lstStyle/>
          <a:p>
            <a:pPr marL="1102995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Linear</a:t>
            </a:r>
            <a:r>
              <a:rPr dirty="0" sz="3200" spc="-4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Regression</a:t>
            </a:r>
            <a:r>
              <a:rPr dirty="0" sz="3200" spc="-7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–</a:t>
            </a:r>
            <a:r>
              <a:rPr dirty="0" sz="3200" spc="-15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 spc="-10">
                <a:solidFill>
                  <a:srgbClr val="252573"/>
                </a:solidFill>
                <a:latin typeface="Arial"/>
                <a:cs typeface="Arial"/>
              </a:rPr>
              <a:t>Examples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352" y="1565264"/>
            <a:ext cx="8900969" cy="404042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0741" rIns="0" bIns="0" rtlCol="0" vert="horz">
            <a:spAutoFit/>
          </a:bodyPr>
          <a:lstStyle/>
          <a:p>
            <a:pPr marL="193421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Linear</a:t>
            </a:r>
            <a:r>
              <a:rPr dirty="0" sz="3200" spc="-65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 spc="-10">
                <a:solidFill>
                  <a:srgbClr val="252573"/>
                </a:solidFill>
                <a:latin typeface="Arial"/>
                <a:cs typeface="Arial"/>
              </a:rPr>
              <a:t>Regression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64591" y="5741314"/>
            <a:ext cx="31584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80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2"/>
              </a:rPr>
              <a:t>https://youtu.be/aPHg1kGeKsg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4850" y="1417586"/>
            <a:ext cx="7439914" cy="420306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410193" y="6664167"/>
            <a:ext cx="655320" cy="13970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>
                <a:latin typeface="Arial MT"/>
                <a:cs typeface="Arial MT"/>
              </a:rPr>
              <a:t>Slide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&lt;#&gt;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50">
                <a:latin typeface="Arial MT"/>
                <a:cs typeface="Arial MT"/>
              </a:rPr>
              <a:t>9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0741" rIns="0" bIns="0" rtlCol="0" vert="horz">
            <a:spAutoFit/>
          </a:bodyPr>
          <a:lstStyle/>
          <a:p>
            <a:pPr marL="176657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Logistic</a:t>
            </a:r>
            <a:r>
              <a:rPr dirty="0" sz="3200" spc="-9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 spc="-10">
                <a:solidFill>
                  <a:srgbClr val="252573"/>
                </a:solidFill>
                <a:latin typeface="Arial"/>
                <a:cs typeface="Arial"/>
              </a:rPr>
              <a:t>Regression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5018" y="4190086"/>
            <a:ext cx="4742985" cy="2167002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18896" y="1258951"/>
            <a:ext cx="8148320" cy="4855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9875" marR="1278890" indent="-257810">
              <a:lnSpc>
                <a:spcPct val="100000"/>
              </a:lnSpc>
              <a:spcBef>
                <a:spcPts val="100"/>
              </a:spcBef>
              <a:buChar char="•"/>
              <a:tabLst>
                <a:tab pos="269875" algn="l"/>
              </a:tabLst>
            </a:pPr>
            <a:r>
              <a:rPr dirty="0" sz="2400">
                <a:latin typeface="Arial MT"/>
                <a:cs typeface="Arial MT"/>
              </a:rPr>
              <a:t>Logistic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regression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go-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method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binary classification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problems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(two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class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values).</a:t>
            </a:r>
            <a:endParaRPr sz="2400">
              <a:latin typeface="Arial MT"/>
              <a:cs typeface="Arial MT"/>
            </a:endParaRPr>
          </a:p>
          <a:p>
            <a:pPr marL="269875" indent="-257175">
              <a:lnSpc>
                <a:spcPct val="100000"/>
              </a:lnSpc>
              <a:spcBef>
                <a:spcPts val="1200"/>
              </a:spcBef>
              <a:buChar char="•"/>
              <a:tabLst>
                <a:tab pos="269875" algn="l"/>
              </a:tabLst>
            </a:pPr>
            <a:r>
              <a:rPr dirty="0" sz="2400">
                <a:latin typeface="Arial MT"/>
                <a:cs typeface="Arial MT"/>
              </a:rPr>
              <a:t>Examples: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Pass/Fail,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Good/Bad,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Defect/Not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Defect,</a:t>
            </a:r>
            <a:endParaRPr sz="2400">
              <a:latin typeface="Arial MT"/>
              <a:cs typeface="Arial MT"/>
            </a:endParaRPr>
          </a:p>
          <a:p>
            <a:pPr marL="269875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Mammal/Not</a:t>
            </a:r>
            <a:r>
              <a:rPr dirty="0" sz="2400" spc="-14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Mammal.</a:t>
            </a:r>
            <a:endParaRPr sz="2400">
              <a:latin typeface="Arial MT"/>
              <a:cs typeface="Arial MT"/>
            </a:endParaRPr>
          </a:p>
          <a:p>
            <a:pPr marL="269875" marR="5080" indent="-257810">
              <a:lnSpc>
                <a:spcPct val="100000"/>
              </a:lnSpc>
              <a:spcBef>
                <a:spcPts val="1200"/>
              </a:spcBef>
              <a:buChar char="•"/>
              <a:tabLst>
                <a:tab pos="269875" algn="l"/>
              </a:tabLst>
            </a:pPr>
            <a:r>
              <a:rPr dirty="0" sz="2400">
                <a:latin typeface="Arial MT"/>
                <a:cs typeface="Arial MT"/>
              </a:rPr>
              <a:t>Does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not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assume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linear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relationship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between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dependent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114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independent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variables.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2400">
              <a:latin typeface="Arial MT"/>
              <a:cs typeface="Arial MT"/>
            </a:endParaRPr>
          </a:p>
          <a:p>
            <a:pPr marL="5340985" marR="355600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Unlike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linear </a:t>
            </a:r>
            <a:r>
              <a:rPr dirty="0" sz="2400">
                <a:latin typeface="Arial MT"/>
                <a:cs typeface="Arial MT"/>
              </a:rPr>
              <a:t>regression,</a:t>
            </a:r>
            <a:r>
              <a:rPr dirty="0" sz="2400" spc="-10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the </a:t>
            </a:r>
            <a:r>
              <a:rPr dirty="0" sz="2400">
                <a:latin typeface="Arial MT"/>
                <a:cs typeface="Arial MT"/>
              </a:rPr>
              <a:t>prediction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is </a:t>
            </a:r>
            <a:r>
              <a:rPr dirty="0" sz="2400">
                <a:latin typeface="Arial MT"/>
                <a:cs typeface="Arial MT"/>
              </a:rPr>
              <a:t>transformed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using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logistic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function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410193" y="6664167"/>
            <a:ext cx="655320" cy="13970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>
                <a:latin typeface="Arial MT"/>
                <a:cs typeface="Arial MT"/>
              </a:rPr>
              <a:t>Slide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&lt;#&gt;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50">
                <a:latin typeface="Arial MT"/>
                <a:cs typeface="Arial MT"/>
              </a:rPr>
              <a:t>9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0741" rIns="0" bIns="0" rtlCol="0" vert="horz">
            <a:spAutoFit/>
          </a:bodyPr>
          <a:lstStyle/>
          <a:p>
            <a:pPr marL="176657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Logistic</a:t>
            </a:r>
            <a:r>
              <a:rPr dirty="0" sz="3200" spc="-9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 spc="-10">
                <a:solidFill>
                  <a:srgbClr val="252573"/>
                </a:solidFill>
                <a:latin typeface="Arial"/>
                <a:cs typeface="Arial"/>
              </a:rPr>
              <a:t>Regression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83540" y="4106036"/>
            <a:ext cx="8081645" cy="2312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9875" marR="5080" indent="-257810">
              <a:lnSpc>
                <a:spcPct val="100000"/>
              </a:lnSpc>
              <a:spcBef>
                <a:spcPts val="100"/>
              </a:spcBef>
              <a:buChar char="•"/>
              <a:tabLst>
                <a:tab pos="269875" algn="l"/>
              </a:tabLst>
            </a:pPr>
            <a:r>
              <a:rPr dirty="0" sz="2000">
                <a:latin typeface="Arial MT"/>
                <a:cs typeface="Arial MT"/>
              </a:rPr>
              <a:t>This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is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useful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because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we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can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apply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rule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output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logistic </a:t>
            </a:r>
            <a:r>
              <a:rPr dirty="0" sz="2000">
                <a:latin typeface="Arial MT"/>
                <a:cs typeface="Arial MT"/>
              </a:rPr>
              <a:t>function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snap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values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zero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one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(e.g.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IF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less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than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0.5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THEN </a:t>
            </a:r>
            <a:r>
              <a:rPr dirty="0" sz="2000">
                <a:latin typeface="Arial MT"/>
                <a:cs typeface="Arial MT"/>
              </a:rPr>
              <a:t>output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0)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predict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class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value.</a:t>
            </a:r>
            <a:endParaRPr sz="2000">
              <a:latin typeface="Arial MT"/>
              <a:cs typeface="Arial MT"/>
            </a:endParaRPr>
          </a:p>
          <a:p>
            <a:pPr marL="269875" marR="356235" indent="-257810">
              <a:lnSpc>
                <a:spcPct val="100000"/>
              </a:lnSpc>
              <a:spcBef>
                <a:spcPts val="1805"/>
              </a:spcBef>
              <a:buChar char="•"/>
              <a:tabLst>
                <a:tab pos="269875" algn="l"/>
              </a:tabLst>
            </a:pPr>
            <a:r>
              <a:rPr dirty="0" sz="2000">
                <a:latin typeface="Arial MT"/>
                <a:cs typeface="Arial MT"/>
              </a:rPr>
              <a:t>Predictions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made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by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logistic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regression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can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also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be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used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as</a:t>
            </a:r>
            <a:r>
              <a:rPr dirty="0" sz="2000" spc="-25">
                <a:latin typeface="Arial MT"/>
                <a:cs typeface="Arial MT"/>
              </a:rPr>
              <a:t> the </a:t>
            </a:r>
            <a:r>
              <a:rPr dirty="0" sz="2000">
                <a:latin typeface="Arial MT"/>
                <a:cs typeface="Arial MT"/>
              </a:rPr>
              <a:t>probability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given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data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instance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belonging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class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0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or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class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1.</a:t>
            </a:r>
            <a:endParaRPr sz="2000">
              <a:latin typeface="Arial MT"/>
              <a:cs typeface="Arial MT"/>
            </a:endParaRPr>
          </a:p>
          <a:p>
            <a:pPr marL="269875" indent="-257175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Char char="•"/>
              <a:tabLst>
                <a:tab pos="269875" algn="l"/>
              </a:tabLst>
            </a:pPr>
            <a:r>
              <a:rPr dirty="0" u="sng" sz="200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2"/>
              </a:rPr>
              <a:t>Scikit</a:t>
            </a:r>
            <a:r>
              <a:rPr dirty="0" u="sng" sz="2000" spc="-35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dirty="0" u="sng" sz="200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2"/>
              </a:rPr>
              <a:t>Learn</a:t>
            </a:r>
            <a:r>
              <a:rPr dirty="0" u="sng" sz="2000" spc="-5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dirty="0" u="sng" sz="200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2"/>
              </a:rPr>
              <a:t>Documentation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04770" y="1352803"/>
            <a:ext cx="6151245" cy="269240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552094" y="1770633"/>
            <a:ext cx="1576070" cy="1550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logistic </a:t>
            </a:r>
            <a:r>
              <a:rPr dirty="0" sz="2000">
                <a:latin typeface="Arial MT"/>
                <a:cs typeface="Arial MT"/>
              </a:rPr>
              <a:t>function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will </a:t>
            </a:r>
            <a:r>
              <a:rPr dirty="0" sz="2000">
                <a:latin typeface="Arial MT"/>
                <a:cs typeface="Arial MT"/>
              </a:rPr>
              <a:t>transform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any </a:t>
            </a:r>
            <a:r>
              <a:rPr dirty="0" sz="2000">
                <a:latin typeface="Arial MT"/>
                <a:cs typeface="Arial MT"/>
              </a:rPr>
              <a:t>value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into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the </a:t>
            </a:r>
            <a:r>
              <a:rPr dirty="0" sz="2000">
                <a:latin typeface="Arial MT"/>
                <a:cs typeface="Arial MT"/>
              </a:rPr>
              <a:t>range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0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50">
                <a:latin typeface="Arial MT"/>
                <a:cs typeface="Arial MT"/>
              </a:rPr>
              <a:t>1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410193" y="6664167"/>
            <a:ext cx="655320" cy="13970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>
                <a:latin typeface="Arial MT"/>
                <a:cs typeface="Arial MT"/>
              </a:rPr>
              <a:t>Slide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&lt;#&gt;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50">
                <a:latin typeface="Arial MT"/>
                <a:cs typeface="Arial MT"/>
              </a:rPr>
              <a:t>9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0741" rIns="0" bIns="0" rtlCol="0" vert="horz">
            <a:spAutoFit/>
          </a:bodyPr>
          <a:lstStyle/>
          <a:p>
            <a:pPr marL="176657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Logistic</a:t>
            </a:r>
            <a:r>
              <a:rPr dirty="0" sz="3200" spc="-9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 spc="-10">
                <a:solidFill>
                  <a:srgbClr val="252573"/>
                </a:solidFill>
                <a:latin typeface="Arial"/>
                <a:cs typeface="Arial"/>
              </a:rPr>
              <a:t>Regression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64591" y="5741314"/>
            <a:ext cx="32092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80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2"/>
              </a:rPr>
              <a:t>https://youtu.be/EKm0spFxFG4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0525" y="1346580"/>
            <a:ext cx="7372350" cy="4164838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410193" y="6664167"/>
            <a:ext cx="655320" cy="13970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>
                <a:latin typeface="Arial MT"/>
                <a:cs typeface="Arial MT"/>
              </a:rPr>
              <a:t>Slide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&lt;#&gt;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50">
                <a:latin typeface="Arial MT"/>
                <a:cs typeface="Arial MT"/>
              </a:rPr>
              <a:t>9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6499" rIns="0" bIns="0" rtlCol="0" vert="horz">
            <a:spAutoFit/>
          </a:bodyPr>
          <a:lstStyle/>
          <a:p>
            <a:pPr marL="1095375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Linear</a:t>
            </a:r>
            <a:r>
              <a:rPr dirty="0" sz="3200" spc="-95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Discriminant</a:t>
            </a:r>
            <a:r>
              <a:rPr dirty="0" sz="3200" spc="-19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 spc="-10">
                <a:solidFill>
                  <a:srgbClr val="252573"/>
                </a:solidFill>
                <a:latin typeface="Arial"/>
                <a:cs typeface="Arial"/>
              </a:rPr>
              <a:t>Analysis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81685" y="1342771"/>
            <a:ext cx="8263255" cy="36836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269875" marR="6350" indent="-257810">
              <a:lnSpc>
                <a:spcPct val="100000"/>
              </a:lnSpc>
              <a:spcBef>
                <a:spcPts val="95"/>
              </a:spcBef>
              <a:buChar char="•"/>
              <a:tabLst>
                <a:tab pos="269875" algn="l"/>
              </a:tabLst>
            </a:pPr>
            <a:r>
              <a:rPr dirty="0" sz="2200">
                <a:latin typeface="Arial MT"/>
                <a:cs typeface="Arial MT"/>
              </a:rPr>
              <a:t>LDA</a:t>
            </a:r>
            <a:r>
              <a:rPr dirty="0" sz="2200" spc="27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works</a:t>
            </a:r>
            <a:r>
              <a:rPr dirty="0" sz="2200" spc="28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by</a:t>
            </a:r>
            <a:r>
              <a:rPr dirty="0" sz="2200" spc="27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identifying</a:t>
            </a:r>
            <a:r>
              <a:rPr dirty="0" sz="2200" spc="2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</a:t>
            </a:r>
            <a:r>
              <a:rPr dirty="0" sz="2200" spc="28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linear</a:t>
            </a:r>
            <a:r>
              <a:rPr dirty="0" sz="2200" spc="2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combination</a:t>
            </a:r>
            <a:r>
              <a:rPr dirty="0" sz="2200" spc="3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of</a:t>
            </a:r>
            <a:r>
              <a:rPr dirty="0" sz="2200" spc="28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features</a:t>
            </a:r>
            <a:r>
              <a:rPr dirty="0" sz="2200" spc="30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that </a:t>
            </a:r>
            <a:r>
              <a:rPr dirty="0" sz="2200">
                <a:latin typeface="Arial MT"/>
                <a:cs typeface="Arial MT"/>
              </a:rPr>
              <a:t>separates</a:t>
            </a:r>
            <a:r>
              <a:rPr dirty="0" sz="2200" spc="3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or</a:t>
            </a:r>
            <a:r>
              <a:rPr dirty="0" sz="2200" spc="3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characterises</a:t>
            </a:r>
            <a:r>
              <a:rPr dirty="0" sz="2200" spc="4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two</a:t>
            </a:r>
            <a:r>
              <a:rPr dirty="0" sz="2200" spc="3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or</a:t>
            </a:r>
            <a:r>
              <a:rPr dirty="0" sz="2200" spc="409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more</a:t>
            </a:r>
            <a:r>
              <a:rPr dirty="0" sz="2200" spc="3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classes</a:t>
            </a:r>
            <a:r>
              <a:rPr dirty="0" sz="2200" spc="3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of</a:t>
            </a:r>
            <a:r>
              <a:rPr dirty="0" sz="2200" spc="3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objects</a:t>
            </a:r>
            <a:r>
              <a:rPr dirty="0" sz="2200" spc="395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or </a:t>
            </a:r>
            <a:r>
              <a:rPr dirty="0" sz="2200" spc="-10">
                <a:latin typeface="Arial MT"/>
                <a:cs typeface="Arial MT"/>
              </a:rPr>
              <a:t>events.</a:t>
            </a:r>
            <a:endParaRPr sz="2200">
              <a:latin typeface="Arial MT"/>
              <a:cs typeface="Arial MT"/>
            </a:endParaRPr>
          </a:p>
          <a:p>
            <a:pPr algn="just" marL="269875" marR="6985" indent="-257810">
              <a:lnSpc>
                <a:spcPct val="100000"/>
              </a:lnSpc>
              <a:spcBef>
                <a:spcPts val="1200"/>
              </a:spcBef>
              <a:buChar char="•"/>
              <a:tabLst>
                <a:tab pos="269875" algn="l"/>
              </a:tabLst>
            </a:pPr>
            <a:r>
              <a:rPr dirty="0" sz="2200">
                <a:latin typeface="Arial MT"/>
                <a:cs typeface="Arial MT"/>
              </a:rPr>
              <a:t>LDA</a:t>
            </a:r>
            <a:r>
              <a:rPr dirty="0" sz="2200" spc="21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does</a:t>
            </a:r>
            <a:r>
              <a:rPr dirty="0" sz="2200" spc="21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this</a:t>
            </a:r>
            <a:r>
              <a:rPr dirty="0" sz="2200" spc="22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by</a:t>
            </a:r>
            <a:r>
              <a:rPr dirty="0" sz="2200" spc="204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projecting</a:t>
            </a:r>
            <a:r>
              <a:rPr dirty="0" sz="2200" spc="229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data</a:t>
            </a:r>
            <a:r>
              <a:rPr dirty="0" sz="2200" spc="21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with</a:t>
            </a:r>
            <a:r>
              <a:rPr dirty="0" sz="2200" spc="225">
                <a:latin typeface="Arial MT"/>
                <a:cs typeface="Arial MT"/>
              </a:rPr>
              <a:t> </a:t>
            </a:r>
            <a:r>
              <a:rPr dirty="0" u="sng" sz="22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two</a:t>
            </a:r>
            <a:r>
              <a:rPr dirty="0" sz="2200" spc="21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or</a:t>
            </a:r>
            <a:r>
              <a:rPr dirty="0" sz="2200" spc="215">
                <a:latin typeface="Arial MT"/>
                <a:cs typeface="Arial MT"/>
              </a:rPr>
              <a:t> </a:t>
            </a:r>
            <a:r>
              <a:rPr dirty="0" u="sng" sz="22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more</a:t>
            </a:r>
            <a:r>
              <a:rPr dirty="0" sz="2200" spc="22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dimensions </a:t>
            </a:r>
            <a:r>
              <a:rPr dirty="0" sz="2200">
                <a:latin typeface="Arial MT"/>
                <a:cs typeface="Arial MT"/>
              </a:rPr>
              <a:t>into</a:t>
            </a:r>
            <a:r>
              <a:rPr dirty="0" sz="2200" spc="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one</a:t>
            </a:r>
            <a:r>
              <a:rPr dirty="0" sz="2200" spc="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dimension</a:t>
            </a:r>
            <a:r>
              <a:rPr dirty="0" sz="2200" spc="11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so</a:t>
            </a:r>
            <a:r>
              <a:rPr dirty="0" sz="2200" spc="11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that</a:t>
            </a:r>
            <a:r>
              <a:rPr dirty="0" sz="2200" spc="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it</a:t>
            </a:r>
            <a:r>
              <a:rPr dirty="0" sz="2200" spc="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can</a:t>
            </a:r>
            <a:r>
              <a:rPr dirty="0" sz="2200" spc="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be</a:t>
            </a:r>
            <a:r>
              <a:rPr dirty="0" sz="2200" spc="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more</a:t>
            </a:r>
            <a:r>
              <a:rPr dirty="0" sz="2200" spc="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easily</a:t>
            </a:r>
            <a:r>
              <a:rPr dirty="0" sz="2200" spc="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classified.</a:t>
            </a:r>
            <a:r>
              <a:rPr dirty="0" sz="2200" spc="100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The </a:t>
            </a:r>
            <a:r>
              <a:rPr dirty="0" sz="2200">
                <a:latin typeface="Arial MT"/>
                <a:cs typeface="Arial MT"/>
              </a:rPr>
              <a:t>technique</a:t>
            </a:r>
            <a:r>
              <a:rPr dirty="0" sz="2200" spc="6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is,</a:t>
            </a:r>
            <a:r>
              <a:rPr dirty="0" sz="2200" spc="5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therefore,</a:t>
            </a:r>
            <a:r>
              <a:rPr dirty="0" sz="2200" spc="7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sometimes</a:t>
            </a:r>
            <a:r>
              <a:rPr dirty="0" sz="2200" spc="6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referred</a:t>
            </a:r>
            <a:r>
              <a:rPr dirty="0" sz="2200" spc="6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to</a:t>
            </a:r>
            <a:r>
              <a:rPr dirty="0" sz="2200" spc="5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as</a:t>
            </a:r>
            <a:r>
              <a:rPr dirty="0" sz="2200" spc="55">
                <a:latin typeface="Arial MT"/>
                <a:cs typeface="Arial MT"/>
              </a:rPr>
              <a:t> </a:t>
            </a:r>
            <a:r>
              <a:rPr dirty="0" u="sng" sz="2200" spc="-1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dimensionality</a:t>
            </a:r>
            <a:r>
              <a:rPr dirty="0" sz="2200" spc="-10">
                <a:latin typeface="Arial MT"/>
                <a:cs typeface="Arial MT"/>
              </a:rPr>
              <a:t> </a:t>
            </a:r>
            <a:r>
              <a:rPr dirty="0" u="sng" sz="2200" spc="-1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reduction</a:t>
            </a:r>
            <a:r>
              <a:rPr dirty="0" sz="2200" spc="-10">
                <a:latin typeface="Arial MT"/>
                <a:cs typeface="Arial MT"/>
              </a:rPr>
              <a:t>.</a:t>
            </a:r>
            <a:endParaRPr sz="2200">
              <a:latin typeface="Arial MT"/>
              <a:cs typeface="Arial MT"/>
            </a:endParaRPr>
          </a:p>
          <a:p>
            <a:pPr algn="just" marL="269875" marR="5080" indent="-257810">
              <a:lnSpc>
                <a:spcPct val="100000"/>
              </a:lnSpc>
              <a:spcBef>
                <a:spcPts val="1205"/>
              </a:spcBef>
              <a:buChar char="•"/>
              <a:tabLst>
                <a:tab pos="269875" algn="l"/>
              </a:tabLst>
            </a:pPr>
            <a:r>
              <a:rPr dirty="0" sz="2200">
                <a:latin typeface="Arial MT"/>
                <a:cs typeface="Arial MT"/>
              </a:rPr>
              <a:t>For</a:t>
            </a:r>
            <a:r>
              <a:rPr dirty="0" sz="2200" spc="32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example,</a:t>
            </a:r>
            <a:r>
              <a:rPr dirty="0" sz="2200" spc="33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we</a:t>
            </a:r>
            <a:r>
              <a:rPr dirty="0" sz="2200" spc="32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have</a:t>
            </a:r>
            <a:r>
              <a:rPr dirty="0" sz="2200" spc="33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two</a:t>
            </a:r>
            <a:r>
              <a:rPr dirty="0" sz="2200" spc="32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classes,</a:t>
            </a:r>
            <a:r>
              <a:rPr dirty="0" sz="2200" spc="32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and</a:t>
            </a:r>
            <a:r>
              <a:rPr dirty="0" sz="2200" spc="33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we</a:t>
            </a:r>
            <a:r>
              <a:rPr dirty="0" sz="2200" spc="31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need</a:t>
            </a:r>
            <a:r>
              <a:rPr dirty="0" sz="2200" spc="32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to</a:t>
            </a:r>
            <a:r>
              <a:rPr dirty="0" sz="2200" spc="32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separate </a:t>
            </a:r>
            <a:r>
              <a:rPr dirty="0" sz="2200">
                <a:latin typeface="Arial MT"/>
                <a:cs typeface="Arial MT"/>
              </a:rPr>
              <a:t>them</a:t>
            </a:r>
            <a:r>
              <a:rPr dirty="0" sz="2200" spc="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efficiently.</a:t>
            </a:r>
            <a:r>
              <a:rPr dirty="0" sz="2200" spc="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Classes</a:t>
            </a:r>
            <a:r>
              <a:rPr dirty="0" sz="2200" spc="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can</a:t>
            </a:r>
            <a:r>
              <a:rPr dirty="0" sz="2200" spc="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have</a:t>
            </a:r>
            <a:r>
              <a:rPr dirty="0" sz="2200" spc="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multiple</a:t>
            </a:r>
            <a:r>
              <a:rPr dirty="0" sz="2200" spc="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features.</a:t>
            </a:r>
            <a:r>
              <a:rPr dirty="0" sz="2200" spc="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Using</a:t>
            </a:r>
            <a:r>
              <a:rPr dirty="0" sz="2200" spc="9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only </a:t>
            </a:r>
            <a:r>
              <a:rPr dirty="0" sz="2200">
                <a:latin typeface="Arial MT"/>
                <a:cs typeface="Arial MT"/>
              </a:rPr>
              <a:t>a</a:t>
            </a:r>
            <a:r>
              <a:rPr dirty="0" sz="2200" spc="-4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single</a:t>
            </a:r>
            <a:r>
              <a:rPr dirty="0" sz="2200" spc="-5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feature</a:t>
            </a:r>
            <a:r>
              <a:rPr dirty="0" sz="2200" spc="-3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to</a:t>
            </a:r>
            <a:r>
              <a:rPr dirty="0" sz="2200" spc="-4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classify</a:t>
            </a:r>
            <a:r>
              <a:rPr dirty="0" sz="2200" spc="-4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them</a:t>
            </a:r>
            <a:r>
              <a:rPr dirty="0" sz="2200" spc="-4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may</a:t>
            </a:r>
            <a:r>
              <a:rPr dirty="0" sz="2200" spc="-3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result</a:t>
            </a:r>
            <a:r>
              <a:rPr dirty="0" sz="2200" spc="-4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in</a:t>
            </a:r>
            <a:r>
              <a:rPr dirty="0" sz="2200" spc="-4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some</a:t>
            </a:r>
            <a:r>
              <a:rPr dirty="0" sz="2200" spc="-3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overlapping.</a:t>
            </a:r>
            <a:endParaRPr sz="22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6472" y="5289499"/>
            <a:ext cx="7468692" cy="1066944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410193" y="6664167"/>
            <a:ext cx="655320" cy="13970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>
                <a:latin typeface="Arial MT"/>
                <a:cs typeface="Arial MT"/>
              </a:rPr>
              <a:t>Slide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&lt;#&gt;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50">
                <a:latin typeface="Arial MT"/>
                <a:cs typeface="Arial MT"/>
              </a:rPr>
              <a:t>9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6499" rIns="0" bIns="0" rtlCol="0" vert="horz">
            <a:spAutoFit/>
          </a:bodyPr>
          <a:lstStyle/>
          <a:p>
            <a:pPr marL="1095375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Linear</a:t>
            </a:r>
            <a:r>
              <a:rPr dirty="0" sz="3200" spc="-95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Discriminant</a:t>
            </a:r>
            <a:r>
              <a:rPr dirty="0" sz="3200" spc="-19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 spc="-10">
                <a:solidFill>
                  <a:srgbClr val="252573"/>
                </a:solidFill>
                <a:latin typeface="Arial"/>
                <a:cs typeface="Arial"/>
              </a:rPr>
              <a:t>Analysis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81685" y="1274191"/>
            <a:ext cx="8183245" cy="2037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269875" marR="5080" indent="-257810">
              <a:lnSpc>
                <a:spcPct val="100000"/>
              </a:lnSpc>
              <a:spcBef>
                <a:spcPts val="95"/>
              </a:spcBef>
              <a:buChar char="•"/>
              <a:tabLst>
                <a:tab pos="269875" algn="l"/>
              </a:tabLst>
            </a:pPr>
            <a:r>
              <a:rPr dirty="0" sz="2200">
                <a:latin typeface="Arial MT"/>
                <a:cs typeface="Arial MT"/>
              </a:rPr>
              <a:t>LDA</a:t>
            </a:r>
            <a:r>
              <a:rPr dirty="0" sz="2200" spc="4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assumes</a:t>
            </a:r>
            <a:r>
              <a:rPr dirty="0" sz="2200" spc="409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that</a:t>
            </a:r>
            <a:r>
              <a:rPr dirty="0" sz="2200" spc="409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4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data</a:t>
            </a:r>
            <a:r>
              <a:rPr dirty="0" sz="2200" spc="41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has</a:t>
            </a:r>
            <a:r>
              <a:rPr dirty="0" sz="2200" spc="4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</a:t>
            </a:r>
            <a:r>
              <a:rPr dirty="0" sz="2200" spc="409">
                <a:latin typeface="Arial MT"/>
                <a:cs typeface="Arial MT"/>
              </a:rPr>
              <a:t> </a:t>
            </a:r>
            <a:r>
              <a:rPr dirty="0" u="sng" sz="22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Gaussian</a:t>
            </a:r>
            <a:r>
              <a:rPr dirty="0" sz="2200" spc="41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distribution</a:t>
            </a:r>
            <a:r>
              <a:rPr dirty="0" sz="2200" spc="415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and </a:t>
            </a:r>
            <a:r>
              <a:rPr dirty="0" sz="2200">
                <a:latin typeface="Arial MT"/>
                <a:cs typeface="Arial MT"/>
              </a:rPr>
              <a:t>that</a:t>
            </a:r>
            <a:r>
              <a:rPr dirty="0" sz="2200" spc="12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130">
                <a:latin typeface="Arial MT"/>
                <a:cs typeface="Arial MT"/>
              </a:rPr>
              <a:t> </a:t>
            </a:r>
            <a:r>
              <a:rPr dirty="0" u="sng" sz="22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covariance</a:t>
            </a:r>
            <a:r>
              <a:rPr dirty="0" sz="2200" spc="13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matrices</a:t>
            </a:r>
            <a:r>
              <a:rPr dirty="0" sz="2200" spc="13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of</a:t>
            </a:r>
            <a:r>
              <a:rPr dirty="0" sz="2200" spc="12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114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different</a:t>
            </a:r>
            <a:r>
              <a:rPr dirty="0" sz="2200" spc="12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classes</a:t>
            </a:r>
            <a:r>
              <a:rPr dirty="0" sz="2200" spc="13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are</a:t>
            </a:r>
            <a:r>
              <a:rPr dirty="0" sz="2200" spc="12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equal. </a:t>
            </a:r>
            <a:r>
              <a:rPr dirty="0" sz="2200">
                <a:latin typeface="Arial MT"/>
                <a:cs typeface="Arial MT"/>
              </a:rPr>
              <a:t>It</a:t>
            </a:r>
            <a:r>
              <a:rPr dirty="0" sz="2200" spc="42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also</a:t>
            </a:r>
            <a:r>
              <a:rPr dirty="0" sz="2200" spc="44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assumes</a:t>
            </a:r>
            <a:r>
              <a:rPr dirty="0" sz="2200" spc="434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that</a:t>
            </a:r>
            <a:r>
              <a:rPr dirty="0" sz="2200" spc="434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42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data</a:t>
            </a:r>
            <a:r>
              <a:rPr dirty="0" sz="2200" spc="43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is</a:t>
            </a:r>
            <a:r>
              <a:rPr dirty="0" sz="2200" spc="420">
                <a:latin typeface="Arial MT"/>
                <a:cs typeface="Arial MT"/>
              </a:rPr>
              <a:t> </a:t>
            </a:r>
            <a:r>
              <a:rPr dirty="0" u="sng" sz="22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linearly</a:t>
            </a:r>
            <a:r>
              <a:rPr dirty="0" u="sng" sz="2200" spc="43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22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separable</a:t>
            </a:r>
            <a:r>
              <a:rPr dirty="0" sz="2200">
                <a:latin typeface="Arial MT"/>
                <a:cs typeface="Arial MT"/>
              </a:rPr>
              <a:t>,</a:t>
            </a:r>
            <a:r>
              <a:rPr dirty="0" sz="2200" spc="43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meaning </a:t>
            </a:r>
            <a:r>
              <a:rPr dirty="0" sz="2200">
                <a:latin typeface="Arial MT"/>
                <a:cs typeface="Arial MT"/>
              </a:rPr>
              <a:t>that</a:t>
            </a:r>
            <a:r>
              <a:rPr dirty="0" sz="2200" spc="30">
                <a:latin typeface="Arial MT"/>
                <a:cs typeface="Arial MT"/>
              </a:rPr>
              <a:t>  </a:t>
            </a:r>
            <a:r>
              <a:rPr dirty="0" sz="2200">
                <a:latin typeface="Arial MT"/>
                <a:cs typeface="Arial MT"/>
              </a:rPr>
              <a:t>a</a:t>
            </a:r>
            <a:r>
              <a:rPr dirty="0" sz="2200" spc="30">
                <a:latin typeface="Arial MT"/>
                <a:cs typeface="Arial MT"/>
              </a:rPr>
              <a:t>  </a:t>
            </a:r>
            <a:r>
              <a:rPr dirty="0" sz="2200">
                <a:latin typeface="Arial MT"/>
                <a:cs typeface="Arial MT"/>
              </a:rPr>
              <a:t>linear</a:t>
            </a:r>
            <a:r>
              <a:rPr dirty="0" sz="2200" spc="35">
                <a:latin typeface="Arial MT"/>
                <a:cs typeface="Arial MT"/>
              </a:rPr>
              <a:t>  </a:t>
            </a:r>
            <a:r>
              <a:rPr dirty="0" sz="2200">
                <a:latin typeface="Arial MT"/>
                <a:cs typeface="Arial MT"/>
              </a:rPr>
              <a:t>decision</a:t>
            </a:r>
            <a:r>
              <a:rPr dirty="0" sz="2200" spc="35">
                <a:latin typeface="Arial MT"/>
                <a:cs typeface="Arial MT"/>
              </a:rPr>
              <a:t>  </a:t>
            </a:r>
            <a:r>
              <a:rPr dirty="0" sz="2200">
                <a:latin typeface="Arial MT"/>
                <a:cs typeface="Arial MT"/>
              </a:rPr>
              <a:t>boundary</a:t>
            </a:r>
            <a:r>
              <a:rPr dirty="0" sz="2200" spc="30">
                <a:latin typeface="Arial MT"/>
                <a:cs typeface="Arial MT"/>
              </a:rPr>
              <a:t>  </a:t>
            </a:r>
            <a:r>
              <a:rPr dirty="0" sz="2200">
                <a:latin typeface="Arial MT"/>
                <a:cs typeface="Arial MT"/>
              </a:rPr>
              <a:t>can</a:t>
            </a:r>
            <a:r>
              <a:rPr dirty="0" sz="2200" spc="35">
                <a:latin typeface="Arial MT"/>
                <a:cs typeface="Arial MT"/>
              </a:rPr>
              <a:t>  </a:t>
            </a:r>
            <a:r>
              <a:rPr dirty="0" sz="2200">
                <a:latin typeface="Arial MT"/>
                <a:cs typeface="Arial MT"/>
              </a:rPr>
              <a:t>accurately</a:t>
            </a:r>
            <a:r>
              <a:rPr dirty="0" sz="2200" spc="30">
                <a:latin typeface="Arial MT"/>
                <a:cs typeface="Arial MT"/>
              </a:rPr>
              <a:t>  </a:t>
            </a:r>
            <a:r>
              <a:rPr dirty="0" sz="2200">
                <a:latin typeface="Arial MT"/>
                <a:cs typeface="Arial MT"/>
              </a:rPr>
              <a:t>classify</a:t>
            </a:r>
            <a:r>
              <a:rPr dirty="0" sz="2200" spc="35">
                <a:latin typeface="Arial MT"/>
                <a:cs typeface="Arial MT"/>
              </a:rPr>
              <a:t>  </a:t>
            </a:r>
            <a:r>
              <a:rPr dirty="0" sz="2200" spc="-25">
                <a:latin typeface="Arial MT"/>
                <a:cs typeface="Arial MT"/>
              </a:rPr>
              <a:t>the </a:t>
            </a:r>
            <a:r>
              <a:rPr dirty="0" sz="2200">
                <a:latin typeface="Arial MT"/>
                <a:cs typeface="Arial MT"/>
              </a:rPr>
              <a:t>different</a:t>
            </a:r>
            <a:r>
              <a:rPr dirty="0" sz="2200" spc="5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classes.</a:t>
            </a:r>
            <a:r>
              <a:rPr dirty="0" sz="2200" spc="4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Two</a:t>
            </a:r>
            <a:r>
              <a:rPr dirty="0" sz="2200" spc="4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criteria</a:t>
            </a:r>
            <a:r>
              <a:rPr dirty="0" sz="2200" spc="5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are</a:t>
            </a:r>
            <a:r>
              <a:rPr dirty="0" sz="2200" spc="5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used</a:t>
            </a:r>
            <a:r>
              <a:rPr dirty="0" sz="2200" spc="4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by</a:t>
            </a:r>
            <a:r>
              <a:rPr dirty="0" sz="2200" spc="3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LDA</a:t>
            </a:r>
            <a:r>
              <a:rPr dirty="0" sz="2200" spc="5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to</a:t>
            </a:r>
            <a:r>
              <a:rPr dirty="0" sz="2200" spc="4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create</a:t>
            </a:r>
            <a:r>
              <a:rPr dirty="0" sz="2200" spc="6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</a:t>
            </a:r>
            <a:r>
              <a:rPr dirty="0" sz="2200" spc="55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new </a:t>
            </a:r>
            <a:r>
              <a:rPr dirty="0" sz="2200" spc="-10">
                <a:latin typeface="Arial MT"/>
                <a:cs typeface="Arial MT"/>
              </a:rPr>
              <a:t>axis: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1685" y="5877559"/>
            <a:ext cx="3697604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95"/>
              </a:spcBef>
              <a:buClr>
                <a:srgbClr val="000000"/>
              </a:buClr>
              <a:buChar char="•"/>
              <a:tabLst>
                <a:tab pos="269875" algn="l"/>
              </a:tabLst>
            </a:pPr>
            <a:r>
              <a:rPr dirty="0" u="sng" sz="220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2"/>
              </a:rPr>
              <a:t>Scikit</a:t>
            </a:r>
            <a:r>
              <a:rPr dirty="0" u="sng" sz="2200" spc="-6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dirty="0" u="sng" sz="220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2"/>
              </a:rPr>
              <a:t>Learn</a:t>
            </a:r>
            <a:r>
              <a:rPr dirty="0" u="sng" sz="2200" spc="-5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dirty="0" u="sng" sz="220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2"/>
              </a:rPr>
              <a:t>Documentation</a:t>
            </a:r>
            <a:endParaRPr sz="220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19047" y="3177061"/>
            <a:ext cx="3948303" cy="256333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45709" y="4133786"/>
            <a:ext cx="2907538" cy="809688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8410193" y="6664167"/>
            <a:ext cx="655320" cy="13970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>
                <a:latin typeface="Arial MT"/>
                <a:cs typeface="Arial MT"/>
              </a:rPr>
              <a:t>Slide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&lt;#&gt;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50">
                <a:latin typeface="Arial MT"/>
                <a:cs typeface="Arial MT"/>
              </a:rPr>
              <a:t>9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7640" rIns="0" bIns="0" rtlCol="0" vert="horz">
            <a:spAutoFit/>
          </a:bodyPr>
          <a:lstStyle/>
          <a:p>
            <a:pPr marL="1223645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Linear</a:t>
            </a:r>
            <a:r>
              <a:rPr dirty="0" sz="3200" spc="-3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Discriminant</a:t>
            </a:r>
            <a:r>
              <a:rPr dirty="0" sz="3200" spc="-14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 spc="-10">
                <a:solidFill>
                  <a:srgbClr val="252573"/>
                </a:solidFill>
                <a:latin typeface="Arial"/>
                <a:cs typeface="Arial"/>
              </a:rPr>
              <a:t>Analysis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3559" y="1465730"/>
            <a:ext cx="3085024" cy="305261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359021" y="2655823"/>
            <a:ext cx="4413885" cy="1671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273139"/>
                </a:solidFill>
                <a:latin typeface="Arial MT"/>
                <a:cs typeface="Arial MT"/>
              </a:rPr>
              <a:t>Linear</a:t>
            </a:r>
            <a:r>
              <a:rPr dirty="0" sz="1800" spc="180">
                <a:solidFill>
                  <a:srgbClr val="273139"/>
                </a:solidFill>
                <a:latin typeface="Arial MT"/>
                <a:cs typeface="Arial MT"/>
              </a:rPr>
              <a:t>  </a:t>
            </a:r>
            <a:r>
              <a:rPr dirty="0" sz="1800">
                <a:solidFill>
                  <a:srgbClr val="273139"/>
                </a:solidFill>
                <a:latin typeface="Arial MT"/>
                <a:cs typeface="Arial MT"/>
              </a:rPr>
              <a:t>Discriminant</a:t>
            </a:r>
            <a:r>
              <a:rPr dirty="0" sz="1800" spc="190">
                <a:solidFill>
                  <a:srgbClr val="273139"/>
                </a:solidFill>
                <a:latin typeface="Arial MT"/>
                <a:cs typeface="Arial MT"/>
              </a:rPr>
              <a:t>  </a:t>
            </a:r>
            <a:r>
              <a:rPr dirty="0" sz="1800">
                <a:solidFill>
                  <a:srgbClr val="273139"/>
                </a:solidFill>
                <a:latin typeface="Arial MT"/>
                <a:cs typeface="Arial MT"/>
              </a:rPr>
              <a:t>Analysis</a:t>
            </a:r>
            <a:r>
              <a:rPr dirty="0" sz="1800" spc="190">
                <a:solidFill>
                  <a:srgbClr val="273139"/>
                </a:solidFill>
                <a:latin typeface="Arial MT"/>
                <a:cs typeface="Arial MT"/>
              </a:rPr>
              <a:t>  </a:t>
            </a:r>
            <a:r>
              <a:rPr dirty="0" sz="1800">
                <a:solidFill>
                  <a:srgbClr val="273139"/>
                </a:solidFill>
                <a:latin typeface="Arial MT"/>
                <a:cs typeface="Arial MT"/>
              </a:rPr>
              <a:t>uses</a:t>
            </a:r>
            <a:r>
              <a:rPr dirty="0" sz="1800" spc="190">
                <a:solidFill>
                  <a:srgbClr val="273139"/>
                </a:solidFill>
                <a:latin typeface="Arial MT"/>
                <a:cs typeface="Arial MT"/>
              </a:rPr>
              <a:t>  </a:t>
            </a:r>
            <a:r>
              <a:rPr dirty="0" sz="1800" spc="-20">
                <a:solidFill>
                  <a:srgbClr val="273139"/>
                </a:solidFill>
                <a:latin typeface="Arial MT"/>
                <a:cs typeface="Arial MT"/>
              </a:rPr>
              <a:t>both </a:t>
            </a:r>
            <a:r>
              <a:rPr dirty="0" sz="1800">
                <a:solidFill>
                  <a:srgbClr val="273139"/>
                </a:solidFill>
                <a:latin typeface="Arial MT"/>
                <a:cs typeface="Arial MT"/>
              </a:rPr>
              <a:t>axes</a:t>
            </a:r>
            <a:r>
              <a:rPr dirty="0" sz="1800" spc="260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273139"/>
                </a:solidFill>
                <a:latin typeface="Arial MT"/>
                <a:cs typeface="Arial MT"/>
              </a:rPr>
              <a:t>(X</a:t>
            </a:r>
            <a:r>
              <a:rPr dirty="0" sz="1800" spc="280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273139"/>
                </a:solidFill>
                <a:latin typeface="Arial MT"/>
                <a:cs typeface="Arial MT"/>
              </a:rPr>
              <a:t>and</a:t>
            </a:r>
            <a:r>
              <a:rPr dirty="0" sz="1800" spc="285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273139"/>
                </a:solidFill>
                <a:latin typeface="Arial MT"/>
                <a:cs typeface="Arial MT"/>
              </a:rPr>
              <a:t>Y)</a:t>
            </a:r>
            <a:r>
              <a:rPr dirty="0" sz="1800" spc="290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273139"/>
                </a:solidFill>
                <a:latin typeface="Arial MT"/>
                <a:cs typeface="Arial MT"/>
              </a:rPr>
              <a:t>to</a:t>
            </a:r>
            <a:r>
              <a:rPr dirty="0" sz="1800" spc="280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273139"/>
                </a:solidFill>
                <a:latin typeface="Arial MT"/>
                <a:cs typeface="Arial MT"/>
              </a:rPr>
              <a:t>create</a:t>
            </a:r>
            <a:r>
              <a:rPr dirty="0" sz="1800" spc="280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273139"/>
                </a:solidFill>
                <a:latin typeface="Arial MT"/>
                <a:cs typeface="Arial MT"/>
              </a:rPr>
              <a:t>a</a:t>
            </a:r>
            <a:r>
              <a:rPr dirty="0" sz="1800" spc="285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273139"/>
                </a:solidFill>
                <a:latin typeface="Arial MT"/>
                <a:cs typeface="Arial MT"/>
              </a:rPr>
              <a:t>new</a:t>
            </a:r>
            <a:r>
              <a:rPr dirty="0" sz="1800" spc="240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273139"/>
                </a:solidFill>
                <a:latin typeface="Arial MT"/>
                <a:cs typeface="Arial MT"/>
              </a:rPr>
              <a:t>axis</a:t>
            </a:r>
            <a:r>
              <a:rPr dirty="0" sz="1800" spc="285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273139"/>
                </a:solidFill>
                <a:latin typeface="Arial MT"/>
                <a:cs typeface="Arial MT"/>
              </a:rPr>
              <a:t>and </a:t>
            </a:r>
            <a:r>
              <a:rPr dirty="0" sz="1800">
                <a:solidFill>
                  <a:srgbClr val="273139"/>
                </a:solidFill>
                <a:latin typeface="Arial MT"/>
                <a:cs typeface="Arial MT"/>
              </a:rPr>
              <a:t>projects</a:t>
            </a:r>
            <a:r>
              <a:rPr dirty="0" sz="1800" spc="220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273139"/>
                </a:solidFill>
                <a:latin typeface="Arial MT"/>
                <a:cs typeface="Arial MT"/>
              </a:rPr>
              <a:t>data</a:t>
            </a:r>
            <a:r>
              <a:rPr dirty="0" sz="1800" spc="229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273139"/>
                </a:solidFill>
                <a:latin typeface="Arial MT"/>
                <a:cs typeface="Arial MT"/>
              </a:rPr>
              <a:t>onto</a:t>
            </a:r>
            <a:r>
              <a:rPr dirty="0" sz="1800" spc="229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273139"/>
                </a:solidFill>
                <a:latin typeface="Arial MT"/>
                <a:cs typeface="Arial MT"/>
              </a:rPr>
              <a:t>a</a:t>
            </a:r>
            <a:r>
              <a:rPr dirty="0" sz="1800" spc="225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273139"/>
                </a:solidFill>
                <a:latin typeface="Arial MT"/>
                <a:cs typeface="Arial MT"/>
              </a:rPr>
              <a:t>new</a:t>
            </a:r>
            <a:r>
              <a:rPr dirty="0" sz="1800" spc="200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273139"/>
                </a:solidFill>
                <a:latin typeface="Arial MT"/>
                <a:cs typeface="Arial MT"/>
              </a:rPr>
              <a:t>axis</a:t>
            </a:r>
            <a:r>
              <a:rPr dirty="0" sz="1800" spc="240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273139"/>
                </a:solidFill>
                <a:latin typeface="Arial MT"/>
                <a:cs typeface="Arial MT"/>
              </a:rPr>
              <a:t>in</a:t>
            </a:r>
            <a:r>
              <a:rPr dirty="0" sz="1800" spc="225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273139"/>
                </a:solidFill>
                <a:latin typeface="Arial MT"/>
                <a:cs typeface="Arial MT"/>
              </a:rPr>
              <a:t>a</a:t>
            </a:r>
            <a:r>
              <a:rPr dirty="0" sz="1800" spc="235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273139"/>
                </a:solidFill>
                <a:latin typeface="Arial MT"/>
                <a:cs typeface="Arial MT"/>
              </a:rPr>
              <a:t>way</a:t>
            </a:r>
            <a:r>
              <a:rPr dirty="0" sz="1800" spc="225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273139"/>
                </a:solidFill>
                <a:latin typeface="Arial MT"/>
                <a:cs typeface="Arial MT"/>
              </a:rPr>
              <a:t>to </a:t>
            </a:r>
            <a:r>
              <a:rPr dirty="0" sz="1800">
                <a:solidFill>
                  <a:srgbClr val="273139"/>
                </a:solidFill>
                <a:latin typeface="Arial MT"/>
                <a:cs typeface="Arial MT"/>
              </a:rPr>
              <a:t>maximise</a:t>
            </a:r>
            <a:r>
              <a:rPr dirty="0" sz="1800" spc="400">
                <a:solidFill>
                  <a:srgbClr val="273139"/>
                </a:solidFill>
                <a:latin typeface="Arial MT"/>
                <a:cs typeface="Arial MT"/>
              </a:rPr>
              <a:t>  </a:t>
            </a:r>
            <a:r>
              <a:rPr dirty="0" sz="1800">
                <a:solidFill>
                  <a:srgbClr val="273139"/>
                </a:solidFill>
                <a:latin typeface="Arial MT"/>
                <a:cs typeface="Arial MT"/>
              </a:rPr>
              <a:t>the</a:t>
            </a:r>
            <a:r>
              <a:rPr dirty="0" sz="1800" spc="415">
                <a:solidFill>
                  <a:srgbClr val="273139"/>
                </a:solidFill>
                <a:latin typeface="Arial MT"/>
                <a:cs typeface="Arial MT"/>
              </a:rPr>
              <a:t>  </a:t>
            </a:r>
            <a:r>
              <a:rPr dirty="0" sz="1800">
                <a:solidFill>
                  <a:srgbClr val="273139"/>
                </a:solidFill>
                <a:latin typeface="Arial MT"/>
                <a:cs typeface="Arial MT"/>
              </a:rPr>
              <a:t>separation</a:t>
            </a:r>
            <a:r>
              <a:rPr dirty="0" sz="1800" spc="415">
                <a:solidFill>
                  <a:srgbClr val="273139"/>
                </a:solidFill>
                <a:latin typeface="Arial MT"/>
                <a:cs typeface="Arial MT"/>
              </a:rPr>
              <a:t>  </a:t>
            </a:r>
            <a:r>
              <a:rPr dirty="0" sz="1800">
                <a:solidFill>
                  <a:srgbClr val="273139"/>
                </a:solidFill>
                <a:latin typeface="Arial MT"/>
                <a:cs typeface="Arial MT"/>
              </a:rPr>
              <a:t>of</a:t>
            </a:r>
            <a:r>
              <a:rPr dirty="0" sz="1800" spc="415">
                <a:solidFill>
                  <a:srgbClr val="273139"/>
                </a:solidFill>
                <a:latin typeface="Arial MT"/>
                <a:cs typeface="Arial MT"/>
              </a:rPr>
              <a:t>  </a:t>
            </a:r>
            <a:r>
              <a:rPr dirty="0" sz="1800">
                <a:solidFill>
                  <a:srgbClr val="273139"/>
                </a:solidFill>
                <a:latin typeface="Arial MT"/>
                <a:cs typeface="Arial MT"/>
              </a:rPr>
              <a:t>the</a:t>
            </a:r>
            <a:r>
              <a:rPr dirty="0" sz="1800" spc="405">
                <a:solidFill>
                  <a:srgbClr val="273139"/>
                </a:solidFill>
                <a:latin typeface="Arial MT"/>
                <a:cs typeface="Arial MT"/>
              </a:rPr>
              <a:t>  </a:t>
            </a:r>
            <a:r>
              <a:rPr dirty="0" sz="1800" spc="-25">
                <a:solidFill>
                  <a:srgbClr val="273139"/>
                </a:solidFill>
                <a:latin typeface="Arial MT"/>
                <a:cs typeface="Arial MT"/>
              </a:rPr>
              <a:t>two </a:t>
            </a:r>
            <a:r>
              <a:rPr dirty="0" sz="1800">
                <a:solidFill>
                  <a:srgbClr val="273139"/>
                </a:solidFill>
                <a:latin typeface="Arial MT"/>
                <a:cs typeface="Arial MT"/>
              </a:rPr>
              <a:t>categories</a:t>
            </a:r>
            <a:r>
              <a:rPr dirty="0" sz="1800" spc="145">
                <a:solidFill>
                  <a:srgbClr val="273139"/>
                </a:solidFill>
                <a:latin typeface="Arial MT"/>
                <a:cs typeface="Arial MT"/>
              </a:rPr>
              <a:t>  </a:t>
            </a:r>
            <a:r>
              <a:rPr dirty="0" sz="1800">
                <a:solidFill>
                  <a:srgbClr val="273139"/>
                </a:solidFill>
                <a:latin typeface="Arial MT"/>
                <a:cs typeface="Arial MT"/>
              </a:rPr>
              <a:t>and</a:t>
            </a:r>
            <a:r>
              <a:rPr dirty="0" sz="1800" spc="155">
                <a:solidFill>
                  <a:srgbClr val="273139"/>
                </a:solidFill>
                <a:latin typeface="Arial MT"/>
                <a:cs typeface="Arial MT"/>
              </a:rPr>
              <a:t>  </a:t>
            </a:r>
            <a:r>
              <a:rPr dirty="0" sz="1800">
                <a:solidFill>
                  <a:srgbClr val="273139"/>
                </a:solidFill>
                <a:latin typeface="Arial MT"/>
                <a:cs typeface="Arial MT"/>
              </a:rPr>
              <a:t>hence,</a:t>
            </a:r>
            <a:r>
              <a:rPr dirty="0" sz="1800" spc="155">
                <a:solidFill>
                  <a:srgbClr val="273139"/>
                </a:solidFill>
                <a:latin typeface="Arial MT"/>
                <a:cs typeface="Arial MT"/>
              </a:rPr>
              <a:t>  </a:t>
            </a:r>
            <a:r>
              <a:rPr dirty="0" sz="1800">
                <a:solidFill>
                  <a:srgbClr val="273139"/>
                </a:solidFill>
                <a:latin typeface="Arial MT"/>
                <a:cs typeface="Arial MT"/>
              </a:rPr>
              <a:t>reduces</a:t>
            </a:r>
            <a:r>
              <a:rPr dirty="0" sz="1800" spc="160">
                <a:solidFill>
                  <a:srgbClr val="273139"/>
                </a:solidFill>
                <a:latin typeface="Arial MT"/>
                <a:cs typeface="Arial MT"/>
              </a:rPr>
              <a:t>  </a:t>
            </a:r>
            <a:r>
              <a:rPr dirty="0" sz="1800">
                <a:solidFill>
                  <a:srgbClr val="273139"/>
                </a:solidFill>
                <a:latin typeface="Arial MT"/>
                <a:cs typeface="Arial MT"/>
              </a:rPr>
              <a:t>the</a:t>
            </a:r>
            <a:r>
              <a:rPr dirty="0" sz="1800" spc="150">
                <a:solidFill>
                  <a:srgbClr val="273139"/>
                </a:solidFill>
                <a:latin typeface="Arial MT"/>
                <a:cs typeface="Arial MT"/>
              </a:rPr>
              <a:t>  </a:t>
            </a:r>
            <a:r>
              <a:rPr dirty="0" sz="1800" spc="-25">
                <a:solidFill>
                  <a:srgbClr val="273139"/>
                </a:solidFill>
                <a:latin typeface="Arial MT"/>
                <a:cs typeface="Arial MT"/>
              </a:rPr>
              <a:t>2D </a:t>
            </a:r>
            <a:r>
              <a:rPr dirty="0" sz="1800">
                <a:solidFill>
                  <a:srgbClr val="273139"/>
                </a:solidFill>
                <a:latin typeface="Arial MT"/>
                <a:cs typeface="Arial MT"/>
              </a:rPr>
              <a:t>graph</a:t>
            </a:r>
            <a:r>
              <a:rPr dirty="0" sz="1800" spc="-15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273139"/>
                </a:solidFill>
                <a:latin typeface="Arial MT"/>
                <a:cs typeface="Arial MT"/>
              </a:rPr>
              <a:t>into</a:t>
            </a:r>
            <a:r>
              <a:rPr dirty="0" sz="1800" spc="-15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273139"/>
                </a:solidFill>
                <a:latin typeface="Arial MT"/>
                <a:cs typeface="Arial MT"/>
              </a:rPr>
              <a:t>a</a:t>
            </a:r>
            <a:r>
              <a:rPr dirty="0" sz="1800" spc="-20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273139"/>
                </a:solidFill>
                <a:latin typeface="Arial MT"/>
                <a:cs typeface="Arial MT"/>
              </a:rPr>
              <a:t>1D</a:t>
            </a:r>
            <a:r>
              <a:rPr dirty="0" sz="1800" spc="-5">
                <a:solidFill>
                  <a:srgbClr val="27313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273139"/>
                </a:solidFill>
                <a:latin typeface="Arial MT"/>
                <a:cs typeface="Arial MT"/>
              </a:rPr>
              <a:t>graph.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59169" y="5307190"/>
            <a:ext cx="5671925" cy="913384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8410193" y="6664167"/>
            <a:ext cx="655320" cy="13970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>
                <a:latin typeface="Arial MT"/>
                <a:cs typeface="Arial MT"/>
              </a:rPr>
              <a:t>Slide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&lt;#&gt;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50">
                <a:latin typeface="Arial MT"/>
                <a:cs typeface="Arial MT"/>
              </a:rPr>
              <a:t>9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19354" rIns="0" bIns="0" rtlCol="0" vert="horz">
            <a:spAutoFit/>
          </a:bodyPr>
          <a:lstStyle/>
          <a:p>
            <a:pPr marL="1095375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Linear</a:t>
            </a:r>
            <a:r>
              <a:rPr dirty="0" sz="3200" spc="-75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Discriminant</a:t>
            </a:r>
            <a:r>
              <a:rPr dirty="0" sz="3200" spc="-17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 spc="-10">
                <a:solidFill>
                  <a:srgbClr val="252573"/>
                </a:solidFill>
                <a:latin typeface="Arial"/>
                <a:cs typeface="Arial"/>
              </a:rPr>
              <a:t>Analysis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13840" y="6000699"/>
            <a:ext cx="35458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80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2"/>
              </a:rPr>
              <a:t>https://youtu.be/azXCzI57Yfc?t=34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4050" y="1327505"/>
            <a:ext cx="7724775" cy="4363974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410193" y="6664167"/>
            <a:ext cx="655320" cy="13970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>
                <a:latin typeface="Arial MT"/>
                <a:cs typeface="Arial MT"/>
              </a:rPr>
              <a:t>Slide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&lt;#&gt;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50">
                <a:latin typeface="Arial MT"/>
                <a:cs typeface="Arial MT"/>
              </a:rPr>
              <a:t>9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3004" rIns="0" bIns="0" rtlCol="0" vert="horz">
            <a:spAutoFit/>
          </a:bodyPr>
          <a:lstStyle/>
          <a:p>
            <a:pPr marL="1931035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Linear</a:t>
            </a:r>
            <a:r>
              <a:rPr dirty="0" sz="3200" spc="-65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 spc="-10">
                <a:solidFill>
                  <a:srgbClr val="252573"/>
                </a:solidFill>
                <a:latin typeface="Arial"/>
                <a:cs typeface="Arial"/>
              </a:rPr>
              <a:t>Separators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037457" y="4942458"/>
            <a:ext cx="4453890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9875" marR="5080" indent="-257810">
              <a:lnSpc>
                <a:spcPct val="100000"/>
              </a:lnSpc>
              <a:spcBef>
                <a:spcPts val="100"/>
              </a:spcBef>
              <a:buChar char="•"/>
              <a:tabLst>
                <a:tab pos="269875" algn="l"/>
              </a:tabLst>
            </a:pPr>
            <a:r>
              <a:rPr dirty="0" sz="2400">
                <a:latin typeface="Arial MT"/>
                <a:cs typeface="Arial MT"/>
              </a:rPr>
              <a:t>What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if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we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cannot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do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it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25">
                <a:latin typeface="Arial MT"/>
                <a:cs typeface="Arial MT"/>
              </a:rPr>
              <a:t> two </a:t>
            </a:r>
            <a:r>
              <a:rPr dirty="0" sz="2400">
                <a:latin typeface="Arial MT"/>
                <a:cs typeface="Arial MT"/>
              </a:rPr>
              <a:t>dimensions,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but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could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3?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23036" y="1266571"/>
            <a:ext cx="638238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9875" marR="5080" indent="-257810">
              <a:lnSpc>
                <a:spcPct val="100000"/>
              </a:lnSpc>
              <a:spcBef>
                <a:spcPts val="100"/>
              </a:spcBef>
              <a:buChar char="•"/>
              <a:tabLst>
                <a:tab pos="269875" algn="l"/>
              </a:tabLst>
            </a:pPr>
            <a:r>
              <a:rPr dirty="0" sz="2400">
                <a:latin typeface="Arial MT"/>
                <a:cs typeface="Arial MT"/>
              </a:rPr>
              <a:t>Binary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classification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can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viewed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as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the </a:t>
            </a:r>
            <a:r>
              <a:rPr dirty="0" sz="2400">
                <a:latin typeface="Arial MT"/>
                <a:cs typeface="Arial MT"/>
              </a:rPr>
              <a:t>task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separating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2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classes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feature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space: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700" y="2390049"/>
            <a:ext cx="2477135" cy="246642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51255" y="2128901"/>
            <a:ext cx="4254364" cy="2709164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678586" y="4942458"/>
            <a:ext cx="2555240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9875" marR="5080" indent="-257810">
              <a:lnSpc>
                <a:spcPct val="100000"/>
              </a:lnSpc>
              <a:spcBef>
                <a:spcPts val="100"/>
              </a:spcBef>
              <a:buChar char="•"/>
              <a:tabLst>
                <a:tab pos="269875" algn="l"/>
              </a:tabLst>
            </a:pPr>
            <a:r>
              <a:rPr dirty="0" sz="2400">
                <a:latin typeface="Arial MT"/>
                <a:cs typeface="Arial MT"/>
              </a:rPr>
              <a:t>But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which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the </a:t>
            </a:r>
            <a:r>
              <a:rPr dirty="0" sz="2400">
                <a:latin typeface="Arial MT"/>
                <a:cs typeface="Arial MT"/>
              </a:rPr>
              <a:t>linear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separators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optimal?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328028" y="6673101"/>
            <a:ext cx="14357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 MT"/>
                <a:cs typeface="Arial MT"/>
              </a:rPr>
              <a:t>Slide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&lt;#&gt;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5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8577" rIns="0" bIns="0" rtlCol="0" vert="horz">
            <a:spAutoFit/>
          </a:bodyPr>
          <a:lstStyle/>
          <a:p>
            <a:pPr marL="40894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solidFill>
                  <a:srgbClr val="252573"/>
                </a:solidFill>
                <a:latin typeface="Arial"/>
                <a:cs typeface="Arial"/>
              </a:rPr>
              <a:t>Linear</a:t>
            </a:r>
            <a:r>
              <a:rPr dirty="0" sz="3000" spc="-85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000">
                <a:solidFill>
                  <a:srgbClr val="252573"/>
                </a:solidFill>
                <a:latin typeface="Arial"/>
                <a:cs typeface="Arial"/>
              </a:rPr>
              <a:t>Support</a:t>
            </a:r>
            <a:r>
              <a:rPr dirty="0" sz="3000" spc="-8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000">
                <a:solidFill>
                  <a:srgbClr val="252573"/>
                </a:solidFill>
                <a:latin typeface="Arial"/>
                <a:cs typeface="Arial"/>
              </a:rPr>
              <a:t>Vector</a:t>
            </a:r>
            <a:r>
              <a:rPr dirty="0" sz="3000" spc="-9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000">
                <a:solidFill>
                  <a:srgbClr val="252573"/>
                </a:solidFill>
                <a:latin typeface="Arial"/>
                <a:cs typeface="Arial"/>
              </a:rPr>
              <a:t>Machine</a:t>
            </a:r>
            <a:r>
              <a:rPr dirty="0" sz="3000" spc="-8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000" spc="-10">
                <a:solidFill>
                  <a:srgbClr val="252573"/>
                </a:solidFill>
                <a:latin typeface="Arial"/>
                <a:cs typeface="Arial"/>
              </a:rPr>
              <a:t>(SVM)</a:t>
            </a:r>
            <a:endParaRPr sz="30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30604" y="5692850"/>
            <a:ext cx="697420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92530" marR="5080" indent="-1180465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Observations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margin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support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vectors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define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optimal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hyperplane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08736" y="1439671"/>
            <a:ext cx="729869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9875" marR="5080" indent="-257810">
              <a:lnSpc>
                <a:spcPct val="100000"/>
              </a:lnSpc>
              <a:spcBef>
                <a:spcPts val="100"/>
              </a:spcBef>
              <a:buChar char="•"/>
              <a:tabLst>
                <a:tab pos="269875" algn="l"/>
              </a:tabLst>
            </a:pPr>
            <a:r>
              <a:rPr dirty="0" sz="2400">
                <a:latin typeface="Arial MT"/>
                <a:cs typeface="Arial MT"/>
              </a:rPr>
              <a:t>Support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Vector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Machines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can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do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both,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based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the </a:t>
            </a:r>
            <a:r>
              <a:rPr dirty="0" sz="2400">
                <a:latin typeface="Arial MT"/>
                <a:cs typeface="Arial MT"/>
              </a:rPr>
              <a:t>concept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b="1">
                <a:solidFill>
                  <a:srgbClr val="C00000"/>
                </a:solidFill>
                <a:latin typeface="Arial"/>
                <a:cs typeface="Arial"/>
              </a:rPr>
              <a:t>hyperplane</a:t>
            </a:r>
            <a:r>
              <a:rPr dirty="0" sz="2400" spc="-1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separates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classes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4054" y="2695850"/>
            <a:ext cx="2927730" cy="2915138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73853" y="2696756"/>
            <a:ext cx="3230427" cy="2931844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6328028" y="6673101"/>
            <a:ext cx="14357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 MT"/>
                <a:cs typeface="Arial MT"/>
              </a:rPr>
              <a:t>Slide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&lt;#&gt;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5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352415" y="1162557"/>
            <a:ext cx="3119120" cy="414210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69875" marR="5080" indent="-25781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69875" algn="l"/>
              </a:tabLst>
            </a:pPr>
            <a:r>
              <a:rPr dirty="0" sz="2000">
                <a:latin typeface="Arial MT"/>
                <a:cs typeface="Arial MT"/>
              </a:rPr>
              <a:t>Maximun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Margin </a:t>
            </a:r>
            <a:r>
              <a:rPr dirty="0" sz="2000">
                <a:latin typeface="Arial MT"/>
                <a:cs typeface="Arial MT"/>
              </a:rPr>
              <a:t>classification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is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strictly </a:t>
            </a:r>
            <a:r>
              <a:rPr dirty="0" sz="2000">
                <a:latin typeface="Arial MT"/>
                <a:cs typeface="Arial MT"/>
              </a:rPr>
              <a:t>based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on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observations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at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margin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between classes.</a:t>
            </a:r>
            <a:endParaRPr sz="2000">
              <a:latin typeface="Arial MT"/>
              <a:cs typeface="Arial MT"/>
            </a:endParaRPr>
          </a:p>
          <a:p>
            <a:pPr marL="269875" marR="41910" indent="-257810">
              <a:lnSpc>
                <a:spcPct val="100000"/>
              </a:lnSpc>
              <a:spcBef>
                <a:spcPts val="1200"/>
              </a:spcBef>
              <a:buChar char="•"/>
              <a:tabLst>
                <a:tab pos="269875" algn="l"/>
              </a:tabLst>
            </a:pPr>
            <a:r>
              <a:rPr dirty="0" sz="2000">
                <a:latin typeface="Arial MT"/>
                <a:cs typeface="Arial MT"/>
              </a:rPr>
              <a:t>An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important </a:t>
            </a:r>
            <a:r>
              <a:rPr dirty="0" sz="2000">
                <a:latin typeface="Arial MT"/>
                <a:cs typeface="Arial MT"/>
              </a:rPr>
              <a:t>consequence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this </a:t>
            </a:r>
            <a:r>
              <a:rPr dirty="0" sz="2000">
                <a:latin typeface="Arial MT"/>
                <a:cs typeface="Arial MT"/>
              </a:rPr>
              <a:t>geometric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description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is </a:t>
            </a:r>
            <a:r>
              <a:rPr dirty="0" sz="2000">
                <a:latin typeface="Arial MT"/>
                <a:cs typeface="Arial MT"/>
              </a:rPr>
              <a:t>that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max-margin </a:t>
            </a:r>
            <a:r>
              <a:rPr dirty="0" sz="2000">
                <a:latin typeface="Arial MT"/>
                <a:cs typeface="Arial MT"/>
              </a:rPr>
              <a:t>hyperplane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is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completely </a:t>
            </a:r>
            <a:r>
              <a:rPr dirty="0" sz="2000">
                <a:latin typeface="Arial MT"/>
                <a:cs typeface="Arial MT"/>
              </a:rPr>
              <a:t>determined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by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those </a:t>
            </a:r>
            <a:r>
              <a:rPr dirty="0" sz="2000">
                <a:latin typeface="Arial MT"/>
                <a:cs typeface="Arial MT"/>
              </a:rPr>
              <a:t>points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lie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nearest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it, </a:t>
            </a:r>
            <a:r>
              <a:rPr dirty="0" sz="2000">
                <a:latin typeface="Arial MT"/>
                <a:cs typeface="Arial MT"/>
              </a:rPr>
              <a:t>called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support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vectors.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57829" y="269189"/>
            <a:ext cx="223837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Linear</a:t>
            </a:r>
            <a:r>
              <a:rPr dirty="0" sz="3200" spc="-65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 spc="-25">
                <a:solidFill>
                  <a:srgbClr val="252573"/>
                </a:solidFill>
                <a:latin typeface="Arial"/>
                <a:cs typeface="Arial"/>
              </a:rPr>
              <a:t>SVM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5843" y="1042246"/>
            <a:ext cx="4210388" cy="4087706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9022" y="5257850"/>
            <a:ext cx="5624449" cy="115351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3459" rIns="0" bIns="0" rtlCol="0" vert="horz">
            <a:spAutoFit/>
          </a:bodyPr>
          <a:lstStyle/>
          <a:p>
            <a:pPr marL="13335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Soft</a:t>
            </a:r>
            <a:r>
              <a:rPr dirty="0" sz="3200" spc="-25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Margin</a:t>
            </a:r>
            <a:r>
              <a:rPr dirty="0" sz="3200" spc="-3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 spc="-10">
                <a:solidFill>
                  <a:srgbClr val="252573"/>
                </a:solidFill>
                <a:latin typeface="Arial"/>
                <a:cs typeface="Arial"/>
              </a:rPr>
              <a:t>Classification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666" y="1293072"/>
            <a:ext cx="4673032" cy="3738396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5180457" y="1908175"/>
            <a:ext cx="3555365" cy="9404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2425" marR="5080" indent="-339725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dirty="0" sz="2000">
                <a:latin typeface="Arial MT"/>
                <a:cs typeface="Arial MT"/>
              </a:rPr>
              <a:t>Parameter</a:t>
            </a:r>
            <a:r>
              <a:rPr dirty="0" sz="2000" spc="195">
                <a:latin typeface="Arial MT"/>
                <a:cs typeface="Arial MT"/>
              </a:rPr>
              <a:t>  </a:t>
            </a:r>
            <a:r>
              <a:rPr dirty="0" sz="2000">
                <a:latin typeface="Arial MT"/>
                <a:cs typeface="Arial MT"/>
              </a:rPr>
              <a:t>C</a:t>
            </a:r>
            <a:r>
              <a:rPr dirty="0" sz="2000" spc="210">
                <a:latin typeface="Arial MT"/>
                <a:cs typeface="Arial MT"/>
              </a:rPr>
              <a:t>  </a:t>
            </a:r>
            <a:r>
              <a:rPr dirty="0" sz="2000">
                <a:latin typeface="Arial MT"/>
                <a:cs typeface="Arial MT"/>
              </a:rPr>
              <a:t>is</a:t>
            </a:r>
            <a:r>
              <a:rPr dirty="0" sz="2000" spc="204">
                <a:latin typeface="Arial MT"/>
                <a:cs typeface="Arial MT"/>
              </a:rPr>
              <a:t>  </a:t>
            </a:r>
            <a:r>
              <a:rPr dirty="0" sz="2000">
                <a:latin typeface="Arial MT"/>
                <a:cs typeface="Arial MT"/>
              </a:rPr>
              <a:t>used</a:t>
            </a:r>
            <a:r>
              <a:rPr dirty="0" sz="2000" spc="200">
                <a:latin typeface="Arial MT"/>
                <a:cs typeface="Arial MT"/>
              </a:rPr>
              <a:t>  </a:t>
            </a:r>
            <a:r>
              <a:rPr dirty="0" sz="2000" spc="-25">
                <a:latin typeface="Arial MT"/>
                <a:cs typeface="Arial MT"/>
              </a:rPr>
              <a:t>for </a:t>
            </a:r>
            <a:r>
              <a:rPr dirty="0" sz="2000" spc="-25">
                <a:latin typeface="Arial MT"/>
                <a:cs typeface="Arial MT"/>
              </a:rPr>
              <a:t>	</a:t>
            </a:r>
            <a:r>
              <a:rPr dirty="0" sz="2000">
                <a:latin typeface="Arial MT"/>
                <a:cs typeface="Arial MT"/>
              </a:rPr>
              <a:t>controlling</a:t>
            </a:r>
            <a:r>
              <a:rPr dirty="0" sz="2000" spc="4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4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outliers:</a:t>
            </a:r>
            <a:r>
              <a:rPr dirty="0" sz="2000" spc="445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low </a:t>
            </a:r>
            <a:r>
              <a:rPr dirty="0" sz="2000" spc="-25">
                <a:latin typeface="Arial MT"/>
                <a:cs typeface="Arial MT"/>
              </a:rPr>
              <a:t>	</a:t>
            </a:r>
            <a:r>
              <a:rPr dirty="0" sz="2000">
                <a:latin typeface="Arial MT"/>
                <a:cs typeface="Arial MT"/>
              </a:rPr>
              <a:t>C</a:t>
            </a:r>
            <a:r>
              <a:rPr dirty="0" sz="2000" spc="15">
                <a:latin typeface="Arial MT"/>
                <a:cs typeface="Arial MT"/>
              </a:rPr>
              <a:t>  </a:t>
            </a:r>
            <a:r>
              <a:rPr dirty="0" sz="2000">
                <a:latin typeface="Arial MT"/>
                <a:cs typeface="Arial MT"/>
              </a:rPr>
              <a:t>implies</a:t>
            </a:r>
            <a:r>
              <a:rPr dirty="0" sz="2000" spc="15">
                <a:latin typeface="Arial MT"/>
                <a:cs typeface="Arial MT"/>
              </a:rPr>
              <a:t>  </a:t>
            </a:r>
            <a:r>
              <a:rPr dirty="0" sz="2000">
                <a:latin typeface="Arial MT"/>
                <a:cs typeface="Arial MT"/>
              </a:rPr>
              <a:t>we</a:t>
            </a:r>
            <a:r>
              <a:rPr dirty="0" sz="2000" spc="15">
                <a:latin typeface="Arial MT"/>
                <a:cs typeface="Arial MT"/>
              </a:rPr>
              <a:t>  </a:t>
            </a:r>
            <a:r>
              <a:rPr dirty="0" sz="2000">
                <a:latin typeface="Arial MT"/>
                <a:cs typeface="Arial MT"/>
              </a:rPr>
              <a:t>are</a:t>
            </a:r>
            <a:r>
              <a:rPr dirty="0" sz="2000" spc="10">
                <a:latin typeface="Arial MT"/>
                <a:cs typeface="Arial MT"/>
              </a:rPr>
              <a:t>  </a:t>
            </a:r>
            <a:r>
              <a:rPr dirty="0" sz="2000" spc="-10">
                <a:latin typeface="Arial MT"/>
                <a:cs typeface="Arial MT"/>
              </a:rPr>
              <a:t>allowing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523357" y="2822575"/>
            <a:ext cx="3209290" cy="636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941705" algn="l"/>
                <a:tab pos="1065530" algn="l"/>
                <a:tab pos="1651000" algn="l"/>
                <a:tab pos="2181225" algn="l"/>
                <a:tab pos="3011805" algn="l"/>
              </a:tabLst>
            </a:pPr>
            <a:r>
              <a:rPr dirty="0" sz="2000" spc="-20">
                <a:latin typeface="Arial MT"/>
                <a:cs typeface="Arial MT"/>
              </a:rPr>
              <a:t>more</a:t>
            </a:r>
            <a:r>
              <a:rPr dirty="0" sz="2000">
                <a:latin typeface="Arial MT"/>
                <a:cs typeface="Arial MT"/>
              </a:rPr>
              <a:t>	</a:t>
            </a:r>
            <a:r>
              <a:rPr dirty="0" sz="2000" spc="-10">
                <a:latin typeface="Arial MT"/>
                <a:cs typeface="Arial MT"/>
              </a:rPr>
              <a:t>outliers;</a:t>
            </a:r>
            <a:r>
              <a:rPr dirty="0" sz="2000">
                <a:latin typeface="Arial MT"/>
                <a:cs typeface="Arial MT"/>
              </a:rPr>
              <a:t>	</a:t>
            </a:r>
            <a:r>
              <a:rPr dirty="0" sz="2000" spc="-20">
                <a:latin typeface="Arial MT"/>
                <a:cs typeface="Arial MT"/>
              </a:rPr>
              <a:t>high</a:t>
            </a:r>
            <a:r>
              <a:rPr dirty="0" sz="2000">
                <a:latin typeface="Arial MT"/>
                <a:cs typeface="Arial MT"/>
              </a:rPr>
              <a:t>	</a:t>
            </a:r>
            <a:r>
              <a:rPr dirty="0" sz="2000" spc="-50">
                <a:latin typeface="Arial MT"/>
                <a:cs typeface="Arial MT"/>
              </a:rPr>
              <a:t>C </a:t>
            </a:r>
            <a:r>
              <a:rPr dirty="0" sz="2000" spc="-10">
                <a:latin typeface="Arial MT"/>
                <a:cs typeface="Arial MT"/>
              </a:rPr>
              <a:t>implies</a:t>
            </a:r>
            <a:r>
              <a:rPr dirty="0" sz="2000">
                <a:latin typeface="Arial MT"/>
                <a:cs typeface="Arial MT"/>
              </a:rPr>
              <a:t>		</a:t>
            </a:r>
            <a:r>
              <a:rPr dirty="0" sz="2000" spc="-25">
                <a:latin typeface="Arial MT"/>
                <a:cs typeface="Arial MT"/>
              </a:rPr>
              <a:t>we</a:t>
            </a:r>
            <a:r>
              <a:rPr dirty="0" sz="2000">
                <a:latin typeface="Arial MT"/>
                <a:cs typeface="Arial MT"/>
              </a:rPr>
              <a:t>	</a:t>
            </a:r>
            <a:r>
              <a:rPr dirty="0" sz="2000" spc="-25">
                <a:latin typeface="Arial MT"/>
                <a:cs typeface="Arial MT"/>
              </a:rPr>
              <a:t>are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788402" y="3127629"/>
            <a:ext cx="94551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>
                <a:latin typeface="Arial MT"/>
                <a:cs typeface="Arial MT"/>
              </a:rPr>
              <a:t>allowing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180457" y="3432428"/>
            <a:ext cx="3478529" cy="10623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Arial MT"/>
                <a:cs typeface="Arial MT"/>
              </a:rPr>
              <a:t>fewer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outliers.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Char char="•"/>
              <a:tabLst>
                <a:tab pos="354965" algn="l"/>
              </a:tabLst>
            </a:pPr>
            <a:r>
              <a:rPr dirty="0" u="sng" sz="200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3"/>
              </a:rPr>
              <a:t>Scikit</a:t>
            </a:r>
            <a:r>
              <a:rPr dirty="0" u="sng" sz="2000" spc="-3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dirty="0" u="sng" sz="200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3"/>
              </a:rPr>
              <a:t>Learn</a:t>
            </a:r>
            <a:r>
              <a:rPr dirty="0" u="sng" sz="2000" spc="-45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dirty="0" u="sng" sz="200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3"/>
              </a:rPr>
              <a:t>Documentation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8124" y="5217267"/>
            <a:ext cx="7516315" cy="114315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00431" rIns="0" bIns="0" rtlCol="0" vert="horz">
            <a:spAutoFit/>
          </a:bodyPr>
          <a:lstStyle/>
          <a:p>
            <a:pPr marL="2971165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SVM</a:t>
            </a:r>
            <a:r>
              <a:rPr dirty="0" sz="3200" spc="-10">
                <a:solidFill>
                  <a:srgbClr val="252573"/>
                </a:solidFill>
                <a:latin typeface="Arial"/>
                <a:cs typeface="Arial"/>
              </a:rPr>
              <a:t> Kernel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31342" y="1398270"/>
            <a:ext cx="7719695" cy="15081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dirty="0" sz="2000">
                <a:latin typeface="Arial MT"/>
                <a:cs typeface="Arial MT"/>
              </a:rPr>
              <a:t>Kernelization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maps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non-linear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data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into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another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space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which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may </a:t>
            </a:r>
            <a:r>
              <a:rPr dirty="0" sz="2000">
                <a:latin typeface="Arial MT"/>
                <a:cs typeface="Arial MT"/>
              </a:rPr>
              <a:t>either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be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same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dimension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or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higher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dimension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improve</a:t>
            </a:r>
            <a:r>
              <a:rPr dirty="0" sz="2000" spc="-25">
                <a:latin typeface="Arial MT"/>
                <a:cs typeface="Arial MT"/>
              </a:rPr>
              <a:t> the </a:t>
            </a:r>
            <a:r>
              <a:rPr dirty="0" sz="2000">
                <a:latin typeface="Arial MT"/>
                <a:cs typeface="Arial MT"/>
              </a:rPr>
              <a:t>linear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separability.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2065"/>
              </a:spcBef>
              <a:buClr>
                <a:srgbClr val="000000"/>
              </a:buClr>
              <a:buChar char="•"/>
              <a:tabLst>
                <a:tab pos="354965" algn="l"/>
              </a:tabLst>
            </a:pPr>
            <a:r>
              <a:rPr dirty="0" u="sng" sz="200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2"/>
              </a:rPr>
              <a:t>Scikit</a:t>
            </a:r>
            <a:r>
              <a:rPr dirty="0" u="sng" sz="2000" spc="-35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dirty="0" u="sng" sz="200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2"/>
              </a:rPr>
              <a:t>Learn</a:t>
            </a:r>
            <a:r>
              <a:rPr dirty="0" u="sng" sz="2000" spc="-5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dirty="0" u="sng" sz="200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2"/>
              </a:rPr>
              <a:t>Documentation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9650" y="3216681"/>
            <a:ext cx="7292975" cy="320124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9217" rIns="0" bIns="0" rtlCol="0" vert="horz">
            <a:spAutoFit/>
          </a:bodyPr>
          <a:lstStyle/>
          <a:p>
            <a:pPr marL="258318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SVM</a:t>
            </a:r>
            <a:r>
              <a:rPr dirty="0" sz="3200" spc="-25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 spc="-10">
                <a:solidFill>
                  <a:srgbClr val="252573"/>
                </a:solidFill>
                <a:latin typeface="Arial"/>
                <a:cs typeface="Arial"/>
              </a:rPr>
              <a:t>Kernel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66419" y="1313180"/>
            <a:ext cx="7992109" cy="90360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</a:tabLst>
            </a:pPr>
            <a:r>
              <a:rPr dirty="0" sz="2400" spc="-10">
                <a:latin typeface="Arial MT"/>
                <a:cs typeface="Arial MT"/>
              </a:rPr>
              <a:t>Kernelization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helpful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if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right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kernel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can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found.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</a:tabLst>
            </a:pPr>
            <a:r>
              <a:rPr dirty="0" sz="2400">
                <a:latin typeface="Arial MT"/>
                <a:cs typeface="Arial MT"/>
              </a:rPr>
              <a:t>However,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finding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suitable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kernel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often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challenge.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287523" y="2586391"/>
            <a:ext cx="7525384" cy="3735070"/>
            <a:chOff x="287523" y="2586391"/>
            <a:chExt cx="7525384" cy="373507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7523" y="2586391"/>
              <a:ext cx="7525105" cy="3735009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21379" y="4373359"/>
              <a:ext cx="1486535" cy="779538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4978146" y="2986786"/>
            <a:ext cx="3358515" cy="94106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 indent="10668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Arial MT"/>
                <a:cs typeface="Arial MT"/>
              </a:rPr>
              <a:t>Observations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on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10">
                <a:latin typeface="Arial MT"/>
                <a:cs typeface="Arial MT"/>
              </a:rPr>
              <a:t> margin </a:t>
            </a:r>
            <a:r>
              <a:rPr dirty="0" sz="2000">
                <a:latin typeface="Arial MT"/>
                <a:cs typeface="Arial MT"/>
              </a:rPr>
              <a:t>are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support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vectors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that </a:t>
            </a:r>
            <a:r>
              <a:rPr dirty="0" sz="2000">
                <a:latin typeface="Arial MT"/>
                <a:cs typeface="Arial MT"/>
              </a:rPr>
              <a:t>define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optimal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hyperplane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7265161" y="5000752"/>
            <a:ext cx="1498600" cy="1513205"/>
            <a:chOff x="7265161" y="5000752"/>
            <a:chExt cx="1498600" cy="1513205"/>
          </a:xfrm>
        </p:grpSpPr>
        <p:sp>
          <p:nvSpPr>
            <p:cNvPr id="9" name="object 9" descr=""/>
            <p:cNvSpPr/>
            <p:nvPr/>
          </p:nvSpPr>
          <p:spPr>
            <a:xfrm>
              <a:off x="7271511" y="5007102"/>
              <a:ext cx="1485900" cy="1500505"/>
            </a:xfrm>
            <a:custGeom>
              <a:avLst/>
              <a:gdLst/>
              <a:ahLst/>
              <a:cxnLst/>
              <a:rect l="l" t="t" r="r" b="b"/>
              <a:pathLst>
                <a:path w="1485900" h="1500504">
                  <a:moveTo>
                    <a:pt x="1323340" y="526161"/>
                  </a:moveTo>
                  <a:lnTo>
                    <a:pt x="217805" y="526161"/>
                  </a:lnTo>
                  <a:lnTo>
                    <a:pt x="174640" y="531961"/>
                  </a:lnTo>
                  <a:lnTo>
                    <a:pt x="135842" y="548331"/>
                  </a:lnTo>
                  <a:lnTo>
                    <a:pt x="102965" y="573722"/>
                  </a:lnTo>
                  <a:lnTo>
                    <a:pt x="77559" y="606584"/>
                  </a:lnTo>
                  <a:lnTo>
                    <a:pt x="61177" y="645370"/>
                  </a:lnTo>
                  <a:lnTo>
                    <a:pt x="55372" y="688530"/>
                  </a:lnTo>
                  <a:lnTo>
                    <a:pt x="55372" y="1337856"/>
                  </a:lnTo>
                  <a:lnTo>
                    <a:pt x="61177" y="1381013"/>
                  </a:lnTo>
                  <a:lnTo>
                    <a:pt x="77559" y="1419791"/>
                  </a:lnTo>
                  <a:lnTo>
                    <a:pt x="102965" y="1452645"/>
                  </a:lnTo>
                  <a:lnTo>
                    <a:pt x="135842" y="1478026"/>
                  </a:lnTo>
                  <a:lnTo>
                    <a:pt x="174640" y="1494389"/>
                  </a:lnTo>
                  <a:lnTo>
                    <a:pt x="217805" y="1500187"/>
                  </a:lnTo>
                  <a:lnTo>
                    <a:pt x="1323340" y="1500187"/>
                  </a:lnTo>
                  <a:lnTo>
                    <a:pt x="1366495" y="1494389"/>
                  </a:lnTo>
                  <a:lnTo>
                    <a:pt x="1405269" y="1478026"/>
                  </a:lnTo>
                  <a:lnTo>
                    <a:pt x="1438116" y="1452645"/>
                  </a:lnTo>
                  <a:lnTo>
                    <a:pt x="1463491" y="1419791"/>
                  </a:lnTo>
                  <a:lnTo>
                    <a:pt x="1479849" y="1381013"/>
                  </a:lnTo>
                  <a:lnTo>
                    <a:pt x="1485646" y="1337856"/>
                  </a:lnTo>
                  <a:lnTo>
                    <a:pt x="1485646" y="688530"/>
                  </a:lnTo>
                  <a:lnTo>
                    <a:pt x="1479849" y="645370"/>
                  </a:lnTo>
                  <a:lnTo>
                    <a:pt x="1463491" y="606584"/>
                  </a:lnTo>
                  <a:lnTo>
                    <a:pt x="1438116" y="573722"/>
                  </a:lnTo>
                  <a:lnTo>
                    <a:pt x="1405269" y="548331"/>
                  </a:lnTo>
                  <a:lnTo>
                    <a:pt x="1366495" y="531961"/>
                  </a:lnTo>
                  <a:lnTo>
                    <a:pt x="1323340" y="526161"/>
                  </a:lnTo>
                  <a:close/>
                </a:path>
                <a:path w="1485900" h="1500504">
                  <a:moveTo>
                    <a:pt x="0" y="0"/>
                  </a:moveTo>
                  <a:lnTo>
                    <a:pt x="293751" y="526161"/>
                  </a:lnTo>
                  <a:lnTo>
                    <a:pt x="651383" y="526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7271511" y="5007102"/>
              <a:ext cx="1485900" cy="1500505"/>
            </a:xfrm>
            <a:custGeom>
              <a:avLst/>
              <a:gdLst/>
              <a:ahLst/>
              <a:cxnLst/>
              <a:rect l="l" t="t" r="r" b="b"/>
              <a:pathLst>
                <a:path w="1485900" h="1500504">
                  <a:moveTo>
                    <a:pt x="55372" y="688530"/>
                  </a:moveTo>
                  <a:lnTo>
                    <a:pt x="61177" y="645370"/>
                  </a:lnTo>
                  <a:lnTo>
                    <a:pt x="77559" y="606584"/>
                  </a:lnTo>
                  <a:lnTo>
                    <a:pt x="102965" y="573722"/>
                  </a:lnTo>
                  <a:lnTo>
                    <a:pt x="135842" y="548331"/>
                  </a:lnTo>
                  <a:lnTo>
                    <a:pt x="174640" y="531961"/>
                  </a:lnTo>
                  <a:lnTo>
                    <a:pt x="217805" y="526161"/>
                  </a:lnTo>
                  <a:lnTo>
                    <a:pt x="293751" y="526161"/>
                  </a:lnTo>
                  <a:lnTo>
                    <a:pt x="0" y="0"/>
                  </a:lnTo>
                  <a:lnTo>
                    <a:pt x="651383" y="526161"/>
                  </a:lnTo>
                  <a:lnTo>
                    <a:pt x="1323340" y="526161"/>
                  </a:lnTo>
                  <a:lnTo>
                    <a:pt x="1366495" y="531961"/>
                  </a:lnTo>
                  <a:lnTo>
                    <a:pt x="1405269" y="548331"/>
                  </a:lnTo>
                  <a:lnTo>
                    <a:pt x="1438116" y="573722"/>
                  </a:lnTo>
                  <a:lnTo>
                    <a:pt x="1463491" y="606584"/>
                  </a:lnTo>
                  <a:lnTo>
                    <a:pt x="1479849" y="645370"/>
                  </a:lnTo>
                  <a:lnTo>
                    <a:pt x="1485646" y="688530"/>
                  </a:lnTo>
                  <a:lnTo>
                    <a:pt x="1485646" y="932027"/>
                  </a:lnTo>
                  <a:lnTo>
                    <a:pt x="1485646" y="1337856"/>
                  </a:lnTo>
                  <a:lnTo>
                    <a:pt x="1479849" y="1381013"/>
                  </a:lnTo>
                  <a:lnTo>
                    <a:pt x="1463491" y="1419791"/>
                  </a:lnTo>
                  <a:lnTo>
                    <a:pt x="1438116" y="1452645"/>
                  </a:lnTo>
                  <a:lnTo>
                    <a:pt x="1405269" y="1478026"/>
                  </a:lnTo>
                  <a:lnTo>
                    <a:pt x="1366495" y="1494389"/>
                  </a:lnTo>
                  <a:lnTo>
                    <a:pt x="1323340" y="1500187"/>
                  </a:lnTo>
                  <a:lnTo>
                    <a:pt x="651383" y="1500187"/>
                  </a:lnTo>
                  <a:lnTo>
                    <a:pt x="293751" y="1500187"/>
                  </a:lnTo>
                  <a:lnTo>
                    <a:pt x="217805" y="1500187"/>
                  </a:lnTo>
                  <a:lnTo>
                    <a:pt x="174640" y="1494389"/>
                  </a:lnTo>
                  <a:lnTo>
                    <a:pt x="135842" y="1478026"/>
                  </a:lnTo>
                  <a:lnTo>
                    <a:pt x="102965" y="1452645"/>
                  </a:lnTo>
                  <a:lnTo>
                    <a:pt x="77559" y="1419791"/>
                  </a:lnTo>
                  <a:lnTo>
                    <a:pt x="61177" y="1381013"/>
                  </a:lnTo>
                  <a:lnTo>
                    <a:pt x="55372" y="1337856"/>
                  </a:lnTo>
                  <a:lnTo>
                    <a:pt x="55372" y="932027"/>
                  </a:lnTo>
                  <a:lnTo>
                    <a:pt x="55372" y="68851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7465568" y="5609031"/>
            <a:ext cx="115570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5811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20">
                <a:latin typeface="Arial MT"/>
                <a:cs typeface="Arial MT"/>
              </a:rPr>
              <a:t> line </a:t>
            </a:r>
            <a:r>
              <a:rPr dirty="0" sz="1800">
                <a:latin typeface="Arial MT"/>
                <a:cs typeface="Arial MT"/>
              </a:rPr>
              <a:t>looks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like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50">
                <a:latin typeface="Arial MT"/>
                <a:cs typeface="Arial MT"/>
              </a:rPr>
              <a:t>a </a:t>
            </a:r>
            <a:r>
              <a:rPr dirty="0" sz="1800">
                <a:latin typeface="Arial MT"/>
                <a:cs typeface="Arial MT"/>
              </a:rPr>
              <a:t>plane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3d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29360" y="5570016"/>
            <a:ext cx="6534150" cy="1381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80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2"/>
              </a:rPr>
              <a:t>https://youtu.be/_YPScrckx28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Arial MT"/>
                <a:cs typeface="Arial MT"/>
              </a:rPr>
              <a:t>Detailed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Explanation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(with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Math):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u="sng" sz="180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3"/>
              </a:rPr>
              <a:t>https://youtu.be/ny1iZ5A8ilA</a:t>
            </a:r>
            <a:endParaRPr sz="18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2035"/>
              </a:spcBef>
            </a:pPr>
            <a:r>
              <a:rPr dirty="0" sz="1800">
                <a:latin typeface="Arial MT"/>
                <a:cs typeface="Arial MT"/>
              </a:rPr>
              <a:t>Slide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&lt;#&gt;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5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2" rIns="0" bIns="0" rtlCol="0" vert="horz">
            <a:spAutoFit/>
          </a:bodyPr>
          <a:lstStyle/>
          <a:p>
            <a:pPr marL="3413760">
              <a:lnSpc>
                <a:spcPct val="100000"/>
              </a:lnSpc>
              <a:spcBef>
                <a:spcPts val="105"/>
              </a:spcBef>
            </a:pPr>
            <a:r>
              <a:rPr dirty="0" sz="3200" spc="-25">
                <a:solidFill>
                  <a:srgbClr val="252573"/>
                </a:solidFill>
                <a:latin typeface="Arial"/>
                <a:cs typeface="Arial"/>
              </a:rPr>
              <a:t>SVM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3816" y="1316227"/>
            <a:ext cx="7303389" cy="412584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0741" rIns="0" bIns="0" rtlCol="0" vert="horz">
            <a:spAutoFit/>
          </a:bodyPr>
          <a:lstStyle/>
          <a:p>
            <a:pPr marL="1513840">
              <a:lnSpc>
                <a:spcPct val="100000"/>
              </a:lnSpc>
              <a:spcBef>
                <a:spcPts val="105"/>
              </a:spcBef>
            </a:pPr>
            <a:r>
              <a:rPr dirty="0" sz="3200" spc="-10">
                <a:solidFill>
                  <a:srgbClr val="252573"/>
                </a:solidFill>
                <a:latin typeface="Arial"/>
                <a:cs typeface="Arial"/>
              </a:rPr>
              <a:t>Non-</a:t>
            </a: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Linear</a:t>
            </a:r>
            <a:r>
              <a:rPr dirty="0" sz="3200" spc="-165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 spc="-10">
                <a:solidFill>
                  <a:srgbClr val="252573"/>
                </a:solidFill>
                <a:latin typeface="Arial"/>
                <a:cs typeface="Arial"/>
              </a:rPr>
              <a:t>Algorithms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22426" y="1706117"/>
            <a:ext cx="6893559" cy="3409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marR="16002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dirty="0" sz="2400">
                <a:latin typeface="Arial MT"/>
                <a:cs typeface="Arial MT"/>
              </a:rPr>
              <a:t>Nonlinear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machine</a:t>
            </a:r>
            <a:r>
              <a:rPr dirty="0" sz="2400" spc="-10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learning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algorithms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do</a:t>
            </a:r>
            <a:r>
              <a:rPr dirty="0" sz="2400" spc="-11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not </a:t>
            </a:r>
            <a:r>
              <a:rPr dirty="0" sz="2400">
                <a:latin typeface="Arial MT"/>
                <a:cs typeface="Arial MT"/>
              </a:rPr>
              <a:t>make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strong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assumptions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about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form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the </a:t>
            </a:r>
            <a:r>
              <a:rPr dirty="0" sz="2400">
                <a:latin typeface="Arial MT"/>
                <a:cs typeface="Arial MT"/>
              </a:rPr>
              <a:t>mapping</a:t>
            </a:r>
            <a:r>
              <a:rPr dirty="0" sz="2400" spc="-11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function</a:t>
            </a:r>
            <a:endParaRPr sz="2400">
              <a:latin typeface="Arial MT"/>
              <a:cs typeface="Arial MT"/>
            </a:endParaRPr>
          </a:p>
          <a:p>
            <a:pPr marL="354965" marR="141605" indent="-342900">
              <a:lnSpc>
                <a:spcPct val="100000"/>
              </a:lnSpc>
              <a:spcBef>
                <a:spcPts val="1800"/>
              </a:spcBef>
              <a:buChar char="•"/>
              <a:tabLst>
                <a:tab pos="354965" algn="l"/>
              </a:tabLst>
            </a:pPr>
            <a:r>
              <a:rPr dirty="0" sz="2400">
                <a:latin typeface="Arial MT"/>
                <a:cs typeface="Arial MT"/>
              </a:rPr>
              <a:t>By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not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making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assumptions,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they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free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to </a:t>
            </a:r>
            <a:r>
              <a:rPr dirty="0" sz="2400">
                <a:latin typeface="Arial MT"/>
                <a:cs typeface="Arial MT"/>
              </a:rPr>
              <a:t>learn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any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functional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form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from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training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data.</a:t>
            </a:r>
            <a:endParaRPr sz="2400">
              <a:latin typeface="Arial MT"/>
              <a:cs typeface="Arial MT"/>
            </a:endParaRPr>
          </a:p>
          <a:p>
            <a:pPr marL="354965" marR="5080" indent="-342900">
              <a:lnSpc>
                <a:spcPct val="100000"/>
              </a:lnSpc>
              <a:spcBef>
                <a:spcPts val="1800"/>
              </a:spcBef>
              <a:buChar char="•"/>
              <a:tabLst>
                <a:tab pos="354965" algn="l"/>
              </a:tabLst>
            </a:pPr>
            <a:r>
              <a:rPr dirty="0" sz="2400">
                <a:latin typeface="Arial MT"/>
                <a:cs typeface="Arial MT"/>
              </a:rPr>
              <a:t>Nonlinear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methods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may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achieve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better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accuracy </a:t>
            </a:r>
            <a:r>
              <a:rPr dirty="0" sz="2400">
                <a:latin typeface="Arial MT"/>
                <a:cs typeface="Arial MT"/>
              </a:rPr>
              <a:t>at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expense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requiring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more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data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and </a:t>
            </a:r>
            <a:r>
              <a:rPr dirty="0" sz="2400">
                <a:latin typeface="Arial MT"/>
                <a:cs typeface="Arial MT"/>
              </a:rPr>
              <a:t>training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time.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0741" rIns="0" bIns="0" rtlCol="0" vert="horz">
            <a:spAutoFit/>
          </a:bodyPr>
          <a:lstStyle/>
          <a:p>
            <a:pPr marL="2510155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Naïve</a:t>
            </a:r>
            <a:r>
              <a:rPr dirty="0" sz="3200" spc="-5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 spc="-10">
                <a:solidFill>
                  <a:srgbClr val="252573"/>
                </a:solidFill>
                <a:latin typeface="Arial"/>
                <a:cs typeface="Arial"/>
              </a:rPr>
              <a:t>Bayes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328028" y="6673101"/>
            <a:ext cx="14357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 MT"/>
                <a:cs typeface="Arial MT"/>
              </a:rPr>
              <a:t>Slide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&lt;#&gt;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5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64591" y="1276858"/>
            <a:ext cx="8020684" cy="500634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269875" marR="48895" indent="-257810">
              <a:lnSpc>
                <a:spcPct val="101400"/>
              </a:lnSpc>
              <a:spcBef>
                <a:spcPts val="65"/>
              </a:spcBef>
              <a:buChar char="•"/>
              <a:tabLst>
                <a:tab pos="269875" algn="l"/>
              </a:tabLst>
            </a:pP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Na</a:t>
            </a:r>
            <a:r>
              <a:rPr dirty="0" sz="2100">
                <a:solidFill>
                  <a:srgbClr val="161616"/>
                </a:solidFill>
                <a:latin typeface="Microsoft JhengHei UI"/>
                <a:cs typeface="Microsoft JhengHei UI"/>
              </a:rPr>
              <a:t>ï</a:t>
            </a:r>
            <a:r>
              <a:rPr dirty="0" sz="2100">
                <a:latin typeface="Arial MT"/>
                <a:cs typeface="Arial MT"/>
              </a:rPr>
              <a:t>ve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Bayes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model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comprised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two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types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probabilities </a:t>
            </a:r>
            <a:r>
              <a:rPr dirty="0" sz="2100">
                <a:latin typeface="Arial MT"/>
                <a:cs typeface="Arial MT"/>
              </a:rPr>
              <a:t>that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can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be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calculated</a:t>
            </a:r>
            <a:r>
              <a:rPr dirty="0" sz="2100" spc="-5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directly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from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training</a:t>
            </a:r>
            <a:r>
              <a:rPr dirty="0" sz="2100" spc="-4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data:</a:t>
            </a:r>
            <a:endParaRPr sz="2100">
              <a:latin typeface="Arial MT"/>
              <a:cs typeface="Arial MT"/>
            </a:endParaRPr>
          </a:p>
          <a:p>
            <a:pPr lvl="1" marL="927100" indent="-372110">
              <a:lnSpc>
                <a:spcPct val="100000"/>
              </a:lnSpc>
              <a:spcBef>
                <a:spcPts val="500"/>
              </a:spcBef>
              <a:buChar char="•"/>
              <a:tabLst>
                <a:tab pos="927100" algn="l"/>
              </a:tabLst>
            </a:pP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probability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each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class.</a:t>
            </a:r>
            <a:endParaRPr sz="2100">
              <a:latin typeface="Arial MT"/>
              <a:cs typeface="Arial MT"/>
            </a:endParaRPr>
          </a:p>
          <a:p>
            <a:pPr lvl="1" marL="908685" indent="-353695">
              <a:lnSpc>
                <a:spcPct val="100000"/>
              </a:lnSpc>
              <a:spcBef>
                <a:spcPts val="509"/>
              </a:spcBef>
              <a:buChar char="•"/>
              <a:tabLst>
                <a:tab pos="908685" algn="l"/>
              </a:tabLst>
            </a:pP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conditional</a:t>
            </a:r>
            <a:r>
              <a:rPr dirty="0" sz="2100" spc="-4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probability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for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each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class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given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each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x</a:t>
            </a:r>
            <a:r>
              <a:rPr dirty="0" sz="2100" spc="-10">
                <a:latin typeface="Arial MT"/>
                <a:cs typeface="Arial MT"/>
              </a:rPr>
              <a:t> value</a:t>
            </a:r>
            <a:endParaRPr sz="2100">
              <a:latin typeface="Arial MT"/>
              <a:cs typeface="Arial MT"/>
            </a:endParaRPr>
          </a:p>
          <a:p>
            <a:pPr marL="269875" marR="683260" indent="-257810">
              <a:lnSpc>
                <a:spcPct val="100000"/>
              </a:lnSpc>
              <a:spcBef>
                <a:spcPts val="1200"/>
              </a:spcBef>
              <a:buChar char="•"/>
              <a:tabLst>
                <a:tab pos="269875" algn="l"/>
              </a:tabLst>
            </a:pPr>
            <a:r>
              <a:rPr dirty="0" sz="2100">
                <a:latin typeface="Arial MT"/>
                <a:cs typeface="Arial MT"/>
              </a:rPr>
              <a:t>Once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calculated,</a:t>
            </a:r>
            <a:r>
              <a:rPr dirty="0" sz="2100" spc="-5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probability</a:t>
            </a:r>
            <a:r>
              <a:rPr dirty="0" sz="2100" spc="-3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model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can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be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used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make </a:t>
            </a:r>
            <a:r>
              <a:rPr dirty="0" sz="2100">
                <a:latin typeface="Arial MT"/>
                <a:cs typeface="Arial MT"/>
              </a:rPr>
              <a:t>predictions</a:t>
            </a:r>
            <a:r>
              <a:rPr dirty="0" sz="2100" spc="-4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for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new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data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using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Bayes</a:t>
            </a:r>
            <a:r>
              <a:rPr dirty="0" sz="2100" spc="-10">
                <a:latin typeface="Arial MT"/>
                <a:cs typeface="Arial MT"/>
              </a:rPr>
              <a:t> Theorem.</a:t>
            </a:r>
            <a:endParaRPr sz="2100">
              <a:latin typeface="Arial MT"/>
              <a:cs typeface="Arial MT"/>
            </a:endParaRPr>
          </a:p>
          <a:p>
            <a:pPr marL="269875" indent="-257175">
              <a:lnSpc>
                <a:spcPct val="100000"/>
              </a:lnSpc>
              <a:spcBef>
                <a:spcPts val="1200"/>
              </a:spcBef>
              <a:buChar char="•"/>
              <a:tabLst>
                <a:tab pos="269875" algn="l"/>
              </a:tabLst>
            </a:pPr>
            <a:r>
              <a:rPr dirty="0" sz="2100">
                <a:latin typeface="Arial MT"/>
                <a:cs typeface="Arial MT"/>
              </a:rPr>
              <a:t>It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common</a:t>
            </a:r>
            <a:r>
              <a:rPr dirty="0" sz="2100" spc="-4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assume</a:t>
            </a:r>
            <a:r>
              <a:rPr dirty="0" sz="2100" spc="-3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Gaussian</a:t>
            </a:r>
            <a:r>
              <a:rPr dirty="0" sz="2100" spc="-4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distribution</a:t>
            </a:r>
            <a:r>
              <a:rPr dirty="0" sz="2100" spc="-4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(bell</a:t>
            </a:r>
            <a:r>
              <a:rPr dirty="0" sz="2100" spc="-3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curve)</a:t>
            </a:r>
            <a:endParaRPr sz="2100">
              <a:latin typeface="Arial MT"/>
              <a:cs typeface="Arial MT"/>
            </a:endParaRPr>
          </a:p>
          <a:p>
            <a:pPr marL="269875" marR="255904" indent="-257810">
              <a:lnSpc>
                <a:spcPct val="100000"/>
              </a:lnSpc>
              <a:spcBef>
                <a:spcPts val="1200"/>
              </a:spcBef>
              <a:buChar char="•"/>
              <a:tabLst>
                <a:tab pos="269875" algn="l"/>
              </a:tabLst>
            </a:pPr>
            <a:r>
              <a:rPr dirty="0" sz="2100">
                <a:latin typeface="Arial MT"/>
                <a:cs typeface="Arial MT"/>
              </a:rPr>
              <a:t>Naive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Bayes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called</a:t>
            </a:r>
            <a:r>
              <a:rPr dirty="0" sz="2100" spc="-4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naive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because</a:t>
            </a:r>
            <a:r>
              <a:rPr dirty="0" sz="2100" spc="-4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it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assumes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that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each</a:t>
            </a:r>
            <a:r>
              <a:rPr dirty="0" sz="2100" spc="-10">
                <a:latin typeface="Arial MT"/>
                <a:cs typeface="Arial MT"/>
              </a:rPr>
              <a:t> input </a:t>
            </a:r>
            <a:r>
              <a:rPr dirty="0" sz="2100">
                <a:latin typeface="Arial MT"/>
                <a:cs typeface="Arial MT"/>
              </a:rPr>
              <a:t>variable</a:t>
            </a:r>
            <a:r>
              <a:rPr dirty="0" sz="2100" spc="-4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independent.</a:t>
            </a:r>
            <a:endParaRPr sz="2100">
              <a:latin typeface="Arial MT"/>
              <a:cs typeface="Arial MT"/>
            </a:endParaRPr>
          </a:p>
          <a:p>
            <a:pPr marL="568960" indent="-213360">
              <a:lnSpc>
                <a:spcPct val="100000"/>
              </a:lnSpc>
              <a:spcBef>
                <a:spcPts val="605"/>
              </a:spcBef>
              <a:buChar char="–"/>
              <a:tabLst>
                <a:tab pos="568960" algn="l"/>
              </a:tabLst>
            </a:pPr>
            <a:r>
              <a:rPr dirty="0" sz="2000">
                <a:latin typeface="Arial MT"/>
                <a:cs typeface="Arial MT"/>
              </a:rPr>
              <a:t>This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is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strong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assumption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unrealistic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for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real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data</a:t>
            </a:r>
            <a:endParaRPr sz="2000">
              <a:latin typeface="Arial MT"/>
              <a:cs typeface="Arial MT"/>
            </a:endParaRPr>
          </a:p>
          <a:p>
            <a:pPr marL="569595" indent="-213995">
              <a:lnSpc>
                <a:spcPct val="100000"/>
              </a:lnSpc>
              <a:spcBef>
                <a:spcPts val="600"/>
              </a:spcBef>
              <a:buChar char="–"/>
              <a:tabLst>
                <a:tab pos="569595" algn="l"/>
              </a:tabLst>
            </a:pPr>
            <a:r>
              <a:rPr dirty="0" sz="2000">
                <a:latin typeface="Arial MT"/>
                <a:cs typeface="Arial MT"/>
              </a:rPr>
              <a:t>Nevertheless,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technique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is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very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effective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on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large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range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of</a:t>
            </a:r>
            <a:endParaRPr sz="2000">
              <a:latin typeface="Arial MT"/>
              <a:cs typeface="Arial MT"/>
            </a:endParaRPr>
          </a:p>
          <a:p>
            <a:pPr marL="57023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Arial MT"/>
                <a:cs typeface="Arial MT"/>
              </a:rPr>
              <a:t>complex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problems.</a:t>
            </a:r>
            <a:endParaRPr sz="2000">
              <a:latin typeface="Arial MT"/>
              <a:cs typeface="Arial MT"/>
            </a:endParaRPr>
          </a:p>
          <a:p>
            <a:pPr marL="269875" indent="-257175">
              <a:lnSpc>
                <a:spcPct val="100000"/>
              </a:lnSpc>
              <a:spcBef>
                <a:spcPts val="1080"/>
              </a:spcBef>
              <a:buClr>
                <a:srgbClr val="000000"/>
              </a:buClr>
              <a:buChar char="•"/>
              <a:tabLst>
                <a:tab pos="269875" algn="l"/>
              </a:tabLst>
            </a:pPr>
            <a:r>
              <a:rPr dirty="0" u="sng" sz="200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2"/>
              </a:rPr>
              <a:t>Scikit</a:t>
            </a:r>
            <a:r>
              <a:rPr dirty="0" u="sng" sz="2000" spc="-35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dirty="0" u="sng" sz="200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2"/>
              </a:rPr>
              <a:t>Learn</a:t>
            </a:r>
            <a:r>
              <a:rPr dirty="0" u="sng" sz="2000" spc="-5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dirty="0" u="sng" sz="200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2"/>
              </a:rPr>
              <a:t>Documentation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0741" rIns="0" bIns="0" rtlCol="0" vert="horz">
            <a:spAutoFit/>
          </a:bodyPr>
          <a:lstStyle/>
          <a:p>
            <a:pPr marL="2510155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Naïve</a:t>
            </a:r>
            <a:r>
              <a:rPr dirty="0" sz="3200" spc="-5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 spc="-10">
                <a:solidFill>
                  <a:srgbClr val="252573"/>
                </a:solidFill>
                <a:latin typeface="Arial"/>
                <a:cs typeface="Arial"/>
              </a:rPr>
              <a:t>Bayes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275590" marR="48895" indent="-257810">
              <a:lnSpc>
                <a:spcPct val="101400"/>
              </a:lnSpc>
              <a:spcBef>
                <a:spcPts val="65"/>
              </a:spcBef>
              <a:buChar char="•"/>
              <a:tabLst>
                <a:tab pos="275590" algn="l"/>
              </a:tabLst>
            </a:pPr>
            <a:r>
              <a:rPr dirty="0"/>
              <a:t>The</a:t>
            </a:r>
            <a:r>
              <a:rPr dirty="0" spc="-25"/>
              <a:t> </a:t>
            </a:r>
            <a:r>
              <a:rPr dirty="0"/>
              <a:t>Na</a:t>
            </a:r>
            <a:r>
              <a:rPr dirty="0">
                <a:solidFill>
                  <a:srgbClr val="161616"/>
                </a:solidFill>
                <a:latin typeface="Microsoft JhengHei UI"/>
                <a:cs typeface="Microsoft JhengHei UI"/>
              </a:rPr>
              <a:t>ï</a:t>
            </a:r>
            <a:r>
              <a:rPr dirty="0"/>
              <a:t>ve</a:t>
            </a:r>
            <a:r>
              <a:rPr dirty="0" spc="-15"/>
              <a:t> </a:t>
            </a:r>
            <a:r>
              <a:rPr dirty="0"/>
              <a:t>Bayes</a:t>
            </a:r>
            <a:r>
              <a:rPr dirty="0" spc="-15"/>
              <a:t> </a:t>
            </a:r>
            <a:r>
              <a:rPr dirty="0"/>
              <a:t>model</a:t>
            </a:r>
            <a:r>
              <a:rPr dirty="0" spc="-15"/>
              <a:t> </a:t>
            </a:r>
            <a:r>
              <a:rPr dirty="0"/>
              <a:t>is</a:t>
            </a:r>
            <a:r>
              <a:rPr dirty="0" spc="-15"/>
              <a:t> </a:t>
            </a:r>
            <a:r>
              <a:rPr dirty="0"/>
              <a:t>comprised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two</a:t>
            </a:r>
            <a:r>
              <a:rPr dirty="0" spc="-15"/>
              <a:t> </a:t>
            </a:r>
            <a:r>
              <a:rPr dirty="0"/>
              <a:t>types</a:t>
            </a:r>
            <a:r>
              <a:rPr dirty="0" spc="-1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10"/>
              <a:t>probabilities </a:t>
            </a:r>
            <a:r>
              <a:rPr dirty="0"/>
              <a:t>that</a:t>
            </a:r>
            <a:r>
              <a:rPr dirty="0" spc="-20"/>
              <a:t> </a:t>
            </a:r>
            <a:r>
              <a:rPr dirty="0"/>
              <a:t>can</a:t>
            </a:r>
            <a:r>
              <a:rPr dirty="0" spc="-25"/>
              <a:t> </a:t>
            </a:r>
            <a:r>
              <a:rPr dirty="0"/>
              <a:t>be</a:t>
            </a:r>
            <a:r>
              <a:rPr dirty="0" spc="-25"/>
              <a:t> </a:t>
            </a:r>
            <a:r>
              <a:rPr dirty="0"/>
              <a:t>calculated</a:t>
            </a:r>
            <a:r>
              <a:rPr dirty="0" spc="-55"/>
              <a:t> </a:t>
            </a:r>
            <a:r>
              <a:rPr dirty="0"/>
              <a:t>directly</a:t>
            </a:r>
            <a:r>
              <a:rPr dirty="0" spc="-30"/>
              <a:t> </a:t>
            </a:r>
            <a:r>
              <a:rPr dirty="0"/>
              <a:t>from</a:t>
            </a:r>
            <a:r>
              <a:rPr dirty="0" spc="-1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training</a:t>
            </a:r>
            <a:r>
              <a:rPr dirty="0" spc="-45"/>
              <a:t> </a:t>
            </a:r>
            <a:r>
              <a:rPr dirty="0" spc="-10"/>
              <a:t>data:</a:t>
            </a:r>
          </a:p>
          <a:p>
            <a:pPr lvl="1" marL="932815" indent="-372110">
              <a:lnSpc>
                <a:spcPct val="100000"/>
              </a:lnSpc>
              <a:spcBef>
                <a:spcPts val="500"/>
              </a:spcBef>
              <a:buChar char="•"/>
              <a:tabLst>
                <a:tab pos="932815" algn="l"/>
              </a:tabLst>
            </a:pP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probability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each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class.</a:t>
            </a:r>
            <a:endParaRPr sz="2100">
              <a:latin typeface="Arial MT"/>
              <a:cs typeface="Arial MT"/>
            </a:endParaRPr>
          </a:p>
          <a:p>
            <a:pPr lvl="1" marL="914400" indent="-353695">
              <a:lnSpc>
                <a:spcPct val="100000"/>
              </a:lnSpc>
              <a:spcBef>
                <a:spcPts val="509"/>
              </a:spcBef>
              <a:buChar char="•"/>
              <a:tabLst>
                <a:tab pos="914400" algn="l"/>
              </a:tabLst>
            </a:pP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conditional</a:t>
            </a:r>
            <a:r>
              <a:rPr dirty="0" sz="2100" spc="-4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probability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for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each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class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given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each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x</a:t>
            </a:r>
            <a:r>
              <a:rPr dirty="0" sz="2100" spc="-10">
                <a:latin typeface="Arial MT"/>
                <a:cs typeface="Arial MT"/>
              </a:rPr>
              <a:t> value</a:t>
            </a:r>
            <a:endParaRPr sz="21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7433" y="3000375"/>
            <a:ext cx="5955169" cy="335280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6328028" y="6673101"/>
            <a:ext cx="14357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 MT"/>
                <a:cs typeface="Arial MT"/>
              </a:rPr>
              <a:t>Slide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&lt;#&gt;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5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2757" rIns="0" bIns="0" rtlCol="0" vert="horz">
            <a:spAutoFit/>
          </a:bodyPr>
          <a:lstStyle/>
          <a:p>
            <a:pPr marL="267843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Naive</a:t>
            </a:r>
            <a:r>
              <a:rPr dirty="0" sz="3200" spc="-45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 spc="-10">
                <a:solidFill>
                  <a:srgbClr val="252573"/>
                </a:solidFill>
                <a:latin typeface="Arial"/>
                <a:cs typeface="Arial"/>
              </a:rPr>
              <a:t>Bayes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0381" y="1190244"/>
            <a:ext cx="7342758" cy="414870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470152" y="5695899"/>
            <a:ext cx="354520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80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3"/>
              </a:rPr>
              <a:t>https://youtu.be/H3EjCKtlVog?t=47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328028" y="6673101"/>
            <a:ext cx="14357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 MT"/>
                <a:cs typeface="Arial MT"/>
              </a:rPr>
              <a:t>Slide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&lt;#&gt;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5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3256" rIns="0" bIns="0" rtlCol="0" vert="horz">
            <a:spAutoFit/>
          </a:bodyPr>
          <a:lstStyle/>
          <a:p>
            <a:pPr marL="2210435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Applications</a:t>
            </a:r>
            <a:r>
              <a:rPr dirty="0" sz="3200" spc="-7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of</a:t>
            </a:r>
            <a:r>
              <a:rPr dirty="0" sz="3200" spc="-4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 spc="-25">
                <a:solidFill>
                  <a:srgbClr val="252573"/>
                </a:solidFill>
                <a:latin typeface="Arial"/>
                <a:cs typeface="Arial"/>
              </a:rPr>
              <a:t>NB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553450" y="6652971"/>
            <a:ext cx="51244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latin typeface="Calibri"/>
                <a:cs typeface="Calibri"/>
              </a:rPr>
              <a:t>Slide</a:t>
            </a:r>
            <a:r>
              <a:rPr dirty="0" sz="700" spc="-5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33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of</a:t>
            </a:r>
            <a:r>
              <a:rPr dirty="0" sz="700" spc="-20">
                <a:latin typeface="Calibri"/>
                <a:cs typeface="Calibri"/>
              </a:rPr>
              <a:t> </a:t>
            </a:r>
            <a:r>
              <a:rPr dirty="0" sz="700" spc="-25">
                <a:latin typeface="Calibri"/>
                <a:cs typeface="Calibri"/>
              </a:rPr>
              <a:t>35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30148" y="1256206"/>
            <a:ext cx="7766684" cy="2517140"/>
          </a:xfrm>
          <a:prstGeom prst="rect">
            <a:avLst/>
          </a:prstGeom>
        </p:spPr>
        <p:txBody>
          <a:bodyPr wrap="square" lIns="0" tIns="99695" rIns="0" bIns="0" rtlCol="0" vert="horz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785"/>
              </a:spcBef>
              <a:buChar char="•"/>
              <a:tabLst>
                <a:tab pos="269240" algn="l"/>
              </a:tabLst>
            </a:pPr>
            <a:r>
              <a:rPr dirty="0" sz="2800">
                <a:latin typeface="Arial MT"/>
                <a:cs typeface="Arial MT"/>
              </a:rPr>
              <a:t>Naive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Bayes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is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mostly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applied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to:</a:t>
            </a:r>
            <a:endParaRPr sz="2800">
              <a:latin typeface="Arial MT"/>
              <a:cs typeface="Arial MT"/>
            </a:endParaRPr>
          </a:p>
          <a:p>
            <a:pPr lvl="1" marL="568960" marR="175895" indent="-213995">
              <a:lnSpc>
                <a:spcPct val="100000"/>
              </a:lnSpc>
              <a:spcBef>
                <a:spcPts val="590"/>
              </a:spcBef>
              <a:buFont typeface="Arial MT"/>
              <a:buChar char="–"/>
              <a:tabLst>
                <a:tab pos="570230" algn="l"/>
              </a:tabLst>
            </a:pPr>
            <a:r>
              <a:rPr dirty="0" sz="2400" b="1">
                <a:latin typeface="Arial"/>
                <a:cs typeface="Arial"/>
              </a:rPr>
              <a:t>real</a:t>
            </a:r>
            <a:r>
              <a:rPr dirty="0" sz="2400" spc="-4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time</a:t>
            </a:r>
            <a:r>
              <a:rPr dirty="0" sz="2400" spc="-4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classification</a:t>
            </a:r>
            <a:r>
              <a:rPr dirty="0" sz="2400" spc="-55" b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-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speed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Naive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Bayes </a:t>
            </a:r>
            <a:r>
              <a:rPr dirty="0" sz="2400" spc="-10">
                <a:latin typeface="Arial MT"/>
                <a:cs typeface="Arial MT"/>
              </a:rPr>
              <a:t>	</a:t>
            </a:r>
            <a:r>
              <a:rPr dirty="0" sz="2400">
                <a:latin typeface="Arial MT"/>
                <a:cs typeface="Arial MT"/>
              </a:rPr>
              <a:t>allows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it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classify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things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real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time</a:t>
            </a:r>
            <a:endParaRPr sz="2400">
              <a:latin typeface="Arial MT"/>
              <a:cs typeface="Arial MT"/>
            </a:endParaRPr>
          </a:p>
          <a:p>
            <a:pPr lvl="1" marL="568960" marR="5080" indent="-213995">
              <a:lnSpc>
                <a:spcPct val="100000"/>
              </a:lnSpc>
              <a:spcBef>
                <a:spcPts val="580"/>
              </a:spcBef>
              <a:buFont typeface="Arial MT"/>
              <a:buChar char="–"/>
              <a:tabLst>
                <a:tab pos="570230" algn="l"/>
              </a:tabLst>
            </a:pPr>
            <a:r>
              <a:rPr dirty="0" sz="2400" b="1">
                <a:latin typeface="Arial"/>
                <a:cs typeface="Arial"/>
              </a:rPr>
              <a:t>text</a:t>
            </a:r>
            <a:r>
              <a:rPr dirty="0" sz="2400" spc="-6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classification</a:t>
            </a:r>
            <a:r>
              <a:rPr dirty="0" sz="2400" spc="-75" b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-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Naive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Bayes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functions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well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for </a:t>
            </a:r>
            <a:r>
              <a:rPr dirty="0" sz="2400" spc="-25">
                <a:latin typeface="Arial MT"/>
                <a:cs typeface="Arial MT"/>
              </a:rPr>
              <a:t>	</a:t>
            </a:r>
            <a:r>
              <a:rPr dirty="0" sz="2400">
                <a:latin typeface="Arial MT"/>
                <a:cs typeface="Arial MT"/>
              </a:rPr>
              <a:t>text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classification.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It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popularly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used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categorizing </a:t>
            </a:r>
            <a:r>
              <a:rPr dirty="0" sz="2400" spc="-10">
                <a:latin typeface="Arial MT"/>
                <a:cs typeface="Arial MT"/>
              </a:rPr>
              <a:t>	</a:t>
            </a:r>
            <a:r>
              <a:rPr dirty="0" sz="2400">
                <a:latin typeface="Arial MT"/>
                <a:cs typeface="Arial MT"/>
              </a:rPr>
              <a:t>news,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sentiment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analysis,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identify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spam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email.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20247" y="4100375"/>
            <a:ext cx="4675417" cy="216272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0741" rIns="0" bIns="0" rtlCol="0" vert="horz">
            <a:spAutoFit/>
          </a:bodyPr>
          <a:lstStyle/>
          <a:p>
            <a:pPr marL="1719580">
              <a:lnSpc>
                <a:spcPct val="100000"/>
              </a:lnSpc>
              <a:spcBef>
                <a:spcPts val="105"/>
              </a:spcBef>
            </a:pPr>
            <a:r>
              <a:rPr dirty="0" sz="3200" spc="-10">
                <a:solidFill>
                  <a:srgbClr val="252573"/>
                </a:solidFill>
                <a:latin typeface="Arial"/>
                <a:cs typeface="Arial"/>
              </a:rPr>
              <a:t>k-</a:t>
            </a: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Nearest</a:t>
            </a:r>
            <a:r>
              <a:rPr dirty="0" sz="3200" spc="-55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 spc="-10">
                <a:solidFill>
                  <a:srgbClr val="252573"/>
                </a:solidFill>
                <a:latin typeface="Arial"/>
                <a:cs typeface="Arial"/>
              </a:rPr>
              <a:t>Neighbors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328028" y="6673101"/>
            <a:ext cx="14357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 MT"/>
                <a:cs typeface="Arial MT"/>
              </a:rPr>
              <a:t>Slide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&lt;#&gt;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5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64591" y="1579879"/>
            <a:ext cx="7805420" cy="4552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00"/>
              </a:spcBef>
              <a:buChar char="•"/>
              <a:tabLst>
                <a:tab pos="269875" algn="l"/>
              </a:tabLst>
            </a:pP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KNN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algorithm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simple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and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effective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but</a:t>
            </a:r>
            <a:r>
              <a:rPr dirty="0" sz="2100" spc="-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can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be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very</a:t>
            </a:r>
            <a:r>
              <a:rPr dirty="0" sz="2100" spc="-5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slow</a:t>
            </a:r>
            <a:endParaRPr sz="2100">
              <a:latin typeface="Arial MT"/>
              <a:cs typeface="Arial MT"/>
            </a:endParaRPr>
          </a:p>
          <a:p>
            <a:pPr marL="269875" marR="53340" indent="-257810">
              <a:lnSpc>
                <a:spcPct val="100000"/>
              </a:lnSpc>
              <a:spcBef>
                <a:spcPts val="1800"/>
              </a:spcBef>
              <a:buChar char="•"/>
              <a:tabLst>
                <a:tab pos="269875" algn="l"/>
              </a:tabLst>
            </a:pP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3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model</a:t>
            </a:r>
            <a:r>
              <a:rPr dirty="0" sz="2100" spc="-3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representation</a:t>
            </a:r>
            <a:r>
              <a:rPr dirty="0" sz="2100" spc="-3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for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KNN</a:t>
            </a:r>
            <a:r>
              <a:rPr dirty="0" sz="2100" spc="-3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entire</a:t>
            </a:r>
            <a:r>
              <a:rPr dirty="0" sz="2100" spc="-3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training</a:t>
            </a:r>
            <a:r>
              <a:rPr dirty="0" sz="2100" spc="-3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dataset. </a:t>
            </a:r>
            <a:r>
              <a:rPr dirty="0" sz="2100">
                <a:latin typeface="Arial MT"/>
                <a:cs typeface="Arial MT"/>
              </a:rPr>
              <a:t>This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approach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known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as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 i="1">
                <a:latin typeface="Arial"/>
                <a:cs typeface="Arial"/>
              </a:rPr>
              <a:t>lazy</a:t>
            </a:r>
            <a:r>
              <a:rPr dirty="0" sz="2100" spc="-20" i="1">
                <a:latin typeface="Arial"/>
                <a:cs typeface="Arial"/>
              </a:rPr>
              <a:t> </a:t>
            </a:r>
            <a:r>
              <a:rPr dirty="0" sz="2100" spc="-10" i="1">
                <a:latin typeface="Arial"/>
                <a:cs typeface="Arial"/>
              </a:rPr>
              <a:t>learner</a:t>
            </a:r>
            <a:endParaRPr sz="2100">
              <a:latin typeface="Arial"/>
              <a:cs typeface="Arial"/>
            </a:endParaRPr>
          </a:p>
          <a:p>
            <a:pPr marL="269875" marR="39370" indent="-257810">
              <a:lnSpc>
                <a:spcPct val="100000"/>
              </a:lnSpc>
              <a:spcBef>
                <a:spcPts val="1800"/>
              </a:spcBef>
              <a:buChar char="•"/>
              <a:tabLst>
                <a:tab pos="269875" algn="l"/>
              </a:tabLst>
            </a:pPr>
            <a:r>
              <a:rPr dirty="0" sz="2100">
                <a:latin typeface="Arial MT"/>
                <a:cs typeface="Arial MT"/>
              </a:rPr>
              <a:t>Predictions</a:t>
            </a:r>
            <a:r>
              <a:rPr dirty="0" sz="2100" spc="-4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are</a:t>
            </a:r>
            <a:r>
              <a:rPr dirty="0" sz="2100" spc="-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made</a:t>
            </a:r>
            <a:r>
              <a:rPr dirty="0" sz="2100" spc="-3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for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new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data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point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by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searching</a:t>
            </a:r>
            <a:r>
              <a:rPr dirty="0" sz="2100" spc="-4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through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entire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training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set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for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K</a:t>
            </a:r>
            <a:r>
              <a:rPr dirty="0" sz="2100" spc="-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most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similar</a:t>
            </a:r>
            <a:r>
              <a:rPr dirty="0" sz="2100" spc="-3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instances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(the </a:t>
            </a:r>
            <a:r>
              <a:rPr dirty="0" sz="2100">
                <a:latin typeface="Arial MT"/>
                <a:cs typeface="Arial MT"/>
              </a:rPr>
              <a:t>neighbours)</a:t>
            </a:r>
            <a:r>
              <a:rPr dirty="0" sz="2100" spc="-4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and</a:t>
            </a:r>
            <a:r>
              <a:rPr dirty="0" sz="2100" spc="-4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summarizing</a:t>
            </a:r>
            <a:r>
              <a:rPr dirty="0" sz="2100" spc="-5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output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variable</a:t>
            </a:r>
            <a:r>
              <a:rPr dirty="0" sz="2100" spc="-4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for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those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 spc="-50">
                <a:latin typeface="Arial MT"/>
                <a:cs typeface="Arial MT"/>
              </a:rPr>
              <a:t>K </a:t>
            </a:r>
            <a:r>
              <a:rPr dirty="0" sz="2100" spc="-10">
                <a:latin typeface="Arial MT"/>
                <a:cs typeface="Arial MT"/>
              </a:rPr>
              <a:t>instances.</a:t>
            </a:r>
            <a:endParaRPr sz="2100">
              <a:latin typeface="Arial MT"/>
              <a:cs typeface="Arial MT"/>
            </a:endParaRPr>
          </a:p>
          <a:p>
            <a:pPr marL="269875" marR="5080" indent="-257810">
              <a:lnSpc>
                <a:spcPct val="100000"/>
              </a:lnSpc>
              <a:spcBef>
                <a:spcPts val="1805"/>
              </a:spcBef>
              <a:buChar char="•"/>
              <a:tabLst>
                <a:tab pos="269875" algn="l"/>
              </a:tabLst>
            </a:pP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trick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in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how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determine</a:t>
            </a:r>
            <a:r>
              <a:rPr dirty="0" sz="2100" spc="-3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similarity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between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data </a:t>
            </a:r>
            <a:r>
              <a:rPr dirty="0" sz="2100">
                <a:latin typeface="Arial MT"/>
                <a:cs typeface="Arial MT"/>
              </a:rPr>
              <a:t>instances.</a:t>
            </a:r>
            <a:r>
              <a:rPr dirty="0" sz="2100" spc="-4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simplest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technique</a:t>
            </a:r>
            <a:r>
              <a:rPr dirty="0" sz="2100" spc="-4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if</a:t>
            </a:r>
            <a:r>
              <a:rPr dirty="0" sz="2100" spc="-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your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attributes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are all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5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the </a:t>
            </a:r>
            <a:r>
              <a:rPr dirty="0" sz="2100">
                <a:latin typeface="Arial MT"/>
                <a:cs typeface="Arial MT"/>
              </a:rPr>
              <a:t>same</a:t>
            </a:r>
            <a:r>
              <a:rPr dirty="0" sz="2100" spc="-4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scale</a:t>
            </a:r>
            <a:r>
              <a:rPr dirty="0" sz="2100" spc="-4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(all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in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inches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for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example)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use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5">
                <a:latin typeface="Arial MT"/>
                <a:cs typeface="Arial MT"/>
              </a:rPr>
              <a:t> </a:t>
            </a:r>
            <a:r>
              <a:rPr dirty="0" u="sng" sz="2100" spc="-1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Euclidean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u="sng" sz="21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distance</a:t>
            </a:r>
            <a:r>
              <a:rPr dirty="0" sz="2100">
                <a:latin typeface="Arial MT"/>
                <a:cs typeface="Arial MT"/>
              </a:rPr>
              <a:t>,</a:t>
            </a:r>
            <a:r>
              <a:rPr dirty="0" sz="2100" spc="-3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number</a:t>
            </a:r>
            <a:r>
              <a:rPr dirty="0" sz="2100" spc="-3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you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can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calculate</a:t>
            </a:r>
            <a:r>
              <a:rPr dirty="0" sz="2100" spc="-5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directly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based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on</a:t>
            </a:r>
            <a:r>
              <a:rPr dirty="0" sz="2100" spc="-25">
                <a:latin typeface="Arial MT"/>
                <a:cs typeface="Arial MT"/>
              </a:rPr>
              <a:t> the </a:t>
            </a:r>
            <a:r>
              <a:rPr dirty="0" sz="2100">
                <a:latin typeface="Arial MT"/>
                <a:cs typeface="Arial MT"/>
              </a:rPr>
              <a:t>differences</a:t>
            </a:r>
            <a:r>
              <a:rPr dirty="0" sz="2100" spc="-4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between</a:t>
            </a:r>
            <a:r>
              <a:rPr dirty="0" sz="2100" spc="-4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each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input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variable.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2711" y="249300"/>
            <a:ext cx="7143750" cy="6373749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6328028" y="6673101"/>
            <a:ext cx="14357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 MT"/>
                <a:cs typeface="Arial MT"/>
              </a:rPr>
              <a:t>Slide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&lt;#&gt;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5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7706" rIns="0" bIns="0" rtlCol="0" vert="horz">
            <a:spAutoFit/>
          </a:bodyPr>
          <a:lstStyle/>
          <a:p>
            <a:pPr marL="1758314">
              <a:lnSpc>
                <a:spcPct val="100000"/>
              </a:lnSpc>
              <a:spcBef>
                <a:spcPts val="105"/>
              </a:spcBef>
            </a:pPr>
            <a:r>
              <a:rPr dirty="0" sz="3200" spc="-10">
                <a:solidFill>
                  <a:srgbClr val="252573"/>
                </a:solidFill>
                <a:latin typeface="Arial"/>
                <a:cs typeface="Arial"/>
              </a:rPr>
              <a:t>k-</a:t>
            </a: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Nearest</a:t>
            </a:r>
            <a:r>
              <a:rPr dirty="0" sz="3200" spc="-55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 spc="-10">
                <a:solidFill>
                  <a:srgbClr val="252573"/>
                </a:solidFill>
                <a:latin typeface="Arial"/>
                <a:cs typeface="Arial"/>
              </a:rPr>
              <a:t>Neighbors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64540" y="5874511"/>
            <a:ext cx="31178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80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2"/>
              </a:rPr>
              <a:t>https://youtu.be/0p0o5cmgLdE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545" y="1226819"/>
            <a:ext cx="7455661" cy="421195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6328028" y="6673101"/>
            <a:ext cx="14357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 MT"/>
                <a:cs typeface="Arial MT"/>
              </a:rPr>
              <a:t>Slide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&lt;#&gt;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5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2829" rIns="0" bIns="0" rtlCol="0" vert="horz">
            <a:spAutoFit/>
          </a:bodyPr>
          <a:lstStyle/>
          <a:p>
            <a:pPr marL="3265170">
              <a:lnSpc>
                <a:spcPct val="100000"/>
              </a:lnSpc>
              <a:spcBef>
                <a:spcPts val="105"/>
              </a:spcBef>
            </a:pPr>
            <a:r>
              <a:rPr dirty="0" sz="3200" spc="-25">
                <a:solidFill>
                  <a:srgbClr val="252573"/>
                </a:solidFill>
                <a:latin typeface="Arial"/>
                <a:cs typeface="Arial"/>
              </a:rPr>
              <a:t>KNN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328028" y="6673101"/>
            <a:ext cx="14357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 MT"/>
                <a:cs typeface="Arial MT"/>
              </a:rPr>
              <a:t>Slide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&lt;#&gt;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5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64591" y="1286002"/>
            <a:ext cx="7330440" cy="4918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9875" marR="32384" indent="-257810">
              <a:lnSpc>
                <a:spcPct val="100000"/>
              </a:lnSpc>
              <a:spcBef>
                <a:spcPts val="100"/>
              </a:spcBef>
              <a:buChar char="•"/>
              <a:tabLst>
                <a:tab pos="269875" algn="l"/>
              </a:tabLst>
            </a:pPr>
            <a:r>
              <a:rPr dirty="0" sz="2100">
                <a:latin typeface="Arial MT"/>
                <a:cs typeface="Arial MT"/>
              </a:rPr>
              <a:t>KNN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can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require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lot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memory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or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space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store</a:t>
            </a:r>
            <a:r>
              <a:rPr dirty="0" sz="2100" spc="-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all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the </a:t>
            </a:r>
            <a:r>
              <a:rPr dirty="0" sz="2100">
                <a:latin typeface="Arial MT"/>
                <a:cs typeface="Arial MT"/>
              </a:rPr>
              <a:t>data,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but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only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performs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calculation</a:t>
            </a:r>
            <a:r>
              <a:rPr dirty="0" sz="2100" spc="-6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(learns)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when</a:t>
            </a:r>
            <a:r>
              <a:rPr dirty="0" sz="2100" spc="-35">
                <a:latin typeface="Arial MT"/>
                <a:cs typeface="Arial MT"/>
              </a:rPr>
              <a:t> </a:t>
            </a:r>
            <a:r>
              <a:rPr dirty="0" sz="2100" spc="-50">
                <a:latin typeface="Arial MT"/>
                <a:cs typeface="Arial MT"/>
              </a:rPr>
              <a:t>a </a:t>
            </a:r>
            <a:r>
              <a:rPr dirty="0" sz="2100">
                <a:latin typeface="Arial MT"/>
                <a:cs typeface="Arial MT"/>
              </a:rPr>
              <a:t>prediction</a:t>
            </a:r>
            <a:r>
              <a:rPr dirty="0" sz="2100" spc="-5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needed,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just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in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time.</a:t>
            </a:r>
            <a:endParaRPr sz="2100">
              <a:latin typeface="Arial MT"/>
              <a:cs typeface="Arial MT"/>
            </a:endParaRPr>
          </a:p>
          <a:p>
            <a:pPr marL="269875" marR="316230" indent="-257810">
              <a:lnSpc>
                <a:spcPct val="100000"/>
              </a:lnSpc>
              <a:spcBef>
                <a:spcPts val="1800"/>
              </a:spcBef>
              <a:buChar char="•"/>
              <a:tabLst>
                <a:tab pos="269875" algn="l"/>
              </a:tabLst>
            </a:pPr>
            <a:r>
              <a:rPr dirty="0" sz="2100">
                <a:latin typeface="Arial MT"/>
                <a:cs typeface="Arial MT"/>
              </a:rPr>
              <a:t>How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choose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good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value</a:t>
            </a:r>
            <a:r>
              <a:rPr dirty="0" sz="2100" spc="-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k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for</a:t>
            </a:r>
            <a:r>
              <a:rPr dirty="0" sz="2100" spc="-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particular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dataset? </a:t>
            </a:r>
            <a:r>
              <a:rPr dirty="0" sz="2100">
                <a:latin typeface="Arial MT"/>
                <a:cs typeface="Arial MT"/>
              </a:rPr>
              <a:t>Try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several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different</a:t>
            </a:r>
            <a:r>
              <a:rPr dirty="0" sz="2100" spc="-3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values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and</a:t>
            </a:r>
            <a:r>
              <a:rPr dirty="0" sz="2100" spc="-3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compute</a:t>
            </a:r>
            <a:r>
              <a:rPr dirty="0" sz="2100" spc="-3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error</a:t>
            </a:r>
            <a:r>
              <a:rPr dirty="0" sz="2100" spc="-20">
                <a:latin typeface="Arial MT"/>
                <a:cs typeface="Arial MT"/>
              </a:rPr>
              <a:t> rate </a:t>
            </a:r>
            <a:r>
              <a:rPr dirty="0" sz="2100">
                <a:latin typeface="Arial MT"/>
                <a:cs typeface="Arial MT"/>
              </a:rPr>
              <a:t>using</a:t>
            </a:r>
            <a:r>
              <a:rPr dirty="0" sz="2100" spc="25"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6F2F9F"/>
                </a:solidFill>
                <a:latin typeface="Arial MT"/>
                <a:cs typeface="Arial MT"/>
              </a:rPr>
              <a:t>cross-validation.</a:t>
            </a:r>
            <a:endParaRPr sz="2100">
              <a:latin typeface="Arial MT"/>
              <a:cs typeface="Arial MT"/>
            </a:endParaRPr>
          </a:p>
          <a:p>
            <a:pPr marL="269875" marR="5080" indent="-257810">
              <a:lnSpc>
                <a:spcPct val="100000"/>
              </a:lnSpc>
              <a:spcBef>
                <a:spcPts val="1800"/>
              </a:spcBef>
              <a:buChar char="•"/>
              <a:tabLst>
                <a:tab pos="269875" algn="l"/>
              </a:tabLst>
            </a:pP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idea</a:t>
            </a:r>
            <a:r>
              <a:rPr dirty="0" sz="2100" spc="-3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distance</a:t>
            </a:r>
            <a:r>
              <a:rPr dirty="0" sz="2100" spc="-4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or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closeness</a:t>
            </a:r>
            <a:r>
              <a:rPr dirty="0" sz="2100" spc="-4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can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break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down</a:t>
            </a:r>
            <a:r>
              <a:rPr dirty="0" sz="2100" spc="-3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in</a:t>
            </a:r>
            <a:r>
              <a:rPr dirty="0" sz="2100" spc="-10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very </a:t>
            </a:r>
            <a:r>
              <a:rPr dirty="0" sz="2100">
                <a:latin typeface="Arial MT"/>
                <a:cs typeface="Arial MT"/>
              </a:rPr>
              <a:t>high</a:t>
            </a:r>
            <a:r>
              <a:rPr dirty="0" sz="2100" spc="-4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dimensions</a:t>
            </a:r>
            <a:r>
              <a:rPr dirty="0" sz="2100" spc="-5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(lots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3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input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variables)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which</a:t>
            </a:r>
            <a:r>
              <a:rPr dirty="0" sz="2100" spc="-50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can </a:t>
            </a:r>
            <a:r>
              <a:rPr dirty="0" sz="2100">
                <a:latin typeface="Arial MT"/>
                <a:cs typeface="Arial MT"/>
              </a:rPr>
              <a:t>negatively</a:t>
            </a:r>
            <a:r>
              <a:rPr dirty="0" sz="2100" spc="-4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affect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performance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algorithm</a:t>
            </a:r>
            <a:r>
              <a:rPr dirty="0" sz="2100" spc="-4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on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your </a:t>
            </a:r>
            <a:r>
              <a:rPr dirty="0" sz="2100">
                <a:latin typeface="Arial MT"/>
                <a:cs typeface="Arial MT"/>
              </a:rPr>
              <a:t>problem.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This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called</a:t>
            </a:r>
            <a:r>
              <a:rPr dirty="0" sz="2100" spc="-45">
                <a:latin typeface="Arial MT"/>
                <a:cs typeface="Arial MT"/>
              </a:rPr>
              <a:t> </a:t>
            </a:r>
            <a:r>
              <a:rPr dirty="0" sz="2100" i="1">
                <a:latin typeface="Arial"/>
                <a:cs typeface="Arial"/>
              </a:rPr>
              <a:t>the</a:t>
            </a:r>
            <a:r>
              <a:rPr dirty="0" sz="2100" spc="-15" i="1">
                <a:latin typeface="Arial"/>
                <a:cs typeface="Arial"/>
              </a:rPr>
              <a:t> </a:t>
            </a:r>
            <a:r>
              <a:rPr dirty="0" sz="2100" i="1">
                <a:latin typeface="Arial"/>
                <a:cs typeface="Arial"/>
              </a:rPr>
              <a:t>curse</a:t>
            </a:r>
            <a:r>
              <a:rPr dirty="0" sz="2100" spc="-15" i="1">
                <a:latin typeface="Arial"/>
                <a:cs typeface="Arial"/>
              </a:rPr>
              <a:t> </a:t>
            </a:r>
            <a:r>
              <a:rPr dirty="0" sz="2100" i="1">
                <a:latin typeface="Arial"/>
                <a:cs typeface="Arial"/>
              </a:rPr>
              <a:t>of</a:t>
            </a:r>
            <a:r>
              <a:rPr dirty="0" sz="2100" spc="-10" i="1">
                <a:latin typeface="Arial"/>
                <a:cs typeface="Arial"/>
              </a:rPr>
              <a:t> </a:t>
            </a:r>
            <a:r>
              <a:rPr dirty="0" sz="2100" i="1">
                <a:latin typeface="Arial"/>
                <a:cs typeface="Arial"/>
              </a:rPr>
              <a:t>dimensionality</a:t>
            </a:r>
            <a:r>
              <a:rPr dirty="0" sz="2100">
                <a:latin typeface="Arial MT"/>
                <a:cs typeface="Arial MT"/>
              </a:rPr>
              <a:t>.</a:t>
            </a:r>
            <a:r>
              <a:rPr dirty="0" sz="2100" spc="-4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It</a:t>
            </a:r>
            <a:r>
              <a:rPr dirty="0" sz="2100" spc="-10">
                <a:latin typeface="Arial MT"/>
                <a:cs typeface="Arial MT"/>
              </a:rPr>
              <a:t> means </a:t>
            </a:r>
            <a:r>
              <a:rPr dirty="0" sz="2100">
                <a:latin typeface="Arial MT"/>
                <a:cs typeface="Arial MT"/>
              </a:rPr>
              <a:t>you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need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3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only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use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input</a:t>
            </a:r>
            <a:r>
              <a:rPr dirty="0" sz="2100" spc="-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variables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that</a:t>
            </a:r>
            <a:r>
              <a:rPr dirty="0" sz="2100" spc="-1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are</a:t>
            </a:r>
            <a:r>
              <a:rPr dirty="0" sz="2100" spc="-30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most </a:t>
            </a:r>
            <a:r>
              <a:rPr dirty="0" sz="2100">
                <a:latin typeface="Arial MT"/>
                <a:cs typeface="Arial MT"/>
              </a:rPr>
              <a:t>relevant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predicting</a:t>
            </a:r>
            <a:r>
              <a:rPr dirty="0" sz="2100" spc="-4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4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output</a:t>
            </a:r>
            <a:r>
              <a:rPr dirty="0" sz="2100" spc="-2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variable</a:t>
            </a:r>
            <a:r>
              <a:rPr dirty="0" sz="2100" spc="-4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(</a:t>
            </a:r>
            <a:r>
              <a:rPr dirty="0" sz="2100">
                <a:solidFill>
                  <a:srgbClr val="6F2F9F"/>
                </a:solidFill>
                <a:latin typeface="Arial MT"/>
                <a:cs typeface="Arial MT"/>
              </a:rPr>
              <a:t>feature</a:t>
            </a:r>
            <a:r>
              <a:rPr dirty="0" sz="2100" spc="-35">
                <a:solidFill>
                  <a:srgbClr val="6F2F9F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6F2F9F"/>
                </a:solidFill>
                <a:latin typeface="Arial MT"/>
                <a:cs typeface="Arial MT"/>
              </a:rPr>
              <a:t>selection</a:t>
            </a:r>
            <a:r>
              <a:rPr dirty="0" sz="2100" spc="-10">
                <a:latin typeface="Arial MT"/>
                <a:cs typeface="Arial MT"/>
              </a:rPr>
              <a:t>).</a:t>
            </a:r>
            <a:endParaRPr sz="2100">
              <a:latin typeface="Arial MT"/>
              <a:cs typeface="Arial MT"/>
            </a:endParaRPr>
          </a:p>
          <a:p>
            <a:pPr marL="269875" indent="-257175">
              <a:lnSpc>
                <a:spcPct val="100000"/>
              </a:lnSpc>
              <a:spcBef>
                <a:spcPts val="1805"/>
              </a:spcBef>
              <a:buClr>
                <a:srgbClr val="000000"/>
              </a:buClr>
              <a:buChar char="•"/>
              <a:tabLst>
                <a:tab pos="269875" algn="l"/>
              </a:tabLst>
            </a:pPr>
            <a:r>
              <a:rPr dirty="0" u="sng" sz="240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2"/>
              </a:rPr>
              <a:t>Scikit</a:t>
            </a:r>
            <a:r>
              <a:rPr dirty="0" u="sng" sz="2400" spc="-8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dirty="0" u="sng" sz="240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2"/>
              </a:rPr>
              <a:t>Learn</a:t>
            </a:r>
            <a:r>
              <a:rPr dirty="0" u="sng" sz="2400" spc="-65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dirty="0" u="sng" sz="240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2"/>
              </a:rPr>
              <a:t>Documentation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61970" y="577722"/>
            <a:ext cx="2891790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Decision</a:t>
            </a:r>
            <a:r>
              <a:rPr dirty="0" sz="3200" spc="-5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 spc="-20">
                <a:solidFill>
                  <a:srgbClr val="252573"/>
                </a:solidFill>
                <a:latin typeface="Arial"/>
                <a:cs typeface="Arial"/>
              </a:rPr>
              <a:t>Trees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410193" y="6664167"/>
            <a:ext cx="655320" cy="13970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>
                <a:latin typeface="Arial MT"/>
                <a:cs typeface="Arial MT"/>
              </a:rPr>
              <a:t>Slide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&lt;#&gt;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50">
                <a:latin typeface="Arial MT"/>
                <a:cs typeface="Arial MT"/>
              </a:rPr>
              <a:t>9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50570" y="1543303"/>
            <a:ext cx="7889875" cy="4735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9875" marR="5080" indent="-257810">
              <a:lnSpc>
                <a:spcPct val="100000"/>
              </a:lnSpc>
              <a:spcBef>
                <a:spcPts val="100"/>
              </a:spcBef>
              <a:buChar char="•"/>
              <a:tabLst>
                <a:tab pos="269875" algn="l"/>
              </a:tabLst>
            </a:pP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representation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decision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tree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model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binary </a:t>
            </a:r>
            <a:r>
              <a:rPr dirty="0" sz="2400">
                <a:latin typeface="Arial MT"/>
                <a:cs typeface="Arial MT"/>
              </a:rPr>
              <a:t>tree,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straight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from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algorithms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data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structures textbook.</a:t>
            </a:r>
            <a:endParaRPr sz="2400">
              <a:latin typeface="Arial MT"/>
              <a:cs typeface="Arial MT"/>
            </a:endParaRPr>
          </a:p>
          <a:p>
            <a:pPr marL="269875" marR="304800" indent="-257810">
              <a:lnSpc>
                <a:spcPct val="100000"/>
              </a:lnSpc>
              <a:spcBef>
                <a:spcPts val="1800"/>
              </a:spcBef>
              <a:buChar char="•"/>
              <a:tabLst>
                <a:tab pos="269875" algn="l"/>
              </a:tabLst>
            </a:pPr>
            <a:r>
              <a:rPr dirty="0" sz="2400">
                <a:latin typeface="Arial MT"/>
                <a:cs typeface="Arial MT"/>
              </a:rPr>
              <a:t>Each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node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represents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single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input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variable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(x)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50">
                <a:latin typeface="Arial MT"/>
                <a:cs typeface="Arial MT"/>
              </a:rPr>
              <a:t>a </a:t>
            </a:r>
            <a:r>
              <a:rPr dirty="0" sz="2400">
                <a:latin typeface="Arial MT"/>
                <a:cs typeface="Arial MT"/>
              </a:rPr>
              <a:t>split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point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variable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(assuming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variable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is </a:t>
            </a:r>
            <a:r>
              <a:rPr dirty="0" sz="2400" spc="-10">
                <a:latin typeface="Arial MT"/>
                <a:cs typeface="Arial MT"/>
              </a:rPr>
              <a:t>numeric).</a:t>
            </a:r>
            <a:endParaRPr sz="2400">
              <a:latin typeface="Arial MT"/>
              <a:cs typeface="Arial MT"/>
            </a:endParaRPr>
          </a:p>
          <a:p>
            <a:pPr marL="269875" marR="121920" indent="-257810">
              <a:lnSpc>
                <a:spcPct val="100000"/>
              </a:lnSpc>
              <a:spcBef>
                <a:spcPts val="1805"/>
              </a:spcBef>
              <a:buChar char="•"/>
              <a:tabLst>
                <a:tab pos="269875" algn="l"/>
                <a:tab pos="5184775" algn="l"/>
              </a:tabLst>
            </a:pP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leaf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nodes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tree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contain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output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variable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(y) </a:t>
            </a:r>
            <a:r>
              <a:rPr dirty="0" sz="2400">
                <a:latin typeface="Arial MT"/>
                <a:cs typeface="Arial MT"/>
              </a:rPr>
              <a:t>which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used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make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prediction.</a:t>
            </a:r>
            <a:r>
              <a:rPr dirty="0" sz="2400">
                <a:latin typeface="Arial MT"/>
                <a:cs typeface="Arial MT"/>
              </a:rPr>
              <a:t>	Predictions</a:t>
            </a:r>
            <a:r>
              <a:rPr dirty="0" sz="2400" spc="-13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are </a:t>
            </a:r>
            <a:r>
              <a:rPr dirty="0" sz="2400">
                <a:latin typeface="Arial MT"/>
                <a:cs typeface="Arial MT"/>
              </a:rPr>
              <a:t>made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by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walking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splits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tree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until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arriving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at</a:t>
            </a:r>
            <a:r>
              <a:rPr dirty="0" sz="2400" spc="-50">
                <a:latin typeface="Arial MT"/>
                <a:cs typeface="Arial MT"/>
              </a:rPr>
              <a:t> a </a:t>
            </a:r>
            <a:r>
              <a:rPr dirty="0" sz="2400">
                <a:latin typeface="Arial MT"/>
                <a:cs typeface="Arial MT"/>
              </a:rPr>
              <a:t>leaf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node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output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class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value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at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leaf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node.</a:t>
            </a:r>
            <a:endParaRPr sz="2400">
              <a:latin typeface="Arial MT"/>
              <a:cs typeface="Arial MT"/>
            </a:endParaRPr>
          </a:p>
          <a:p>
            <a:pPr marL="269875" indent="-257175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Char char="•"/>
              <a:tabLst>
                <a:tab pos="269875" algn="l"/>
              </a:tabLst>
            </a:pPr>
            <a:r>
              <a:rPr dirty="0" u="sng" sz="240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2"/>
              </a:rPr>
              <a:t>Scikit</a:t>
            </a:r>
            <a:r>
              <a:rPr dirty="0" u="sng" sz="2400" spc="-8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dirty="0" u="sng" sz="240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2"/>
              </a:rPr>
              <a:t>Learn</a:t>
            </a:r>
            <a:r>
              <a:rPr dirty="0" u="sng" sz="2400" spc="-65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dirty="0" u="sng" sz="240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2"/>
              </a:rPr>
              <a:t>Documentation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8562" rIns="0" bIns="0" rtlCol="0" vert="horz">
            <a:spAutoFit/>
          </a:bodyPr>
          <a:lstStyle/>
          <a:p>
            <a:pPr marL="2273935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252573"/>
                </a:solidFill>
                <a:latin typeface="Arial"/>
                <a:cs typeface="Arial"/>
              </a:rPr>
              <a:t>Decision</a:t>
            </a:r>
            <a:r>
              <a:rPr dirty="0" sz="3200" spc="-85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200" spc="-20">
                <a:solidFill>
                  <a:srgbClr val="252573"/>
                </a:solidFill>
                <a:latin typeface="Arial"/>
                <a:cs typeface="Arial"/>
              </a:rPr>
              <a:t>Trees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851" y="1086441"/>
            <a:ext cx="5935180" cy="298300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97733" y="4214251"/>
            <a:ext cx="4519582" cy="216400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410193" y="6664167"/>
            <a:ext cx="655320" cy="13970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>
                <a:latin typeface="Arial MT"/>
                <a:cs typeface="Arial MT"/>
              </a:rPr>
              <a:t>Slide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&lt;#&gt;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50">
                <a:latin typeface="Arial MT"/>
                <a:cs typeface="Arial MT"/>
              </a:rPr>
              <a:t>9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4405" y="250316"/>
            <a:ext cx="56642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252573"/>
                </a:solidFill>
                <a:latin typeface="Arial"/>
                <a:cs typeface="Arial"/>
              </a:rPr>
              <a:t>Example</a:t>
            </a:r>
            <a:r>
              <a:rPr dirty="0" sz="3600" spc="-15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600">
                <a:solidFill>
                  <a:srgbClr val="252573"/>
                </a:solidFill>
                <a:latin typeface="Arial"/>
                <a:cs typeface="Arial"/>
              </a:rPr>
              <a:t>1</a:t>
            </a:r>
            <a:r>
              <a:rPr dirty="0" sz="3600" spc="-15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600">
                <a:solidFill>
                  <a:srgbClr val="252573"/>
                </a:solidFill>
                <a:latin typeface="Arial"/>
                <a:cs typeface="Arial"/>
              </a:rPr>
              <a:t>-</a:t>
            </a:r>
            <a:r>
              <a:rPr dirty="0" sz="3600" spc="-15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600">
                <a:solidFill>
                  <a:srgbClr val="252573"/>
                </a:solidFill>
                <a:latin typeface="Arial"/>
                <a:cs typeface="Arial"/>
              </a:rPr>
              <a:t>Decision</a:t>
            </a:r>
            <a:r>
              <a:rPr dirty="0" sz="3600" spc="-1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600" spc="-30">
                <a:solidFill>
                  <a:srgbClr val="252573"/>
                </a:solidFill>
                <a:latin typeface="Arial"/>
                <a:cs typeface="Arial"/>
              </a:rPr>
              <a:t>Tree</a:t>
            </a:r>
            <a:endParaRPr sz="3600">
              <a:latin typeface="Arial"/>
              <a:cs typeface="Arial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288686" y="1995280"/>
          <a:ext cx="3345815" cy="35744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2270"/>
                <a:gridCol w="708024"/>
                <a:gridCol w="810894"/>
                <a:gridCol w="774700"/>
                <a:gridCol w="589914"/>
              </a:tblGrid>
              <a:tr h="511175">
                <a:tc>
                  <a:txBody>
                    <a:bodyPr/>
                    <a:lstStyle/>
                    <a:p>
                      <a:pPr marL="22860">
                        <a:lnSpc>
                          <a:spcPts val="1475"/>
                        </a:lnSpc>
                      </a:pPr>
                      <a:r>
                        <a:rPr dirty="0" sz="1250" spc="-25" i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Tid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22860">
                        <a:lnSpc>
                          <a:spcPts val="1475"/>
                        </a:lnSpc>
                      </a:pPr>
                      <a:r>
                        <a:rPr dirty="0" sz="12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Refund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46990" marR="213995">
                        <a:lnSpc>
                          <a:spcPts val="1470"/>
                        </a:lnSpc>
                        <a:spcBef>
                          <a:spcPts val="50"/>
                        </a:spcBef>
                      </a:pPr>
                      <a:r>
                        <a:rPr dirty="0" sz="12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Marital Status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45085" marR="97790">
                        <a:lnSpc>
                          <a:spcPts val="1470"/>
                        </a:lnSpc>
                        <a:spcBef>
                          <a:spcPts val="50"/>
                        </a:spcBef>
                      </a:pPr>
                      <a:r>
                        <a:rPr dirty="0" sz="12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Taxable Income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dirty="0" sz="12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Cheat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15621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000080"/>
                    </a:solidFill>
                  </a:tcPr>
                </a:tc>
              </a:tr>
              <a:tr h="306705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50" spc="-50">
                          <a:latin typeface="Arial MT"/>
                          <a:cs typeface="Arial MT"/>
                        </a:rPr>
                        <a:t>1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50" spc="-25">
                          <a:latin typeface="Arial MT"/>
                          <a:cs typeface="Arial MT"/>
                        </a:rPr>
                        <a:t>Yes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50" spc="-10">
                          <a:latin typeface="Arial MT"/>
                          <a:cs typeface="Arial MT"/>
                        </a:rPr>
                        <a:t>Single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50" spc="-20">
                          <a:latin typeface="Arial MT"/>
                          <a:cs typeface="Arial MT"/>
                        </a:rPr>
                        <a:t>125K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5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</a:tr>
              <a:tr h="306705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50">
                          <a:latin typeface="Arial MT"/>
                          <a:cs typeface="Arial MT"/>
                        </a:rPr>
                        <a:t>2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25">
                          <a:latin typeface="Arial MT"/>
                          <a:cs typeface="Arial MT"/>
                        </a:rPr>
                        <a:t>No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10">
                          <a:latin typeface="Arial MT"/>
                          <a:cs typeface="Arial MT"/>
                        </a:rPr>
                        <a:t>Married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20">
                          <a:latin typeface="Arial MT"/>
                          <a:cs typeface="Arial MT"/>
                        </a:rPr>
                        <a:t>100K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5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</a:tr>
              <a:tr h="306070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50">
                          <a:latin typeface="Arial MT"/>
                          <a:cs typeface="Arial MT"/>
                        </a:rPr>
                        <a:t>3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25">
                          <a:latin typeface="Arial MT"/>
                          <a:cs typeface="Arial MT"/>
                        </a:rPr>
                        <a:t>No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10">
                          <a:latin typeface="Arial MT"/>
                          <a:cs typeface="Arial MT"/>
                        </a:rPr>
                        <a:t>Single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25">
                          <a:latin typeface="Arial MT"/>
                          <a:cs typeface="Arial MT"/>
                        </a:rPr>
                        <a:t>70K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5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</a:tr>
              <a:tr h="306070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50" spc="-50">
                          <a:latin typeface="Arial MT"/>
                          <a:cs typeface="Arial MT"/>
                        </a:rPr>
                        <a:t>4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50" spc="-25">
                          <a:latin typeface="Arial MT"/>
                          <a:cs typeface="Arial MT"/>
                        </a:rPr>
                        <a:t>Yes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50" spc="-10">
                          <a:latin typeface="Arial MT"/>
                          <a:cs typeface="Arial MT"/>
                        </a:rPr>
                        <a:t>Married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50" spc="-20">
                          <a:latin typeface="Arial MT"/>
                          <a:cs typeface="Arial MT"/>
                        </a:rPr>
                        <a:t>120K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dirty="0" sz="125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48894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</a:tr>
              <a:tr h="306705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50">
                          <a:latin typeface="Arial MT"/>
                          <a:cs typeface="Arial MT"/>
                        </a:rPr>
                        <a:t>5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25">
                          <a:latin typeface="Arial MT"/>
                          <a:cs typeface="Arial MT"/>
                        </a:rPr>
                        <a:t>No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10">
                          <a:latin typeface="Arial MT"/>
                          <a:cs typeface="Arial MT"/>
                        </a:rPr>
                        <a:t>Divorced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25">
                          <a:latin typeface="Arial MT"/>
                          <a:cs typeface="Arial MT"/>
                        </a:rPr>
                        <a:t>95K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5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</a:tr>
              <a:tr h="306705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50">
                          <a:latin typeface="Arial MT"/>
                          <a:cs typeface="Arial MT"/>
                        </a:rPr>
                        <a:t>6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25">
                          <a:latin typeface="Arial MT"/>
                          <a:cs typeface="Arial MT"/>
                        </a:rPr>
                        <a:t>No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10">
                          <a:latin typeface="Arial MT"/>
                          <a:cs typeface="Arial MT"/>
                        </a:rPr>
                        <a:t>Married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25">
                          <a:latin typeface="Arial MT"/>
                          <a:cs typeface="Arial MT"/>
                        </a:rPr>
                        <a:t>60K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5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</a:tr>
              <a:tr h="306070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50">
                          <a:latin typeface="Arial MT"/>
                          <a:cs typeface="Arial MT"/>
                        </a:rPr>
                        <a:t>7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25">
                          <a:latin typeface="Arial MT"/>
                          <a:cs typeface="Arial MT"/>
                        </a:rPr>
                        <a:t>Yes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10">
                          <a:latin typeface="Arial MT"/>
                          <a:cs typeface="Arial MT"/>
                        </a:rPr>
                        <a:t>Divorced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20">
                          <a:latin typeface="Arial MT"/>
                          <a:cs typeface="Arial MT"/>
                        </a:rPr>
                        <a:t>220K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5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</a:tr>
              <a:tr h="306070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50" spc="-50">
                          <a:latin typeface="Arial MT"/>
                          <a:cs typeface="Arial MT"/>
                        </a:rPr>
                        <a:t>8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50" spc="-25">
                          <a:latin typeface="Arial MT"/>
                          <a:cs typeface="Arial MT"/>
                        </a:rPr>
                        <a:t>No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50" spc="-10">
                          <a:latin typeface="Arial MT"/>
                          <a:cs typeface="Arial MT"/>
                        </a:rPr>
                        <a:t>Single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50" spc="-25">
                          <a:latin typeface="Arial MT"/>
                          <a:cs typeface="Arial MT"/>
                        </a:rPr>
                        <a:t>85K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dirty="0" sz="125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48894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</a:tr>
              <a:tr h="306705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50">
                          <a:latin typeface="Arial MT"/>
                          <a:cs typeface="Arial MT"/>
                        </a:rPr>
                        <a:t>9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25">
                          <a:latin typeface="Arial MT"/>
                          <a:cs typeface="Arial MT"/>
                        </a:rPr>
                        <a:t>No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10">
                          <a:latin typeface="Arial MT"/>
                          <a:cs typeface="Arial MT"/>
                        </a:rPr>
                        <a:t>Married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25">
                          <a:latin typeface="Arial MT"/>
                          <a:cs typeface="Arial MT"/>
                        </a:rPr>
                        <a:t>75K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5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</a:tr>
              <a:tr h="305435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25">
                          <a:latin typeface="Arial MT"/>
                          <a:cs typeface="Arial MT"/>
                        </a:rPr>
                        <a:t>10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25">
                          <a:latin typeface="Arial MT"/>
                          <a:cs typeface="Arial MT"/>
                        </a:rPr>
                        <a:t>No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10">
                          <a:latin typeface="Arial MT"/>
                          <a:cs typeface="Arial MT"/>
                        </a:rPr>
                        <a:t>Single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25">
                          <a:latin typeface="Arial MT"/>
                          <a:cs typeface="Arial MT"/>
                        </a:rPr>
                        <a:t>90K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5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</a:tr>
            </a:tbl>
          </a:graphicData>
        </a:graphic>
      </p:graphicFrame>
      <p:sp>
        <p:nvSpPr>
          <p:cNvPr id="4" name="object 4" descr=""/>
          <p:cNvSpPr/>
          <p:nvPr/>
        </p:nvSpPr>
        <p:spPr>
          <a:xfrm>
            <a:off x="295721" y="5574922"/>
            <a:ext cx="3255645" cy="0"/>
          </a:xfrm>
          <a:custGeom>
            <a:avLst/>
            <a:gdLst/>
            <a:ahLst/>
            <a:cxnLst/>
            <a:rect l="l" t="t" r="r" b="b"/>
            <a:pathLst>
              <a:path w="3255645" h="0">
                <a:moveTo>
                  <a:pt x="0" y="0"/>
                </a:moveTo>
                <a:lnTo>
                  <a:pt x="373935" y="0"/>
                </a:lnTo>
              </a:path>
              <a:path w="3255645" h="0">
                <a:moveTo>
                  <a:pt x="382018" y="0"/>
                </a:moveTo>
                <a:lnTo>
                  <a:pt x="1081690" y="0"/>
                </a:lnTo>
              </a:path>
              <a:path w="3255645" h="0">
                <a:moveTo>
                  <a:pt x="1089773" y="0"/>
                </a:moveTo>
                <a:lnTo>
                  <a:pt x="1892064" y="0"/>
                </a:lnTo>
              </a:path>
              <a:path w="3255645" h="0">
                <a:moveTo>
                  <a:pt x="1900109" y="0"/>
                </a:moveTo>
                <a:lnTo>
                  <a:pt x="2666158" y="0"/>
                </a:lnTo>
              </a:path>
              <a:path w="3255645" h="0">
                <a:moveTo>
                  <a:pt x="2674204" y="0"/>
                </a:moveTo>
                <a:lnTo>
                  <a:pt x="3255202" y="0"/>
                </a:lnTo>
              </a:path>
            </a:pathLst>
          </a:custGeom>
          <a:ln w="3175">
            <a:solidFill>
              <a:srgbClr val="000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264192" y="5565323"/>
            <a:ext cx="33655" cy="349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 sz="100" spc="-25">
                <a:latin typeface="Arial MT"/>
                <a:cs typeface="Arial MT"/>
              </a:rPr>
              <a:t>10</a:t>
            </a:r>
            <a:endParaRPr sz="100">
              <a:latin typeface="Arial MT"/>
              <a:cs typeface="Arial MT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4310" y="1150290"/>
            <a:ext cx="2626809" cy="776299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6960234" y="4502658"/>
            <a:ext cx="251460" cy="530225"/>
          </a:xfrm>
          <a:custGeom>
            <a:avLst/>
            <a:gdLst/>
            <a:ahLst/>
            <a:cxnLst/>
            <a:rect l="l" t="t" r="r" b="b"/>
            <a:pathLst>
              <a:path w="251459" h="530225">
                <a:moveTo>
                  <a:pt x="210976" y="463213"/>
                </a:moveTo>
                <a:lnTo>
                  <a:pt x="182118" y="476504"/>
                </a:lnTo>
                <a:lnTo>
                  <a:pt x="248539" y="529717"/>
                </a:lnTo>
                <a:lnTo>
                  <a:pt x="250286" y="476504"/>
                </a:lnTo>
                <a:lnTo>
                  <a:pt x="250344" y="474726"/>
                </a:lnTo>
                <a:lnTo>
                  <a:pt x="216281" y="474726"/>
                </a:lnTo>
                <a:lnTo>
                  <a:pt x="210976" y="463213"/>
                </a:lnTo>
                <a:close/>
              </a:path>
              <a:path w="251459" h="530225">
                <a:moveTo>
                  <a:pt x="222535" y="457889"/>
                </a:moveTo>
                <a:lnTo>
                  <a:pt x="210976" y="463213"/>
                </a:lnTo>
                <a:lnTo>
                  <a:pt x="216281" y="474726"/>
                </a:lnTo>
                <a:lnTo>
                  <a:pt x="227838" y="469392"/>
                </a:lnTo>
                <a:lnTo>
                  <a:pt x="222535" y="457889"/>
                </a:lnTo>
                <a:close/>
              </a:path>
              <a:path w="251459" h="530225">
                <a:moveTo>
                  <a:pt x="251333" y="444627"/>
                </a:moveTo>
                <a:lnTo>
                  <a:pt x="222535" y="457889"/>
                </a:lnTo>
                <a:lnTo>
                  <a:pt x="227838" y="469392"/>
                </a:lnTo>
                <a:lnTo>
                  <a:pt x="216281" y="474726"/>
                </a:lnTo>
                <a:lnTo>
                  <a:pt x="250344" y="474726"/>
                </a:lnTo>
                <a:lnTo>
                  <a:pt x="251333" y="444627"/>
                </a:lnTo>
                <a:close/>
              </a:path>
              <a:path w="251459" h="530225">
                <a:moveTo>
                  <a:pt x="11430" y="0"/>
                </a:moveTo>
                <a:lnTo>
                  <a:pt x="0" y="5334"/>
                </a:lnTo>
                <a:lnTo>
                  <a:pt x="210976" y="463213"/>
                </a:lnTo>
                <a:lnTo>
                  <a:pt x="222535" y="457889"/>
                </a:lnTo>
                <a:lnTo>
                  <a:pt x="114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5835650" y="4502022"/>
            <a:ext cx="329565" cy="530860"/>
          </a:xfrm>
          <a:custGeom>
            <a:avLst/>
            <a:gdLst/>
            <a:ahLst/>
            <a:cxnLst/>
            <a:rect l="l" t="t" r="r" b="b"/>
            <a:pathLst>
              <a:path w="329564" h="530860">
                <a:moveTo>
                  <a:pt x="7492" y="445515"/>
                </a:moveTo>
                <a:lnTo>
                  <a:pt x="0" y="530351"/>
                </a:lnTo>
                <a:lnTo>
                  <a:pt x="72389" y="485394"/>
                </a:lnTo>
                <a:lnTo>
                  <a:pt x="62882" y="479551"/>
                </a:lnTo>
                <a:lnTo>
                  <a:pt x="38608" y="479551"/>
                </a:lnTo>
                <a:lnTo>
                  <a:pt x="27812" y="472947"/>
                </a:lnTo>
                <a:lnTo>
                  <a:pt x="34478" y="462098"/>
                </a:lnTo>
                <a:lnTo>
                  <a:pt x="7492" y="445515"/>
                </a:lnTo>
                <a:close/>
              </a:path>
              <a:path w="329564" h="530860">
                <a:moveTo>
                  <a:pt x="34478" y="462098"/>
                </a:moveTo>
                <a:lnTo>
                  <a:pt x="27812" y="472947"/>
                </a:lnTo>
                <a:lnTo>
                  <a:pt x="38608" y="479551"/>
                </a:lnTo>
                <a:lnTo>
                  <a:pt x="45262" y="468724"/>
                </a:lnTo>
                <a:lnTo>
                  <a:pt x="34478" y="462098"/>
                </a:lnTo>
                <a:close/>
              </a:path>
              <a:path w="329564" h="530860">
                <a:moveTo>
                  <a:pt x="45262" y="468724"/>
                </a:moveTo>
                <a:lnTo>
                  <a:pt x="38608" y="479551"/>
                </a:lnTo>
                <a:lnTo>
                  <a:pt x="62882" y="479551"/>
                </a:lnTo>
                <a:lnTo>
                  <a:pt x="45262" y="468724"/>
                </a:lnTo>
                <a:close/>
              </a:path>
              <a:path w="329564" h="530860">
                <a:moveTo>
                  <a:pt x="318388" y="0"/>
                </a:moveTo>
                <a:lnTo>
                  <a:pt x="34478" y="462098"/>
                </a:lnTo>
                <a:lnTo>
                  <a:pt x="45262" y="468724"/>
                </a:lnTo>
                <a:lnTo>
                  <a:pt x="329311" y="6603"/>
                </a:lnTo>
                <a:lnTo>
                  <a:pt x="3183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6481826" y="3707765"/>
            <a:ext cx="408305" cy="532765"/>
          </a:xfrm>
          <a:custGeom>
            <a:avLst/>
            <a:gdLst/>
            <a:ahLst/>
            <a:cxnLst/>
            <a:rect l="l" t="t" r="r" b="b"/>
            <a:pathLst>
              <a:path w="408304" h="532764">
                <a:moveTo>
                  <a:pt x="15875" y="448691"/>
                </a:moveTo>
                <a:lnTo>
                  <a:pt x="0" y="532384"/>
                </a:lnTo>
                <a:lnTo>
                  <a:pt x="76453" y="494919"/>
                </a:lnTo>
                <a:lnTo>
                  <a:pt x="64471" y="485775"/>
                </a:lnTo>
                <a:lnTo>
                  <a:pt x="43433" y="485775"/>
                </a:lnTo>
                <a:lnTo>
                  <a:pt x="33400" y="478155"/>
                </a:lnTo>
                <a:lnTo>
                  <a:pt x="41158" y="467985"/>
                </a:lnTo>
                <a:lnTo>
                  <a:pt x="15875" y="448691"/>
                </a:lnTo>
                <a:close/>
              </a:path>
              <a:path w="408304" h="532764">
                <a:moveTo>
                  <a:pt x="41158" y="467985"/>
                </a:moveTo>
                <a:lnTo>
                  <a:pt x="33400" y="478155"/>
                </a:lnTo>
                <a:lnTo>
                  <a:pt x="43433" y="485775"/>
                </a:lnTo>
                <a:lnTo>
                  <a:pt x="51174" y="475627"/>
                </a:lnTo>
                <a:lnTo>
                  <a:pt x="41158" y="467985"/>
                </a:lnTo>
                <a:close/>
              </a:path>
              <a:path w="408304" h="532764">
                <a:moveTo>
                  <a:pt x="51174" y="475627"/>
                </a:moveTo>
                <a:lnTo>
                  <a:pt x="43433" y="485775"/>
                </a:lnTo>
                <a:lnTo>
                  <a:pt x="64471" y="485775"/>
                </a:lnTo>
                <a:lnTo>
                  <a:pt x="51174" y="475627"/>
                </a:lnTo>
                <a:close/>
              </a:path>
              <a:path w="408304" h="532764">
                <a:moveTo>
                  <a:pt x="398145" y="0"/>
                </a:moveTo>
                <a:lnTo>
                  <a:pt x="41158" y="467985"/>
                </a:lnTo>
                <a:lnTo>
                  <a:pt x="51174" y="475627"/>
                </a:lnTo>
                <a:lnTo>
                  <a:pt x="408177" y="7620"/>
                </a:lnTo>
                <a:lnTo>
                  <a:pt x="3981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7688326" y="3707257"/>
            <a:ext cx="488950" cy="533400"/>
          </a:xfrm>
          <a:custGeom>
            <a:avLst/>
            <a:gdLst/>
            <a:ahLst/>
            <a:cxnLst/>
            <a:rect l="l" t="t" r="r" b="b"/>
            <a:pathLst>
              <a:path w="488950" h="533400">
                <a:moveTo>
                  <a:pt x="432703" y="481061"/>
                </a:moveTo>
                <a:lnTo>
                  <a:pt x="409321" y="502539"/>
                </a:lnTo>
                <a:lnTo>
                  <a:pt x="488823" y="532892"/>
                </a:lnTo>
                <a:lnTo>
                  <a:pt x="476722" y="490474"/>
                </a:lnTo>
                <a:lnTo>
                  <a:pt x="441325" y="490474"/>
                </a:lnTo>
                <a:lnTo>
                  <a:pt x="432703" y="481061"/>
                </a:lnTo>
                <a:close/>
              </a:path>
              <a:path w="488950" h="533400">
                <a:moveTo>
                  <a:pt x="442103" y="472426"/>
                </a:moveTo>
                <a:lnTo>
                  <a:pt x="432703" y="481061"/>
                </a:lnTo>
                <a:lnTo>
                  <a:pt x="441325" y="490474"/>
                </a:lnTo>
                <a:lnTo>
                  <a:pt x="450723" y="481838"/>
                </a:lnTo>
                <a:lnTo>
                  <a:pt x="442103" y="472426"/>
                </a:lnTo>
                <a:close/>
              </a:path>
              <a:path w="488950" h="533400">
                <a:moveTo>
                  <a:pt x="465454" y="450977"/>
                </a:moveTo>
                <a:lnTo>
                  <a:pt x="442103" y="472426"/>
                </a:lnTo>
                <a:lnTo>
                  <a:pt x="450723" y="481838"/>
                </a:lnTo>
                <a:lnTo>
                  <a:pt x="441325" y="490474"/>
                </a:lnTo>
                <a:lnTo>
                  <a:pt x="476722" y="490474"/>
                </a:lnTo>
                <a:lnTo>
                  <a:pt x="465454" y="450977"/>
                </a:lnTo>
                <a:close/>
              </a:path>
              <a:path w="488950" h="533400">
                <a:moveTo>
                  <a:pt x="9398" y="0"/>
                </a:moveTo>
                <a:lnTo>
                  <a:pt x="0" y="8636"/>
                </a:lnTo>
                <a:lnTo>
                  <a:pt x="432703" y="481061"/>
                </a:lnTo>
                <a:lnTo>
                  <a:pt x="442103" y="472426"/>
                </a:lnTo>
                <a:lnTo>
                  <a:pt x="93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6639686" y="2979547"/>
            <a:ext cx="569595" cy="468630"/>
          </a:xfrm>
          <a:custGeom>
            <a:avLst/>
            <a:gdLst/>
            <a:ahLst/>
            <a:cxnLst/>
            <a:rect l="l" t="t" r="r" b="b"/>
            <a:pathLst>
              <a:path w="569595" h="468629">
                <a:moveTo>
                  <a:pt x="506156" y="425120"/>
                </a:moveTo>
                <a:lnTo>
                  <a:pt x="486029" y="449579"/>
                </a:lnTo>
                <a:lnTo>
                  <a:pt x="569087" y="468502"/>
                </a:lnTo>
                <a:lnTo>
                  <a:pt x="553337" y="433197"/>
                </a:lnTo>
                <a:lnTo>
                  <a:pt x="516001" y="433197"/>
                </a:lnTo>
                <a:lnTo>
                  <a:pt x="506156" y="425120"/>
                </a:lnTo>
                <a:close/>
              </a:path>
              <a:path w="569595" h="468629">
                <a:moveTo>
                  <a:pt x="514297" y="415227"/>
                </a:moveTo>
                <a:lnTo>
                  <a:pt x="506156" y="425120"/>
                </a:lnTo>
                <a:lnTo>
                  <a:pt x="516001" y="433197"/>
                </a:lnTo>
                <a:lnTo>
                  <a:pt x="524129" y="423290"/>
                </a:lnTo>
                <a:lnTo>
                  <a:pt x="514297" y="415227"/>
                </a:lnTo>
                <a:close/>
              </a:path>
              <a:path w="569595" h="468629">
                <a:moveTo>
                  <a:pt x="534416" y="390778"/>
                </a:moveTo>
                <a:lnTo>
                  <a:pt x="514297" y="415227"/>
                </a:lnTo>
                <a:lnTo>
                  <a:pt x="524129" y="423290"/>
                </a:lnTo>
                <a:lnTo>
                  <a:pt x="516001" y="433197"/>
                </a:lnTo>
                <a:lnTo>
                  <a:pt x="553337" y="433197"/>
                </a:lnTo>
                <a:lnTo>
                  <a:pt x="534416" y="390778"/>
                </a:lnTo>
                <a:close/>
              </a:path>
              <a:path w="569595" h="468629">
                <a:moveTo>
                  <a:pt x="8001" y="0"/>
                </a:moveTo>
                <a:lnTo>
                  <a:pt x="0" y="9905"/>
                </a:lnTo>
                <a:lnTo>
                  <a:pt x="506156" y="425120"/>
                </a:lnTo>
                <a:lnTo>
                  <a:pt x="514297" y="415227"/>
                </a:lnTo>
                <a:lnTo>
                  <a:pt x="80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5270500" y="2979547"/>
            <a:ext cx="569595" cy="468630"/>
          </a:xfrm>
          <a:custGeom>
            <a:avLst/>
            <a:gdLst/>
            <a:ahLst/>
            <a:cxnLst/>
            <a:rect l="l" t="t" r="r" b="b"/>
            <a:pathLst>
              <a:path w="569595" h="468629">
                <a:moveTo>
                  <a:pt x="34798" y="390778"/>
                </a:moveTo>
                <a:lnTo>
                  <a:pt x="0" y="468502"/>
                </a:lnTo>
                <a:lnTo>
                  <a:pt x="83058" y="449579"/>
                </a:lnTo>
                <a:lnTo>
                  <a:pt x="69611" y="433197"/>
                </a:lnTo>
                <a:lnTo>
                  <a:pt x="53086" y="433197"/>
                </a:lnTo>
                <a:lnTo>
                  <a:pt x="45085" y="423290"/>
                </a:lnTo>
                <a:lnTo>
                  <a:pt x="54884" y="415252"/>
                </a:lnTo>
                <a:lnTo>
                  <a:pt x="34798" y="390778"/>
                </a:lnTo>
                <a:close/>
              </a:path>
              <a:path w="569595" h="468629">
                <a:moveTo>
                  <a:pt x="54884" y="415252"/>
                </a:moveTo>
                <a:lnTo>
                  <a:pt x="45085" y="423290"/>
                </a:lnTo>
                <a:lnTo>
                  <a:pt x="53086" y="433197"/>
                </a:lnTo>
                <a:lnTo>
                  <a:pt x="62963" y="425096"/>
                </a:lnTo>
                <a:lnTo>
                  <a:pt x="54884" y="415252"/>
                </a:lnTo>
                <a:close/>
              </a:path>
              <a:path w="569595" h="468629">
                <a:moveTo>
                  <a:pt x="62963" y="425096"/>
                </a:moveTo>
                <a:lnTo>
                  <a:pt x="53086" y="433197"/>
                </a:lnTo>
                <a:lnTo>
                  <a:pt x="69611" y="433197"/>
                </a:lnTo>
                <a:lnTo>
                  <a:pt x="62963" y="425096"/>
                </a:lnTo>
                <a:close/>
              </a:path>
              <a:path w="569595" h="468629">
                <a:moveTo>
                  <a:pt x="561086" y="0"/>
                </a:moveTo>
                <a:lnTo>
                  <a:pt x="54884" y="415252"/>
                </a:lnTo>
                <a:lnTo>
                  <a:pt x="62963" y="425096"/>
                </a:lnTo>
                <a:lnTo>
                  <a:pt x="569213" y="9905"/>
                </a:lnTo>
                <a:lnTo>
                  <a:pt x="5610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5788025" y="2720975"/>
            <a:ext cx="936625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120014">
              <a:lnSpc>
                <a:spcPct val="100000"/>
              </a:lnSpc>
              <a:spcBef>
                <a:spcPts val="325"/>
              </a:spcBef>
            </a:pPr>
            <a:r>
              <a:rPr dirty="0" sz="1600" spc="-10" b="1">
                <a:solidFill>
                  <a:srgbClr val="2C1892"/>
                </a:solidFill>
                <a:latin typeface="Arial"/>
                <a:cs typeface="Arial"/>
              </a:rPr>
              <a:t>Refund</a:t>
            </a:r>
            <a:endParaRPr sz="16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804025" y="3448050"/>
            <a:ext cx="935355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186055">
              <a:lnSpc>
                <a:spcPct val="100000"/>
              </a:lnSpc>
              <a:spcBef>
                <a:spcPts val="325"/>
              </a:spcBef>
            </a:pPr>
            <a:r>
              <a:rPr dirty="0" sz="1600" spc="-10" b="1">
                <a:solidFill>
                  <a:srgbClr val="2C1892"/>
                </a:solidFill>
                <a:latin typeface="Arial"/>
                <a:cs typeface="Arial"/>
              </a:rPr>
              <a:t>MarSt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078601" y="4240276"/>
            <a:ext cx="968375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172085">
              <a:lnSpc>
                <a:spcPct val="100000"/>
              </a:lnSpc>
              <a:spcBef>
                <a:spcPts val="325"/>
              </a:spcBef>
            </a:pPr>
            <a:r>
              <a:rPr dirty="0" sz="1600" spc="-10" b="1">
                <a:solidFill>
                  <a:srgbClr val="2C1892"/>
                </a:solidFill>
                <a:latin typeface="Arial"/>
                <a:cs typeface="Arial"/>
              </a:rPr>
              <a:t>TaxInc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7005701" y="5029200"/>
            <a:ext cx="627380" cy="367030"/>
          </a:xfrm>
          <a:custGeom>
            <a:avLst/>
            <a:gdLst/>
            <a:ahLst/>
            <a:cxnLst/>
            <a:rect l="l" t="t" r="r" b="b"/>
            <a:pathLst>
              <a:path w="627379" h="367029">
                <a:moveTo>
                  <a:pt x="565530" y="0"/>
                </a:moveTo>
                <a:lnTo>
                  <a:pt x="61468" y="0"/>
                </a:lnTo>
                <a:lnTo>
                  <a:pt x="37504" y="4835"/>
                </a:lnTo>
                <a:lnTo>
                  <a:pt x="17970" y="18018"/>
                </a:lnTo>
                <a:lnTo>
                  <a:pt x="4818" y="37558"/>
                </a:lnTo>
                <a:lnTo>
                  <a:pt x="0" y="61468"/>
                </a:lnTo>
                <a:lnTo>
                  <a:pt x="0" y="305181"/>
                </a:lnTo>
                <a:lnTo>
                  <a:pt x="4818" y="329164"/>
                </a:lnTo>
                <a:lnTo>
                  <a:pt x="17970" y="348741"/>
                </a:lnTo>
                <a:lnTo>
                  <a:pt x="37504" y="361938"/>
                </a:lnTo>
                <a:lnTo>
                  <a:pt x="61468" y="366775"/>
                </a:lnTo>
                <a:lnTo>
                  <a:pt x="565530" y="366775"/>
                </a:lnTo>
                <a:lnTo>
                  <a:pt x="589440" y="361938"/>
                </a:lnTo>
                <a:lnTo>
                  <a:pt x="608980" y="348741"/>
                </a:lnTo>
                <a:lnTo>
                  <a:pt x="622163" y="329164"/>
                </a:lnTo>
                <a:lnTo>
                  <a:pt x="626999" y="305181"/>
                </a:lnTo>
                <a:lnTo>
                  <a:pt x="626999" y="61468"/>
                </a:lnTo>
                <a:lnTo>
                  <a:pt x="622163" y="37558"/>
                </a:lnTo>
                <a:lnTo>
                  <a:pt x="608980" y="18018"/>
                </a:lnTo>
                <a:lnTo>
                  <a:pt x="589440" y="4835"/>
                </a:lnTo>
                <a:lnTo>
                  <a:pt x="565530" y="0"/>
                </a:lnTo>
                <a:close/>
              </a:path>
            </a:pathLst>
          </a:custGeom>
          <a:solidFill>
            <a:srgbClr val="33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7057135" y="5058232"/>
            <a:ext cx="43243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solidFill>
                  <a:srgbClr val="800000"/>
                </a:solidFill>
                <a:latin typeface="Arial"/>
                <a:cs typeface="Arial"/>
              </a:rPr>
              <a:t>YES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5513451" y="5046726"/>
            <a:ext cx="654050" cy="363855"/>
          </a:xfrm>
          <a:custGeom>
            <a:avLst/>
            <a:gdLst/>
            <a:ahLst/>
            <a:cxnLst/>
            <a:rect l="l" t="t" r="r" b="b"/>
            <a:pathLst>
              <a:path w="654050" h="363854">
                <a:moveTo>
                  <a:pt x="593344" y="0"/>
                </a:moveTo>
                <a:lnTo>
                  <a:pt x="60578" y="0"/>
                </a:lnTo>
                <a:lnTo>
                  <a:pt x="36968" y="4750"/>
                </a:lnTo>
                <a:lnTo>
                  <a:pt x="17716" y="17716"/>
                </a:lnTo>
                <a:lnTo>
                  <a:pt x="4750" y="36968"/>
                </a:lnTo>
                <a:lnTo>
                  <a:pt x="0" y="60579"/>
                </a:lnTo>
                <a:lnTo>
                  <a:pt x="0" y="302895"/>
                </a:lnTo>
                <a:lnTo>
                  <a:pt x="4750" y="326451"/>
                </a:lnTo>
                <a:lnTo>
                  <a:pt x="17716" y="345709"/>
                </a:lnTo>
                <a:lnTo>
                  <a:pt x="36968" y="358705"/>
                </a:lnTo>
                <a:lnTo>
                  <a:pt x="60578" y="363474"/>
                </a:lnTo>
                <a:lnTo>
                  <a:pt x="593344" y="363474"/>
                </a:lnTo>
                <a:lnTo>
                  <a:pt x="616973" y="358705"/>
                </a:lnTo>
                <a:lnTo>
                  <a:pt x="636269" y="345709"/>
                </a:lnTo>
                <a:lnTo>
                  <a:pt x="649279" y="326451"/>
                </a:lnTo>
                <a:lnTo>
                  <a:pt x="654050" y="302895"/>
                </a:lnTo>
                <a:lnTo>
                  <a:pt x="654050" y="60579"/>
                </a:lnTo>
                <a:lnTo>
                  <a:pt x="649279" y="36968"/>
                </a:lnTo>
                <a:lnTo>
                  <a:pt x="636269" y="17716"/>
                </a:lnTo>
                <a:lnTo>
                  <a:pt x="616973" y="4750"/>
                </a:lnTo>
                <a:lnTo>
                  <a:pt x="593344" y="0"/>
                </a:lnTo>
                <a:close/>
              </a:path>
            </a:pathLst>
          </a:custGeom>
          <a:solidFill>
            <a:srgbClr val="33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5690361" y="5061965"/>
            <a:ext cx="3295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solidFill>
                  <a:srgbClr val="800000"/>
                </a:solidFill>
                <a:latin typeface="Arial"/>
                <a:cs typeface="Arial"/>
              </a:rPr>
              <a:t>NO</a:t>
            </a:r>
            <a:endParaRPr sz="1600">
              <a:latin typeface="Arial"/>
              <a:cs typeface="Arial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4948301" y="3462273"/>
            <a:ext cx="685800" cy="347980"/>
          </a:xfrm>
          <a:custGeom>
            <a:avLst/>
            <a:gdLst/>
            <a:ahLst/>
            <a:cxnLst/>
            <a:rect l="l" t="t" r="r" b="b"/>
            <a:pathLst>
              <a:path w="685800" h="347979">
                <a:moveTo>
                  <a:pt x="627761" y="0"/>
                </a:moveTo>
                <a:lnTo>
                  <a:pt x="57912" y="0"/>
                </a:lnTo>
                <a:lnTo>
                  <a:pt x="35361" y="4568"/>
                </a:lnTo>
                <a:lnTo>
                  <a:pt x="16954" y="17018"/>
                </a:lnTo>
                <a:lnTo>
                  <a:pt x="4548" y="35468"/>
                </a:lnTo>
                <a:lnTo>
                  <a:pt x="0" y="58038"/>
                </a:lnTo>
                <a:lnTo>
                  <a:pt x="0" y="289813"/>
                </a:lnTo>
                <a:lnTo>
                  <a:pt x="4548" y="312364"/>
                </a:lnTo>
                <a:lnTo>
                  <a:pt x="16954" y="330771"/>
                </a:lnTo>
                <a:lnTo>
                  <a:pt x="35361" y="343177"/>
                </a:lnTo>
                <a:lnTo>
                  <a:pt x="57912" y="347725"/>
                </a:lnTo>
                <a:lnTo>
                  <a:pt x="627761" y="347725"/>
                </a:lnTo>
                <a:lnTo>
                  <a:pt x="650331" y="343177"/>
                </a:lnTo>
                <a:lnTo>
                  <a:pt x="668781" y="330771"/>
                </a:lnTo>
                <a:lnTo>
                  <a:pt x="681231" y="312364"/>
                </a:lnTo>
                <a:lnTo>
                  <a:pt x="685800" y="289813"/>
                </a:lnTo>
                <a:lnTo>
                  <a:pt x="685800" y="58038"/>
                </a:lnTo>
                <a:lnTo>
                  <a:pt x="681231" y="35468"/>
                </a:lnTo>
                <a:lnTo>
                  <a:pt x="668781" y="17018"/>
                </a:lnTo>
                <a:lnTo>
                  <a:pt x="650331" y="4568"/>
                </a:lnTo>
                <a:lnTo>
                  <a:pt x="627761" y="0"/>
                </a:lnTo>
                <a:close/>
              </a:path>
            </a:pathLst>
          </a:custGeom>
          <a:solidFill>
            <a:srgbClr val="33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5123434" y="3477259"/>
            <a:ext cx="3302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solidFill>
                  <a:srgbClr val="800000"/>
                </a:solidFill>
                <a:latin typeface="Arial"/>
                <a:cs typeface="Arial"/>
              </a:rPr>
              <a:t>NO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7843901" y="4267200"/>
            <a:ext cx="685800" cy="381000"/>
          </a:xfrm>
          <a:custGeom>
            <a:avLst/>
            <a:gdLst/>
            <a:ahLst/>
            <a:cxnLst/>
            <a:rect l="l" t="t" r="r" b="b"/>
            <a:pathLst>
              <a:path w="685800" h="381000">
                <a:moveTo>
                  <a:pt x="622173" y="0"/>
                </a:moveTo>
                <a:lnTo>
                  <a:pt x="63500" y="0"/>
                </a:lnTo>
                <a:lnTo>
                  <a:pt x="38736" y="4992"/>
                </a:lnTo>
                <a:lnTo>
                  <a:pt x="18557" y="18605"/>
                </a:lnTo>
                <a:lnTo>
                  <a:pt x="4974" y="38790"/>
                </a:lnTo>
                <a:lnTo>
                  <a:pt x="0" y="63500"/>
                </a:lnTo>
                <a:lnTo>
                  <a:pt x="0" y="317500"/>
                </a:lnTo>
                <a:lnTo>
                  <a:pt x="4974" y="342209"/>
                </a:lnTo>
                <a:lnTo>
                  <a:pt x="18557" y="362394"/>
                </a:lnTo>
                <a:lnTo>
                  <a:pt x="38736" y="376007"/>
                </a:lnTo>
                <a:lnTo>
                  <a:pt x="63500" y="381000"/>
                </a:lnTo>
                <a:lnTo>
                  <a:pt x="622173" y="381000"/>
                </a:lnTo>
                <a:lnTo>
                  <a:pt x="646955" y="376007"/>
                </a:lnTo>
                <a:lnTo>
                  <a:pt x="667178" y="362394"/>
                </a:lnTo>
                <a:lnTo>
                  <a:pt x="680805" y="342209"/>
                </a:lnTo>
                <a:lnTo>
                  <a:pt x="685800" y="317500"/>
                </a:lnTo>
                <a:lnTo>
                  <a:pt x="685800" y="63500"/>
                </a:lnTo>
                <a:lnTo>
                  <a:pt x="680805" y="38790"/>
                </a:lnTo>
                <a:lnTo>
                  <a:pt x="667178" y="18605"/>
                </a:lnTo>
                <a:lnTo>
                  <a:pt x="646955" y="4992"/>
                </a:lnTo>
                <a:lnTo>
                  <a:pt x="622173" y="0"/>
                </a:lnTo>
                <a:close/>
              </a:path>
            </a:pathLst>
          </a:custGeom>
          <a:solidFill>
            <a:srgbClr val="33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8000492" y="4296536"/>
            <a:ext cx="3295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solidFill>
                  <a:srgbClr val="800000"/>
                </a:solidFill>
                <a:latin typeface="Arial"/>
                <a:cs typeface="Arial"/>
              </a:rPr>
              <a:t>NO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5160390" y="3013710"/>
            <a:ext cx="3543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45">
                <a:latin typeface="Arial MT"/>
                <a:cs typeface="Arial MT"/>
              </a:rPr>
              <a:t>Yes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7005955" y="3013710"/>
            <a:ext cx="2844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Arial MT"/>
                <a:cs typeface="Arial MT"/>
              </a:rPr>
              <a:t>No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7988934" y="3779011"/>
            <a:ext cx="7124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Arial MT"/>
                <a:cs typeface="Arial MT"/>
              </a:rPr>
              <a:t>Married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5770879" y="3807028"/>
            <a:ext cx="15036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Arial MT"/>
                <a:cs typeface="Arial MT"/>
              </a:rPr>
              <a:t>Single,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Divorced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5391403" y="4599813"/>
            <a:ext cx="5626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Arial MT"/>
                <a:cs typeface="Arial MT"/>
              </a:rPr>
              <a:t>&lt; </a:t>
            </a:r>
            <a:r>
              <a:rPr dirty="0" sz="1600" spc="-25">
                <a:latin typeface="Arial MT"/>
                <a:cs typeface="Arial MT"/>
              </a:rPr>
              <a:t>80K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7166609" y="4599813"/>
            <a:ext cx="5626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Arial MT"/>
                <a:cs typeface="Arial MT"/>
              </a:rPr>
              <a:t>&gt; </a:t>
            </a:r>
            <a:r>
              <a:rPr dirty="0" sz="1600" spc="-25">
                <a:latin typeface="Arial MT"/>
                <a:cs typeface="Arial MT"/>
              </a:rPr>
              <a:t>80K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6516751" y="1794128"/>
            <a:ext cx="20739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solidFill>
                  <a:srgbClr val="FF0000"/>
                </a:solidFill>
                <a:latin typeface="Arial"/>
                <a:cs typeface="Arial"/>
              </a:rPr>
              <a:t>Splitting</a:t>
            </a:r>
            <a:r>
              <a:rPr dirty="0" sz="1800" spc="-120" b="1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spc="-10" b="1" i="1">
                <a:solidFill>
                  <a:srgbClr val="FF0000"/>
                </a:solidFill>
                <a:latin typeface="Arial"/>
                <a:cs typeface="Arial"/>
              </a:rPr>
              <a:t>Attributes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 descr=""/>
          <p:cNvSpPr/>
          <p:nvPr/>
        </p:nvSpPr>
        <p:spPr>
          <a:xfrm>
            <a:off x="6805676" y="2142235"/>
            <a:ext cx="542290" cy="541020"/>
          </a:xfrm>
          <a:custGeom>
            <a:avLst/>
            <a:gdLst/>
            <a:ahLst/>
            <a:cxnLst/>
            <a:rect l="l" t="t" r="r" b="b"/>
            <a:pathLst>
              <a:path w="542290" h="541019">
                <a:moveTo>
                  <a:pt x="530859" y="0"/>
                </a:moveTo>
                <a:lnTo>
                  <a:pt x="485901" y="44830"/>
                </a:lnTo>
                <a:lnTo>
                  <a:pt x="497204" y="56134"/>
                </a:lnTo>
                <a:lnTo>
                  <a:pt x="542163" y="11302"/>
                </a:lnTo>
                <a:lnTo>
                  <a:pt x="530859" y="0"/>
                </a:lnTo>
                <a:close/>
              </a:path>
              <a:path w="542290" h="541019">
                <a:moveTo>
                  <a:pt x="452247" y="78486"/>
                </a:moveTo>
                <a:lnTo>
                  <a:pt x="407289" y="123316"/>
                </a:lnTo>
                <a:lnTo>
                  <a:pt x="418465" y="134619"/>
                </a:lnTo>
                <a:lnTo>
                  <a:pt x="463423" y="89788"/>
                </a:lnTo>
                <a:lnTo>
                  <a:pt x="452247" y="78486"/>
                </a:lnTo>
                <a:close/>
              </a:path>
              <a:path w="542290" h="541019">
                <a:moveTo>
                  <a:pt x="373506" y="156972"/>
                </a:moveTo>
                <a:lnTo>
                  <a:pt x="328549" y="201802"/>
                </a:lnTo>
                <a:lnTo>
                  <a:pt x="339725" y="212978"/>
                </a:lnTo>
                <a:lnTo>
                  <a:pt x="384682" y="168148"/>
                </a:lnTo>
                <a:lnTo>
                  <a:pt x="373506" y="156972"/>
                </a:lnTo>
                <a:close/>
              </a:path>
              <a:path w="542290" h="541019">
                <a:moveTo>
                  <a:pt x="294767" y="235458"/>
                </a:moveTo>
                <a:lnTo>
                  <a:pt x="249808" y="280288"/>
                </a:lnTo>
                <a:lnTo>
                  <a:pt x="261112" y="291464"/>
                </a:lnTo>
                <a:lnTo>
                  <a:pt x="306070" y="246634"/>
                </a:lnTo>
                <a:lnTo>
                  <a:pt x="294767" y="235458"/>
                </a:lnTo>
                <a:close/>
              </a:path>
              <a:path w="542290" h="541019">
                <a:moveTo>
                  <a:pt x="216153" y="313816"/>
                </a:moveTo>
                <a:lnTo>
                  <a:pt x="171196" y="358648"/>
                </a:lnTo>
                <a:lnTo>
                  <a:pt x="182372" y="369950"/>
                </a:lnTo>
                <a:lnTo>
                  <a:pt x="227329" y="325119"/>
                </a:lnTo>
                <a:lnTo>
                  <a:pt x="216153" y="313816"/>
                </a:lnTo>
                <a:close/>
              </a:path>
              <a:path w="542290" h="541019">
                <a:moveTo>
                  <a:pt x="137414" y="392302"/>
                </a:moveTo>
                <a:lnTo>
                  <a:pt x="92455" y="437134"/>
                </a:lnTo>
                <a:lnTo>
                  <a:pt x="103631" y="448437"/>
                </a:lnTo>
                <a:lnTo>
                  <a:pt x="148590" y="403605"/>
                </a:lnTo>
                <a:lnTo>
                  <a:pt x="137414" y="392302"/>
                </a:lnTo>
                <a:close/>
              </a:path>
              <a:path w="542290" h="541019">
                <a:moveTo>
                  <a:pt x="27050" y="459866"/>
                </a:moveTo>
                <a:lnTo>
                  <a:pt x="0" y="540638"/>
                </a:lnTo>
                <a:lnTo>
                  <a:pt x="80772" y="513841"/>
                </a:lnTo>
                <a:lnTo>
                  <a:pt x="68384" y="501396"/>
                </a:lnTo>
                <a:lnTo>
                  <a:pt x="50546" y="501396"/>
                </a:lnTo>
                <a:lnTo>
                  <a:pt x="39243" y="490219"/>
                </a:lnTo>
                <a:lnTo>
                  <a:pt x="48302" y="481219"/>
                </a:lnTo>
                <a:lnTo>
                  <a:pt x="27050" y="459866"/>
                </a:lnTo>
                <a:close/>
              </a:path>
              <a:path w="542290" h="541019">
                <a:moveTo>
                  <a:pt x="48302" y="481219"/>
                </a:moveTo>
                <a:lnTo>
                  <a:pt x="39243" y="490219"/>
                </a:lnTo>
                <a:lnTo>
                  <a:pt x="50546" y="501396"/>
                </a:lnTo>
                <a:lnTo>
                  <a:pt x="59515" y="492485"/>
                </a:lnTo>
                <a:lnTo>
                  <a:pt x="48302" y="481219"/>
                </a:lnTo>
                <a:close/>
              </a:path>
              <a:path w="542290" h="541019">
                <a:moveTo>
                  <a:pt x="59515" y="492485"/>
                </a:moveTo>
                <a:lnTo>
                  <a:pt x="50546" y="501396"/>
                </a:lnTo>
                <a:lnTo>
                  <a:pt x="68384" y="501396"/>
                </a:lnTo>
                <a:lnTo>
                  <a:pt x="59515" y="492485"/>
                </a:lnTo>
                <a:close/>
              </a:path>
              <a:path w="542290" h="541019">
                <a:moveTo>
                  <a:pt x="58800" y="470788"/>
                </a:moveTo>
                <a:lnTo>
                  <a:pt x="48302" y="481219"/>
                </a:lnTo>
                <a:lnTo>
                  <a:pt x="59515" y="492485"/>
                </a:lnTo>
                <a:lnTo>
                  <a:pt x="69976" y="482091"/>
                </a:lnTo>
                <a:lnTo>
                  <a:pt x="58800" y="47078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2" name="object 32" descr=""/>
          <p:cNvGrpSpPr/>
          <p:nvPr/>
        </p:nvGrpSpPr>
        <p:grpSpPr>
          <a:xfrm>
            <a:off x="3803650" y="3803650"/>
            <a:ext cx="927100" cy="306705"/>
            <a:chOff x="3803650" y="3803650"/>
            <a:chExt cx="927100" cy="306705"/>
          </a:xfrm>
        </p:grpSpPr>
        <p:sp>
          <p:nvSpPr>
            <p:cNvPr id="33" name="object 33" descr=""/>
            <p:cNvSpPr/>
            <p:nvPr/>
          </p:nvSpPr>
          <p:spPr>
            <a:xfrm>
              <a:off x="3810000" y="3810000"/>
              <a:ext cx="914400" cy="294005"/>
            </a:xfrm>
            <a:custGeom>
              <a:avLst/>
              <a:gdLst/>
              <a:ahLst/>
              <a:cxnLst/>
              <a:rect l="l" t="t" r="r" b="b"/>
              <a:pathLst>
                <a:path w="914400" h="294004">
                  <a:moveTo>
                    <a:pt x="685800" y="0"/>
                  </a:moveTo>
                  <a:lnTo>
                    <a:pt x="685800" y="73406"/>
                  </a:lnTo>
                  <a:lnTo>
                    <a:pt x="0" y="73406"/>
                  </a:lnTo>
                  <a:lnTo>
                    <a:pt x="0" y="220218"/>
                  </a:lnTo>
                  <a:lnTo>
                    <a:pt x="685800" y="220218"/>
                  </a:lnTo>
                  <a:lnTo>
                    <a:pt x="685800" y="293624"/>
                  </a:lnTo>
                  <a:lnTo>
                    <a:pt x="914400" y="146812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3810000" y="3810000"/>
              <a:ext cx="914400" cy="294005"/>
            </a:xfrm>
            <a:custGeom>
              <a:avLst/>
              <a:gdLst/>
              <a:ahLst/>
              <a:cxnLst/>
              <a:rect l="l" t="t" r="r" b="b"/>
              <a:pathLst>
                <a:path w="914400" h="294004">
                  <a:moveTo>
                    <a:pt x="0" y="73406"/>
                  </a:moveTo>
                  <a:lnTo>
                    <a:pt x="685800" y="73406"/>
                  </a:lnTo>
                  <a:lnTo>
                    <a:pt x="685800" y="0"/>
                  </a:lnTo>
                  <a:lnTo>
                    <a:pt x="914400" y="146812"/>
                  </a:lnTo>
                  <a:lnTo>
                    <a:pt x="685800" y="293624"/>
                  </a:lnTo>
                  <a:lnTo>
                    <a:pt x="685800" y="220218"/>
                  </a:lnTo>
                  <a:lnTo>
                    <a:pt x="0" y="220218"/>
                  </a:lnTo>
                  <a:lnTo>
                    <a:pt x="0" y="73406"/>
                  </a:lnTo>
                  <a:close/>
                </a:path>
              </a:pathLst>
            </a:custGeom>
            <a:ln w="12700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/>
          <p:nvPr/>
        </p:nvSpPr>
        <p:spPr>
          <a:xfrm>
            <a:off x="7410450" y="2147316"/>
            <a:ext cx="117475" cy="1145540"/>
          </a:xfrm>
          <a:custGeom>
            <a:avLst/>
            <a:gdLst/>
            <a:ahLst/>
            <a:cxnLst/>
            <a:rect l="l" t="t" r="r" b="b"/>
            <a:pathLst>
              <a:path w="117475" h="1145539">
                <a:moveTo>
                  <a:pt x="15875" y="0"/>
                </a:moveTo>
                <a:lnTo>
                  <a:pt x="0" y="1143"/>
                </a:lnTo>
                <a:lnTo>
                  <a:pt x="4115" y="63373"/>
                </a:lnTo>
                <a:lnTo>
                  <a:pt x="4191" y="64516"/>
                </a:lnTo>
                <a:lnTo>
                  <a:pt x="20066" y="63373"/>
                </a:lnTo>
                <a:lnTo>
                  <a:pt x="15950" y="1143"/>
                </a:lnTo>
                <a:lnTo>
                  <a:pt x="15875" y="0"/>
                </a:lnTo>
                <a:close/>
              </a:path>
              <a:path w="117475" h="1145539">
                <a:moveTo>
                  <a:pt x="23241" y="110871"/>
                </a:moveTo>
                <a:lnTo>
                  <a:pt x="7366" y="112013"/>
                </a:lnTo>
                <a:lnTo>
                  <a:pt x="11481" y="174244"/>
                </a:lnTo>
                <a:lnTo>
                  <a:pt x="11556" y="175387"/>
                </a:lnTo>
                <a:lnTo>
                  <a:pt x="27431" y="174244"/>
                </a:lnTo>
                <a:lnTo>
                  <a:pt x="23316" y="112013"/>
                </a:lnTo>
                <a:lnTo>
                  <a:pt x="23241" y="110871"/>
                </a:lnTo>
                <a:close/>
              </a:path>
              <a:path w="117475" h="1145539">
                <a:moveTo>
                  <a:pt x="30606" y="221742"/>
                </a:moveTo>
                <a:lnTo>
                  <a:pt x="14731" y="222885"/>
                </a:lnTo>
                <a:lnTo>
                  <a:pt x="18972" y="285114"/>
                </a:lnTo>
                <a:lnTo>
                  <a:pt x="19050" y="286258"/>
                </a:lnTo>
                <a:lnTo>
                  <a:pt x="34798" y="285114"/>
                </a:lnTo>
                <a:lnTo>
                  <a:pt x="30682" y="222885"/>
                </a:lnTo>
                <a:lnTo>
                  <a:pt x="30606" y="221742"/>
                </a:lnTo>
                <a:close/>
              </a:path>
              <a:path w="117475" h="1145539">
                <a:moveTo>
                  <a:pt x="37973" y="332739"/>
                </a:moveTo>
                <a:lnTo>
                  <a:pt x="22098" y="333756"/>
                </a:lnTo>
                <a:lnTo>
                  <a:pt x="26338" y="395986"/>
                </a:lnTo>
                <a:lnTo>
                  <a:pt x="26416" y="397129"/>
                </a:lnTo>
                <a:lnTo>
                  <a:pt x="42164" y="395986"/>
                </a:lnTo>
                <a:lnTo>
                  <a:pt x="38040" y="333756"/>
                </a:lnTo>
                <a:lnTo>
                  <a:pt x="37973" y="332739"/>
                </a:lnTo>
                <a:close/>
              </a:path>
              <a:path w="117475" h="1145539">
                <a:moveTo>
                  <a:pt x="45339" y="443611"/>
                </a:moveTo>
                <a:lnTo>
                  <a:pt x="29591" y="444626"/>
                </a:lnTo>
                <a:lnTo>
                  <a:pt x="33714" y="506984"/>
                </a:lnTo>
                <a:lnTo>
                  <a:pt x="33781" y="508000"/>
                </a:lnTo>
                <a:lnTo>
                  <a:pt x="49656" y="506984"/>
                </a:lnTo>
                <a:lnTo>
                  <a:pt x="45408" y="444626"/>
                </a:lnTo>
                <a:lnTo>
                  <a:pt x="45339" y="443611"/>
                </a:lnTo>
                <a:close/>
              </a:path>
              <a:path w="117475" h="1145539">
                <a:moveTo>
                  <a:pt x="52704" y="554482"/>
                </a:moveTo>
                <a:lnTo>
                  <a:pt x="36956" y="555498"/>
                </a:lnTo>
                <a:lnTo>
                  <a:pt x="41080" y="617855"/>
                </a:lnTo>
                <a:lnTo>
                  <a:pt x="41148" y="618871"/>
                </a:lnTo>
                <a:lnTo>
                  <a:pt x="57023" y="617855"/>
                </a:lnTo>
                <a:lnTo>
                  <a:pt x="52774" y="555498"/>
                </a:lnTo>
                <a:lnTo>
                  <a:pt x="52704" y="554482"/>
                </a:lnTo>
                <a:close/>
              </a:path>
              <a:path w="117475" h="1145539">
                <a:moveTo>
                  <a:pt x="60198" y="665353"/>
                </a:moveTo>
                <a:lnTo>
                  <a:pt x="44323" y="666369"/>
                </a:lnTo>
                <a:lnTo>
                  <a:pt x="48446" y="728726"/>
                </a:lnTo>
                <a:lnTo>
                  <a:pt x="48514" y="729742"/>
                </a:lnTo>
                <a:lnTo>
                  <a:pt x="64389" y="728726"/>
                </a:lnTo>
                <a:lnTo>
                  <a:pt x="60265" y="666369"/>
                </a:lnTo>
                <a:lnTo>
                  <a:pt x="60198" y="665353"/>
                </a:lnTo>
                <a:close/>
              </a:path>
              <a:path w="117475" h="1145539">
                <a:moveTo>
                  <a:pt x="67564" y="776224"/>
                </a:moveTo>
                <a:lnTo>
                  <a:pt x="51689" y="777239"/>
                </a:lnTo>
                <a:lnTo>
                  <a:pt x="55812" y="839597"/>
                </a:lnTo>
                <a:lnTo>
                  <a:pt x="55879" y="840613"/>
                </a:lnTo>
                <a:lnTo>
                  <a:pt x="71754" y="839597"/>
                </a:lnTo>
                <a:lnTo>
                  <a:pt x="67631" y="777239"/>
                </a:lnTo>
                <a:lnTo>
                  <a:pt x="67564" y="776224"/>
                </a:lnTo>
                <a:close/>
              </a:path>
              <a:path w="117475" h="1145539">
                <a:moveTo>
                  <a:pt x="74929" y="887095"/>
                </a:moveTo>
                <a:lnTo>
                  <a:pt x="59054" y="888111"/>
                </a:lnTo>
                <a:lnTo>
                  <a:pt x="63178" y="950468"/>
                </a:lnTo>
                <a:lnTo>
                  <a:pt x="63246" y="951484"/>
                </a:lnTo>
                <a:lnTo>
                  <a:pt x="79121" y="950468"/>
                </a:lnTo>
                <a:lnTo>
                  <a:pt x="74997" y="888111"/>
                </a:lnTo>
                <a:lnTo>
                  <a:pt x="74929" y="887095"/>
                </a:lnTo>
                <a:close/>
              </a:path>
              <a:path w="117475" h="1145539">
                <a:moveTo>
                  <a:pt x="82296" y="997966"/>
                </a:moveTo>
                <a:lnTo>
                  <a:pt x="66421" y="998982"/>
                </a:lnTo>
                <a:lnTo>
                  <a:pt x="70544" y="1061339"/>
                </a:lnTo>
                <a:lnTo>
                  <a:pt x="70611" y="1062355"/>
                </a:lnTo>
                <a:lnTo>
                  <a:pt x="86486" y="1061339"/>
                </a:lnTo>
                <a:lnTo>
                  <a:pt x="82363" y="998982"/>
                </a:lnTo>
                <a:lnTo>
                  <a:pt x="82296" y="997966"/>
                </a:lnTo>
                <a:close/>
              </a:path>
              <a:path w="117475" h="1145539">
                <a:moveTo>
                  <a:pt x="117094" y="1066546"/>
                </a:moveTo>
                <a:lnTo>
                  <a:pt x="41021" y="1071626"/>
                </a:lnTo>
                <a:lnTo>
                  <a:pt x="84074" y="1145159"/>
                </a:lnTo>
                <a:lnTo>
                  <a:pt x="117094" y="106654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 txBox="1"/>
          <p:nvPr/>
        </p:nvSpPr>
        <p:spPr>
          <a:xfrm>
            <a:off x="1201318" y="5833059"/>
            <a:ext cx="163576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latin typeface="Arial"/>
                <a:cs typeface="Arial"/>
              </a:rPr>
              <a:t>Training</a:t>
            </a:r>
            <a:r>
              <a:rPr dirty="0" sz="2000" spc="-100" b="1">
                <a:latin typeface="Arial"/>
                <a:cs typeface="Arial"/>
              </a:rPr>
              <a:t> </a:t>
            </a:r>
            <a:r>
              <a:rPr dirty="0" sz="2000" spc="-20" b="1">
                <a:latin typeface="Arial"/>
                <a:cs typeface="Arial"/>
              </a:rPr>
              <a:t>Data</a:t>
            </a:r>
            <a:endParaRPr sz="2000">
              <a:latin typeface="Arial"/>
              <a:cs typeface="Arial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8478773" y="6675449"/>
            <a:ext cx="586105" cy="1276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z="800" b="1">
                <a:latin typeface="Calibri"/>
                <a:cs typeface="Calibri"/>
              </a:rPr>
              <a:t>Slide</a:t>
            </a:r>
            <a:r>
              <a:rPr dirty="0" sz="800" spc="-15" b="1">
                <a:latin typeface="Calibri"/>
                <a:cs typeface="Calibri"/>
              </a:rPr>
              <a:t> </a:t>
            </a:r>
            <a:r>
              <a:rPr dirty="0" sz="800" b="1">
                <a:latin typeface="Calibri"/>
                <a:cs typeface="Calibri"/>
              </a:rPr>
              <a:t>40</a:t>
            </a:r>
            <a:r>
              <a:rPr dirty="0" sz="800" spc="-30" b="1">
                <a:latin typeface="Calibri"/>
                <a:cs typeface="Calibri"/>
              </a:rPr>
              <a:t> </a:t>
            </a:r>
            <a:r>
              <a:rPr dirty="0" sz="800" b="1">
                <a:latin typeface="Calibri"/>
                <a:cs typeface="Calibri"/>
              </a:rPr>
              <a:t>of</a:t>
            </a:r>
            <a:r>
              <a:rPr dirty="0" sz="800" spc="-25" b="1">
                <a:latin typeface="Calibri"/>
                <a:cs typeface="Calibri"/>
              </a:rPr>
              <a:t> 43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5274055" y="5801359"/>
            <a:ext cx="263588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69644" algn="l"/>
              </a:tabLst>
            </a:pPr>
            <a:r>
              <a:rPr dirty="0" sz="2000" spc="-10" b="1">
                <a:latin typeface="Arial"/>
                <a:cs typeface="Arial"/>
              </a:rPr>
              <a:t>Model:</a:t>
            </a:r>
            <a:r>
              <a:rPr dirty="0" sz="2000" b="1">
                <a:latin typeface="Arial"/>
                <a:cs typeface="Arial"/>
              </a:rPr>
              <a:t>	Decision</a:t>
            </a:r>
            <a:r>
              <a:rPr dirty="0" sz="2000" spc="-25" b="1">
                <a:latin typeface="Arial"/>
                <a:cs typeface="Arial"/>
              </a:rPr>
              <a:t> </a:t>
            </a:r>
            <a:r>
              <a:rPr dirty="0" sz="2000" spc="-20" b="1">
                <a:latin typeface="Arial"/>
                <a:cs typeface="Arial"/>
              </a:rPr>
              <a:t>Tree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52777" y="250316"/>
            <a:ext cx="566483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252573"/>
                </a:solidFill>
                <a:latin typeface="Arial"/>
                <a:cs typeface="Arial"/>
              </a:rPr>
              <a:t>Example</a:t>
            </a:r>
            <a:r>
              <a:rPr dirty="0" sz="3600" spc="-1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600">
                <a:solidFill>
                  <a:srgbClr val="252573"/>
                </a:solidFill>
                <a:latin typeface="Arial"/>
                <a:cs typeface="Arial"/>
              </a:rPr>
              <a:t>2</a:t>
            </a:r>
            <a:r>
              <a:rPr dirty="0" sz="3600" spc="-2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600">
                <a:solidFill>
                  <a:srgbClr val="252573"/>
                </a:solidFill>
                <a:latin typeface="Arial"/>
                <a:cs typeface="Arial"/>
              </a:rPr>
              <a:t>-</a:t>
            </a:r>
            <a:r>
              <a:rPr dirty="0" sz="3600" spc="-15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600">
                <a:solidFill>
                  <a:srgbClr val="252573"/>
                </a:solidFill>
                <a:latin typeface="Arial"/>
                <a:cs typeface="Arial"/>
              </a:rPr>
              <a:t>Decision</a:t>
            </a:r>
            <a:r>
              <a:rPr dirty="0" sz="3600" spc="-5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600" spc="-30">
                <a:solidFill>
                  <a:srgbClr val="252573"/>
                </a:solidFill>
                <a:latin typeface="Arial"/>
                <a:cs typeface="Arial"/>
              </a:rPr>
              <a:t>Tree</a:t>
            </a:r>
            <a:endParaRPr sz="3600">
              <a:latin typeface="Arial"/>
              <a:cs typeface="Arial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517286" y="2132409"/>
          <a:ext cx="3345815" cy="35744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2270"/>
                <a:gridCol w="708024"/>
                <a:gridCol w="810894"/>
                <a:gridCol w="774700"/>
                <a:gridCol w="589914"/>
              </a:tblGrid>
              <a:tr h="511175">
                <a:tc>
                  <a:txBody>
                    <a:bodyPr/>
                    <a:lstStyle/>
                    <a:p>
                      <a:pPr marL="22860">
                        <a:lnSpc>
                          <a:spcPts val="1475"/>
                        </a:lnSpc>
                      </a:pPr>
                      <a:r>
                        <a:rPr dirty="0" sz="1250" spc="-25" i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Tid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lnT w="3175">
                      <a:solidFill>
                        <a:srgbClr val="000080"/>
                      </a:solidFill>
                      <a:prstDash val="solid"/>
                    </a:lnT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22860">
                        <a:lnSpc>
                          <a:spcPts val="1475"/>
                        </a:lnSpc>
                      </a:pPr>
                      <a:r>
                        <a:rPr dirty="0" sz="12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Refund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46990" marR="213995">
                        <a:lnSpc>
                          <a:spcPts val="1470"/>
                        </a:lnSpc>
                        <a:spcBef>
                          <a:spcPts val="50"/>
                        </a:spcBef>
                      </a:pPr>
                      <a:r>
                        <a:rPr dirty="0" sz="12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Marital Status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45085" marR="97790">
                        <a:lnSpc>
                          <a:spcPts val="1470"/>
                        </a:lnSpc>
                        <a:spcBef>
                          <a:spcPts val="50"/>
                        </a:spcBef>
                      </a:pPr>
                      <a:r>
                        <a:rPr dirty="0" sz="12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Taxable Income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dirty="0" sz="12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Cheat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15621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000080"/>
                    </a:solidFill>
                  </a:tcPr>
                </a:tc>
              </a:tr>
              <a:tr h="306705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50" spc="-50">
                          <a:latin typeface="Arial MT"/>
                          <a:cs typeface="Arial MT"/>
                        </a:rPr>
                        <a:t>1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50" spc="-25">
                          <a:latin typeface="Arial MT"/>
                          <a:cs typeface="Arial MT"/>
                        </a:rPr>
                        <a:t>Yes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50" spc="-10">
                          <a:latin typeface="Arial MT"/>
                          <a:cs typeface="Arial MT"/>
                        </a:rPr>
                        <a:t>Single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50" spc="-20">
                          <a:latin typeface="Arial MT"/>
                          <a:cs typeface="Arial MT"/>
                        </a:rPr>
                        <a:t>125K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5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</a:tr>
              <a:tr h="306705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50">
                          <a:latin typeface="Arial MT"/>
                          <a:cs typeface="Arial MT"/>
                        </a:rPr>
                        <a:t>2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25">
                          <a:latin typeface="Arial MT"/>
                          <a:cs typeface="Arial MT"/>
                        </a:rPr>
                        <a:t>No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10">
                          <a:latin typeface="Arial MT"/>
                          <a:cs typeface="Arial MT"/>
                        </a:rPr>
                        <a:t>Married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20">
                          <a:latin typeface="Arial MT"/>
                          <a:cs typeface="Arial MT"/>
                        </a:rPr>
                        <a:t>100K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5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</a:tr>
              <a:tr h="306070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50">
                          <a:latin typeface="Arial MT"/>
                          <a:cs typeface="Arial MT"/>
                        </a:rPr>
                        <a:t>3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25">
                          <a:latin typeface="Arial MT"/>
                          <a:cs typeface="Arial MT"/>
                        </a:rPr>
                        <a:t>No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10">
                          <a:latin typeface="Arial MT"/>
                          <a:cs typeface="Arial MT"/>
                        </a:rPr>
                        <a:t>Single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25">
                          <a:latin typeface="Arial MT"/>
                          <a:cs typeface="Arial MT"/>
                        </a:rPr>
                        <a:t>70K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5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</a:tr>
              <a:tr h="306070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50" spc="-50">
                          <a:latin typeface="Arial MT"/>
                          <a:cs typeface="Arial MT"/>
                        </a:rPr>
                        <a:t>4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50" spc="-25">
                          <a:latin typeface="Arial MT"/>
                          <a:cs typeface="Arial MT"/>
                        </a:rPr>
                        <a:t>Yes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50" spc="-10">
                          <a:latin typeface="Arial MT"/>
                          <a:cs typeface="Arial MT"/>
                        </a:rPr>
                        <a:t>Married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50" spc="-20">
                          <a:latin typeface="Arial MT"/>
                          <a:cs typeface="Arial MT"/>
                        </a:rPr>
                        <a:t>120K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dirty="0" sz="125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48894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</a:tr>
              <a:tr h="306705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50">
                          <a:latin typeface="Arial MT"/>
                          <a:cs typeface="Arial MT"/>
                        </a:rPr>
                        <a:t>5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25">
                          <a:latin typeface="Arial MT"/>
                          <a:cs typeface="Arial MT"/>
                        </a:rPr>
                        <a:t>No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10">
                          <a:latin typeface="Arial MT"/>
                          <a:cs typeface="Arial MT"/>
                        </a:rPr>
                        <a:t>Divorced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25">
                          <a:latin typeface="Arial MT"/>
                          <a:cs typeface="Arial MT"/>
                        </a:rPr>
                        <a:t>95K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5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</a:tr>
              <a:tr h="306705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50">
                          <a:latin typeface="Arial MT"/>
                          <a:cs typeface="Arial MT"/>
                        </a:rPr>
                        <a:t>6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25">
                          <a:latin typeface="Arial MT"/>
                          <a:cs typeface="Arial MT"/>
                        </a:rPr>
                        <a:t>No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10">
                          <a:latin typeface="Arial MT"/>
                          <a:cs typeface="Arial MT"/>
                        </a:rPr>
                        <a:t>Married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25">
                          <a:latin typeface="Arial MT"/>
                          <a:cs typeface="Arial MT"/>
                        </a:rPr>
                        <a:t>60K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5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</a:tr>
              <a:tr h="306070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50">
                          <a:latin typeface="Arial MT"/>
                          <a:cs typeface="Arial MT"/>
                        </a:rPr>
                        <a:t>7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25">
                          <a:latin typeface="Arial MT"/>
                          <a:cs typeface="Arial MT"/>
                        </a:rPr>
                        <a:t>Yes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10">
                          <a:latin typeface="Arial MT"/>
                          <a:cs typeface="Arial MT"/>
                        </a:rPr>
                        <a:t>Divorced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20">
                          <a:latin typeface="Arial MT"/>
                          <a:cs typeface="Arial MT"/>
                        </a:rPr>
                        <a:t>220K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5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</a:tr>
              <a:tr h="306070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50" spc="-50">
                          <a:latin typeface="Arial MT"/>
                          <a:cs typeface="Arial MT"/>
                        </a:rPr>
                        <a:t>8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50" spc="-25">
                          <a:latin typeface="Arial MT"/>
                          <a:cs typeface="Arial MT"/>
                        </a:rPr>
                        <a:t>No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50" spc="-10">
                          <a:latin typeface="Arial MT"/>
                          <a:cs typeface="Arial MT"/>
                        </a:rPr>
                        <a:t>Single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50" spc="-25">
                          <a:latin typeface="Arial MT"/>
                          <a:cs typeface="Arial MT"/>
                        </a:rPr>
                        <a:t>85K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dirty="0" sz="125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48894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</a:tr>
              <a:tr h="306705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50">
                          <a:latin typeface="Arial MT"/>
                          <a:cs typeface="Arial MT"/>
                        </a:rPr>
                        <a:t>9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25">
                          <a:latin typeface="Arial MT"/>
                          <a:cs typeface="Arial MT"/>
                        </a:rPr>
                        <a:t>No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10">
                          <a:latin typeface="Arial MT"/>
                          <a:cs typeface="Arial MT"/>
                        </a:rPr>
                        <a:t>Married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25">
                          <a:latin typeface="Arial MT"/>
                          <a:cs typeface="Arial MT"/>
                        </a:rPr>
                        <a:t>75K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5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</a:tr>
              <a:tr h="305435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25">
                          <a:latin typeface="Arial MT"/>
                          <a:cs typeface="Arial MT"/>
                        </a:rPr>
                        <a:t>10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25">
                          <a:latin typeface="Arial MT"/>
                          <a:cs typeface="Arial MT"/>
                        </a:rPr>
                        <a:t>No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10">
                          <a:latin typeface="Arial MT"/>
                          <a:cs typeface="Arial MT"/>
                        </a:rPr>
                        <a:t>Single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50" spc="-25">
                          <a:latin typeface="Arial MT"/>
                          <a:cs typeface="Arial MT"/>
                        </a:rPr>
                        <a:t>90K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B="0" marT="5143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5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</a:tr>
            </a:tbl>
          </a:graphicData>
        </a:graphic>
      </p:graphicFrame>
      <p:sp>
        <p:nvSpPr>
          <p:cNvPr id="4" name="object 4" descr=""/>
          <p:cNvSpPr/>
          <p:nvPr/>
        </p:nvSpPr>
        <p:spPr>
          <a:xfrm>
            <a:off x="524321" y="5713035"/>
            <a:ext cx="3255645" cy="0"/>
          </a:xfrm>
          <a:custGeom>
            <a:avLst/>
            <a:gdLst/>
            <a:ahLst/>
            <a:cxnLst/>
            <a:rect l="l" t="t" r="r" b="b"/>
            <a:pathLst>
              <a:path w="3255645" h="0">
                <a:moveTo>
                  <a:pt x="0" y="0"/>
                </a:moveTo>
                <a:lnTo>
                  <a:pt x="373935" y="0"/>
                </a:lnTo>
              </a:path>
              <a:path w="3255645" h="0">
                <a:moveTo>
                  <a:pt x="382018" y="0"/>
                </a:moveTo>
                <a:lnTo>
                  <a:pt x="1081690" y="0"/>
                </a:lnTo>
              </a:path>
              <a:path w="3255645" h="0">
                <a:moveTo>
                  <a:pt x="1089773" y="0"/>
                </a:moveTo>
                <a:lnTo>
                  <a:pt x="1892064" y="0"/>
                </a:lnTo>
              </a:path>
              <a:path w="3255645" h="0">
                <a:moveTo>
                  <a:pt x="1900109" y="0"/>
                </a:moveTo>
                <a:lnTo>
                  <a:pt x="2666158" y="0"/>
                </a:lnTo>
              </a:path>
              <a:path w="3255645" h="0">
                <a:moveTo>
                  <a:pt x="2674204" y="0"/>
                </a:moveTo>
                <a:lnTo>
                  <a:pt x="3255202" y="0"/>
                </a:lnTo>
              </a:path>
            </a:pathLst>
          </a:custGeom>
          <a:ln w="3175">
            <a:solidFill>
              <a:srgbClr val="000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92792" y="5703435"/>
            <a:ext cx="33655" cy="349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 sz="100" spc="-25">
                <a:latin typeface="Arial MT"/>
                <a:cs typeface="Arial MT"/>
              </a:rPr>
              <a:t>10</a:t>
            </a:r>
            <a:endParaRPr sz="100">
              <a:latin typeface="Arial MT"/>
              <a:cs typeface="Arial MT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2860" y="1288414"/>
            <a:ext cx="2626860" cy="776293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7999983" y="3494659"/>
            <a:ext cx="251460" cy="529590"/>
          </a:xfrm>
          <a:custGeom>
            <a:avLst/>
            <a:gdLst/>
            <a:ahLst/>
            <a:cxnLst/>
            <a:rect l="l" t="t" r="r" b="b"/>
            <a:pathLst>
              <a:path w="251459" h="529589">
                <a:moveTo>
                  <a:pt x="210976" y="463086"/>
                </a:moveTo>
                <a:lnTo>
                  <a:pt x="182118" y="476376"/>
                </a:lnTo>
                <a:lnTo>
                  <a:pt x="248666" y="529589"/>
                </a:lnTo>
                <a:lnTo>
                  <a:pt x="250333" y="476376"/>
                </a:lnTo>
                <a:lnTo>
                  <a:pt x="250389" y="474598"/>
                </a:lnTo>
                <a:lnTo>
                  <a:pt x="216281" y="474598"/>
                </a:lnTo>
                <a:lnTo>
                  <a:pt x="210976" y="463086"/>
                </a:lnTo>
                <a:close/>
              </a:path>
              <a:path w="251459" h="529589">
                <a:moveTo>
                  <a:pt x="222536" y="457762"/>
                </a:moveTo>
                <a:lnTo>
                  <a:pt x="210976" y="463086"/>
                </a:lnTo>
                <a:lnTo>
                  <a:pt x="216281" y="474598"/>
                </a:lnTo>
                <a:lnTo>
                  <a:pt x="227838" y="469264"/>
                </a:lnTo>
                <a:lnTo>
                  <a:pt x="222536" y="457762"/>
                </a:lnTo>
                <a:close/>
              </a:path>
              <a:path w="251459" h="529589">
                <a:moveTo>
                  <a:pt x="251333" y="444499"/>
                </a:moveTo>
                <a:lnTo>
                  <a:pt x="222536" y="457762"/>
                </a:lnTo>
                <a:lnTo>
                  <a:pt x="227838" y="469264"/>
                </a:lnTo>
                <a:lnTo>
                  <a:pt x="216281" y="474598"/>
                </a:lnTo>
                <a:lnTo>
                  <a:pt x="250389" y="474598"/>
                </a:lnTo>
                <a:lnTo>
                  <a:pt x="251333" y="444499"/>
                </a:lnTo>
                <a:close/>
              </a:path>
              <a:path w="251459" h="529589">
                <a:moveTo>
                  <a:pt x="11557" y="0"/>
                </a:moveTo>
                <a:lnTo>
                  <a:pt x="0" y="5206"/>
                </a:lnTo>
                <a:lnTo>
                  <a:pt x="210976" y="463086"/>
                </a:lnTo>
                <a:lnTo>
                  <a:pt x="222536" y="457762"/>
                </a:lnTo>
                <a:lnTo>
                  <a:pt x="1155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6875526" y="3493896"/>
            <a:ext cx="329565" cy="530860"/>
          </a:xfrm>
          <a:custGeom>
            <a:avLst/>
            <a:gdLst/>
            <a:ahLst/>
            <a:cxnLst/>
            <a:rect l="l" t="t" r="r" b="b"/>
            <a:pathLst>
              <a:path w="329565" h="530860">
                <a:moveTo>
                  <a:pt x="7366" y="445515"/>
                </a:moveTo>
                <a:lnTo>
                  <a:pt x="0" y="530351"/>
                </a:lnTo>
                <a:lnTo>
                  <a:pt x="72263" y="485394"/>
                </a:lnTo>
                <a:lnTo>
                  <a:pt x="62962" y="479678"/>
                </a:lnTo>
                <a:lnTo>
                  <a:pt x="38607" y="479678"/>
                </a:lnTo>
                <a:lnTo>
                  <a:pt x="27813" y="472947"/>
                </a:lnTo>
                <a:lnTo>
                  <a:pt x="34444" y="462155"/>
                </a:lnTo>
                <a:lnTo>
                  <a:pt x="7366" y="445515"/>
                </a:lnTo>
                <a:close/>
              </a:path>
              <a:path w="329565" h="530860">
                <a:moveTo>
                  <a:pt x="34444" y="462155"/>
                </a:moveTo>
                <a:lnTo>
                  <a:pt x="27813" y="472947"/>
                </a:lnTo>
                <a:lnTo>
                  <a:pt x="38607" y="479678"/>
                </a:lnTo>
                <a:lnTo>
                  <a:pt x="45282" y="468815"/>
                </a:lnTo>
                <a:lnTo>
                  <a:pt x="34444" y="462155"/>
                </a:lnTo>
                <a:close/>
              </a:path>
              <a:path w="329565" h="530860">
                <a:moveTo>
                  <a:pt x="45282" y="468815"/>
                </a:moveTo>
                <a:lnTo>
                  <a:pt x="38607" y="479678"/>
                </a:lnTo>
                <a:lnTo>
                  <a:pt x="62962" y="479678"/>
                </a:lnTo>
                <a:lnTo>
                  <a:pt x="45282" y="468815"/>
                </a:lnTo>
                <a:close/>
              </a:path>
              <a:path w="329565" h="530860">
                <a:moveTo>
                  <a:pt x="318389" y="0"/>
                </a:moveTo>
                <a:lnTo>
                  <a:pt x="34444" y="462155"/>
                </a:lnTo>
                <a:lnTo>
                  <a:pt x="45282" y="468815"/>
                </a:lnTo>
                <a:lnTo>
                  <a:pt x="329183" y="6730"/>
                </a:lnTo>
                <a:lnTo>
                  <a:pt x="31838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5881751" y="2729864"/>
            <a:ext cx="408305" cy="532765"/>
          </a:xfrm>
          <a:custGeom>
            <a:avLst/>
            <a:gdLst/>
            <a:ahLst/>
            <a:cxnLst/>
            <a:rect l="l" t="t" r="r" b="b"/>
            <a:pathLst>
              <a:path w="408304" h="532764">
                <a:moveTo>
                  <a:pt x="15875" y="448690"/>
                </a:moveTo>
                <a:lnTo>
                  <a:pt x="0" y="532384"/>
                </a:lnTo>
                <a:lnTo>
                  <a:pt x="76453" y="494919"/>
                </a:lnTo>
                <a:lnTo>
                  <a:pt x="64471" y="485775"/>
                </a:lnTo>
                <a:lnTo>
                  <a:pt x="43434" y="485775"/>
                </a:lnTo>
                <a:lnTo>
                  <a:pt x="33400" y="478155"/>
                </a:lnTo>
                <a:lnTo>
                  <a:pt x="41158" y="467985"/>
                </a:lnTo>
                <a:lnTo>
                  <a:pt x="15875" y="448690"/>
                </a:lnTo>
                <a:close/>
              </a:path>
              <a:path w="408304" h="532764">
                <a:moveTo>
                  <a:pt x="41158" y="467985"/>
                </a:moveTo>
                <a:lnTo>
                  <a:pt x="33400" y="478155"/>
                </a:lnTo>
                <a:lnTo>
                  <a:pt x="43434" y="485775"/>
                </a:lnTo>
                <a:lnTo>
                  <a:pt x="51174" y="475627"/>
                </a:lnTo>
                <a:lnTo>
                  <a:pt x="41158" y="467985"/>
                </a:lnTo>
                <a:close/>
              </a:path>
              <a:path w="408304" h="532764">
                <a:moveTo>
                  <a:pt x="51174" y="475627"/>
                </a:moveTo>
                <a:lnTo>
                  <a:pt x="43434" y="485775"/>
                </a:lnTo>
                <a:lnTo>
                  <a:pt x="64471" y="485775"/>
                </a:lnTo>
                <a:lnTo>
                  <a:pt x="51174" y="475627"/>
                </a:lnTo>
                <a:close/>
              </a:path>
              <a:path w="408304" h="532764">
                <a:moveTo>
                  <a:pt x="398145" y="0"/>
                </a:moveTo>
                <a:lnTo>
                  <a:pt x="41158" y="467985"/>
                </a:lnTo>
                <a:lnTo>
                  <a:pt x="51174" y="475627"/>
                </a:lnTo>
                <a:lnTo>
                  <a:pt x="408177" y="7620"/>
                </a:lnTo>
                <a:lnTo>
                  <a:pt x="3981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7088251" y="2729357"/>
            <a:ext cx="488950" cy="533400"/>
          </a:xfrm>
          <a:custGeom>
            <a:avLst/>
            <a:gdLst/>
            <a:ahLst/>
            <a:cxnLst/>
            <a:rect l="l" t="t" r="r" b="b"/>
            <a:pathLst>
              <a:path w="488950" h="533400">
                <a:moveTo>
                  <a:pt x="432703" y="481061"/>
                </a:moveTo>
                <a:lnTo>
                  <a:pt x="409321" y="502538"/>
                </a:lnTo>
                <a:lnTo>
                  <a:pt x="488823" y="532891"/>
                </a:lnTo>
                <a:lnTo>
                  <a:pt x="476722" y="490473"/>
                </a:lnTo>
                <a:lnTo>
                  <a:pt x="441325" y="490473"/>
                </a:lnTo>
                <a:lnTo>
                  <a:pt x="432703" y="481061"/>
                </a:lnTo>
                <a:close/>
              </a:path>
              <a:path w="488950" h="533400">
                <a:moveTo>
                  <a:pt x="442103" y="472426"/>
                </a:moveTo>
                <a:lnTo>
                  <a:pt x="432703" y="481061"/>
                </a:lnTo>
                <a:lnTo>
                  <a:pt x="441325" y="490473"/>
                </a:lnTo>
                <a:lnTo>
                  <a:pt x="450723" y="481838"/>
                </a:lnTo>
                <a:lnTo>
                  <a:pt x="442103" y="472426"/>
                </a:lnTo>
                <a:close/>
              </a:path>
              <a:path w="488950" h="533400">
                <a:moveTo>
                  <a:pt x="465454" y="450976"/>
                </a:moveTo>
                <a:lnTo>
                  <a:pt x="442103" y="472426"/>
                </a:lnTo>
                <a:lnTo>
                  <a:pt x="450723" y="481838"/>
                </a:lnTo>
                <a:lnTo>
                  <a:pt x="441325" y="490473"/>
                </a:lnTo>
                <a:lnTo>
                  <a:pt x="476722" y="490473"/>
                </a:lnTo>
                <a:lnTo>
                  <a:pt x="465454" y="450976"/>
                </a:lnTo>
                <a:close/>
              </a:path>
              <a:path w="488950" h="533400">
                <a:moveTo>
                  <a:pt x="9398" y="0"/>
                </a:moveTo>
                <a:lnTo>
                  <a:pt x="0" y="8635"/>
                </a:lnTo>
                <a:lnTo>
                  <a:pt x="432703" y="481061"/>
                </a:lnTo>
                <a:lnTo>
                  <a:pt x="442103" y="472426"/>
                </a:lnTo>
                <a:lnTo>
                  <a:pt x="93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6039611" y="2001647"/>
            <a:ext cx="569595" cy="468630"/>
          </a:xfrm>
          <a:custGeom>
            <a:avLst/>
            <a:gdLst/>
            <a:ahLst/>
            <a:cxnLst/>
            <a:rect l="l" t="t" r="r" b="b"/>
            <a:pathLst>
              <a:path w="569595" h="468630">
                <a:moveTo>
                  <a:pt x="506156" y="425120"/>
                </a:moveTo>
                <a:lnTo>
                  <a:pt x="486029" y="449579"/>
                </a:lnTo>
                <a:lnTo>
                  <a:pt x="569087" y="468502"/>
                </a:lnTo>
                <a:lnTo>
                  <a:pt x="553337" y="433197"/>
                </a:lnTo>
                <a:lnTo>
                  <a:pt x="516001" y="433197"/>
                </a:lnTo>
                <a:lnTo>
                  <a:pt x="506156" y="425120"/>
                </a:lnTo>
                <a:close/>
              </a:path>
              <a:path w="569595" h="468630">
                <a:moveTo>
                  <a:pt x="514297" y="415227"/>
                </a:moveTo>
                <a:lnTo>
                  <a:pt x="506156" y="425120"/>
                </a:lnTo>
                <a:lnTo>
                  <a:pt x="516001" y="433197"/>
                </a:lnTo>
                <a:lnTo>
                  <a:pt x="524129" y="423290"/>
                </a:lnTo>
                <a:lnTo>
                  <a:pt x="514297" y="415227"/>
                </a:lnTo>
                <a:close/>
              </a:path>
              <a:path w="569595" h="468630">
                <a:moveTo>
                  <a:pt x="534415" y="390778"/>
                </a:moveTo>
                <a:lnTo>
                  <a:pt x="514297" y="415227"/>
                </a:lnTo>
                <a:lnTo>
                  <a:pt x="524129" y="423290"/>
                </a:lnTo>
                <a:lnTo>
                  <a:pt x="516001" y="433197"/>
                </a:lnTo>
                <a:lnTo>
                  <a:pt x="553337" y="433197"/>
                </a:lnTo>
                <a:lnTo>
                  <a:pt x="534415" y="390778"/>
                </a:lnTo>
                <a:close/>
              </a:path>
              <a:path w="569595" h="468630">
                <a:moveTo>
                  <a:pt x="8000" y="0"/>
                </a:moveTo>
                <a:lnTo>
                  <a:pt x="0" y="9905"/>
                </a:lnTo>
                <a:lnTo>
                  <a:pt x="506156" y="425120"/>
                </a:lnTo>
                <a:lnTo>
                  <a:pt x="514297" y="415227"/>
                </a:lnTo>
                <a:lnTo>
                  <a:pt x="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4670425" y="2001647"/>
            <a:ext cx="569595" cy="468630"/>
          </a:xfrm>
          <a:custGeom>
            <a:avLst/>
            <a:gdLst/>
            <a:ahLst/>
            <a:cxnLst/>
            <a:rect l="l" t="t" r="r" b="b"/>
            <a:pathLst>
              <a:path w="569595" h="468630">
                <a:moveTo>
                  <a:pt x="34798" y="390778"/>
                </a:moveTo>
                <a:lnTo>
                  <a:pt x="0" y="468502"/>
                </a:lnTo>
                <a:lnTo>
                  <a:pt x="83058" y="449579"/>
                </a:lnTo>
                <a:lnTo>
                  <a:pt x="69611" y="433197"/>
                </a:lnTo>
                <a:lnTo>
                  <a:pt x="53086" y="433197"/>
                </a:lnTo>
                <a:lnTo>
                  <a:pt x="45085" y="423290"/>
                </a:lnTo>
                <a:lnTo>
                  <a:pt x="54884" y="415252"/>
                </a:lnTo>
                <a:lnTo>
                  <a:pt x="34798" y="390778"/>
                </a:lnTo>
                <a:close/>
              </a:path>
              <a:path w="569595" h="468630">
                <a:moveTo>
                  <a:pt x="54884" y="415252"/>
                </a:moveTo>
                <a:lnTo>
                  <a:pt x="45085" y="423290"/>
                </a:lnTo>
                <a:lnTo>
                  <a:pt x="53086" y="433197"/>
                </a:lnTo>
                <a:lnTo>
                  <a:pt x="62963" y="425096"/>
                </a:lnTo>
                <a:lnTo>
                  <a:pt x="54884" y="415252"/>
                </a:lnTo>
                <a:close/>
              </a:path>
              <a:path w="569595" h="468630">
                <a:moveTo>
                  <a:pt x="62963" y="425096"/>
                </a:moveTo>
                <a:lnTo>
                  <a:pt x="53086" y="433197"/>
                </a:lnTo>
                <a:lnTo>
                  <a:pt x="69611" y="433197"/>
                </a:lnTo>
                <a:lnTo>
                  <a:pt x="62963" y="425096"/>
                </a:lnTo>
                <a:close/>
              </a:path>
              <a:path w="569595" h="468630">
                <a:moveTo>
                  <a:pt x="561086" y="0"/>
                </a:moveTo>
                <a:lnTo>
                  <a:pt x="54884" y="415252"/>
                </a:lnTo>
                <a:lnTo>
                  <a:pt x="62963" y="425096"/>
                </a:lnTo>
                <a:lnTo>
                  <a:pt x="569213" y="9905"/>
                </a:lnTo>
                <a:lnTo>
                  <a:pt x="5610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5187950" y="1743075"/>
            <a:ext cx="936625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marL="187325">
              <a:lnSpc>
                <a:spcPct val="100000"/>
              </a:lnSpc>
              <a:spcBef>
                <a:spcPts val="320"/>
              </a:spcBef>
            </a:pPr>
            <a:r>
              <a:rPr dirty="0" sz="1600" spc="-10" b="1">
                <a:solidFill>
                  <a:srgbClr val="2C1892"/>
                </a:solidFill>
                <a:latin typeface="Arial"/>
                <a:cs typeface="Arial"/>
              </a:rPr>
              <a:t>MarSt</a:t>
            </a:r>
            <a:endParaRPr sz="16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203950" y="2470150"/>
            <a:ext cx="935355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marL="120014">
              <a:lnSpc>
                <a:spcPct val="100000"/>
              </a:lnSpc>
              <a:spcBef>
                <a:spcPts val="320"/>
              </a:spcBef>
            </a:pPr>
            <a:r>
              <a:rPr dirty="0" sz="1600" spc="-10" b="1">
                <a:solidFill>
                  <a:srgbClr val="2C1892"/>
                </a:solidFill>
                <a:latin typeface="Arial"/>
                <a:cs typeface="Arial"/>
              </a:rPr>
              <a:t>Refund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7118350" y="3232150"/>
            <a:ext cx="968375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marL="172085">
              <a:lnSpc>
                <a:spcPct val="100000"/>
              </a:lnSpc>
              <a:spcBef>
                <a:spcPts val="320"/>
              </a:spcBef>
            </a:pPr>
            <a:r>
              <a:rPr dirty="0" sz="1600" spc="-10" b="1">
                <a:solidFill>
                  <a:srgbClr val="2C1892"/>
                </a:solidFill>
                <a:latin typeface="Arial"/>
                <a:cs typeface="Arial"/>
              </a:rPr>
              <a:t>TaxInc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8045450" y="4021201"/>
            <a:ext cx="627380" cy="367030"/>
          </a:xfrm>
          <a:custGeom>
            <a:avLst/>
            <a:gdLst/>
            <a:ahLst/>
            <a:cxnLst/>
            <a:rect l="l" t="t" r="r" b="b"/>
            <a:pathLst>
              <a:path w="627379" h="367029">
                <a:moveTo>
                  <a:pt x="565530" y="0"/>
                </a:moveTo>
                <a:lnTo>
                  <a:pt x="61468" y="0"/>
                </a:lnTo>
                <a:lnTo>
                  <a:pt x="37558" y="4818"/>
                </a:lnTo>
                <a:lnTo>
                  <a:pt x="18018" y="17970"/>
                </a:lnTo>
                <a:lnTo>
                  <a:pt x="4835" y="37504"/>
                </a:lnTo>
                <a:lnTo>
                  <a:pt x="0" y="61468"/>
                </a:lnTo>
                <a:lnTo>
                  <a:pt x="0" y="305181"/>
                </a:lnTo>
                <a:lnTo>
                  <a:pt x="4835" y="329090"/>
                </a:lnTo>
                <a:lnTo>
                  <a:pt x="18018" y="348630"/>
                </a:lnTo>
                <a:lnTo>
                  <a:pt x="37558" y="361813"/>
                </a:lnTo>
                <a:lnTo>
                  <a:pt x="61468" y="366649"/>
                </a:lnTo>
                <a:lnTo>
                  <a:pt x="565530" y="366649"/>
                </a:lnTo>
                <a:lnTo>
                  <a:pt x="589514" y="361813"/>
                </a:lnTo>
                <a:lnTo>
                  <a:pt x="609092" y="348630"/>
                </a:lnTo>
                <a:lnTo>
                  <a:pt x="622288" y="329090"/>
                </a:lnTo>
                <a:lnTo>
                  <a:pt x="627126" y="305181"/>
                </a:lnTo>
                <a:lnTo>
                  <a:pt x="627126" y="61468"/>
                </a:lnTo>
                <a:lnTo>
                  <a:pt x="622288" y="37504"/>
                </a:lnTo>
                <a:lnTo>
                  <a:pt x="609092" y="17970"/>
                </a:lnTo>
                <a:lnTo>
                  <a:pt x="589514" y="4818"/>
                </a:lnTo>
                <a:lnTo>
                  <a:pt x="565530" y="0"/>
                </a:lnTo>
                <a:close/>
              </a:path>
            </a:pathLst>
          </a:custGeom>
          <a:solidFill>
            <a:srgbClr val="33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8097139" y="4049979"/>
            <a:ext cx="43243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solidFill>
                  <a:srgbClr val="800000"/>
                </a:solidFill>
                <a:latin typeface="Arial"/>
                <a:cs typeface="Arial"/>
              </a:rPr>
              <a:t>YES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6553200" y="4038600"/>
            <a:ext cx="654050" cy="363855"/>
          </a:xfrm>
          <a:custGeom>
            <a:avLst/>
            <a:gdLst/>
            <a:ahLst/>
            <a:cxnLst/>
            <a:rect l="l" t="t" r="r" b="b"/>
            <a:pathLst>
              <a:path w="654050" h="363854">
                <a:moveTo>
                  <a:pt x="593471" y="0"/>
                </a:moveTo>
                <a:lnTo>
                  <a:pt x="60578" y="0"/>
                </a:lnTo>
                <a:lnTo>
                  <a:pt x="37022" y="4768"/>
                </a:lnTo>
                <a:lnTo>
                  <a:pt x="17764" y="17764"/>
                </a:lnTo>
                <a:lnTo>
                  <a:pt x="4768" y="37022"/>
                </a:lnTo>
                <a:lnTo>
                  <a:pt x="0" y="60579"/>
                </a:lnTo>
                <a:lnTo>
                  <a:pt x="0" y="302894"/>
                </a:lnTo>
                <a:lnTo>
                  <a:pt x="4768" y="326505"/>
                </a:lnTo>
                <a:lnTo>
                  <a:pt x="17764" y="345757"/>
                </a:lnTo>
                <a:lnTo>
                  <a:pt x="37022" y="358723"/>
                </a:lnTo>
                <a:lnTo>
                  <a:pt x="60578" y="363474"/>
                </a:lnTo>
                <a:lnTo>
                  <a:pt x="593471" y="363474"/>
                </a:lnTo>
                <a:lnTo>
                  <a:pt x="617027" y="358723"/>
                </a:lnTo>
                <a:lnTo>
                  <a:pt x="636285" y="345757"/>
                </a:lnTo>
                <a:lnTo>
                  <a:pt x="649281" y="326505"/>
                </a:lnTo>
                <a:lnTo>
                  <a:pt x="654050" y="302894"/>
                </a:lnTo>
                <a:lnTo>
                  <a:pt x="654050" y="60579"/>
                </a:lnTo>
                <a:lnTo>
                  <a:pt x="649281" y="37022"/>
                </a:lnTo>
                <a:lnTo>
                  <a:pt x="636285" y="17764"/>
                </a:lnTo>
                <a:lnTo>
                  <a:pt x="617027" y="4768"/>
                </a:lnTo>
                <a:lnTo>
                  <a:pt x="593471" y="0"/>
                </a:lnTo>
                <a:close/>
              </a:path>
            </a:pathLst>
          </a:custGeom>
          <a:solidFill>
            <a:srgbClr val="33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6730365" y="4053585"/>
            <a:ext cx="3295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solidFill>
                  <a:srgbClr val="800000"/>
                </a:solidFill>
                <a:latin typeface="Arial"/>
                <a:cs typeface="Arial"/>
              </a:rPr>
              <a:t>NO</a:t>
            </a:r>
            <a:endParaRPr sz="1600">
              <a:latin typeface="Arial"/>
              <a:cs typeface="Arial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4348226" y="2484373"/>
            <a:ext cx="685800" cy="347980"/>
          </a:xfrm>
          <a:custGeom>
            <a:avLst/>
            <a:gdLst/>
            <a:ahLst/>
            <a:cxnLst/>
            <a:rect l="l" t="t" r="r" b="b"/>
            <a:pathLst>
              <a:path w="685800" h="347980">
                <a:moveTo>
                  <a:pt x="627761" y="0"/>
                </a:moveTo>
                <a:lnTo>
                  <a:pt x="57912" y="0"/>
                </a:lnTo>
                <a:lnTo>
                  <a:pt x="35361" y="4568"/>
                </a:lnTo>
                <a:lnTo>
                  <a:pt x="16954" y="17018"/>
                </a:lnTo>
                <a:lnTo>
                  <a:pt x="4548" y="35468"/>
                </a:lnTo>
                <a:lnTo>
                  <a:pt x="0" y="58038"/>
                </a:lnTo>
                <a:lnTo>
                  <a:pt x="0" y="289813"/>
                </a:lnTo>
                <a:lnTo>
                  <a:pt x="4548" y="312364"/>
                </a:lnTo>
                <a:lnTo>
                  <a:pt x="16954" y="330771"/>
                </a:lnTo>
                <a:lnTo>
                  <a:pt x="35361" y="343177"/>
                </a:lnTo>
                <a:lnTo>
                  <a:pt x="57912" y="347725"/>
                </a:lnTo>
                <a:lnTo>
                  <a:pt x="627761" y="347725"/>
                </a:lnTo>
                <a:lnTo>
                  <a:pt x="650331" y="343177"/>
                </a:lnTo>
                <a:lnTo>
                  <a:pt x="668781" y="330771"/>
                </a:lnTo>
                <a:lnTo>
                  <a:pt x="681231" y="312364"/>
                </a:lnTo>
                <a:lnTo>
                  <a:pt x="685800" y="289813"/>
                </a:lnTo>
                <a:lnTo>
                  <a:pt x="685800" y="58038"/>
                </a:lnTo>
                <a:lnTo>
                  <a:pt x="681231" y="35468"/>
                </a:lnTo>
                <a:lnTo>
                  <a:pt x="668781" y="17018"/>
                </a:lnTo>
                <a:lnTo>
                  <a:pt x="650331" y="4568"/>
                </a:lnTo>
                <a:lnTo>
                  <a:pt x="627761" y="0"/>
                </a:lnTo>
                <a:close/>
              </a:path>
            </a:pathLst>
          </a:custGeom>
          <a:solidFill>
            <a:srgbClr val="33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4523359" y="2499105"/>
            <a:ext cx="3302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solidFill>
                  <a:srgbClr val="800000"/>
                </a:solidFill>
                <a:latin typeface="Arial"/>
                <a:cs typeface="Arial"/>
              </a:rPr>
              <a:t>NO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5594350" y="3232150"/>
            <a:ext cx="685800" cy="381000"/>
          </a:xfrm>
          <a:custGeom>
            <a:avLst/>
            <a:gdLst/>
            <a:ahLst/>
            <a:cxnLst/>
            <a:rect l="l" t="t" r="r" b="b"/>
            <a:pathLst>
              <a:path w="685800" h="381000">
                <a:moveTo>
                  <a:pt x="622300" y="0"/>
                </a:moveTo>
                <a:lnTo>
                  <a:pt x="63500" y="0"/>
                </a:lnTo>
                <a:lnTo>
                  <a:pt x="38790" y="4992"/>
                </a:lnTo>
                <a:lnTo>
                  <a:pt x="18605" y="18605"/>
                </a:lnTo>
                <a:lnTo>
                  <a:pt x="4992" y="38790"/>
                </a:lnTo>
                <a:lnTo>
                  <a:pt x="0" y="63500"/>
                </a:lnTo>
                <a:lnTo>
                  <a:pt x="0" y="317500"/>
                </a:lnTo>
                <a:lnTo>
                  <a:pt x="4992" y="342209"/>
                </a:lnTo>
                <a:lnTo>
                  <a:pt x="18605" y="362394"/>
                </a:lnTo>
                <a:lnTo>
                  <a:pt x="38790" y="376007"/>
                </a:lnTo>
                <a:lnTo>
                  <a:pt x="63500" y="381000"/>
                </a:lnTo>
                <a:lnTo>
                  <a:pt x="622300" y="381000"/>
                </a:lnTo>
                <a:lnTo>
                  <a:pt x="647009" y="376007"/>
                </a:lnTo>
                <a:lnTo>
                  <a:pt x="667194" y="362394"/>
                </a:lnTo>
                <a:lnTo>
                  <a:pt x="680807" y="342209"/>
                </a:lnTo>
                <a:lnTo>
                  <a:pt x="685800" y="317500"/>
                </a:lnTo>
                <a:lnTo>
                  <a:pt x="685800" y="63500"/>
                </a:lnTo>
                <a:lnTo>
                  <a:pt x="680807" y="38790"/>
                </a:lnTo>
                <a:lnTo>
                  <a:pt x="667194" y="18605"/>
                </a:lnTo>
                <a:lnTo>
                  <a:pt x="647009" y="4992"/>
                </a:lnTo>
                <a:lnTo>
                  <a:pt x="622300" y="0"/>
                </a:lnTo>
                <a:close/>
              </a:path>
            </a:pathLst>
          </a:custGeom>
          <a:solidFill>
            <a:srgbClr val="33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5750814" y="3260800"/>
            <a:ext cx="3295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solidFill>
                  <a:srgbClr val="800000"/>
                </a:solidFill>
                <a:latin typeface="Arial"/>
                <a:cs typeface="Arial"/>
              </a:rPr>
              <a:t>NO</a:t>
            </a:r>
            <a:endParaRPr sz="1600">
              <a:latin typeface="Arial"/>
              <a:cs typeface="Arial"/>
            </a:endParaRPr>
          </a:p>
        </p:txBody>
      </p:sp>
      <p:sp>
        <p:nvSpPr>
          <p:cNvPr id="31" name="object 3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3263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z="800" b="1">
                <a:solidFill>
                  <a:srgbClr val="000000"/>
                </a:solidFill>
                <a:latin typeface="Calibri"/>
                <a:cs typeface="Calibri"/>
              </a:rPr>
              <a:t>Slide</a:t>
            </a:r>
            <a:r>
              <a:rPr dirty="0" sz="800" spc="-1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fld id="{81D60167-4931-47E6-BA6A-407CBD079E47}" type="slidenum">
              <a:rPr dirty="0" sz="800" b="1">
                <a:solidFill>
                  <a:srgbClr val="000000"/>
                </a:solidFill>
                <a:latin typeface="Calibri"/>
                <a:cs typeface="Calibri"/>
              </a:rPr>
              <a:t>41</a:t>
            </a:fld>
            <a:r>
              <a:rPr dirty="0" sz="800" spc="-3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dirty="0" sz="800" spc="-25" b="1">
                <a:solidFill>
                  <a:srgbClr val="000000"/>
                </a:solidFill>
                <a:latin typeface="Calibri"/>
                <a:cs typeface="Calibri"/>
              </a:rPr>
              <a:t> 43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5617590" y="2803905"/>
            <a:ext cx="3543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45">
                <a:latin typeface="Arial MT"/>
                <a:cs typeface="Arial MT"/>
              </a:rPr>
              <a:t>Yes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7350632" y="2727705"/>
            <a:ext cx="2844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Arial MT"/>
                <a:cs typeface="Arial MT"/>
              </a:rPr>
              <a:t>No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4225797" y="1965705"/>
            <a:ext cx="7124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Arial MT"/>
                <a:cs typeface="Arial MT"/>
              </a:rPr>
              <a:t>Married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6239383" y="1736547"/>
            <a:ext cx="826769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Arial MT"/>
                <a:cs typeface="Arial MT"/>
              </a:rPr>
              <a:t>Single,</a:t>
            </a:r>
            <a:endParaRPr sz="16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"/>
              </a:spcBef>
            </a:pPr>
            <a:r>
              <a:rPr dirty="0" sz="1600" spc="-10">
                <a:latin typeface="Arial MT"/>
                <a:cs typeface="Arial MT"/>
              </a:rPr>
              <a:t>Divorced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6431407" y="3591559"/>
            <a:ext cx="5626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Arial MT"/>
                <a:cs typeface="Arial MT"/>
              </a:rPr>
              <a:t>&lt; </a:t>
            </a:r>
            <a:r>
              <a:rPr dirty="0" sz="1600" spc="-25">
                <a:latin typeface="Arial MT"/>
                <a:cs typeface="Arial MT"/>
              </a:rPr>
              <a:t>80K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8206485" y="3591559"/>
            <a:ext cx="5626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Arial MT"/>
                <a:cs typeface="Arial MT"/>
              </a:rPr>
              <a:t>&gt; </a:t>
            </a:r>
            <a:r>
              <a:rPr dirty="0" sz="1600" spc="-25">
                <a:latin typeface="Arial MT"/>
                <a:cs typeface="Arial MT"/>
              </a:rPr>
              <a:t>80K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4422775" y="5056708"/>
            <a:ext cx="4253865" cy="575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CC3300"/>
                </a:solidFill>
                <a:latin typeface="Arial"/>
                <a:cs typeface="Arial"/>
              </a:rPr>
              <a:t>There</a:t>
            </a:r>
            <a:r>
              <a:rPr dirty="0" sz="1800" spc="-25" b="1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C3300"/>
                </a:solidFill>
                <a:latin typeface="Arial"/>
                <a:cs typeface="Arial"/>
              </a:rPr>
              <a:t>could</a:t>
            </a:r>
            <a:r>
              <a:rPr dirty="0" sz="1800" spc="-15" b="1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C3300"/>
                </a:solidFill>
                <a:latin typeface="Arial"/>
                <a:cs typeface="Arial"/>
              </a:rPr>
              <a:t>be</a:t>
            </a:r>
            <a:r>
              <a:rPr dirty="0" sz="1800" spc="-25" b="1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C3300"/>
                </a:solidFill>
                <a:latin typeface="Arial"/>
                <a:cs typeface="Arial"/>
              </a:rPr>
              <a:t>more</a:t>
            </a:r>
            <a:r>
              <a:rPr dirty="0" sz="1800" spc="-10" b="1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C3300"/>
                </a:solidFill>
                <a:latin typeface="Arial"/>
                <a:cs typeface="Arial"/>
              </a:rPr>
              <a:t>than</a:t>
            </a:r>
            <a:r>
              <a:rPr dirty="0" sz="1800" spc="-20" b="1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C3300"/>
                </a:solidFill>
                <a:latin typeface="Arial"/>
                <a:cs typeface="Arial"/>
              </a:rPr>
              <a:t>one</a:t>
            </a:r>
            <a:r>
              <a:rPr dirty="0" sz="1800" spc="-25" b="1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C3300"/>
                </a:solidFill>
                <a:latin typeface="Arial"/>
                <a:cs typeface="Arial"/>
              </a:rPr>
              <a:t>tree </a:t>
            </a:r>
            <a:r>
              <a:rPr dirty="0" sz="1800" spc="-20" b="1">
                <a:solidFill>
                  <a:srgbClr val="CC3300"/>
                </a:solidFill>
                <a:latin typeface="Arial"/>
                <a:cs typeface="Arial"/>
              </a:rPr>
              <a:t>that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 b="1">
                <a:solidFill>
                  <a:srgbClr val="CC3300"/>
                </a:solidFill>
                <a:latin typeface="Arial"/>
                <a:cs typeface="Arial"/>
              </a:rPr>
              <a:t>fits</a:t>
            </a:r>
            <a:r>
              <a:rPr dirty="0" sz="1800" spc="-20" b="1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C3300"/>
                </a:solidFill>
                <a:latin typeface="Arial"/>
                <a:cs typeface="Arial"/>
              </a:rPr>
              <a:t>the</a:t>
            </a:r>
            <a:r>
              <a:rPr dirty="0" sz="1800" spc="-30" b="1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C3300"/>
                </a:solidFill>
                <a:latin typeface="Arial"/>
                <a:cs typeface="Arial"/>
              </a:rPr>
              <a:t>same</a:t>
            </a:r>
            <a:r>
              <a:rPr dirty="0" sz="1800" spc="-10" b="1">
                <a:solidFill>
                  <a:srgbClr val="CC3300"/>
                </a:solidFill>
                <a:latin typeface="Arial"/>
                <a:cs typeface="Arial"/>
              </a:rPr>
              <a:t> data!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6532" y="250316"/>
            <a:ext cx="29972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252573"/>
                </a:solidFill>
                <a:latin typeface="Arial"/>
                <a:cs typeface="Arial"/>
              </a:rPr>
              <a:t>Decision </a:t>
            </a:r>
            <a:r>
              <a:rPr dirty="0" sz="3600" spc="-45">
                <a:solidFill>
                  <a:srgbClr val="252573"/>
                </a:solidFill>
                <a:latin typeface="Arial"/>
                <a:cs typeface="Arial"/>
              </a:rPr>
              <a:t>Tree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34236" y="5843117"/>
            <a:ext cx="29940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800" spc="-2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2"/>
              </a:rPr>
              <a:t>https://youtu.be/7YTeMIq6-</a:t>
            </a:r>
            <a:r>
              <a:rPr dirty="0" u="sng" sz="1800" spc="-25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2"/>
              </a:rPr>
              <a:t>9s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4901" y="1271638"/>
            <a:ext cx="7775448" cy="439254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3263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z="800" b="1">
                <a:solidFill>
                  <a:srgbClr val="000000"/>
                </a:solidFill>
                <a:latin typeface="Calibri"/>
                <a:cs typeface="Calibri"/>
              </a:rPr>
              <a:t>Slide</a:t>
            </a:r>
            <a:r>
              <a:rPr dirty="0" sz="800" spc="-1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fld id="{81D60167-4931-47E6-BA6A-407CBD079E47}" type="slidenum">
              <a:rPr dirty="0" sz="800" b="1">
                <a:solidFill>
                  <a:srgbClr val="000000"/>
                </a:solidFill>
                <a:latin typeface="Calibri"/>
                <a:cs typeface="Calibri"/>
              </a:rPr>
              <a:t>41</a:t>
            </a:fld>
            <a:r>
              <a:rPr dirty="0" sz="800" spc="-3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dirty="0" sz="800" spc="-25" b="1">
                <a:solidFill>
                  <a:srgbClr val="000000"/>
                </a:solidFill>
                <a:latin typeface="Calibri"/>
                <a:cs typeface="Calibri"/>
              </a:rPr>
              <a:t> 43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4348" rIns="0" bIns="0" rtlCol="0" vert="horz">
            <a:spAutoFit/>
          </a:bodyPr>
          <a:lstStyle/>
          <a:p>
            <a:pPr marL="429259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252573"/>
                </a:solidFill>
                <a:latin typeface="Arial"/>
                <a:cs typeface="Arial"/>
              </a:rPr>
              <a:t>Generic</a:t>
            </a:r>
            <a:r>
              <a:rPr dirty="0" sz="3600" spc="-10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600" spc="-10">
                <a:solidFill>
                  <a:srgbClr val="252573"/>
                </a:solidFill>
                <a:latin typeface="Arial"/>
                <a:cs typeface="Arial"/>
              </a:rPr>
              <a:t>Tree</a:t>
            </a:r>
            <a:r>
              <a:rPr dirty="0" sz="3600" spc="-95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600">
                <a:solidFill>
                  <a:srgbClr val="252573"/>
                </a:solidFill>
                <a:latin typeface="Arial"/>
                <a:cs typeface="Arial"/>
              </a:rPr>
              <a:t>Growing</a:t>
            </a:r>
            <a:r>
              <a:rPr dirty="0" sz="3600" spc="-20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600" spc="-10">
                <a:solidFill>
                  <a:srgbClr val="252573"/>
                </a:solidFill>
                <a:latin typeface="Arial"/>
                <a:cs typeface="Arial"/>
              </a:rPr>
              <a:t>Algorithm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62406" y="1305306"/>
            <a:ext cx="7447915" cy="448881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469265" algn="l"/>
              </a:tabLst>
            </a:pPr>
            <a:r>
              <a:rPr dirty="0" sz="2400">
                <a:latin typeface="Arial MT"/>
                <a:cs typeface="Arial MT"/>
              </a:rPr>
              <a:t>Start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with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entire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dataset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create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root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node.</a:t>
            </a:r>
            <a:endParaRPr sz="2400">
              <a:latin typeface="Arial MT"/>
              <a:cs typeface="Arial MT"/>
            </a:endParaRPr>
          </a:p>
          <a:p>
            <a:pPr marL="469900" marR="381635" indent="-4572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469900" algn="l"/>
              </a:tabLst>
            </a:pPr>
            <a:r>
              <a:rPr dirty="0" sz="2400">
                <a:latin typeface="Arial MT"/>
                <a:cs typeface="Arial MT"/>
              </a:rPr>
              <a:t>Select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best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attribute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–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best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splits </a:t>
            </a:r>
            <a:r>
              <a:rPr dirty="0" sz="2400">
                <a:latin typeface="Arial MT"/>
                <a:cs typeface="Arial MT"/>
              </a:rPr>
              <a:t>data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based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chosen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metric.</a:t>
            </a:r>
            <a:endParaRPr sz="24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469265" algn="l"/>
              </a:tabLst>
            </a:pPr>
            <a:r>
              <a:rPr dirty="0" sz="2400">
                <a:latin typeface="Arial MT"/>
                <a:cs typeface="Arial MT"/>
              </a:rPr>
              <a:t>Split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dataset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into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subsets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based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selected</a:t>
            </a:r>
            <a:endParaRPr sz="24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dirty="0" sz="2400" spc="-10">
                <a:latin typeface="Arial MT"/>
                <a:cs typeface="Arial MT"/>
              </a:rPr>
              <a:t>attribute.</a:t>
            </a:r>
            <a:endParaRPr sz="2400">
              <a:latin typeface="Arial MT"/>
              <a:cs typeface="Arial MT"/>
            </a:endParaRPr>
          </a:p>
          <a:p>
            <a:pPr marL="469900" marR="479425" indent="-457200">
              <a:lnSpc>
                <a:spcPct val="100000"/>
              </a:lnSpc>
              <a:spcBef>
                <a:spcPts val="575"/>
              </a:spcBef>
              <a:buAutoNum type="arabicPeriod" startAt="4"/>
              <a:tabLst>
                <a:tab pos="469900" algn="l"/>
              </a:tabLst>
            </a:pP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each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subset,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create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child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node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assign </a:t>
            </a:r>
            <a:r>
              <a:rPr dirty="0" sz="2400">
                <a:latin typeface="Arial MT"/>
                <a:cs typeface="Arial MT"/>
              </a:rPr>
              <a:t>subset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this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node.</a:t>
            </a:r>
            <a:endParaRPr sz="24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575"/>
              </a:spcBef>
              <a:buAutoNum type="arabicPeriod" startAt="4"/>
              <a:tabLst>
                <a:tab pos="469265" algn="l"/>
              </a:tabLst>
            </a:pPr>
            <a:r>
              <a:rPr dirty="0" sz="2400">
                <a:latin typeface="Arial MT"/>
                <a:cs typeface="Arial MT"/>
              </a:rPr>
              <a:t>Repeat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recursively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Steps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2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–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4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until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the</a:t>
            </a:r>
            <a:endParaRPr sz="24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stopping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criteria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met.</a:t>
            </a:r>
            <a:endParaRPr sz="2400">
              <a:latin typeface="Arial MT"/>
              <a:cs typeface="Arial MT"/>
            </a:endParaRPr>
          </a:p>
          <a:p>
            <a:pPr marL="469900" marR="5080" indent="-457200">
              <a:lnSpc>
                <a:spcPct val="100000"/>
              </a:lnSpc>
              <a:spcBef>
                <a:spcPts val="580"/>
              </a:spcBef>
              <a:buAutoNum type="arabicPeriod" startAt="6"/>
              <a:tabLst>
                <a:tab pos="469900" algn="l"/>
              </a:tabLst>
            </a:pPr>
            <a:r>
              <a:rPr dirty="0" sz="2400">
                <a:latin typeface="Arial MT"/>
                <a:cs typeface="Arial MT"/>
              </a:rPr>
              <a:t>Assign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most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common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class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label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instances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in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node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leaf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node.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2778" rIns="0" bIns="0" rtlCol="0" vert="horz">
            <a:spAutoFit/>
          </a:bodyPr>
          <a:lstStyle/>
          <a:p>
            <a:pPr marL="1628775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252573"/>
                </a:solidFill>
                <a:latin typeface="Arial"/>
                <a:cs typeface="Arial"/>
              </a:rPr>
              <a:t>Ensemble</a:t>
            </a:r>
            <a:r>
              <a:rPr dirty="0" sz="3600" spc="-15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600" spc="-10">
                <a:solidFill>
                  <a:srgbClr val="252573"/>
                </a:solidFill>
                <a:latin typeface="Arial"/>
                <a:cs typeface="Arial"/>
              </a:rPr>
              <a:t>Methods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316348" y="5618518"/>
            <a:ext cx="3771900" cy="807720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wrap="square" lIns="0" tIns="38735" rIns="0" bIns="0" rtlCol="0" vert="horz">
            <a:spAutoFit/>
          </a:bodyPr>
          <a:lstStyle/>
          <a:p>
            <a:pPr marL="380365">
              <a:lnSpc>
                <a:spcPct val="100000"/>
              </a:lnSpc>
              <a:spcBef>
                <a:spcPts val="305"/>
              </a:spcBef>
            </a:pPr>
            <a:r>
              <a:rPr dirty="0" sz="2400" b="1">
                <a:solidFill>
                  <a:srgbClr val="C00000"/>
                </a:solidFill>
                <a:latin typeface="Arial"/>
                <a:cs typeface="Arial"/>
              </a:rPr>
              <a:t>Goal</a:t>
            </a:r>
            <a:r>
              <a:rPr dirty="0" sz="2400" spc="-3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00000"/>
                </a:solidFill>
                <a:latin typeface="Arial"/>
                <a:cs typeface="Arial"/>
              </a:rPr>
              <a:t>is</a:t>
            </a:r>
            <a:r>
              <a:rPr dirty="0" sz="2400" spc="-2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00000"/>
                </a:solidFill>
                <a:latin typeface="Arial"/>
                <a:cs typeface="Arial"/>
              </a:rPr>
              <a:t>to</a:t>
            </a:r>
            <a:r>
              <a:rPr dirty="0" sz="2400" spc="-2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00000"/>
                </a:solidFill>
                <a:latin typeface="Arial"/>
                <a:cs typeface="Arial"/>
              </a:rPr>
              <a:t>reduce</a:t>
            </a:r>
            <a:r>
              <a:rPr dirty="0" sz="2400" spc="-25" b="1">
                <a:solidFill>
                  <a:srgbClr val="C00000"/>
                </a:solidFill>
                <a:latin typeface="Arial"/>
                <a:cs typeface="Arial"/>
              </a:rPr>
              <a:t> the</a:t>
            </a:r>
            <a:endParaRPr sz="2400">
              <a:latin typeface="Arial"/>
              <a:cs typeface="Arial"/>
            </a:endParaRPr>
          </a:p>
          <a:p>
            <a:pPr marL="217170">
              <a:lnSpc>
                <a:spcPct val="100000"/>
              </a:lnSpc>
              <a:spcBef>
                <a:spcPts val="5"/>
              </a:spcBef>
            </a:pPr>
            <a:r>
              <a:rPr dirty="0" sz="2400" b="1">
                <a:solidFill>
                  <a:srgbClr val="C00000"/>
                </a:solidFill>
                <a:latin typeface="Arial"/>
                <a:cs typeface="Arial"/>
              </a:rPr>
              <a:t>variance</a:t>
            </a:r>
            <a:r>
              <a:rPr dirty="0" sz="2400" spc="-6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dirty="0" sz="2400" spc="-8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Arial"/>
                <a:cs typeface="Arial"/>
              </a:rPr>
              <a:t>predictions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432686" y="1596665"/>
            <a:ext cx="5558790" cy="4570730"/>
            <a:chOff x="432686" y="1596665"/>
            <a:chExt cx="5558790" cy="457073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2686" y="1596665"/>
              <a:ext cx="5558443" cy="3848310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479930" y="4971288"/>
              <a:ext cx="1967864" cy="1189355"/>
            </a:xfrm>
            <a:custGeom>
              <a:avLst/>
              <a:gdLst/>
              <a:ahLst/>
              <a:cxnLst/>
              <a:rect l="l" t="t" r="r" b="b"/>
              <a:pathLst>
                <a:path w="1967864" h="1189354">
                  <a:moveTo>
                    <a:pt x="1371854" y="484378"/>
                  </a:moveTo>
                  <a:lnTo>
                    <a:pt x="117475" y="484378"/>
                  </a:lnTo>
                  <a:lnTo>
                    <a:pt x="71741" y="493607"/>
                  </a:lnTo>
                  <a:lnTo>
                    <a:pt x="34401" y="518779"/>
                  </a:lnTo>
                  <a:lnTo>
                    <a:pt x="9229" y="556119"/>
                  </a:lnTo>
                  <a:lnTo>
                    <a:pt x="0" y="601853"/>
                  </a:lnTo>
                  <a:lnTo>
                    <a:pt x="0" y="1071702"/>
                  </a:lnTo>
                  <a:lnTo>
                    <a:pt x="9229" y="1117430"/>
                  </a:lnTo>
                  <a:lnTo>
                    <a:pt x="34401" y="1154771"/>
                  </a:lnTo>
                  <a:lnTo>
                    <a:pt x="71741" y="1179946"/>
                  </a:lnTo>
                  <a:lnTo>
                    <a:pt x="117475" y="1189177"/>
                  </a:lnTo>
                  <a:lnTo>
                    <a:pt x="1371854" y="1189177"/>
                  </a:lnTo>
                  <a:lnTo>
                    <a:pt x="1417587" y="1179946"/>
                  </a:lnTo>
                  <a:lnTo>
                    <a:pt x="1454927" y="1154771"/>
                  </a:lnTo>
                  <a:lnTo>
                    <a:pt x="1480099" y="1117430"/>
                  </a:lnTo>
                  <a:lnTo>
                    <a:pt x="1489329" y="1071702"/>
                  </a:lnTo>
                  <a:lnTo>
                    <a:pt x="1489329" y="601853"/>
                  </a:lnTo>
                  <a:lnTo>
                    <a:pt x="1480099" y="556119"/>
                  </a:lnTo>
                  <a:lnTo>
                    <a:pt x="1454927" y="518779"/>
                  </a:lnTo>
                  <a:lnTo>
                    <a:pt x="1417587" y="493607"/>
                  </a:lnTo>
                  <a:lnTo>
                    <a:pt x="1371854" y="484378"/>
                  </a:lnTo>
                  <a:close/>
                </a:path>
                <a:path w="1967864" h="1189354">
                  <a:moveTo>
                    <a:pt x="1967483" y="0"/>
                  </a:moveTo>
                  <a:lnTo>
                    <a:pt x="868807" y="484378"/>
                  </a:lnTo>
                  <a:lnTo>
                    <a:pt x="1241170" y="484378"/>
                  </a:lnTo>
                  <a:lnTo>
                    <a:pt x="1967483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479930" y="4971288"/>
              <a:ext cx="1967864" cy="1189355"/>
            </a:xfrm>
            <a:custGeom>
              <a:avLst/>
              <a:gdLst/>
              <a:ahLst/>
              <a:cxnLst/>
              <a:rect l="l" t="t" r="r" b="b"/>
              <a:pathLst>
                <a:path w="1967864" h="1189354">
                  <a:moveTo>
                    <a:pt x="0" y="601853"/>
                  </a:moveTo>
                  <a:lnTo>
                    <a:pt x="9229" y="556119"/>
                  </a:lnTo>
                  <a:lnTo>
                    <a:pt x="34401" y="518779"/>
                  </a:lnTo>
                  <a:lnTo>
                    <a:pt x="71741" y="493607"/>
                  </a:lnTo>
                  <a:lnTo>
                    <a:pt x="117475" y="484378"/>
                  </a:lnTo>
                  <a:lnTo>
                    <a:pt x="868807" y="484378"/>
                  </a:lnTo>
                  <a:lnTo>
                    <a:pt x="1967483" y="0"/>
                  </a:lnTo>
                  <a:lnTo>
                    <a:pt x="1241170" y="484378"/>
                  </a:lnTo>
                  <a:lnTo>
                    <a:pt x="1371854" y="484378"/>
                  </a:lnTo>
                  <a:lnTo>
                    <a:pt x="1417587" y="493607"/>
                  </a:lnTo>
                  <a:lnTo>
                    <a:pt x="1454927" y="518779"/>
                  </a:lnTo>
                  <a:lnTo>
                    <a:pt x="1480099" y="556119"/>
                  </a:lnTo>
                  <a:lnTo>
                    <a:pt x="1489329" y="601853"/>
                  </a:lnTo>
                  <a:lnTo>
                    <a:pt x="1489329" y="778014"/>
                  </a:lnTo>
                  <a:lnTo>
                    <a:pt x="1489329" y="1071702"/>
                  </a:lnTo>
                  <a:lnTo>
                    <a:pt x="1480099" y="1117430"/>
                  </a:lnTo>
                  <a:lnTo>
                    <a:pt x="1454927" y="1154771"/>
                  </a:lnTo>
                  <a:lnTo>
                    <a:pt x="1417587" y="1179946"/>
                  </a:lnTo>
                  <a:lnTo>
                    <a:pt x="1371854" y="1189177"/>
                  </a:lnTo>
                  <a:lnTo>
                    <a:pt x="1241170" y="1189177"/>
                  </a:lnTo>
                  <a:lnTo>
                    <a:pt x="868807" y="1189177"/>
                  </a:lnTo>
                  <a:lnTo>
                    <a:pt x="117475" y="1189177"/>
                  </a:lnTo>
                  <a:lnTo>
                    <a:pt x="71741" y="1179946"/>
                  </a:lnTo>
                  <a:lnTo>
                    <a:pt x="34401" y="1154771"/>
                  </a:lnTo>
                  <a:lnTo>
                    <a:pt x="9229" y="1117430"/>
                  </a:lnTo>
                  <a:lnTo>
                    <a:pt x="0" y="1071702"/>
                  </a:lnTo>
                  <a:lnTo>
                    <a:pt x="0" y="778014"/>
                  </a:lnTo>
                  <a:lnTo>
                    <a:pt x="0" y="60185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674622" y="5518200"/>
            <a:ext cx="110045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88595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Arial"/>
                <a:cs typeface="Arial"/>
              </a:rPr>
              <a:t>Voting Algorithm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68527" y="1947748"/>
            <a:ext cx="106934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 i="1">
                <a:solidFill>
                  <a:srgbClr val="006FC0"/>
                </a:solidFill>
                <a:latin typeface="Arial"/>
                <a:cs typeface="Arial"/>
              </a:rPr>
              <a:t>(bagging)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304026" y="2292858"/>
            <a:ext cx="2411730" cy="2814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9539" marR="36195" indent="-1905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6FC0"/>
                </a:solidFill>
                <a:latin typeface="Arial"/>
                <a:cs typeface="Arial"/>
              </a:rPr>
              <a:t>Use</a:t>
            </a:r>
            <a:r>
              <a:rPr dirty="0" sz="2400" spc="-50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006FC0"/>
                </a:solidFill>
                <a:latin typeface="Arial"/>
                <a:cs typeface="Arial"/>
              </a:rPr>
              <a:t>different sub-</a:t>
            </a:r>
            <a:r>
              <a:rPr dirty="0" sz="2400" b="1">
                <a:solidFill>
                  <a:srgbClr val="006FC0"/>
                </a:solidFill>
                <a:latin typeface="Arial"/>
                <a:cs typeface="Arial"/>
              </a:rPr>
              <a:t>samples</a:t>
            </a:r>
            <a:r>
              <a:rPr dirty="0" sz="2400" spc="-75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400" spc="-25" b="1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dirty="0" sz="2400" b="1">
                <a:solidFill>
                  <a:srgbClr val="006FC0"/>
                </a:solidFill>
                <a:latin typeface="Arial"/>
                <a:cs typeface="Arial"/>
              </a:rPr>
              <a:t>the</a:t>
            </a:r>
            <a:r>
              <a:rPr dirty="0" sz="2400" spc="-45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6FC0"/>
                </a:solidFill>
                <a:latin typeface="Arial"/>
                <a:cs typeface="Arial"/>
              </a:rPr>
              <a:t>data</a:t>
            </a:r>
            <a:r>
              <a:rPr dirty="0" sz="2400" spc="-25" b="1">
                <a:solidFill>
                  <a:srgbClr val="006FC0"/>
                </a:solidFill>
                <a:latin typeface="Arial"/>
                <a:cs typeface="Arial"/>
              </a:rPr>
              <a:t> set</a:t>
            </a:r>
            <a:endParaRPr sz="2400">
              <a:latin typeface="Arial"/>
              <a:cs typeface="Arial"/>
            </a:endParaRPr>
          </a:p>
          <a:p>
            <a:pPr algn="ctr" marL="12700" marR="5080">
              <a:lnSpc>
                <a:spcPct val="100000"/>
              </a:lnSpc>
              <a:spcBef>
                <a:spcPts val="1800"/>
              </a:spcBef>
            </a:pPr>
            <a:r>
              <a:rPr dirty="0" sz="2400" b="1">
                <a:solidFill>
                  <a:srgbClr val="006FC0"/>
                </a:solidFill>
                <a:latin typeface="Arial"/>
                <a:cs typeface="Arial"/>
              </a:rPr>
              <a:t>Combine</a:t>
            </a:r>
            <a:r>
              <a:rPr dirty="0" sz="2400" spc="-70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006FC0"/>
                </a:solidFill>
                <a:latin typeface="Arial"/>
                <a:cs typeface="Arial"/>
              </a:rPr>
              <a:t>results </a:t>
            </a:r>
            <a:r>
              <a:rPr dirty="0" sz="2400" b="1">
                <a:solidFill>
                  <a:srgbClr val="006FC0"/>
                </a:solidFill>
                <a:latin typeface="Arial"/>
                <a:cs typeface="Arial"/>
              </a:rPr>
              <a:t>from</a:t>
            </a:r>
            <a:r>
              <a:rPr dirty="0" sz="2400" spc="-40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006FC0"/>
                </a:solidFill>
                <a:latin typeface="Arial"/>
                <a:cs typeface="Arial"/>
              </a:rPr>
              <a:t>multiple </a:t>
            </a:r>
            <a:r>
              <a:rPr dirty="0" sz="2400" b="1">
                <a:solidFill>
                  <a:srgbClr val="006FC0"/>
                </a:solidFill>
                <a:latin typeface="Arial"/>
                <a:cs typeface="Arial"/>
              </a:rPr>
              <a:t>instances</a:t>
            </a:r>
            <a:r>
              <a:rPr dirty="0" sz="2400" spc="-80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6FC0"/>
                </a:solidFill>
                <a:latin typeface="Arial"/>
                <a:cs typeface="Arial"/>
              </a:rPr>
              <a:t>of</a:t>
            </a:r>
            <a:r>
              <a:rPr dirty="0" sz="2400" spc="-75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400" spc="-50" b="1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dirty="0" sz="2400" spc="-10" b="1">
                <a:solidFill>
                  <a:srgbClr val="006FC0"/>
                </a:solidFill>
                <a:latin typeface="Arial"/>
                <a:cs typeface="Arial"/>
              </a:rPr>
              <a:t>classifier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9626" rIns="0" bIns="0" rtlCol="0" vert="horz">
            <a:spAutoFit/>
          </a:bodyPr>
          <a:lstStyle/>
          <a:p>
            <a:pPr marL="162306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000000"/>
                </a:solidFill>
                <a:latin typeface="Arial"/>
                <a:cs typeface="Arial"/>
              </a:rPr>
              <a:t>Ensemble</a:t>
            </a:r>
            <a:r>
              <a:rPr dirty="0" sz="3600" spc="-4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3600" spc="-10">
                <a:solidFill>
                  <a:srgbClr val="000000"/>
                </a:solidFill>
                <a:latin typeface="Arial"/>
                <a:cs typeface="Arial"/>
              </a:rPr>
              <a:t>Methods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34085" y="1367535"/>
            <a:ext cx="7637780" cy="4795520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95"/>
              </a:spcBef>
              <a:buChar char="•"/>
              <a:tabLst>
                <a:tab pos="354965" algn="l"/>
              </a:tabLst>
            </a:pPr>
            <a:r>
              <a:rPr dirty="0" sz="2400">
                <a:solidFill>
                  <a:srgbClr val="006FC0"/>
                </a:solidFill>
                <a:latin typeface="Arial MT"/>
                <a:cs typeface="Arial MT"/>
              </a:rPr>
              <a:t>Use</a:t>
            </a:r>
            <a:r>
              <a:rPr dirty="0" sz="2400" spc="-55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6FC0"/>
                </a:solidFill>
                <a:latin typeface="Arial MT"/>
                <a:cs typeface="Arial MT"/>
              </a:rPr>
              <a:t>different</a:t>
            </a:r>
            <a:r>
              <a:rPr dirty="0" sz="2400" spc="-45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006FC0"/>
                </a:solidFill>
                <a:latin typeface="Arial MT"/>
                <a:cs typeface="Arial MT"/>
              </a:rPr>
              <a:t>sub-</a:t>
            </a:r>
            <a:r>
              <a:rPr dirty="0" sz="2400">
                <a:solidFill>
                  <a:srgbClr val="006FC0"/>
                </a:solidFill>
                <a:latin typeface="Arial MT"/>
                <a:cs typeface="Arial MT"/>
              </a:rPr>
              <a:t>samples</a:t>
            </a:r>
            <a:r>
              <a:rPr dirty="0" sz="2400" spc="-35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6FC0"/>
                </a:solidFill>
                <a:latin typeface="Arial MT"/>
                <a:cs typeface="Arial MT"/>
              </a:rPr>
              <a:t>of</a:t>
            </a:r>
            <a:r>
              <a:rPr dirty="0" sz="2400" spc="-45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6FC0"/>
                </a:solidFill>
                <a:latin typeface="Arial MT"/>
                <a:cs typeface="Arial MT"/>
              </a:rPr>
              <a:t>the</a:t>
            </a:r>
            <a:r>
              <a:rPr dirty="0" sz="2400" spc="-5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6FC0"/>
                </a:solidFill>
                <a:latin typeface="Arial MT"/>
                <a:cs typeface="Arial MT"/>
              </a:rPr>
              <a:t>data</a:t>
            </a:r>
            <a:r>
              <a:rPr dirty="0" sz="2400" spc="-45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006FC0"/>
                </a:solidFill>
                <a:latin typeface="Arial MT"/>
                <a:cs typeface="Arial MT"/>
              </a:rPr>
              <a:t>set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Char char="•"/>
              <a:tabLst>
                <a:tab pos="354965" algn="l"/>
              </a:tabLst>
            </a:pPr>
            <a:r>
              <a:rPr dirty="0" sz="2400">
                <a:solidFill>
                  <a:srgbClr val="006FC0"/>
                </a:solidFill>
                <a:latin typeface="Arial MT"/>
                <a:cs typeface="Arial MT"/>
              </a:rPr>
              <a:t>Combine</a:t>
            </a:r>
            <a:r>
              <a:rPr dirty="0" sz="2400" spc="-45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6FC0"/>
                </a:solidFill>
                <a:latin typeface="Arial MT"/>
                <a:cs typeface="Arial MT"/>
              </a:rPr>
              <a:t>results</a:t>
            </a:r>
            <a:r>
              <a:rPr dirty="0" sz="2400" spc="-6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6FC0"/>
                </a:solidFill>
                <a:latin typeface="Arial MT"/>
                <a:cs typeface="Arial MT"/>
              </a:rPr>
              <a:t>from</a:t>
            </a:r>
            <a:r>
              <a:rPr dirty="0" sz="2400" spc="-9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6FC0"/>
                </a:solidFill>
                <a:latin typeface="Arial MT"/>
                <a:cs typeface="Arial MT"/>
              </a:rPr>
              <a:t>multiple</a:t>
            </a:r>
            <a:r>
              <a:rPr dirty="0" sz="2400" spc="-5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6FC0"/>
                </a:solidFill>
                <a:latin typeface="Arial MT"/>
                <a:cs typeface="Arial MT"/>
              </a:rPr>
              <a:t>instances</a:t>
            </a:r>
            <a:r>
              <a:rPr dirty="0" sz="2400" spc="-6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6FC0"/>
                </a:solidFill>
                <a:latin typeface="Arial MT"/>
                <a:cs typeface="Arial MT"/>
              </a:rPr>
              <a:t>of</a:t>
            </a:r>
            <a:r>
              <a:rPr dirty="0" sz="2400" spc="-7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6FC0"/>
                </a:solidFill>
                <a:latin typeface="Arial MT"/>
                <a:cs typeface="Arial MT"/>
              </a:rPr>
              <a:t>a</a:t>
            </a:r>
            <a:r>
              <a:rPr dirty="0" sz="2400" spc="-65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006FC0"/>
                </a:solidFill>
                <a:latin typeface="Arial MT"/>
                <a:cs typeface="Arial MT"/>
              </a:rPr>
              <a:t>classifier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05"/>
              </a:spcBef>
              <a:buChar char="•"/>
              <a:tabLst>
                <a:tab pos="354965" algn="l"/>
              </a:tabLst>
            </a:pPr>
            <a:r>
              <a:rPr dirty="0" sz="2400">
                <a:solidFill>
                  <a:srgbClr val="006FC0"/>
                </a:solidFill>
                <a:latin typeface="Arial MT"/>
                <a:cs typeface="Arial MT"/>
              </a:rPr>
              <a:t>Goal</a:t>
            </a:r>
            <a:r>
              <a:rPr dirty="0" sz="2400" spc="-55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6FC0"/>
                </a:solidFill>
                <a:latin typeface="Arial MT"/>
                <a:cs typeface="Arial MT"/>
              </a:rPr>
              <a:t>is</a:t>
            </a:r>
            <a:r>
              <a:rPr dirty="0" sz="2400" spc="-5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6FC0"/>
                </a:solidFill>
                <a:latin typeface="Arial MT"/>
                <a:cs typeface="Arial MT"/>
              </a:rPr>
              <a:t>to</a:t>
            </a:r>
            <a:r>
              <a:rPr dirty="0" sz="2400" spc="-5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6FC0"/>
                </a:solidFill>
                <a:latin typeface="Arial MT"/>
                <a:cs typeface="Arial MT"/>
              </a:rPr>
              <a:t>reduce</a:t>
            </a:r>
            <a:r>
              <a:rPr dirty="0" sz="2400" spc="-5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6FC0"/>
                </a:solidFill>
                <a:latin typeface="Arial MT"/>
                <a:cs typeface="Arial MT"/>
              </a:rPr>
              <a:t>the</a:t>
            </a:r>
            <a:r>
              <a:rPr dirty="0" sz="2400" spc="-5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6FC0"/>
                </a:solidFill>
                <a:latin typeface="Arial MT"/>
                <a:cs typeface="Arial MT"/>
              </a:rPr>
              <a:t>variance</a:t>
            </a:r>
            <a:r>
              <a:rPr dirty="0" sz="2400" spc="-3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6FC0"/>
                </a:solidFill>
                <a:latin typeface="Arial MT"/>
                <a:cs typeface="Arial MT"/>
              </a:rPr>
              <a:t>of</a:t>
            </a:r>
            <a:r>
              <a:rPr dirty="0" sz="2400" spc="-7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006FC0"/>
                </a:solidFill>
                <a:latin typeface="Arial MT"/>
                <a:cs typeface="Arial MT"/>
              </a:rPr>
              <a:t>predictions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795"/>
              </a:spcBef>
              <a:buChar char="•"/>
              <a:tabLst>
                <a:tab pos="354965" algn="l"/>
              </a:tabLst>
            </a:pPr>
            <a:r>
              <a:rPr dirty="0" sz="2200">
                <a:latin typeface="Arial MT"/>
                <a:cs typeface="Arial MT"/>
              </a:rPr>
              <a:t>In</a:t>
            </a:r>
            <a:r>
              <a:rPr dirty="0" sz="2200" spc="-60">
                <a:latin typeface="Arial MT"/>
                <a:cs typeface="Arial MT"/>
              </a:rPr>
              <a:t> </a:t>
            </a:r>
            <a:r>
              <a:rPr dirty="0" sz="2200" b="1">
                <a:solidFill>
                  <a:srgbClr val="C00000"/>
                </a:solidFill>
                <a:latin typeface="Arial"/>
                <a:cs typeface="Arial"/>
              </a:rPr>
              <a:t>Bagging</a:t>
            </a:r>
            <a:r>
              <a:rPr dirty="0" sz="2200">
                <a:latin typeface="Arial MT"/>
                <a:cs typeface="Arial MT"/>
              </a:rPr>
              <a:t>,</a:t>
            </a:r>
            <a:r>
              <a:rPr dirty="0" sz="2200" spc="-3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data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subsets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are</a:t>
            </a:r>
            <a:r>
              <a:rPr dirty="0" sz="2200" spc="-5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drawn</a:t>
            </a:r>
            <a:r>
              <a:rPr dirty="0" sz="2200" spc="-5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randomly</a:t>
            </a:r>
            <a:r>
              <a:rPr dirty="0" sz="2200" spc="-4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with</a:t>
            </a:r>
            <a:endParaRPr sz="22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dirty="0" sz="2200">
                <a:latin typeface="Arial MT"/>
                <a:cs typeface="Arial MT"/>
              </a:rPr>
              <a:t>replacement</a:t>
            </a:r>
            <a:r>
              <a:rPr dirty="0" sz="2200" spc="-5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from</a:t>
            </a:r>
            <a:r>
              <a:rPr dirty="0" sz="2200" spc="-5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training</a:t>
            </a:r>
            <a:r>
              <a:rPr dirty="0" sz="2200" spc="-5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dataset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at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beginning</a:t>
            </a:r>
            <a:endParaRPr sz="2200">
              <a:latin typeface="Arial MT"/>
              <a:cs typeface="Arial MT"/>
            </a:endParaRPr>
          </a:p>
          <a:p>
            <a:pPr marL="355600" marR="389255" indent="-342900">
              <a:lnSpc>
                <a:spcPct val="100000"/>
              </a:lnSpc>
              <a:spcBef>
                <a:spcPts val="1200"/>
              </a:spcBef>
              <a:buChar char="•"/>
              <a:tabLst>
                <a:tab pos="355600" algn="l"/>
              </a:tabLst>
            </a:pPr>
            <a:r>
              <a:rPr dirty="0" sz="2200">
                <a:latin typeface="Arial MT"/>
                <a:cs typeface="Arial MT"/>
              </a:rPr>
              <a:t>In</a:t>
            </a:r>
            <a:r>
              <a:rPr dirty="0" sz="2200" spc="-55">
                <a:latin typeface="Arial MT"/>
                <a:cs typeface="Arial MT"/>
              </a:rPr>
              <a:t> </a:t>
            </a:r>
            <a:r>
              <a:rPr dirty="0" sz="2200" b="1">
                <a:solidFill>
                  <a:srgbClr val="C00000"/>
                </a:solidFill>
                <a:latin typeface="Arial"/>
                <a:cs typeface="Arial"/>
              </a:rPr>
              <a:t>Boosting</a:t>
            </a:r>
            <a:r>
              <a:rPr dirty="0" sz="2200">
                <a:latin typeface="Arial MT"/>
                <a:cs typeface="Arial MT"/>
              </a:rPr>
              <a:t>,</a:t>
            </a:r>
            <a:r>
              <a:rPr dirty="0" sz="2200" spc="-3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every</a:t>
            </a:r>
            <a:r>
              <a:rPr dirty="0" sz="2200" spc="-4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new</a:t>
            </a:r>
            <a:r>
              <a:rPr dirty="0" sz="2200" spc="-5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subset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comprises</a:t>
            </a:r>
            <a:r>
              <a:rPr dirty="0" sz="2200" spc="-4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6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elements </a:t>
            </a:r>
            <a:r>
              <a:rPr dirty="0" sz="2200">
                <a:latin typeface="Arial MT"/>
                <a:cs typeface="Arial MT"/>
              </a:rPr>
              <a:t>that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were</a:t>
            </a:r>
            <a:r>
              <a:rPr dirty="0" sz="2200" spc="-5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misclassified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by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previous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models</a:t>
            </a:r>
            <a:endParaRPr sz="2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800"/>
              </a:spcBef>
              <a:buChar char="•"/>
              <a:tabLst>
                <a:tab pos="354965" algn="l"/>
              </a:tabLst>
            </a:pPr>
            <a:r>
              <a:rPr dirty="0" sz="2200">
                <a:latin typeface="Arial MT"/>
                <a:cs typeface="Arial MT"/>
              </a:rPr>
              <a:t>In</a:t>
            </a:r>
            <a:r>
              <a:rPr dirty="0" sz="2200" spc="-55">
                <a:latin typeface="Arial MT"/>
                <a:cs typeface="Arial MT"/>
              </a:rPr>
              <a:t> </a:t>
            </a:r>
            <a:r>
              <a:rPr dirty="0" sz="2200" b="1">
                <a:solidFill>
                  <a:srgbClr val="C00000"/>
                </a:solidFill>
                <a:latin typeface="Arial"/>
                <a:cs typeface="Arial"/>
              </a:rPr>
              <a:t>Bagging</a:t>
            </a:r>
            <a:r>
              <a:rPr dirty="0" sz="2200">
                <a:latin typeface="Arial MT"/>
                <a:cs typeface="Arial MT"/>
              </a:rPr>
              <a:t>,</a:t>
            </a:r>
            <a:r>
              <a:rPr dirty="0" sz="2200" spc="-3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classifiers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run</a:t>
            </a:r>
            <a:r>
              <a:rPr dirty="0" sz="2200" spc="-5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in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parallel,</a:t>
            </a:r>
            <a:r>
              <a:rPr dirty="0" sz="2200" spc="-5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and</a:t>
            </a:r>
            <a:r>
              <a:rPr dirty="0" sz="2200" spc="-5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results</a:t>
            </a:r>
            <a:r>
              <a:rPr dirty="0" sz="2200" spc="-60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are</a:t>
            </a:r>
            <a:endParaRPr sz="22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dirty="0" sz="2200">
                <a:latin typeface="Arial MT"/>
                <a:cs typeface="Arial MT"/>
              </a:rPr>
              <a:t>aggregated</a:t>
            </a:r>
            <a:r>
              <a:rPr dirty="0" sz="2200" spc="-5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when</a:t>
            </a:r>
            <a:r>
              <a:rPr dirty="0" sz="2200" spc="-5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all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of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them</a:t>
            </a:r>
            <a:r>
              <a:rPr dirty="0" sz="2200" spc="-5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finish</a:t>
            </a:r>
            <a:endParaRPr sz="2200">
              <a:latin typeface="Arial MT"/>
              <a:cs typeface="Arial MT"/>
            </a:endParaRPr>
          </a:p>
          <a:p>
            <a:pPr marL="355600" marR="297180" indent="-342900">
              <a:lnSpc>
                <a:spcPct val="100000"/>
              </a:lnSpc>
              <a:spcBef>
                <a:spcPts val="1205"/>
              </a:spcBef>
              <a:buChar char="•"/>
              <a:tabLst>
                <a:tab pos="355600" algn="l"/>
              </a:tabLst>
            </a:pPr>
            <a:r>
              <a:rPr dirty="0" sz="2200">
                <a:latin typeface="Arial MT"/>
                <a:cs typeface="Arial MT"/>
              </a:rPr>
              <a:t>In</a:t>
            </a:r>
            <a:r>
              <a:rPr dirty="0" sz="2200" spc="-60">
                <a:latin typeface="Arial MT"/>
                <a:cs typeface="Arial MT"/>
              </a:rPr>
              <a:t> </a:t>
            </a:r>
            <a:r>
              <a:rPr dirty="0" sz="2200" b="1">
                <a:solidFill>
                  <a:srgbClr val="C00000"/>
                </a:solidFill>
                <a:latin typeface="Arial"/>
                <a:cs typeface="Arial"/>
              </a:rPr>
              <a:t>Boosting</a:t>
            </a:r>
            <a:r>
              <a:rPr dirty="0" sz="2200">
                <a:latin typeface="Arial MT"/>
                <a:cs typeface="Arial MT"/>
              </a:rPr>
              <a:t>,</a:t>
            </a:r>
            <a:r>
              <a:rPr dirty="0" sz="2200" spc="-2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classifiers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run</a:t>
            </a:r>
            <a:r>
              <a:rPr dirty="0" sz="2200" spc="-5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in</a:t>
            </a:r>
            <a:r>
              <a:rPr dirty="0" sz="2200" spc="-6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sequence,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and</a:t>
            </a:r>
            <a:r>
              <a:rPr dirty="0" sz="2200" spc="-6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results</a:t>
            </a:r>
            <a:r>
              <a:rPr dirty="0" sz="2200" spc="-60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are </a:t>
            </a:r>
            <a:r>
              <a:rPr dirty="0" sz="2200">
                <a:latin typeface="Arial MT"/>
                <a:cs typeface="Arial MT"/>
              </a:rPr>
              <a:t>aggregated</a:t>
            </a:r>
            <a:r>
              <a:rPr dirty="0" sz="2200" spc="-4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at</a:t>
            </a:r>
            <a:r>
              <a:rPr dirty="0" sz="2200" spc="-5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3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end</a:t>
            </a:r>
            <a:r>
              <a:rPr dirty="0" sz="2200" spc="-4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of</a:t>
            </a:r>
            <a:r>
              <a:rPr dirty="0" sz="2200" spc="-5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each</a:t>
            </a:r>
            <a:r>
              <a:rPr dirty="0" sz="2200" spc="-55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run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07656" y="0"/>
            <a:ext cx="1236342" cy="1298575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" y="6583362"/>
            <a:ext cx="9143999" cy="26669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7705" rIns="0" bIns="0" rtlCol="0" vert="horz">
            <a:spAutoFit/>
          </a:bodyPr>
          <a:lstStyle/>
          <a:p>
            <a:pPr marL="2030095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252573"/>
                </a:solidFill>
                <a:latin typeface="Arial"/>
                <a:cs typeface="Arial"/>
              </a:rPr>
              <a:t>Random</a:t>
            </a:r>
            <a:r>
              <a:rPr dirty="0" sz="3600" spc="-18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600" spc="-10">
                <a:solidFill>
                  <a:srgbClr val="252573"/>
                </a:solidFill>
                <a:latin typeface="Arial"/>
                <a:cs typeface="Arial"/>
              </a:rPr>
              <a:t>Forest</a:t>
            </a:r>
            <a:endParaRPr sz="3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328028" y="6673101"/>
            <a:ext cx="14357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 MT"/>
                <a:cs typeface="Arial MT"/>
              </a:rPr>
              <a:t>Slide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&lt;#&gt;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5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64591" y="1250441"/>
            <a:ext cx="7871459" cy="5025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9875" marR="321945" indent="-257810">
              <a:lnSpc>
                <a:spcPct val="100000"/>
              </a:lnSpc>
              <a:spcBef>
                <a:spcPts val="100"/>
              </a:spcBef>
              <a:buChar char="•"/>
              <a:tabLst>
                <a:tab pos="269875" algn="l"/>
              </a:tabLst>
            </a:pPr>
            <a:r>
              <a:rPr dirty="0" sz="2400">
                <a:solidFill>
                  <a:srgbClr val="006FC0"/>
                </a:solidFill>
                <a:latin typeface="Arial MT"/>
                <a:cs typeface="Arial MT"/>
              </a:rPr>
              <a:t>Random</a:t>
            </a:r>
            <a:r>
              <a:rPr dirty="0" sz="2400" spc="-3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6FC0"/>
                </a:solidFill>
                <a:latin typeface="Arial MT"/>
                <a:cs typeface="Arial MT"/>
              </a:rPr>
              <a:t>Forest</a:t>
            </a:r>
            <a:r>
              <a:rPr dirty="0" sz="2400" spc="-45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6FC0"/>
                </a:solidFill>
                <a:latin typeface="Arial MT"/>
                <a:cs typeface="Arial MT"/>
              </a:rPr>
              <a:t>is</a:t>
            </a:r>
            <a:r>
              <a:rPr dirty="0" sz="2400" spc="-4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6FC0"/>
                </a:solidFill>
                <a:latin typeface="Arial MT"/>
                <a:cs typeface="Arial MT"/>
              </a:rPr>
              <a:t>a</a:t>
            </a:r>
            <a:r>
              <a:rPr dirty="0" sz="2400" spc="-45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6FC0"/>
                </a:solidFill>
                <a:latin typeface="Arial MT"/>
                <a:cs typeface="Arial MT"/>
              </a:rPr>
              <a:t>bagging</a:t>
            </a:r>
            <a:r>
              <a:rPr dirty="0" sz="2400" spc="-15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6FC0"/>
                </a:solidFill>
                <a:latin typeface="Arial MT"/>
                <a:cs typeface="Arial MT"/>
              </a:rPr>
              <a:t>method</a:t>
            </a:r>
            <a:r>
              <a:rPr dirty="0" sz="2400" spc="-35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uses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large </a:t>
            </a:r>
            <a:r>
              <a:rPr dirty="0" sz="2400">
                <a:latin typeface="Arial MT"/>
                <a:cs typeface="Arial MT"/>
              </a:rPr>
              <a:t>number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deep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trees,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fitted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bootstrap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samples</a:t>
            </a:r>
            <a:endParaRPr sz="2400">
              <a:latin typeface="Arial MT"/>
              <a:cs typeface="Arial MT"/>
            </a:endParaRPr>
          </a:p>
          <a:p>
            <a:pPr marL="269875" marR="796925" indent="-257810">
              <a:lnSpc>
                <a:spcPct val="100000"/>
              </a:lnSpc>
              <a:spcBef>
                <a:spcPts val="1200"/>
              </a:spcBef>
              <a:buChar char="•"/>
              <a:tabLst>
                <a:tab pos="269875" algn="l"/>
              </a:tabLst>
            </a:pP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Random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forest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algorithm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adds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concept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35">
                <a:latin typeface="Arial MT"/>
                <a:cs typeface="Arial MT"/>
              </a:rPr>
              <a:t>of </a:t>
            </a:r>
            <a:r>
              <a:rPr dirty="0" sz="2400">
                <a:latin typeface="Arial MT"/>
                <a:cs typeface="Arial MT"/>
              </a:rPr>
              <a:t>random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feature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subspace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selection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create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more </a:t>
            </a:r>
            <a:r>
              <a:rPr dirty="0" sz="2400">
                <a:latin typeface="Arial MT"/>
                <a:cs typeface="Arial MT"/>
              </a:rPr>
              <a:t>robust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models:</a:t>
            </a:r>
            <a:endParaRPr sz="2400">
              <a:latin typeface="Arial MT"/>
              <a:cs typeface="Arial MT"/>
            </a:endParaRPr>
          </a:p>
          <a:p>
            <a:pPr algn="just" marL="570230" marR="5080" indent="-215265">
              <a:lnSpc>
                <a:spcPct val="100000"/>
              </a:lnSpc>
              <a:spcBef>
                <a:spcPts val="1200"/>
              </a:spcBef>
            </a:pPr>
            <a:r>
              <a:rPr dirty="0" sz="2400" spc="-15">
                <a:latin typeface="Arial MT"/>
                <a:cs typeface="Arial MT"/>
              </a:rPr>
              <a:t>–</a:t>
            </a:r>
            <a:r>
              <a:rPr dirty="0" sz="2400" spc="-31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I</a:t>
            </a:r>
            <a:r>
              <a:rPr dirty="0" sz="2400">
                <a:latin typeface="Arial MT"/>
                <a:cs typeface="Arial MT"/>
              </a:rPr>
              <a:t>n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addition</a:t>
            </a:r>
            <a:r>
              <a:rPr dirty="0" sz="2400" spc="1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t</a:t>
            </a:r>
            <a:r>
              <a:rPr dirty="0" sz="2400">
                <a:latin typeface="Arial MT"/>
                <a:cs typeface="Arial MT"/>
              </a:rPr>
              <a:t>o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sampling</a:t>
            </a:r>
            <a:r>
              <a:rPr dirty="0" sz="2400" spc="2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th</a:t>
            </a:r>
            <a:r>
              <a:rPr dirty="0" sz="2400">
                <a:latin typeface="Arial MT"/>
                <a:cs typeface="Arial MT"/>
              </a:rPr>
              <a:t>e </a:t>
            </a:r>
            <a:r>
              <a:rPr dirty="0" sz="2400" spc="-20">
                <a:latin typeface="Arial MT"/>
                <a:cs typeface="Arial MT"/>
              </a:rPr>
              <a:t>observations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15">
                <a:latin typeface="Arial MT"/>
                <a:cs typeface="Arial MT"/>
              </a:rPr>
              <a:t>in</a:t>
            </a:r>
            <a:r>
              <a:rPr dirty="0" sz="2400" spc="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th</a:t>
            </a:r>
            <a:r>
              <a:rPr dirty="0" sz="2400">
                <a:latin typeface="Arial MT"/>
                <a:cs typeface="Arial MT"/>
              </a:rPr>
              <a:t>e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dataset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we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15">
                <a:latin typeface="Arial MT"/>
                <a:cs typeface="Arial MT"/>
              </a:rPr>
              <a:t>also</a:t>
            </a:r>
            <a:r>
              <a:rPr dirty="0" sz="2400" spc="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sample</a:t>
            </a:r>
            <a:r>
              <a:rPr dirty="0" sz="2400" spc="5">
                <a:latin typeface="Arial MT"/>
                <a:cs typeface="Arial MT"/>
              </a:rPr>
              <a:t> </a:t>
            </a:r>
            <a:r>
              <a:rPr dirty="0" sz="2400" spc="-15">
                <a:latin typeface="Arial MT"/>
                <a:cs typeface="Arial MT"/>
              </a:rPr>
              <a:t>the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features,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and</a:t>
            </a:r>
            <a:r>
              <a:rPr dirty="0" sz="2400" spc="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keep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15">
                <a:latin typeface="Arial MT"/>
                <a:cs typeface="Arial MT"/>
              </a:rPr>
              <a:t>only</a:t>
            </a:r>
            <a:r>
              <a:rPr dirty="0" sz="2400" spc="10">
                <a:latin typeface="Arial MT"/>
                <a:cs typeface="Arial MT"/>
              </a:rPr>
              <a:t> </a:t>
            </a:r>
            <a:r>
              <a:rPr dirty="0" sz="2400" spc="-15">
                <a:latin typeface="Arial MT"/>
                <a:cs typeface="Arial MT"/>
              </a:rPr>
              <a:t>a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random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15">
                <a:latin typeface="Arial MT"/>
                <a:cs typeface="Arial MT"/>
              </a:rPr>
              <a:t>subset</a:t>
            </a:r>
            <a:r>
              <a:rPr dirty="0" sz="2400">
                <a:latin typeface="Arial MT"/>
                <a:cs typeface="Arial MT"/>
              </a:rPr>
              <a:t> of </a:t>
            </a:r>
            <a:r>
              <a:rPr dirty="0" sz="2400" spc="-15">
                <a:latin typeface="Arial MT"/>
                <a:cs typeface="Arial MT"/>
              </a:rPr>
              <a:t>them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t</a:t>
            </a:r>
            <a:r>
              <a:rPr dirty="0" sz="2400">
                <a:latin typeface="Arial MT"/>
                <a:cs typeface="Arial MT"/>
              </a:rPr>
              <a:t>o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generate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each</a:t>
            </a:r>
            <a:r>
              <a:rPr dirty="0" sz="2400" spc="5">
                <a:latin typeface="Arial MT"/>
                <a:cs typeface="Arial MT"/>
              </a:rPr>
              <a:t> </a:t>
            </a:r>
            <a:r>
              <a:rPr dirty="0" sz="2400" spc="-15">
                <a:latin typeface="Arial MT"/>
                <a:cs typeface="Arial MT"/>
              </a:rPr>
              <a:t>bootstrap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sample</a:t>
            </a:r>
            <a:endParaRPr sz="2400">
              <a:latin typeface="Arial MT"/>
              <a:cs typeface="Arial MT"/>
            </a:endParaRPr>
          </a:p>
          <a:p>
            <a:pPr algn="just" marL="267970" marR="271145" indent="-255904">
              <a:lnSpc>
                <a:spcPct val="100000"/>
              </a:lnSpc>
              <a:spcBef>
                <a:spcPts val="1205"/>
              </a:spcBef>
              <a:buChar char="•"/>
              <a:tabLst>
                <a:tab pos="269875" algn="l"/>
              </a:tabLst>
            </a:pPr>
            <a:r>
              <a:rPr dirty="0" sz="2400">
                <a:latin typeface="Arial MT"/>
                <a:cs typeface="Arial MT"/>
              </a:rPr>
              <a:t>This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means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all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trees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use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different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information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make </a:t>
            </a:r>
            <a:r>
              <a:rPr dirty="0" sz="2400" spc="-20">
                <a:latin typeface="Arial MT"/>
                <a:cs typeface="Arial MT"/>
              </a:rPr>
              <a:t>	</a:t>
            </a:r>
            <a:r>
              <a:rPr dirty="0" sz="2400">
                <a:latin typeface="Arial MT"/>
                <a:cs typeface="Arial MT"/>
              </a:rPr>
              <a:t>their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decisions,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which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reduces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correlation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between </a:t>
            </a:r>
            <a:r>
              <a:rPr dirty="0" sz="2400" spc="-10">
                <a:latin typeface="Arial MT"/>
                <a:cs typeface="Arial MT"/>
              </a:rPr>
              <a:t>	</a:t>
            </a:r>
            <a:r>
              <a:rPr dirty="0" sz="2400">
                <a:latin typeface="Arial MT"/>
                <a:cs typeface="Arial MT"/>
              </a:rPr>
              <a:t>their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outputs</a:t>
            </a:r>
            <a:endParaRPr sz="2400">
              <a:latin typeface="Arial MT"/>
              <a:cs typeface="Arial MT"/>
            </a:endParaRPr>
          </a:p>
          <a:p>
            <a:pPr algn="just" marL="268605" indent="-255904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Char char="•"/>
              <a:tabLst>
                <a:tab pos="268605" algn="l"/>
              </a:tabLst>
            </a:pPr>
            <a:r>
              <a:rPr dirty="0" u="sng" sz="2400">
                <a:solidFill>
                  <a:srgbClr val="99CC00"/>
                </a:solidFill>
                <a:uFill>
                  <a:solidFill>
                    <a:srgbClr val="99CC00"/>
                  </a:solidFill>
                </a:uFill>
                <a:latin typeface="Arial MT"/>
                <a:cs typeface="Arial MT"/>
                <a:hlinkClick r:id="rId4"/>
              </a:rPr>
              <a:t>Scikit</a:t>
            </a:r>
            <a:r>
              <a:rPr dirty="0" u="sng" sz="2400" spc="-80">
                <a:solidFill>
                  <a:srgbClr val="99CC00"/>
                </a:solidFill>
                <a:uFill>
                  <a:solidFill>
                    <a:srgbClr val="99CC00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dirty="0" u="sng" sz="2400">
                <a:solidFill>
                  <a:srgbClr val="99CC00"/>
                </a:solidFill>
                <a:uFill>
                  <a:solidFill>
                    <a:srgbClr val="99CC00"/>
                  </a:solidFill>
                </a:uFill>
                <a:latin typeface="Arial MT"/>
                <a:cs typeface="Arial MT"/>
                <a:hlinkClick r:id="rId4"/>
              </a:rPr>
              <a:t>Learn</a:t>
            </a:r>
            <a:r>
              <a:rPr dirty="0" u="sng" sz="2400" spc="-65">
                <a:solidFill>
                  <a:srgbClr val="99CC00"/>
                </a:solidFill>
                <a:uFill>
                  <a:solidFill>
                    <a:srgbClr val="99CC00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dirty="0" u="sng" sz="2400" spc="-10">
                <a:solidFill>
                  <a:srgbClr val="99CC00"/>
                </a:solidFill>
                <a:uFill>
                  <a:solidFill>
                    <a:srgbClr val="99CC00"/>
                  </a:solidFill>
                </a:uFill>
                <a:latin typeface="Arial MT"/>
                <a:cs typeface="Arial MT"/>
                <a:hlinkClick r:id="rId4"/>
              </a:rPr>
              <a:t>Documentation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07656" y="0"/>
            <a:ext cx="1236342" cy="1298575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" y="6583362"/>
            <a:ext cx="9143999" cy="26669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8507" y="664895"/>
            <a:ext cx="7151456" cy="539655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192771" y="1424431"/>
            <a:ext cx="1444625" cy="87884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 spc="-20">
                <a:solidFill>
                  <a:srgbClr val="C00000"/>
                </a:solidFill>
                <a:latin typeface="Arial"/>
                <a:cs typeface="Arial"/>
              </a:rPr>
              <a:t>Random </a:t>
            </a:r>
            <a:r>
              <a:rPr dirty="0" sz="2800" spc="-10">
                <a:solidFill>
                  <a:srgbClr val="C00000"/>
                </a:solidFill>
                <a:latin typeface="Arial"/>
                <a:cs typeface="Arial"/>
              </a:rPr>
              <a:t>Forest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328028" y="6673101"/>
            <a:ext cx="14357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 MT"/>
                <a:cs typeface="Arial MT"/>
              </a:rPr>
              <a:t>Slide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&lt;#&gt;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5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07656" y="0"/>
            <a:ext cx="1236342" cy="1298575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" y="6583362"/>
            <a:ext cx="9143999" cy="26669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80619" rIns="0" bIns="0" rtlCol="0" vert="horz">
            <a:spAutoFit/>
          </a:bodyPr>
          <a:lstStyle/>
          <a:p>
            <a:pPr marL="2030095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252573"/>
                </a:solidFill>
                <a:latin typeface="Arial"/>
                <a:cs typeface="Arial"/>
              </a:rPr>
              <a:t>Random</a:t>
            </a:r>
            <a:r>
              <a:rPr dirty="0" sz="3600" spc="-18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3600" spc="-10">
                <a:solidFill>
                  <a:srgbClr val="252573"/>
                </a:solidFill>
                <a:latin typeface="Arial"/>
                <a:cs typeface="Arial"/>
              </a:rPr>
              <a:t>Forest</a:t>
            </a:r>
            <a:endParaRPr sz="36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5319" y="1428165"/>
            <a:ext cx="7484999" cy="4228973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627377" y="5885789"/>
            <a:ext cx="367537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80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5"/>
              </a:rPr>
              <a:t>https://youtu.be/J4Wdy0Wc_xQ?t=9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328028" y="6673101"/>
            <a:ext cx="14357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 MT"/>
                <a:cs typeface="Arial MT"/>
              </a:rPr>
              <a:t>Slide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&lt;#&gt;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5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71296" y="381380"/>
            <a:ext cx="7433945" cy="3600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marR="714375" indent="-342900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Font typeface="Arial MT"/>
              <a:buChar char="•"/>
              <a:tabLst>
                <a:tab pos="354965" algn="l"/>
              </a:tabLst>
            </a:pPr>
            <a:r>
              <a:rPr dirty="0" sz="2400" b="1">
                <a:solidFill>
                  <a:srgbClr val="C00000"/>
                </a:solidFill>
                <a:latin typeface="Arial"/>
                <a:cs typeface="Arial"/>
              </a:rPr>
              <a:t>Boosting</a:t>
            </a:r>
            <a:r>
              <a:rPr dirty="0" sz="2400" spc="-9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00000"/>
                </a:solidFill>
                <a:latin typeface="Arial"/>
                <a:cs typeface="Arial"/>
              </a:rPr>
              <a:t>classifiers</a:t>
            </a:r>
            <a:r>
              <a:rPr dirty="0" sz="2400" spc="-1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aggregate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individual </a:t>
            </a:r>
            <a:r>
              <a:rPr dirty="0" sz="2400">
                <a:latin typeface="Arial MT"/>
                <a:cs typeface="Arial MT"/>
              </a:rPr>
              <a:t>predictions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several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instances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estimator </a:t>
            </a:r>
            <a:r>
              <a:rPr dirty="0" sz="2400">
                <a:latin typeface="Arial MT"/>
                <a:cs typeface="Arial MT"/>
              </a:rPr>
              <a:t>on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repeatedly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modified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versions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data.</a:t>
            </a:r>
            <a:endParaRPr sz="2400">
              <a:latin typeface="Arial MT"/>
              <a:cs typeface="Arial MT"/>
            </a:endParaRPr>
          </a:p>
          <a:p>
            <a:pPr marL="354965" marR="5080" indent="-342900">
              <a:lnSpc>
                <a:spcPct val="100000"/>
              </a:lnSpc>
              <a:spcBef>
                <a:spcPts val="2705"/>
              </a:spcBef>
              <a:buChar char="•"/>
              <a:tabLst>
                <a:tab pos="354965" algn="l"/>
              </a:tabLst>
            </a:pPr>
            <a:r>
              <a:rPr dirty="0" sz="2000">
                <a:latin typeface="Arial MT"/>
                <a:cs typeface="Arial MT"/>
              </a:rPr>
              <a:t>Boosting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starts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with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one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instance,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adds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new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instances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one </a:t>
            </a:r>
            <a:r>
              <a:rPr dirty="0" sz="2000">
                <a:latin typeface="Arial MT"/>
                <a:cs typeface="Arial MT"/>
              </a:rPr>
              <a:t>after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another</a:t>
            </a:r>
            <a:endParaRPr sz="2000">
              <a:latin typeface="Arial MT"/>
              <a:cs typeface="Arial MT"/>
            </a:endParaRPr>
          </a:p>
          <a:p>
            <a:pPr marL="354965" marR="5080" indent="-342900">
              <a:lnSpc>
                <a:spcPct val="100000"/>
              </a:lnSpc>
              <a:spcBef>
                <a:spcPts val="1200"/>
              </a:spcBef>
              <a:buChar char="•"/>
              <a:tabLst>
                <a:tab pos="354965" algn="l"/>
              </a:tabLst>
            </a:pPr>
            <a:r>
              <a:rPr dirty="0" sz="2000">
                <a:latin typeface="Arial MT"/>
                <a:cs typeface="Arial MT"/>
              </a:rPr>
              <a:t>Each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model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sequence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is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fitted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giving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more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importance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to </a:t>
            </a:r>
            <a:r>
              <a:rPr dirty="0" sz="2000">
                <a:latin typeface="Arial MT"/>
                <a:cs typeface="Arial MT"/>
              </a:rPr>
              <a:t>observations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dataset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that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were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misclassified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by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the </a:t>
            </a:r>
            <a:r>
              <a:rPr dirty="0" sz="2000">
                <a:latin typeface="Arial MT"/>
                <a:cs typeface="Arial MT"/>
              </a:rPr>
              <a:t>previous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models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10">
                <a:latin typeface="Arial MT"/>
                <a:cs typeface="Arial MT"/>
              </a:rPr>
              <a:t> sequence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solidFill>
                  <a:srgbClr val="006FC0"/>
                </a:solidFill>
                <a:latin typeface="Arial"/>
                <a:cs typeface="Arial"/>
              </a:rPr>
              <a:t>This</a:t>
            </a:r>
            <a:r>
              <a:rPr dirty="0" sz="2000" spc="-25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006FC0"/>
                </a:solidFill>
                <a:latin typeface="Arial"/>
                <a:cs typeface="Arial"/>
              </a:rPr>
              <a:t>is</a:t>
            </a:r>
            <a:r>
              <a:rPr dirty="0" sz="2000" spc="-35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006FC0"/>
                </a:solidFill>
                <a:latin typeface="Arial"/>
                <a:cs typeface="Arial"/>
              </a:rPr>
              <a:t>done</a:t>
            </a:r>
            <a:r>
              <a:rPr dirty="0" sz="2000" spc="-15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006FC0"/>
                </a:solidFill>
                <a:latin typeface="Arial"/>
                <a:cs typeface="Arial"/>
              </a:rPr>
              <a:t>based</a:t>
            </a:r>
            <a:r>
              <a:rPr dirty="0" sz="2000" spc="-30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006FC0"/>
                </a:solidFill>
                <a:latin typeface="Arial"/>
                <a:cs typeface="Arial"/>
              </a:rPr>
              <a:t>on</a:t>
            </a:r>
            <a:r>
              <a:rPr dirty="0" sz="2000" spc="-15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006FC0"/>
                </a:solidFill>
                <a:latin typeface="Arial"/>
                <a:cs typeface="Arial"/>
              </a:rPr>
              <a:t>the</a:t>
            </a:r>
            <a:r>
              <a:rPr dirty="0" sz="2000" spc="-35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006FC0"/>
                </a:solidFill>
                <a:latin typeface="Arial"/>
                <a:cs typeface="Arial"/>
              </a:rPr>
              <a:t>the</a:t>
            </a:r>
            <a:r>
              <a:rPr dirty="0" sz="2000" spc="-15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000" b="1" i="1">
                <a:solidFill>
                  <a:srgbClr val="C00000"/>
                </a:solidFill>
                <a:latin typeface="Arial"/>
                <a:cs typeface="Arial"/>
              </a:rPr>
              <a:t>loss</a:t>
            </a:r>
            <a:r>
              <a:rPr dirty="0" sz="2000" spc="-35" b="1" i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000" b="1" i="1">
                <a:solidFill>
                  <a:srgbClr val="C00000"/>
                </a:solidFill>
                <a:latin typeface="Arial"/>
                <a:cs typeface="Arial"/>
              </a:rPr>
              <a:t>function</a:t>
            </a:r>
            <a:r>
              <a:rPr dirty="0" sz="2000" spc="-40" b="1" i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006FC0"/>
                </a:solidFill>
                <a:latin typeface="Arial"/>
                <a:cs typeface="Arial"/>
              </a:rPr>
              <a:t>and</a:t>
            </a:r>
            <a:r>
              <a:rPr dirty="0" sz="2000" spc="-20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000" spc="-10" b="1" i="1">
                <a:solidFill>
                  <a:srgbClr val="C00000"/>
                </a:solidFill>
                <a:latin typeface="Arial"/>
                <a:cs typeface="Arial"/>
              </a:rPr>
              <a:t>weighting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2366" y="4337507"/>
            <a:ext cx="4651375" cy="185508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96678" y="4172051"/>
            <a:ext cx="2848795" cy="21632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07656" y="0"/>
            <a:ext cx="1236342" cy="1298575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" y="6583362"/>
            <a:ext cx="9143999" cy="266698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535940" y="994638"/>
            <a:ext cx="7001509" cy="185483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580"/>
              </a:spcBef>
              <a:buFont typeface="Arial MT"/>
              <a:buAutoNum type="arabicPeriod"/>
              <a:tabLst>
                <a:tab pos="469900" algn="l"/>
              </a:tabLst>
            </a:pPr>
            <a:r>
              <a:rPr dirty="0" sz="2000">
                <a:latin typeface="Arial MT"/>
                <a:cs typeface="Arial MT"/>
              </a:rPr>
              <a:t>Train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model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on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train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set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with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equal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weights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for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all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samples</a:t>
            </a:r>
            <a:endParaRPr sz="200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469900" algn="l"/>
              </a:tabLst>
            </a:pPr>
            <a:r>
              <a:rPr dirty="0" sz="2000">
                <a:latin typeface="Arial MT"/>
                <a:cs typeface="Arial MT"/>
              </a:rPr>
              <a:t>Compute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error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model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on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train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set</a:t>
            </a:r>
            <a:endParaRPr sz="200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469900" algn="l"/>
              </a:tabLst>
            </a:pPr>
            <a:r>
              <a:rPr dirty="0" sz="2000">
                <a:latin typeface="Arial MT"/>
                <a:cs typeface="Arial MT"/>
              </a:rPr>
              <a:t>Increase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weights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on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train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cases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model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gets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wrong</a:t>
            </a:r>
            <a:endParaRPr sz="200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469900" algn="l"/>
              </a:tabLst>
            </a:pPr>
            <a:r>
              <a:rPr dirty="0" sz="2000">
                <a:latin typeface="Arial MT"/>
                <a:cs typeface="Arial MT"/>
              </a:rPr>
              <a:t>Train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new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model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on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re-weighted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train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set</a:t>
            </a:r>
            <a:endParaRPr sz="200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469900" algn="l"/>
              </a:tabLst>
            </a:pPr>
            <a:r>
              <a:rPr dirty="0" sz="2000">
                <a:latin typeface="Arial MT"/>
                <a:cs typeface="Arial MT"/>
              </a:rPr>
              <a:t>Go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back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step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2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-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Repeat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until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tired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(100+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iterations)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7200" y="3150641"/>
            <a:ext cx="6618858" cy="263982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80312" y="286334"/>
            <a:ext cx="514604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252573"/>
                </a:solidFill>
                <a:latin typeface="Arial"/>
                <a:cs typeface="Arial"/>
              </a:rPr>
              <a:t>AdaBoost</a:t>
            </a:r>
            <a:r>
              <a:rPr dirty="0" sz="2800" spc="-114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252573"/>
                </a:solidFill>
                <a:latin typeface="Arial"/>
                <a:cs typeface="Arial"/>
              </a:rPr>
              <a:t>(Adaptive</a:t>
            </a:r>
            <a:r>
              <a:rPr dirty="0" sz="2800" spc="-135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252573"/>
                </a:solidFill>
                <a:latin typeface="Arial"/>
                <a:cs typeface="Arial"/>
              </a:rPr>
              <a:t>boosting)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328028" y="6673101"/>
            <a:ext cx="14357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 MT"/>
                <a:cs typeface="Arial MT"/>
              </a:rPr>
              <a:t>Slide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&lt;#&gt;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5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35940" y="6002528"/>
            <a:ext cx="40106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Char char="•"/>
              <a:tabLst>
                <a:tab pos="269875" algn="l"/>
              </a:tabLst>
            </a:pPr>
            <a:r>
              <a:rPr dirty="0" u="sng" sz="2400">
                <a:solidFill>
                  <a:srgbClr val="99CC00"/>
                </a:solidFill>
                <a:uFill>
                  <a:solidFill>
                    <a:srgbClr val="99CC00"/>
                  </a:solidFill>
                </a:uFill>
                <a:latin typeface="Arial MT"/>
                <a:cs typeface="Arial MT"/>
                <a:hlinkClick r:id="rId5"/>
              </a:rPr>
              <a:t>Scikit</a:t>
            </a:r>
            <a:r>
              <a:rPr dirty="0" u="sng" sz="2400" spc="-80">
                <a:solidFill>
                  <a:srgbClr val="99CC00"/>
                </a:solidFill>
                <a:uFill>
                  <a:solidFill>
                    <a:srgbClr val="99CC00"/>
                  </a:solidFill>
                </a:uFill>
                <a:latin typeface="Arial MT"/>
                <a:cs typeface="Arial MT"/>
                <a:hlinkClick r:id="rId5"/>
              </a:rPr>
              <a:t> </a:t>
            </a:r>
            <a:r>
              <a:rPr dirty="0" u="sng" sz="2400">
                <a:solidFill>
                  <a:srgbClr val="99CC00"/>
                </a:solidFill>
                <a:uFill>
                  <a:solidFill>
                    <a:srgbClr val="99CC00"/>
                  </a:solidFill>
                </a:uFill>
                <a:latin typeface="Arial MT"/>
                <a:cs typeface="Arial MT"/>
                <a:hlinkClick r:id="rId5"/>
              </a:rPr>
              <a:t>Learn</a:t>
            </a:r>
            <a:r>
              <a:rPr dirty="0" u="sng" sz="2400" spc="-65">
                <a:solidFill>
                  <a:srgbClr val="99CC00"/>
                </a:solidFill>
                <a:uFill>
                  <a:solidFill>
                    <a:srgbClr val="99CC00"/>
                  </a:solidFill>
                </a:uFill>
                <a:latin typeface="Arial MT"/>
                <a:cs typeface="Arial MT"/>
                <a:hlinkClick r:id="rId5"/>
              </a:rPr>
              <a:t> </a:t>
            </a:r>
            <a:r>
              <a:rPr dirty="0" u="sng" sz="2400" spc="-10">
                <a:solidFill>
                  <a:srgbClr val="99CC00"/>
                </a:solidFill>
                <a:uFill>
                  <a:solidFill>
                    <a:srgbClr val="99CC00"/>
                  </a:solidFill>
                </a:uFill>
                <a:latin typeface="Arial MT"/>
                <a:cs typeface="Arial MT"/>
                <a:hlinkClick r:id="rId5"/>
              </a:rPr>
              <a:t>Documentation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07656" y="0"/>
            <a:ext cx="1236342" cy="1298575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" y="6583362"/>
            <a:ext cx="9143999" cy="26669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9314" rIns="0" bIns="0" rtlCol="0" vert="horz">
            <a:spAutoFit/>
          </a:bodyPr>
          <a:lstStyle/>
          <a:p>
            <a:pPr marL="106553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252573"/>
                </a:solidFill>
                <a:latin typeface="Arial"/>
                <a:cs typeface="Arial"/>
              </a:rPr>
              <a:t>AdaBoost</a:t>
            </a:r>
            <a:r>
              <a:rPr dirty="0" sz="2800" spc="-105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252573"/>
                </a:solidFill>
                <a:latin typeface="Arial"/>
                <a:cs typeface="Arial"/>
              </a:rPr>
              <a:t>(Adaptive</a:t>
            </a:r>
            <a:r>
              <a:rPr dirty="0" sz="2800" spc="-125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252573"/>
                </a:solidFill>
                <a:latin typeface="Arial"/>
                <a:cs typeface="Arial"/>
              </a:rPr>
              <a:t>boosting)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8093" y="1292986"/>
            <a:ext cx="7560945" cy="4272026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145844" y="5825438"/>
            <a:ext cx="36093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80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5"/>
              </a:rPr>
              <a:t>https://youtu.be/LsK-</a:t>
            </a:r>
            <a:r>
              <a:rPr dirty="0" u="sng" sz="1800" spc="-35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5"/>
              </a:rPr>
              <a:t>xG1cLYA?t=11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328028" y="6673101"/>
            <a:ext cx="14357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 MT"/>
                <a:cs typeface="Arial MT"/>
              </a:rPr>
              <a:t>Slide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&lt;#&gt;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5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07656" y="0"/>
            <a:ext cx="1236342" cy="1298575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" y="6583362"/>
            <a:ext cx="9143999" cy="26669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4493" y="3148939"/>
            <a:ext cx="4217557" cy="3202637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913891" y="1031494"/>
            <a:ext cx="7901940" cy="5238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69875" marR="2130425" indent="-25781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69875" algn="l"/>
              </a:tabLst>
            </a:pPr>
            <a:r>
              <a:rPr dirty="0" sz="2000">
                <a:latin typeface="Arial MT"/>
                <a:cs typeface="Arial MT"/>
              </a:rPr>
              <a:t>AdaBoost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was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first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really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successful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boosting </a:t>
            </a:r>
            <a:r>
              <a:rPr dirty="0" sz="2000">
                <a:latin typeface="Arial MT"/>
                <a:cs typeface="Arial MT"/>
              </a:rPr>
              <a:t>algorithm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developed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for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binary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classification</a:t>
            </a:r>
            <a:endParaRPr sz="2000">
              <a:latin typeface="Arial MT"/>
              <a:cs typeface="Arial MT"/>
            </a:endParaRPr>
          </a:p>
          <a:p>
            <a:pPr marL="269875" indent="-257175">
              <a:lnSpc>
                <a:spcPct val="100000"/>
              </a:lnSpc>
              <a:spcBef>
                <a:spcPts val="1200"/>
              </a:spcBef>
              <a:buChar char="•"/>
              <a:tabLst>
                <a:tab pos="269875" algn="l"/>
              </a:tabLst>
            </a:pPr>
            <a:r>
              <a:rPr dirty="0" sz="2000">
                <a:latin typeface="Arial MT"/>
                <a:cs typeface="Arial MT"/>
              </a:rPr>
              <a:t>Actually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uses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short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decision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trees</a:t>
            </a:r>
            <a:endParaRPr sz="2000">
              <a:latin typeface="Arial MT"/>
              <a:cs typeface="Arial MT"/>
            </a:endParaRPr>
          </a:p>
          <a:p>
            <a:pPr marL="269875" indent="-257175">
              <a:lnSpc>
                <a:spcPct val="100000"/>
              </a:lnSpc>
              <a:spcBef>
                <a:spcPts val="1200"/>
              </a:spcBef>
              <a:buChar char="•"/>
              <a:tabLst>
                <a:tab pos="269875" algn="l"/>
              </a:tabLst>
            </a:pPr>
            <a:r>
              <a:rPr dirty="0" sz="2000">
                <a:latin typeface="Arial MT"/>
                <a:cs typeface="Arial MT"/>
              </a:rPr>
              <a:t>Gradient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boosting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is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similar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AdaBoost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but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uses</a:t>
            </a:r>
            <a:endParaRPr sz="2000">
              <a:latin typeface="Arial MT"/>
              <a:cs typeface="Arial MT"/>
            </a:endParaRPr>
          </a:p>
          <a:p>
            <a:pPr marL="269875">
              <a:lnSpc>
                <a:spcPct val="100000"/>
              </a:lnSpc>
            </a:pP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different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process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fit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trees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sequentially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90"/>
              </a:spcBef>
            </a:pPr>
            <a:endParaRPr sz="2000">
              <a:latin typeface="Arial MT"/>
              <a:cs typeface="Arial MT"/>
            </a:endParaRPr>
          </a:p>
          <a:p>
            <a:pPr lvl="1" marL="4361815" indent="-457200">
              <a:lnSpc>
                <a:spcPct val="100000"/>
              </a:lnSpc>
              <a:buAutoNum type="arabicPeriod"/>
              <a:tabLst>
                <a:tab pos="4361815" algn="l"/>
              </a:tabLst>
            </a:pPr>
            <a:r>
              <a:rPr dirty="0" sz="2000">
                <a:latin typeface="Arial MT"/>
                <a:cs typeface="Arial MT"/>
              </a:rPr>
              <a:t>Construct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base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tree</a:t>
            </a:r>
            <a:endParaRPr sz="2000">
              <a:latin typeface="Arial MT"/>
              <a:cs typeface="Arial MT"/>
            </a:endParaRPr>
          </a:p>
          <a:p>
            <a:pPr lvl="1" marL="4361815" marR="371475" indent="-457200">
              <a:lnSpc>
                <a:spcPct val="100000"/>
              </a:lnSpc>
              <a:spcBef>
                <a:spcPts val="605"/>
              </a:spcBef>
              <a:buAutoNum type="arabicPeriod"/>
              <a:tabLst>
                <a:tab pos="4361815" algn="l"/>
              </a:tabLst>
            </a:pPr>
            <a:r>
              <a:rPr dirty="0" sz="2000">
                <a:latin typeface="Arial MT"/>
                <a:cs typeface="Arial MT"/>
              </a:rPr>
              <a:t>Build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next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tree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based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on </a:t>
            </a:r>
            <a:r>
              <a:rPr dirty="0" sz="2000">
                <a:latin typeface="Arial MT"/>
                <a:cs typeface="Arial MT"/>
              </a:rPr>
              <a:t>errors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previous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tree</a:t>
            </a:r>
            <a:endParaRPr sz="2000">
              <a:latin typeface="Arial MT"/>
              <a:cs typeface="Arial MT"/>
            </a:endParaRPr>
          </a:p>
          <a:p>
            <a:pPr lvl="1" marL="4361815" marR="553085" indent="-4572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4361815" algn="l"/>
              </a:tabLst>
            </a:pPr>
            <a:r>
              <a:rPr dirty="0" sz="2000">
                <a:latin typeface="Arial MT"/>
                <a:cs typeface="Arial MT"/>
              </a:rPr>
              <a:t>Combine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previous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tree </a:t>
            </a:r>
            <a:r>
              <a:rPr dirty="0" sz="2000">
                <a:latin typeface="Arial MT"/>
                <a:cs typeface="Arial MT"/>
              </a:rPr>
              <a:t>with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new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tree</a:t>
            </a:r>
            <a:endParaRPr sz="2000">
              <a:latin typeface="Arial MT"/>
              <a:cs typeface="Arial MT"/>
            </a:endParaRPr>
          </a:p>
          <a:p>
            <a:pPr lvl="1" marL="4361815" marR="499745" indent="-4572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4361815" algn="l"/>
              </a:tabLst>
            </a:pPr>
            <a:r>
              <a:rPr dirty="0" sz="2000">
                <a:latin typeface="Arial MT"/>
                <a:cs typeface="Arial MT"/>
              </a:rPr>
              <a:t>Go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back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step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2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-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Repeat </a:t>
            </a:r>
            <a:r>
              <a:rPr dirty="0" sz="2000">
                <a:latin typeface="Arial MT"/>
                <a:cs typeface="Arial MT"/>
              </a:rPr>
              <a:t>until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tired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(100+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iterations)</a:t>
            </a:r>
            <a:endParaRPr sz="2000">
              <a:latin typeface="Arial MT"/>
              <a:cs typeface="Arial MT"/>
            </a:endParaRPr>
          </a:p>
          <a:p>
            <a:pPr lvl="2" marL="4162425" indent="-257810">
              <a:lnSpc>
                <a:spcPct val="100000"/>
              </a:lnSpc>
              <a:spcBef>
                <a:spcPts val="1764"/>
              </a:spcBef>
              <a:buClr>
                <a:srgbClr val="000000"/>
              </a:buClr>
              <a:buChar char="•"/>
              <a:tabLst>
                <a:tab pos="4162425" algn="l"/>
              </a:tabLst>
            </a:pPr>
            <a:r>
              <a:rPr dirty="0" u="sng" sz="240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5"/>
              </a:rPr>
              <a:t>Scikit</a:t>
            </a:r>
            <a:r>
              <a:rPr dirty="0" u="sng" sz="2400" spc="-8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5"/>
              </a:rPr>
              <a:t> </a:t>
            </a:r>
            <a:r>
              <a:rPr dirty="0" u="sng" sz="240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5"/>
              </a:rPr>
              <a:t>Learn</a:t>
            </a:r>
            <a:r>
              <a:rPr dirty="0" u="sng" sz="2400" spc="-65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5"/>
              </a:rPr>
              <a:t> </a:t>
            </a:r>
            <a:r>
              <a:rPr dirty="0" u="sng" sz="240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5"/>
              </a:rPr>
              <a:t>Documentation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328028" y="6673101"/>
            <a:ext cx="14357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 MT"/>
                <a:cs typeface="Arial MT"/>
              </a:rPr>
              <a:t>Slide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&lt;#&gt;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5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894202" y="394842"/>
            <a:ext cx="312483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252573"/>
                </a:solidFill>
                <a:latin typeface="Arial"/>
                <a:cs typeface="Arial"/>
              </a:rPr>
              <a:t>Gradient</a:t>
            </a:r>
            <a:r>
              <a:rPr dirty="0" sz="2800" spc="-13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252573"/>
                </a:solidFill>
                <a:latin typeface="Arial"/>
                <a:cs typeface="Arial"/>
              </a:rPr>
              <a:t>Boosting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07656" y="0"/>
            <a:ext cx="1236342" cy="1298575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" y="6583362"/>
            <a:ext cx="9143999" cy="26669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8318" rIns="0" bIns="0" rtlCol="0" vert="horz">
            <a:spAutoFit/>
          </a:bodyPr>
          <a:lstStyle/>
          <a:p>
            <a:pPr marL="2615565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252573"/>
                </a:solidFill>
                <a:latin typeface="Arial"/>
                <a:cs typeface="Arial"/>
              </a:rPr>
              <a:t>Gradient</a:t>
            </a:r>
            <a:r>
              <a:rPr dirty="0" sz="2800" spc="-12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252573"/>
                </a:solidFill>
                <a:latin typeface="Arial"/>
                <a:cs typeface="Arial"/>
              </a:rPr>
              <a:t>Boosting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422019" y="5898286"/>
            <a:ext cx="374777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80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4"/>
              </a:rPr>
              <a:t>https://youtu.be/3CC4N4z3GJc?t=10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4704" y="1419225"/>
            <a:ext cx="7118984" cy="4021709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6328028" y="6673101"/>
            <a:ext cx="14357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 MT"/>
                <a:cs typeface="Arial MT"/>
              </a:rPr>
              <a:t>Slide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&lt;#&gt;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5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07656" y="0"/>
            <a:ext cx="1236342" cy="1298575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" y="6583362"/>
            <a:ext cx="9143999" cy="26669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8318" rIns="0" bIns="0" rtlCol="0" vert="horz">
            <a:spAutoFit/>
          </a:bodyPr>
          <a:lstStyle/>
          <a:p>
            <a:pPr marL="2527935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252573"/>
                </a:solidFill>
                <a:latin typeface="Arial"/>
                <a:cs typeface="Arial"/>
              </a:rPr>
              <a:t>Gradient</a:t>
            </a:r>
            <a:r>
              <a:rPr dirty="0" sz="2800" spc="-130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252573"/>
                </a:solidFill>
                <a:latin typeface="Arial"/>
                <a:cs typeface="Arial"/>
              </a:rPr>
              <a:t>Boosting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4897" y="1345780"/>
            <a:ext cx="7606919" cy="4297934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422019" y="5898286"/>
            <a:ext cx="365760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800" spc="-10">
                <a:solidFill>
                  <a:srgbClr val="99CC00"/>
                </a:solidFill>
                <a:uFill>
                  <a:solidFill>
                    <a:srgbClr val="99CC00"/>
                  </a:solidFill>
                </a:uFill>
                <a:latin typeface="Arial MT"/>
                <a:cs typeface="Arial MT"/>
                <a:hlinkClick r:id="rId5"/>
              </a:rPr>
              <a:t>https://youtu.be/jxuNLH5dXCs?t=17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328028" y="6673101"/>
            <a:ext cx="14357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 MT"/>
                <a:cs typeface="Arial MT"/>
              </a:rPr>
              <a:t>Slide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&lt;#&gt;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5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2999" rIns="0" bIns="0" rtlCol="0" vert="horz">
            <a:spAutoFit/>
          </a:bodyPr>
          <a:lstStyle/>
          <a:p>
            <a:pPr marL="2402205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252573"/>
                </a:solidFill>
                <a:latin typeface="Arial"/>
                <a:cs typeface="Arial"/>
              </a:rPr>
              <a:t>Neural</a:t>
            </a:r>
            <a:r>
              <a:rPr dirty="0" sz="2800" spc="-75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252573"/>
                </a:solidFill>
                <a:latin typeface="Arial"/>
                <a:cs typeface="Arial"/>
              </a:rPr>
              <a:t>Network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77697" y="1606676"/>
            <a:ext cx="7645400" cy="1550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Neural</a:t>
            </a:r>
            <a:r>
              <a:rPr dirty="0" sz="2000" spc="-4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networks</a:t>
            </a:r>
            <a:r>
              <a:rPr dirty="0" sz="2000" spc="-4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are</a:t>
            </a:r>
            <a:r>
              <a:rPr dirty="0" sz="2000" spc="-2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040C28"/>
                </a:solidFill>
                <a:latin typeface="Arial MT"/>
                <a:cs typeface="Arial MT"/>
              </a:rPr>
              <a:t>complex</a:t>
            </a:r>
            <a:r>
              <a:rPr dirty="0" sz="2000" spc="-40">
                <a:solidFill>
                  <a:srgbClr val="040C28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040C28"/>
                </a:solidFill>
                <a:latin typeface="Arial MT"/>
                <a:cs typeface="Arial MT"/>
              </a:rPr>
              <a:t>models,</a:t>
            </a:r>
            <a:r>
              <a:rPr dirty="0" sz="2000" spc="-45">
                <a:solidFill>
                  <a:srgbClr val="040C28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040C28"/>
                </a:solidFill>
                <a:latin typeface="Arial MT"/>
                <a:cs typeface="Arial MT"/>
              </a:rPr>
              <a:t>which</a:t>
            </a:r>
            <a:r>
              <a:rPr dirty="0" sz="2000" spc="-25">
                <a:solidFill>
                  <a:srgbClr val="040C28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040C28"/>
                </a:solidFill>
                <a:latin typeface="Arial MT"/>
                <a:cs typeface="Arial MT"/>
              </a:rPr>
              <a:t>try</a:t>
            </a:r>
            <a:r>
              <a:rPr dirty="0" sz="2000" spc="-40">
                <a:solidFill>
                  <a:srgbClr val="040C28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040C28"/>
                </a:solidFill>
                <a:latin typeface="Arial MT"/>
                <a:cs typeface="Arial MT"/>
              </a:rPr>
              <a:t>to</a:t>
            </a:r>
            <a:r>
              <a:rPr dirty="0" sz="2000" spc="-20">
                <a:solidFill>
                  <a:srgbClr val="040C28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040C28"/>
                </a:solidFill>
                <a:latin typeface="Arial MT"/>
                <a:cs typeface="Arial MT"/>
              </a:rPr>
              <a:t>mimic</a:t>
            </a:r>
            <a:r>
              <a:rPr dirty="0" sz="2000" spc="-30">
                <a:solidFill>
                  <a:srgbClr val="040C28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040C28"/>
                </a:solidFill>
                <a:latin typeface="Arial MT"/>
                <a:cs typeface="Arial MT"/>
              </a:rPr>
              <a:t>the</a:t>
            </a:r>
            <a:r>
              <a:rPr dirty="0" sz="2000" spc="-30">
                <a:solidFill>
                  <a:srgbClr val="040C28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040C28"/>
                </a:solidFill>
                <a:latin typeface="Arial MT"/>
                <a:cs typeface="Arial MT"/>
              </a:rPr>
              <a:t>way </a:t>
            </a:r>
            <a:r>
              <a:rPr dirty="0" sz="2000">
                <a:solidFill>
                  <a:srgbClr val="040C28"/>
                </a:solidFill>
                <a:latin typeface="Arial MT"/>
                <a:cs typeface="Arial MT"/>
              </a:rPr>
              <a:t>the</a:t>
            </a:r>
            <a:r>
              <a:rPr dirty="0" sz="2000" spc="-45">
                <a:solidFill>
                  <a:srgbClr val="040C28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040C28"/>
                </a:solidFill>
                <a:latin typeface="Arial MT"/>
                <a:cs typeface="Arial MT"/>
              </a:rPr>
              <a:t>human</a:t>
            </a:r>
            <a:r>
              <a:rPr dirty="0" sz="2000" spc="-45">
                <a:solidFill>
                  <a:srgbClr val="040C28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040C28"/>
                </a:solidFill>
                <a:latin typeface="Arial MT"/>
                <a:cs typeface="Arial MT"/>
              </a:rPr>
              <a:t>brain</a:t>
            </a:r>
            <a:r>
              <a:rPr dirty="0" sz="2000" spc="-40">
                <a:solidFill>
                  <a:srgbClr val="040C28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040C28"/>
                </a:solidFill>
                <a:latin typeface="Arial MT"/>
                <a:cs typeface="Arial MT"/>
              </a:rPr>
              <a:t>develops</a:t>
            </a:r>
            <a:r>
              <a:rPr dirty="0" sz="2000" spc="-35">
                <a:solidFill>
                  <a:srgbClr val="040C28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040C28"/>
                </a:solidFill>
                <a:latin typeface="Arial MT"/>
                <a:cs typeface="Arial MT"/>
              </a:rPr>
              <a:t>classification</a:t>
            </a:r>
            <a:r>
              <a:rPr dirty="0" sz="2000" spc="-65">
                <a:solidFill>
                  <a:srgbClr val="040C28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040C28"/>
                </a:solidFill>
                <a:latin typeface="Arial MT"/>
                <a:cs typeface="Arial MT"/>
              </a:rPr>
              <a:t>rules</a:t>
            </a: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.</a:t>
            </a:r>
            <a:r>
              <a:rPr dirty="0" sz="2000" spc="-6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A</a:t>
            </a:r>
            <a:r>
              <a:rPr dirty="0" sz="2000" spc="-2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neural</a:t>
            </a:r>
            <a:r>
              <a:rPr dirty="0" sz="2000" spc="-5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1F2023"/>
                </a:solidFill>
                <a:latin typeface="Arial MT"/>
                <a:cs typeface="Arial MT"/>
              </a:rPr>
              <a:t>net </a:t>
            </a: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consists</a:t>
            </a:r>
            <a:r>
              <a:rPr dirty="0" sz="2000" spc="-4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of</a:t>
            </a:r>
            <a:r>
              <a:rPr dirty="0" sz="2000" spc="-2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many</a:t>
            </a:r>
            <a:r>
              <a:rPr dirty="0" sz="2000" spc="-2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different</a:t>
            </a:r>
            <a:r>
              <a:rPr dirty="0" sz="2000" spc="-3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layers</a:t>
            </a:r>
            <a:r>
              <a:rPr dirty="0" sz="2000" spc="-2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of</a:t>
            </a:r>
            <a:r>
              <a:rPr dirty="0" sz="2000" spc="-2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neurons,</a:t>
            </a:r>
            <a:r>
              <a:rPr dirty="0" sz="2000" spc="-5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with each</a:t>
            </a:r>
            <a:r>
              <a:rPr dirty="0" sz="2000" spc="-2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1F2023"/>
                </a:solidFill>
                <a:latin typeface="Arial MT"/>
                <a:cs typeface="Arial MT"/>
              </a:rPr>
              <a:t>layer </a:t>
            </a: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receiving</a:t>
            </a:r>
            <a:r>
              <a:rPr dirty="0" sz="2000" spc="-2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inputs</a:t>
            </a:r>
            <a:r>
              <a:rPr dirty="0" sz="2000" spc="-3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from</a:t>
            </a:r>
            <a:r>
              <a:rPr dirty="0" sz="2000" spc="-4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previous</a:t>
            </a:r>
            <a:r>
              <a:rPr dirty="0" sz="2000" spc="-3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layers,</a:t>
            </a:r>
            <a:r>
              <a:rPr dirty="0" sz="2000" spc="-3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and</a:t>
            </a:r>
            <a:r>
              <a:rPr dirty="0" sz="2000" spc="-2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passing</a:t>
            </a:r>
            <a:r>
              <a:rPr dirty="0" sz="2000" spc="-3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outputs</a:t>
            </a:r>
            <a:r>
              <a:rPr dirty="0" sz="2000" spc="-4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1F2023"/>
                </a:solidFill>
                <a:latin typeface="Arial MT"/>
                <a:cs typeface="Arial MT"/>
              </a:rPr>
              <a:t>to </a:t>
            </a: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further</a:t>
            </a:r>
            <a:r>
              <a:rPr dirty="0" sz="2000" spc="-3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1F2023"/>
                </a:solidFill>
                <a:latin typeface="Arial MT"/>
                <a:cs typeface="Arial MT"/>
              </a:rPr>
              <a:t>layers.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345" y="3112604"/>
            <a:ext cx="3548253" cy="326428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2999" rIns="0" bIns="0" rtlCol="0" vert="horz">
            <a:spAutoFit/>
          </a:bodyPr>
          <a:lstStyle/>
          <a:p>
            <a:pPr marL="2402205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252573"/>
                </a:solidFill>
                <a:latin typeface="Arial"/>
                <a:cs typeface="Arial"/>
              </a:rPr>
              <a:t>Neural</a:t>
            </a:r>
            <a:r>
              <a:rPr dirty="0" sz="2800" spc="-75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252573"/>
                </a:solidFill>
                <a:latin typeface="Arial"/>
                <a:cs typeface="Arial"/>
              </a:rPr>
              <a:t>Network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77697" y="1606676"/>
            <a:ext cx="7717790" cy="3912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The</a:t>
            </a:r>
            <a:r>
              <a:rPr dirty="0" sz="2000" spc="-2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learning</a:t>
            </a:r>
            <a:r>
              <a:rPr dirty="0" sz="2000" spc="-2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(training)</a:t>
            </a:r>
            <a:r>
              <a:rPr dirty="0" sz="2000" spc="-4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process</a:t>
            </a:r>
            <a:r>
              <a:rPr dirty="0" sz="2000" spc="-6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of</a:t>
            </a:r>
            <a:r>
              <a:rPr dirty="0" sz="2000" spc="-1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a</a:t>
            </a:r>
            <a:r>
              <a:rPr dirty="0" sz="2000" spc="-2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neural</a:t>
            </a:r>
            <a:r>
              <a:rPr dirty="0" sz="2000" spc="-2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network</a:t>
            </a:r>
            <a:r>
              <a:rPr dirty="0" sz="2000" spc="-4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is</a:t>
            </a:r>
            <a:r>
              <a:rPr dirty="0" sz="2000" spc="-2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an</a:t>
            </a:r>
            <a:r>
              <a:rPr dirty="0" sz="2000" spc="-10">
                <a:solidFill>
                  <a:srgbClr val="1F2023"/>
                </a:solidFill>
                <a:latin typeface="Arial MT"/>
                <a:cs typeface="Arial MT"/>
              </a:rPr>
              <a:t> iterative </a:t>
            </a: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process</a:t>
            </a:r>
            <a:r>
              <a:rPr dirty="0" sz="2000" spc="-6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in</a:t>
            </a:r>
            <a:r>
              <a:rPr dirty="0" sz="2000" spc="-2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which</a:t>
            </a:r>
            <a:r>
              <a:rPr dirty="0" sz="2000" spc="-3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the</a:t>
            </a:r>
            <a:r>
              <a:rPr dirty="0" sz="2000" spc="-3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calculations</a:t>
            </a:r>
            <a:r>
              <a:rPr dirty="0" sz="2000" spc="-4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are</a:t>
            </a:r>
            <a:r>
              <a:rPr dirty="0" sz="2000" spc="-4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carried</a:t>
            </a:r>
            <a:r>
              <a:rPr dirty="0" sz="2000" spc="-4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out</a:t>
            </a:r>
            <a:r>
              <a:rPr dirty="0" sz="2000" spc="-3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forward</a:t>
            </a:r>
            <a:r>
              <a:rPr dirty="0" sz="2000" spc="-5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1F2023"/>
                </a:solidFill>
                <a:latin typeface="Arial MT"/>
                <a:cs typeface="Arial MT"/>
              </a:rPr>
              <a:t>and </a:t>
            </a: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backward</a:t>
            </a:r>
            <a:r>
              <a:rPr dirty="0" sz="2000" spc="-7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through</a:t>
            </a:r>
            <a:r>
              <a:rPr dirty="0" sz="2000" spc="-4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each</a:t>
            </a:r>
            <a:r>
              <a:rPr dirty="0" sz="2000" spc="-4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layer</a:t>
            </a:r>
            <a:r>
              <a:rPr dirty="0" sz="2000" spc="-3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in</a:t>
            </a:r>
            <a:r>
              <a:rPr dirty="0" sz="2000" spc="-1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the</a:t>
            </a:r>
            <a:r>
              <a:rPr dirty="0" sz="2000" spc="-1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network</a:t>
            </a:r>
            <a:r>
              <a:rPr dirty="0" sz="2000" spc="-4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until</a:t>
            </a:r>
            <a:r>
              <a:rPr dirty="0" sz="2000" spc="-2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the</a:t>
            </a:r>
            <a:r>
              <a:rPr dirty="0" sz="2000" spc="-3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loss</a:t>
            </a:r>
            <a:r>
              <a:rPr dirty="0" sz="2000" spc="-3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1F2023"/>
                </a:solidFill>
                <a:latin typeface="Arial MT"/>
                <a:cs typeface="Arial MT"/>
              </a:rPr>
              <a:t>function </a:t>
            </a: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is</a:t>
            </a:r>
            <a:r>
              <a:rPr dirty="0" sz="2000" spc="-1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1F2023"/>
                </a:solidFill>
                <a:latin typeface="Arial MT"/>
                <a:cs typeface="Arial MT"/>
              </a:rPr>
              <a:t>minimized.</a:t>
            </a:r>
            <a:endParaRPr sz="2000">
              <a:latin typeface="Arial MT"/>
              <a:cs typeface="Arial MT"/>
            </a:endParaRPr>
          </a:p>
          <a:p>
            <a:pPr algn="r" marL="342265" marR="2783840" indent="-342265">
              <a:lnSpc>
                <a:spcPct val="100000"/>
              </a:lnSpc>
              <a:spcBef>
                <a:spcPts val="1800"/>
              </a:spcBef>
              <a:buChar char="•"/>
              <a:tabLst>
                <a:tab pos="342265" algn="l"/>
              </a:tabLst>
            </a:pP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Fundamentally,</a:t>
            </a:r>
            <a:r>
              <a:rPr dirty="0" sz="2000" spc="-5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three</a:t>
            </a:r>
            <a:r>
              <a:rPr dirty="0" sz="2000" spc="-3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steps</a:t>
            </a:r>
            <a:r>
              <a:rPr dirty="0" sz="2000" spc="-3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1F2023"/>
                </a:solidFill>
                <a:latin typeface="Arial MT"/>
                <a:cs typeface="Arial MT"/>
              </a:rPr>
              <a:t>are</a:t>
            </a:r>
            <a:r>
              <a:rPr dirty="0" sz="2000" spc="-2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1F2023"/>
                </a:solidFill>
                <a:latin typeface="Arial MT"/>
                <a:cs typeface="Arial MT"/>
              </a:rPr>
              <a:t>involved:</a:t>
            </a:r>
            <a:endParaRPr sz="2000">
              <a:latin typeface="Arial MT"/>
              <a:cs typeface="Arial MT"/>
            </a:endParaRPr>
          </a:p>
          <a:p>
            <a:pPr algn="r" lvl="1" marL="342265" marR="2776220" indent="-342265">
              <a:lnSpc>
                <a:spcPct val="100000"/>
              </a:lnSpc>
              <a:spcBef>
                <a:spcPts val="1800"/>
              </a:spcBef>
              <a:buAutoNum type="arabicPeriod"/>
              <a:tabLst>
                <a:tab pos="342265" algn="l"/>
              </a:tabLst>
            </a:pPr>
            <a:r>
              <a:rPr dirty="0" sz="2000">
                <a:latin typeface="Arial MT"/>
                <a:cs typeface="Arial MT"/>
              </a:rPr>
              <a:t>Forward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propagation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(Forward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pass)</a:t>
            </a:r>
            <a:endParaRPr sz="2000">
              <a:latin typeface="Arial MT"/>
              <a:cs typeface="Arial MT"/>
            </a:endParaRPr>
          </a:p>
          <a:p>
            <a:pPr lvl="1" marL="812165" indent="-342265">
              <a:lnSpc>
                <a:spcPct val="100000"/>
              </a:lnSpc>
              <a:spcBef>
                <a:spcPts val="1805"/>
              </a:spcBef>
              <a:buAutoNum type="arabicPeriod"/>
              <a:tabLst>
                <a:tab pos="812165" algn="l"/>
              </a:tabLst>
            </a:pPr>
            <a:r>
              <a:rPr dirty="0" sz="2000">
                <a:latin typeface="Arial MT"/>
                <a:cs typeface="Arial MT"/>
              </a:rPr>
              <a:t>Calculation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loss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function</a:t>
            </a:r>
            <a:endParaRPr sz="2000">
              <a:latin typeface="Arial MT"/>
              <a:cs typeface="Arial MT"/>
            </a:endParaRPr>
          </a:p>
          <a:p>
            <a:pPr lvl="1" marL="812165" indent="-342265">
              <a:lnSpc>
                <a:spcPct val="100000"/>
              </a:lnSpc>
              <a:spcBef>
                <a:spcPts val="1800"/>
              </a:spcBef>
              <a:buAutoNum type="arabicPeriod"/>
              <a:tabLst>
                <a:tab pos="812165" algn="l"/>
              </a:tabLst>
            </a:pPr>
            <a:r>
              <a:rPr dirty="0" sz="2000">
                <a:latin typeface="Arial MT"/>
                <a:cs typeface="Arial MT"/>
              </a:rPr>
              <a:t>Backward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propagation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(Backward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pass/Backpropagation)</a:t>
            </a:r>
            <a:endParaRPr sz="2000">
              <a:latin typeface="Arial MT"/>
              <a:cs typeface="Arial MT"/>
            </a:endParaRPr>
          </a:p>
          <a:p>
            <a:pPr marL="413384" indent="-342900">
              <a:lnSpc>
                <a:spcPct val="100000"/>
              </a:lnSpc>
              <a:spcBef>
                <a:spcPts val="1800"/>
              </a:spcBef>
              <a:buClr>
                <a:srgbClr val="1F2023"/>
              </a:buClr>
              <a:buChar char="•"/>
              <a:tabLst>
                <a:tab pos="413384" algn="l"/>
              </a:tabLst>
            </a:pPr>
            <a:r>
              <a:rPr dirty="0" u="sng" sz="2000">
                <a:solidFill>
                  <a:srgbClr val="99CC00"/>
                </a:solidFill>
                <a:uFill>
                  <a:solidFill>
                    <a:srgbClr val="99CC00"/>
                  </a:solidFill>
                </a:uFill>
                <a:latin typeface="Arial MT"/>
                <a:cs typeface="Arial MT"/>
                <a:hlinkClick r:id="rId2"/>
              </a:rPr>
              <a:t>Scikit</a:t>
            </a:r>
            <a:r>
              <a:rPr dirty="0" u="sng" sz="2000" spc="-35">
                <a:solidFill>
                  <a:srgbClr val="99CC00"/>
                </a:solidFill>
                <a:uFill>
                  <a:solidFill>
                    <a:srgbClr val="99CC00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dirty="0" u="sng" sz="2000">
                <a:solidFill>
                  <a:srgbClr val="99CC00"/>
                </a:solidFill>
                <a:uFill>
                  <a:solidFill>
                    <a:srgbClr val="99CC00"/>
                  </a:solidFill>
                </a:uFill>
                <a:latin typeface="Arial MT"/>
                <a:cs typeface="Arial MT"/>
                <a:hlinkClick r:id="rId2"/>
              </a:rPr>
              <a:t>Learn</a:t>
            </a:r>
            <a:r>
              <a:rPr dirty="0" u="sng" sz="2000" spc="-50">
                <a:solidFill>
                  <a:srgbClr val="99CC00"/>
                </a:solidFill>
                <a:uFill>
                  <a:solidFill>
                    <a:srgbClr val="99CC00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dirty="0" u="sng" sz="2000" spc="-10">
                <a:solidFill>
                  <a:srgbClr val="99CC00"/>
                </a:solidFill>
                <a:uFill>
                  <a:solidFill>
                    <a:srgbClr val="99CC00"/>
                  </a:solidFill>
                </a:uFill>
                <a:latin typeface="Arial MT"/>
                <a:cs typeface="Arial MT"/>
                <a:hlinkClick r:id="rId2"/>
              </a:rPr>
              <a:t>Documentation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2999" rIns="0" bIns="0" rtlCol="0" vert="horz">
            <a:spAutoFit/>
          </a:bodyPr>
          <a:lstStyle/>
          <a:p>
            <a:pPr marL="2402205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252573"/>
                </a:solidFill>
                <a:latin typeface="Arial"/>
                <a:cs typeface="Arial"/>
              </a:rPr>
              <a:t>Neural</a:t>
            </a:r>
            <a:r>
              <a:rPr dirty="0" sz="2800" spc="-75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252573"/>
                </a:solidFill>
                <a:latin typeface="Arial"/>
                <a:cs typeface="Arial"/>
              </a:rPr>
              <a:t>Network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4870" y="1476744"/>
            <a:ext cx="8036944" cy="4668482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2999" rIns="0" bIns="0" rtlCol="0" vert="horz">
            <a:spAutoFit/>
          </a:bodyPr>
          <a:lstStyle/>
          <a:p>
            <a:pPr marL="2402205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252573"/>
                </a:solidFill>
                <a:latin typeface="Arial"/>
                <a:cs typeface="Arial"/>
              </a:rPr>
              <a:t>Neural</a:t>
            </a:r>
            <a:r>
              <a:rPr dirty="0" sz="2800" spc="-75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252573"/>
                </a:solidFill>
                <a:latin typeface="Arial"/>
                <a:cs typeface="Arial"/>
              </a:rPr>
              <a:t>Network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102" y="1417650"/>
            <a:ext cx="7502017" cy="423862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637538" y="5928766"/>
            <a:ext cx="49383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80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3"/>
              </a:rPr>
              <a:t>https://www.youtube.com/watch?v=bfmFfD2RIcg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2999" rIns="0" bIns="0" rtlCol="0" vert="horz">
            <a:spAutoFit/>
          </a:bodyPr>
          <a:lstStyle/>
          <a:p>
            <a:pPr marL="2402205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252573"/>
                </a:solidFill>
                <a:latin typeface="Arial"/>
                <a:cs typeface="Arial"/>
              </a:rPr>
              <a:t>Neural</a:t>
            </a:r>
            <a:r>
              <a:rPr dirty="0" sz="2800" spc="-75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252573"/>
                </a:solidFill>
                <a:latin typeface="Arial"/>
                <a:cs typeface="Arial"/>
              </a:rPr>
              <a:t>Network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1885" y="1417700"/>
            <a:ext cx="7266050" cy="410527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140663" y="5758688"/>
            <a:ext cx="55530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80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3"/>
              </a:rPr>
              <a:t>https://www.youtube.com/watch?v=CqOfi41LfDw&amp;t=1s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2999" rIns="0" bIns="0" rtlCol="0" vert="horz">
            <a:spAutoFit/>
          </a:bodyPr>
          <a:lstStyle/>
          <a:p>
            <a:pPr marL="2045335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252573"/>
                </a:solidFill>
                <a:latin typeface="Arial"/>
                <a:cs typeface="Arial"/>
              </a:rPr>
              <a:t>Estimator</a:t>
            </a:r>
            <a:r>
              <a:rPr dirty="0" sz="2800" spc="-145">
                <a:solidFill>
                  <a:srgbClr val="252573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252573"/>
                </a:solidFill>
                <a:latin typeface="Arial"/>
                <a:cs typeface="Arial"/>
              </a:rPr>
              <a:t>Selection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004417" y="1665859"/>
            <a:ext cx="6852920" cy="3775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dirty="0" sz="2400">
                <a:latin typeface="Arial MT"/>
                <a:cs typeface="Arial MT"/>
              </a:rPr>
              <a:t>No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20" i="1">
                <a:latin typeface="Arial"/>
                <a:cs typeface="Arial"/>
              </a:rPr>
              <a:t>a-</a:t>
            </a:r>
            <a:r>
              <a:rPr dirty="0" sz="2400" i="1">
                <a:latin typeface="Arial"/>
                <a:cs typeface="Arial"/>
              </a:rPr>
              <a:t>priori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best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estimator;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must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experiment</a:t>
            </a:r>
            <a:endParaRPr sz="2400">
              <a:latin typeface="Arial MT"/>
              <a:cs typeface="Arial MT"/>
            </a:endParaRPr>
          </a:p>
          <a:p>
            <a:pPr marL="355600" marR="202565" indent="-343535">
              <a:lnSpc>
                <a:spcPct val="100000"/>
              </a:lnSpc>
              <a:spcBef>
                <a:spcPts val="1800"/>
              </a:spcBef>
              <a:buChar char="•"/>
              <a:tabLst>
                <a:tab pos="355600" algn="l"/>
              </a:tabLst>
            </a:pP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10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estimator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selection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evaluation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phases </a:t>
            </a:r>
            <a:r>
              <a:rPr dirty="0" sz="2400">
                <a:latin typeface="Arial MT"/>
                <a:cs typeface="Arial MT"/>
              </a:rPr>
              <a:t>provide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information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can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used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refine </a:t>
            </a:r>
            <a:r>
              <a:rPr dirty="0" sz="2400">
                <a:latin typeface="Arial MT"/>
                <a:cs typeface="Arial MT"/>
              </a:rPr>
              <a:t>feature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selection,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transformation,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scaling.</a:t>
            </a:r>
            <a:endParaRPr sz="2400">
              <a:latin typeface="Arial MT"/>
              <a:cs typeface="Arial MT"/>
            </a:endParaRPr>
          </a:p>
          <a:p>
            <a:pPr marL="355600" marR="5080" indent="-343535">
              <a:lnSpc>
                <a:spcPct val="100000"/>
              </a:lnSpc>
              <a:spcBef>
                <a:spcPts val="1800"/>
              </a:spcBef>
              <a:buChar char="•"/>
              <a:tabLst>
                <a:tab pos="355600" algn="l"/>
              </a:tabLst>
            </a:pP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practice,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this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means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starting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off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by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generating </a:t>
            </a:r>
            <a:r>
              <a:rPr dirty="0" sz="2400">
                <a:latin typeface="Arial MT"/>
                <a:cs typeface="Arial MT"/>
              </a:rPr>
              <a:t>predictions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with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set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candidate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algorithms, </a:t>
            </a:r>
            <a:r>
              <a:rPr dirty="0" sz="2400">
                <a:latin typeface="Arial MT"/>
                <a:cs typeface="Arial MT"/>
              </a:rPr>
              <a:t>comparing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their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performance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terms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of </a:t>
            </a:r>
            <a:r>
              <a:rPr dirty="0" sz="2400">
                <a:latin typeface="Arial MT"/>
                <a:cs typeface="Arial MT"/>
              </a:rPr>
              <a:t>predictive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accuracy,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making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judgements </a:t>
            </a:r>
            <a:r>
              <a:rPr dirty="0" sz="2400">
                <a:latin typeface="Arial MT"/>
                <a:cs typeface="Arial MT"/>
              </a:rPr>
              <a:t>which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have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most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potential.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02398"/>
            <a:ext cx="9143999" cy="355597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66027" y="68656"/>
            <a:ext cx="773383" cy="919826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269240" y="1660702"/>
            <a:ext cx="6446520" cy="711200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575"/>
              </a:spcBef>
              <a:buClr>
                <a:srgbClr val="082E50"/>
              </a:buClr>
              <a:buFont typeface="Tahoma"/>
              <a:buAutoNum type="arabicPeriod"/>
              <a:tabLst>
                <a:tab pos="469265" algn="l"/>
              </a:tabLst>
            </a:pPr>
            <a:r>
              <a:rPr dirty="0" sz="1850" spc="-50">
                <a:solidFill>
                  <a:srgbClr val="082E50"/>
                </a:solidFill>
                <a:latin typeface="Tahoma"/>
                <a:cs typeface="Tahoma"/>
              </a:rPr>
              <a:t>What</a:t>
            </a:r>
            <a:r>
              <a:rPr dirty="0" sz="1850" spc="-9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30">
                <a:solidFill>
                  <a:srgbClr val="082E50"/>
                </a:solidFill>
                <a:latin typeface="Tahoma"/>
                <a:cs typeface="Tahoma"/>
              </a:rPr>
              <a:t>are</a:t>
            </a:r>
            <a:r>
              <a:rPr dirty="0" sz="1850" spc="-9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the</a:t>
            </a:r>
            <a:r>
              <a:rPr dirty="0" sz="1850" spc="-8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four</a:t>
            </a:r>
            <a:r>
              <a:rPr dirty="0" sz="1850" spc="-10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20">
                <a:solidFill>
                  <a:srgbClr val="082E50"/>
                </a:solidFill>
                <a:latin typeface="Tahoma"/>
                <a:cs typeface="Tahoma"/>
              </a:rPr>
              <a:t>types</a:t>
            </a:r>
            <a:r>
              <a:rPr dirty="0" sz="1850" spc="-9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of</a:t>
            </a:r>
            <a:r>
              <a:rPr dirty="0" sz="1850" spc="-9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20">
                <a:solidFill>
                  <a:srgbClr val="082E50"/>
                </a:solidFill>
                <a:latin typeface="Tahoma"/>
                <a:cs typeface="Tahoma"/>
              </a:rPr>
              <a:t>supervised</a:t>
            </a:r>
            <a:r>
              <a:rPr dirty="0" sz="1850" spc="-9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learning</a:t>
            </a:r>
            <a:r>
              <a:rPr dirty="0" sz="1850" spc="-7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algorithms?</a:t>
            </a:r>
            <a:endParaRPr sz="1850">
              <a:latin typeface="Tahoma"/>
              <a:cs typeface="Tahoma"/>
            </a:endParaRPr>
          </a:p>
          <a:p>
            <a:pPr marL="469265" indent="-456565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469265" algn="l"/>
              </a:tabLst>
            </a:pP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How</a:t>
            </a:r>
            <a:r>
              <a:rPr dirty="0" sz="1850" spc="-9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20">
                <a:solidFill>
                  <a:srgbClr val="082E50"/>
                </a:solidFill>
                <a:latin typeface="Tahoma"/>
                <a:cs typeface="Tahoma"/>
              </a:rPr>
              <a:t>each</a:t>
            </a:r>
            <a:r>
              <a:rPr dirty="0" sz="1850" spc="-7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20">
                <a:solidFill>
                  <a:srgbClr val="082E50"/>
                </a:solidFill>
                <a:latin typeface="Tahoma"/>
                <a:cs typeface="Tahoma"/>
              </a:rPr>
              <a:t>supervised</a:t>
            </a:r>
            <a:r>
              <a:rPr dirty="0" sz="1850" spc="-9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learning</a:t>
            </a:r>
            <a:r>
              <a:rPr dirty="0" sz="1850" spc="-7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algorithms</a:t>
            </a:r>
            <a:r>
              <a:rPr dirty="0" sz="1850" spc="-8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35">
                <a:solidFill>
                  <a:srgbClr val="082E50"/>
                </a:solidFill>
                <a:latin typeface="Tahoma"/>
                <a:cs typeface="Tahoma"/>
              </a:rPr>
              <a:t>are</a:t>
            </a:r>
            <a:r>
              <a:rPr dirty="0" sz="1850" spc="-10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trained?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438269" y="6606337"/>
            <a:ext cx="393065" cy="11874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600" spc="-10">
                <a:solidFill>
                  <a:srgbClr val="C0F8FB"/>
                </a:solidFill>
                <a:latin typeface="Verdana"/>
                <a:cs typeface="Verdana"/>
              </a:rPr>
              <a:t>Slide</a:t>
            </a:r>
            <a:r>
              <a:rPr dirty="0" sz="600" spc="-25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10">
                <a:solidFill>
                  <a:srgbClr val="C0F8FB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8000" y="6622186"/>
            <a:ext cx="1101725" cy="11874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Module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Code</a:t>
            </a:r>
            <a:r>
              <a:rPr dirty="0" sz="600" spc="4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45">
                <a:solidFill>
                  <a:srgbClr val="C0F8FB"/>
                </a:solidFill>
                <a:latin typeface="Verdana"/>
                <a:cs typeface="Verdana"/>
              </a:rPr>
              <a:t>&amp;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Module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20">
                <a:solidFill>
                  <a:srgbClr val="C0F8FB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78740">
              <a:lnSpc>
                <a:spcPct val="100000"/>
              </a:lnSpc>
              <a:spcBef>
                <a:spcPts val="80"/>
              </a:spcBef>
            </a:pPr>
            <a:r>
              <a:rPr dirty="0" spc="-20"/>
              <a:t>SLIDE</a:t>
            </a:r>
            <a:r>
              <a:rPr dirty="0" spc="-5"/>
              <a:t> </a:t>
            </a:r>
            <a:fld id="{81D60167-4931-47E6-BA6A-407CBD079E47}" type="slidenum">
              <a:rPr dirty="0" spc="-25"/>
              <a:t>62</a:t>
            </a:fld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11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14"/>
              <a:t>Review</a:t>
            </a:r>
            <a:r>
              <a:rPr dirty="0" spc="-95"/>
              <a:t> </a:t>
            </a:r>
            <a:r>
              <a:rPr dirty="0" spc="-65"/>
              <a:t>Questions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02398"/>
            <a:ext cx="9143999" cy="355597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66027" y="68656"/>
            <a:ext cx="773383" cy="919826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269240" y="1660702"/>
            <a:ext cx="6463030" cy="1054735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At</a:t>
            </a:r>
            <a:r>
              <a:rPr dirty="0" sz="1850" spc="-10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the</a:t>
            </a:r>
            <a:r>
              <a:rPr dirty="0" sz="1850" spc="-9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end</a:t>
            </a:r>
            <a:r>
              <a:rPr dirty="0" sz="1850" spc="-10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of</a:t>
            </a:r>
            <a:r>
              <a:rPr dirty="0" sz="1850" spc="-9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this</a:t>
            </a:r>
            <a:r>
              <a:rPr dirty="0" sz="1850" spc="-9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topic,</a:t>
            </a:r>
            <a:r>
              <a:rPr dirty="0" sz="1850" spc="-10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20">
                <a:solidFill>
                  <a:srgbClr val="082E50"/>
                </a:solidFill>
                <a:latin typeface="Tahoma"/>
                <a:cs typeface="Tahoma"/>
              </a:rPr>
              <a:t>you</a:t>
            </a:r>
            <a:r>
              <a:rPr dirty="0" sz="1850" spc="-9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should</a:t>
            </a:r>
            <a:r>
              <a:rPr dirty="0" sz="1850" spc="-11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be</a:t>
            </a:r>
            <a:r>
              <a:rPr dirty="0" sz="1850" spc="-9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able</a:t>
            </a:r>
            <a:r>
              <a:rPr dirty="0" sz="1850" spc="-9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25">
                <a:solidFill>
                  <a:srgbClr val="082E50"/>
                </a:solidFill>
                <a:latin typeface="Tahoma"/>
                <a:cs typeface="Tahoma"/>
              </a:rPr>
              <a:t>to:</a:t>
            </a:r>
            <a:endParaRPr sz="1850">
              <a:latin typeface="Tahoma"/>
              <a:cs typeface="Tahoma"/>
            </a:endParaRPr>
          </a:p>
          <a:p>
            <a:pPr marL="255904" indent="-243204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255904" algn="l"/>
              </a:tabLst>
            </a:pPr>
            <a:r>
              <a:rPr dirty="0" sz="1850" spc="-20">
                <a:solidFill>
                  <a:srgbClr val="082E50"/>
                </a:solidFill>
                <a:latin typeface="Tahoma"/>
                <a:cs typeface="Tahoma"/>
              </a:rPr>
              <a:t>Understand</a:t>
            </a:r>
            <a:r>
              <a:rPr dirty="0" sz="1850" spc="-6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different</a:t>
            </a:r>
            <a:r>
              <a:rPr dirty="0" sz="1850" spc="-6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25">
                <a:solidFill>
                  <a:srgbClr val="082E50"/>
                </a:solidFill>
                <a:latin typeface="Tahoma"/>
                <a:cs typeface="Tahoma"/>
              </a:rPr>
              <a:t>types</a:t>
            </a:r>
            <a:r>
              <a:rPr dirty="0" sz="1850" spc="-9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of</a:t>
            </a:r>
            <a:r>
              <a:rPr dirty="0" sz="1850" spc="-8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20">
                <a:solidFill>
                  <a:srgbClr val="082E50"/>
                </a:solidFill>
                <a:latin typeface="Tahoma"/>
                <a:cs typeface="Tahoma"/>
              </a:rPr>
              <a:t>supervised</a:t>
            </a:r>
            <a:r>
              <a:rPr dirty="0" sz="1850" spc="-7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learning</a:t>
            </a:r>
            <a:r>
              <a:rPr dirty="0" sz="1850" spc="-8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algorithms</a:t>
            </a:r>
            <a:endParaRPr sz="1850">
              <a:latin typeface="Tahoma"/>
              <a:cs typeface="Tahoma"/>
            </a:endParaRPr>
          </a:p>
          <a:p>
            <a:pPr marL="254635" indent="-241935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254635" algn="l"/>
              </a:tabLst>
            </a:pPr>
            <a:r>
              <a:rPr dirty="0" sz="1850" spc="-25">
                <a:solidFill>
                  <a:srgbClr val="082E50"/>
                </a:solidFill>
                <a:latin typeface="Tahoma"/>
                <a:cs typeface="Tahoma"/>
              </a:rPr>
              <a:t>Understand</a:t>
            </a:r>
            <a:r>
              <a:rPr dirty="0" sz="1850" spc="-6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the</a:t>
            </a:r>
            <a:r>
              <a:rPr dirty="0" sz="1850" spc="-9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operating</a:t>
            </a:r>
            <a:r>
              <a:rPr dirty="0" sz="1850" spc="-7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details</a:t>
            </a:r>
            <a:r>
              <a:rPr dirty="0" sz="1850" spc="-8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>
                <a:solidFill>
                  <a:srgbClr val="082E50"/>
                </a:solidFill>
                <a:latin typeface="Tahoma"/>
                <a:cs typeface="Tahoma"/>
              </a:rPr>
              <a:t>of</a:t>
            </a:r>
            <a:r>
              <a:rPr dirty="0" sz="1850" spc="-9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20">
                <a:solidFill>
                  <a:srgbClr val="082E50"/>
                </a:solidFill>
                <a:latin typeface="Tahoma"/>
                <a:cs typeface="Tahoma"/>
              </a:rPr>
              <a:t>each</a:t>
            </a:r>
            <a:r>
              <a:rPr dirty="0" sz="1850" spc="-8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1850" spc="-10">
                <a:solidFill>
                  <a:srgbClr val="082E50"/>
                </a:solidFill>
                <a:latin typeface="Tahoma"/>
                <a:cs typeface="Tahoma"/>
              </a:rPr>
              <a:t>algorithms.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438269" y="6606337"/>
            <a:ext cx="393065" cy="11874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600" spc="-10">
                <a:solidFill>
                  <a:srgbClr val="C0F8FB"/>
                </a:solidFill>
                <a:latin typeface="Verdana"/>
                <a:cs typeface="Verdana"/>
              </a:rPr>
              <a:t>Slide</a:t>
            </a:r>
            <a:r>
              <a:rPr dirty="0" sz="600" spc="-25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10">
                <a:solidFill>
                  <a:srgbClr val="C0F8FB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8000" y="6622186"/>
            <a:ext cx="1101725" cy="11874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Module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Code</a:t>
            </a:r>
            <a:r>
              <a:rPr dirty="0" sz="600" spc="4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45">
                <a:solidFill>
                  <a:srgbClr val="C0F8FB"/>
                </a:solidFill>
                <a:latin typeface="Verdana"/>
                <a:cs typeface="Verdana"/>
              </a:rPr>
              <a:t>&amp;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Module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20">
                <a:solidFill>
                  <a:srgbClr val="C0F8FB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78740">
              <a:lnSpc>
                <a:spcPct val="100000"/>
              </a:lnSpc>
              <a:spcBef>
                <a:spcPts val="80"/>
              </a:spcBef>
            </a:pPr>
            <a:r>
              <a:rPr dirty="0" spc="-20"/>
              <a:t>SLIDE</a:t>
            </a:r>
            <a:r>
              <a:rPr dirty="0" spc="-5"/>
              <a:t> </a:t>
            </a:r>
            <a:fld id="{81D60167-4931-47E6-BA6A-407CBD079E47}" type="slidenum">
              <a:rPr dirty="0" spc="-25"/>
              <a:t>62</a:t>
            </a:fld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00329" y="648461"/>
            <a:ext cx="4914900" cy="3695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95"/>
              <a:t>Summary</a:t>
            </a:r>
            <a:r>
              <a:rPr dirty="0" spc="-120"/>
              <a:t> </a:t>
            </a:r>
            <a:r>
              <a:rPr dirty="0" spc="-670"/>
              <a:t>/</a:t>
            </a:r>
            <a:r>
              <a:rPr dirty="0" spc="-110"/>
              <a:t> </a:t>
            </a:r>
            <a:r>
              <a:rPr dirty="0" spc="-70"/>
              <a:t>Recap</a:t>
            </a:r>
            <a:r>
              <a:rPr dirty="0" spc="-130"/>
              <a:t> </a:t>
            </a:r>
            <a:r>
              <a:rPr dirty="0" spc="-75"/>
              <a:t>of</a:t>
            </a:r>
            <a:r>
              <a:rPr dirty="0" spc="-110"/>
              <a:t> </a:t>
            </a:r>
            <a:r>
              <a:rPr dirty="0" spc="-70"/>
              <a:t>Main</a:t>
            </a:r>
            <a:r>
              <a:rPr dirty="0" spc="-145"/>
              <a:t> </a:t>
            </a:r>
            <a:r>
              <a:rPr dirty="0" spc="-55"/>
              <a:t>Points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Mrs. Kwan (Wong Hua Hung)</dc:creator>
  <dc:subject>MSc</dc:subject>
  <dc:title>PowerPoint Presentation</dc:title>
  <dcterms:created xsi:type="dcterms:W3CDTF">2025-12-26T00:25:09Z</dcterms:created>
  <dcterms:modified xsi:type="dcterms:W3CDTF">2025-12-26T00:25:09Z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2024-08-27T00:00:00Z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2025-12-26T00:00:00Z</vt:filetime>
  </property>
  <property fmtid="{D5CDD505-2E9C-101B-9397-08002B2CF9AE}" pid="5" name="Producer">
    <vt:lpwstr>Microsoft® PowerPoint® for Microsoft 365</vt:lpwstr>
  </property>
</Properties>
</file>