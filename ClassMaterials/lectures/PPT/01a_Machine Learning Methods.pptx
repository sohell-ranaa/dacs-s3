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x="10693400" cy="7556500"/>
  <p:notesSz cx="10693400" cy="7556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995659" y="684572"/>
            <a:ext cx="4574540" cy="589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0070C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D0D0D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0070C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D0D0D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0070C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0070C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778949" y="228600"/>
            <a:ext cx="1292149" cy="134426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9601" y="7043598"/>
            <a:ext cx="9461500" cy="27608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0720" y="257852"/>
            <a:ext cx="7231160" cy="1412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0070C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9894" y="1934321"/>
            <a:ext cx="8431530" cy="43205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D0D0D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youtube.com/watch?v=vNc2z2u_nh0" TargetMode="External"/><Relationship Id="rId3" Type="http://schemas.openxmlformats.org/officeDocument/2006/relationships/image" Target="../media/image9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hyperlink" Target="http://www.youtube.com/watch?v=1FZ0A1QCMWc&amp;t=1s" TargetMode="Externa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2.jpg"/><Relationship Id="rId4" Type="http://schemas.openxmlformats.org/officeDocument/2006/relationships/image" Target="../media/image14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2.jpg"/><Relationship Id="rId4" Type="http://schemas.openxmlformats.org/officeDocument/2006/relationships/image" Target="../media/image15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20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youtube.com/watch?v=IrpTqKkgygA" TargetMode="External"/><Relationship Id="rId3" Type="http://schemas.openxmlformats.org/officeDocument/2006/relationships/image" Target="../media/image22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Relationship Id="rId3" Type="http://schemas.openxmlformats.org/officeDocument/2006/relationships/hyperlink" Target="http://www.youtube.com/watch?v=nIgIv4IfJ6s&amp;t=1s" TargetMode="Externa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g"/><Relationship Id="rId3" Type="http://schemas.openxmlformats.org/officeDocument/2006/relationships/hyperlink" Target="http://www.theverge.com/tldr/2017/7/10/15946542/deep" TargetMode="Externa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Relationship Id="rId3" Type="http://schemas.openxmlformats.org/officeDocument/2006/relationships/image" Target="../media/image2.jpg"/><Relationship Id="rId4" Type="http://schemas.openxmlformats.org/officeDocument/2006/relationships/image" Target="../media/image30.jpg"/><Relationship Id="rId5" Type="http://schemas.openxmlformats.org/officeDocument/2006/relationships/image" Target="../media/image31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Relationship Id="rId3" Type="http://schemas.openxmlformats.org/officeDocument/2006/relationships/image" Target="../media/image2.jpg"/><Relationship Id="rId4" Type="http://schemas.openxmlformats.org/officeDocument/2006/relationships/image" Target="../media/image32.jpg"/><Relationship Id="rId5" Type="http://schemas.openxmlformats.org/officeDocument/2006/relationships/image" Target="../media/image33.jp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Relationship Id="rId3" Type="http://schemas.openxmlformats.org/officeDocument/2006/relationships/image" Target="../media/image2.jpg"/><Relationship Id="rId4" Type="http://schemas.openxmlformats.org/officeDocument/2006/relationships/image" Target="../media/image34.jp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.jpg"/><Relationship Id="rId3" Type="http://schemas.openxmlformats.org/officeDocument/2006/relationships/image" Target="../media/image2.jpg"/><Relationship Id="rId4" Type="http://schemas.openxmlformats.org/officeDocument/2006/relationships/image" Target="../media/image35.jp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.jpg"/><Relationship Id="rId3" Type="http://schemas.openxmlformats.org/officeDocument/2006/relationships/image" Target="../media/image2.jpg"/><Relationship Id="rId4" Type="http://schemas.openxmlformats.org/officeDocument/2006/relationships/image" Target="../media/image36.jp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Relationship Id="rId3" Type="http://schemas.openxmlformats.org/officeDocument/2006/relationships/image" Target="../media/image2.jp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jpg"/><Relationship Id="rId3" Type="http://schemas.openxmlformats.org/officeDocument/2006/relationships/image" Target="../media/image38.jpg"/><Relationship Id="rId4" Type="http://schemas.openxmlformats.org/officeDocument/2006/relationships/image" Target="../media/image39.jpg"/><Relationship Id="rId5" Type="http://schemas.openxmlformats.org/officeDocument/2006/relationships/image" Target="../media/image40.jpg"/><Relationship Id="rId6" Type="http://schemas.openxmlformats.org/officeDocument/2006/relationships/image" Target="../media/image41.jpg"/><Relationship Id="rId7" Type="http://schemas.openxmlformats.org/officeDocument/2006/relationships/image" Target="../media/image42.jpg"/><Relationship Id="rId8" Type="http://schemas.openxmlformats.org/officeDocument/2006/relationships/image" Target="../media/image43.jp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Relationship Id="rId3" Type="http://schemas.openxmlformats.org/officeDocument/2006/relationships/image" Target="../media/image2.jp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Relationship Id="rId3" Type="http://schemas.openxmlformats.org/officeDocument/2006/relationships/image" Target="../media/image2.jp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Relationship Id="rId3" Type="http://schemas.openxmlformats.org/officeDocument/2006/relationships/image" Target="../media/image2.jpg"/><Relationship Id="rId4" Type="http://schemas.openxmlformats.org/officeDocument/2006/relationships/image" Target="../media/image44.jp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6959786"/>
            <a:ext cx="9461500" cy="368113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482966" y="7086055"/>
            <a:ext cx="31115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SLIDE</a:t>
            </a:r>
            <a:r>
              <a:rPr dirty="0" sz="600" spc="-5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100">
                <a:solidFill>
                  <a:srgbClr val="C0F9FC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21916" y="7086055"/>
            <a:ext cx="66421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80">
                <a:solidFill>
                  <a:srgbClr val="C0F9FC"/>
                </a:solidFill>
                <a:latin typeface="Verdana"/>
                <a:cs typeface="Verdana"/>
              </a:rPr>
              <a:t>CT115-</a:t>
            </a:r>
            <a:r>
              <a:rPr dirty="0" sz="600" spc="-50">
                <a:solidFill>
                  <a:srgbClr val="C0F9FC"/>
                </a:solidFill>
                <a:latin typeface="Verdana"/>
                <a:cs typeface="Verdana"/>
              </a:rPr>
              <a:t>3-</a:t>
            </a: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M-</a:t>
            </a:r>
            <a:r>
              <a:rPr dirty="0" sz="600" spc="-20">
                <a:solidFill>
                  <a:srgbClr val="C0F9FC"/>
                </a:solidFill>
                <a:latin typeface="Verdana"/>
                <a:cs typeface="Verdana"/>
              </a:rPr>
              <a:t>DACS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850610" y="7070816"/>
            <a:ext cx="110744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10">
                <a:solidFill>
                  <a:srgbClr val="C0F9FC"/>
                </a:solidFill>
                <a:latin typeface="Verdana"/>
                <a:cs typeface="Verdana"/>
              </a:rPr>
              <a:t>Machine</a:t>
            </a:r>
            <a:r>
              <a:rPr dirty="0" sz="600" spc="4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10">
                <a:solidFill>
                  <a:srgbClr val="C0F9FC"/>
                </a:solidFill>
                <a:latin typeface="Verdana"/>
                <a:cs typeface="Verdana"/>
              </a:rPr>
              <a:t>Learning</a:t>
            </a:r>
            <a:r>
              <a:rPr dirty="0" sz="600" spc="55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9FC"/>
                </a:solidFill>
                <a:latin typeface="Verdana"/>
                <a:cs typeface="Verdana"/>
              </a:rPr>
              <a:t>Methods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9815" y="323814"/>
            <a:ext cx="773653" cy="91221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659065" y="3418183"/>
            <a:ext cx="4516120" cy="1481455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36195" marR="5080">
              <a:lnSpc>
                <a:spcPts val="3100"/>
              </a:lnSpc>
              <a:spcBef>
                <a:spcPts val="220"/>
              </a:spcBef>
            </a:pPr>
            <a:r>
              <a:rPr dirty="0" sz="2600" spc="-180">
                <a:solidFill>
                  <a:srgbClr val="082F50"/>
                </a:solidFill>
                <a:latin typeface="Lucida Sans Unicode"/>
                <a:cs typeface="Lucida Sans Unicode"/>
              </a:rPr>
              <a:t>Data</a:t>
            </a:r>
            <a:r>
              <a:rPr dirty="0" sz="2600" spc="-12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60">
                <a:solidFill>
                  <a:srgbClr val="082F50"/>
                </a:solidFill>
                <a:latin typeface="Lucida Sans Unicode"/>
                <a:cs typeface="Lucida Sans Unicode"/>
              </a:rPr>
              <a:t>Analytics</a:t>
            </a:r>
            <a:r>
              <a:rPr dirty="0" sz="2600" spc="-12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35">
                <a:solidFill>
                  <a:srgbClr val="082F50"/>
                </a:solidFill>
                <a:latin typeface="Lucida Sans Unicode"/>
                <a:cs typeface="Lucida Sans Unicode"/>
              </a:rPr>
              <a:t>in</a:t>
            </a:r>
            <a:r>
              <a:rPr dirty="0" sz="2600" spc="-13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225">
                <a:solidFill>
                  <a:srgbClr val="082F50"/>
                </a:solidFill>
                <a:latin typeface="Lucida Sans Unicode"/>
                <a:cs typeface="Lucida Sans Unicode"/>
              </a:rPr>
              <a:t>Cyber</a:t>
            </a:r>
            <a:r>
              <a:rPr dirty="0" sz="2600" spc="-120">
                <a:solidFill>
                  <a:srgbClr val="082F50"/>
                </a:solidFill>
                <a:latin typeface="Lucida Sans Unicode"/>
                <a:cs typeface="Lucida Sans Unicode"/>
              </a:rPr>
              <a:t> Security </a:t>
            </a:r>
            <a:r>
              <a:rPr dirty="0" sz="2600" spc="-295">
                <a:solidFill>
                  <a:srgbClr val="082F50"/>
                </a:solidFill>
                <a:latin typeface="Lucida Sans Unicode"/>
                <a:cs typeface="Lucida Sans Unicode"/>
              </a:rPr>
              <a:t>(CT115-</a:t>
            </a:r>
            <a:r>
              <a:rPr dirty="0" sz="2600" spc="-420">
                <a:solidFill>
                  <a:srgbClr val="082F50"/>
                </a:solidFill>
                <a:latin typeface="Lucida Sans Unicode"/>
                <a:cs typeface="Lucida Sans Unicode"/>
              </a:rPr>
              <a:t>3-</a:t>
            </a:r>
            <a:r>
              <a:rPr dirty="0" sz="2600" spc="-185">
                <a:solidFill>
                  <a:srgbClr val="082F50"/>
                </a:solidFill>
                <a:latin typeface="Lucida Sans Unicode"/>
                <a:cs typeface="Lucida Sans Unicode"/>
              </a:rPr>
              <a:t>M)(Version</a:t>
            </a:r>
            <a:r>
              <a:rPr dirty="0" sz="2600" spc="-3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25">
                <a:solidFill>
                  <a:srgbClr val="082F50"/>
                </a:solidFill>
                <a:latin typeface="Lucida Sans Unicode"/>
                <a:cs typeface="Lucida Sans Unicode"/>
              </a:rPr>
              <a:t>E)</a:t>
            </a:r>
            <a:endParaRPr sz="26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380"/>
              </a:spcBef>
            </a:pPr>
            <a:r>
              <a:rPr dirty="0" sz="2300" spc="-40" b="1">
                <a:solidFill>
                  <a:srgbClr val="0070C0"/>
                </a:solidFill>
                <a:latin typeface="Verdana"/>
                <a:cs typeface="Verdana"/>
              </a:rPr>
              <a:t>Machine</a:t>
            </a:r>
            <a:r>
              <a:rPr dirty="0" sz="2300" spc="-100" b="1">
                <a:solidFill>
                  <a:srgbClr val="0070C0"/>
                </a:solidFill>
                <a:latin typeface="Verdana"/>
                <a:cs typeface="Verdana"/>
              </a:rPr>
              <a:t> </a:t>
            </a:r>
            <a:r>
              <a:rPr dirty="0" sz="2300" spc="-75" b="1">
                <a:solidFill>
                  <a:srgbClr val="0070C0"/>
                </a:solidFill>
                <a:latin typeface="Verdana"/>
                <a:cs typeface="Verdana"/>
              </a:rPr>
              <a:t>Learning</a:t>
            </a:r>
            <a:r>
              <a:rPr dirty="0" sz="2300" spc="-105" b="1">
                <a:solidFill>
                  <a:srgbClr val="0070C0"/>
                </a:solidFill>
                <a:latin typeface="Verdana"/>
                <a:cs typeface="Verdana"/>
              </a:rPr>
              <a:t> </a:t>
            </a:r>
            <a:r>
              <a:rPr dirty="0" sz="2300" spc="-10" b="1">
                <a:solidFill>
                  <a:srgbClr val="0070C0"/>
                </a:solidFill>
                <a:latin typeface="Verdana"/>
                <a:cs typeface="Verdana"/>
              </a:rPr>
              <a:t>Methods</a:t>
            </a:r>
            <a:endParaRPr sz="2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6959786"/>
            <a:ext cx="9461500" cy="368113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474753" y="7086055"/>
            <a:ext cx="32702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SLIDE</a:t>
            </a:r>
            <a:r>
              <a:rPr dirty="0" sz="600" spc="-50">
                <a:solidFill>
                  <a:srgbClr val="C0F9FC"/>
                </a:solidFill>
                <a:latin typeface="Verdana"/>
                <a:cs typeface="Verdana"/>
              </a:rPr>
              <a:t> 2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21916" y="7086055"/>
            <a:ext cx="66421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80">
                <a:solidFill>
                  <a:srgbClr val="C0F9FC"/>
                </a:solidFill>
                <a:latin typeface="Verdana"/>
                <a:cs typeface="Verdana"/>
              </a:rPr>
              <a:t>CT115-</a:t>
            </a:r>
            <a:r>
              <a:rPr dirty="0" sz="600" spc="-50">
                <a:solidFill>
                  <a:srgbClr val="C0F9FC"/>
                </a:solidFill>
                <a:latin typeface="Verdana"/>
                <a:cs typeface="Verdana"/>
              </a:rPr>
              <a:t>3-</a:t>
            </a: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M-</a:t>
            </a:r>
            <a:r>
              <a:rPr dirty="0" sz="600" spc="-20">
                <a:solidFill>
                  <a:srgbClr val="C0F9FC"/>
                </a:solidFill>
                <a:latin typeface="Verdana"/>
                <a:cs typeface="Verdana"/>
              </a:rPr>
              <a:t>DACS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850610" y="7070816"/>
            <a:ext cx="110744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10">
                <a:solidFill>
                  <a:srgbClr val="C0F9FC"/>
                </a:solidFill>
                <a:latin typeface="Verdana"/>
                <a:cs typeface="Verdana"/>
              </a:rPr>
              <a:t>Machine</a:t>
            </a:r>
            <a:r>
              <a:rPr dirty="0" sz="600" spc="4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10">
                <a:solidFill>
                  <a:srgbClr val="C0F9FC"/>
                </a:solidFill>
                <a:latin typeface="Verdana"/>
                <a:cs typeface="Verdana"/>
              </a:rPr>
              <a:t>Learning</a:t>
            </a:r>
            <a:r>
              <a:rPr dirty="0" sz="600" spc="55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9FC"/>
                </a:solidFill>
                <a:latin typeface="Verdana"/>
                <a:cs typeface="Verdana"/>
              </a:rPr>
              <a:t>Methods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9815" y="323814"/>
            <a:ext cx="773653" cy="91221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888629" y="1931436"/>
            <a:ext cx="8023225" cy="176276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900" spc="-135">
                <a:solidFill>
                  <a:srgbClr val="082F50"/>
                </a:solidFill>
                <a:latin typeface="Lucida Sans Unicode"/>
                <a:cs typeface="Lucida Sans Unicode"/>
              </a:rPr>
              <a:t>At</a:t>
            </a:r>
            <a:r>
              <a:rPr dirty="0" sz="1900" spc="-5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95">
                <a:solidFill>
                  <a:srgbClr val="082F50"/>
                </a:solidFill>
                <a:latin typeface="Lucida Sans Unicode"/>
                <a:cs typeface="Lucida Sans Unicode"/>
              </a:rPr>
              <a:t>the</a:t>
            </a:r>
            <a:r>
              <a:rPr dirty="0" sz="1900" spc="-5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40">
                <a:solidFill>
                  <a:srgbClr val="082F50"/>
                </a:solidFill>
                <a:latin typeface="Lucida Sans Unicode"/>
                <a:cs typeface="Lucida Sans Unicode"/>
              </a:rPr>
              <a:t>end</a:t>
            </a:r>
            <a:r>
              <a:rPr dirty="0" sz="1900" spc="-4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20">
                <a:solidFill>
                  <a:srgbClr val="082F50"/>
                </a:solidFill>
                <a:latin typeface="Lucida Sans Unicode"/>
                <a:cs typeface="Lucida Sans Unicode"/>
              </a:rPr>
              <a:t>of</a:t>
            </a:r>
            <a:r>
              <a:rPr dirty="0" sz="1900" spc="-5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0">
                <a:solidFill>
                  <a:srgbClr val="082F50"/>
                </a:solidFill>
                <a:latin typeface="Lucida Sans Unicode"/>
                <a:cs typeface="Lucida Sans Unicode"/>
              </a:rPr>
              <a:t>this</a:t>
            </a:r>
            <a:r>
              <a:rPr dirty="0" sz="1900" spc="-4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30">
                <a:solidFill>
                  <a:srgbClr val="082F50"/>
                </a:solidFill>
                <a:latin typeface="Lucida Sans Unicode"/>
                <a:cs typeface="Lucida Sans Unicode"/>
              </a:rPr>
              <a:t>topic,</a:t>
            </a:r>
            <a:r>
              <a:rPr dirty="0" sz="1900" spc="-6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35">
                <a:solidFill>
                  <a:srgbClr val="082F50"/>
                </a:solidFill>
                <a:latin typeface="Lucida Sans Unicode"/>
                <a:cs typeface="Lucida Sans Unicode"/>
              </a:rPr>
              <a:t>you</a:t>
            </a:r>
            <a:r>
              <a:rPr dirty="0" sz="1900" spc="-4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25">
                <a:solidFill>
                  <a:srgbClr val="082F50"/>
                </a:solidFill>
                <a:latin typeface="Lucida Sans Unicode"/>
                <a:cs typeface="Lucida Sans Unicode"/>
              </a:rPr>
              <a:t>should</a:t>
            </a:r>
            <a:r>
              <a:rPr dirty="0" sz="1900" spc="-4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40">
                <a:solidFill>
                  <a:srgbClr val="082F50"/>
                </a:solidFill>
                <a:latin typeface="Lucida Sans Unicode"/>
                <a:cs typeface="Lucida Sans Unicode"/>
              </a:rPr>
              <a:t>be</a:t>
            </a:r>
            <a:r>
              <a:rPr dirty="0" sz="1900" spc="-5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95">
                <a:solidFill>
                  <a:srgbClr val="082F50"/>
                </a:solidFill>
                <a:latin typeface="Lucida Sans Unicode"/>
                <a:cs typeface="Lucida Sans Unicode"/>
              </a:rPr>
              <a:t>able</a:t>
            </a:r>
            <a:r>
              <a:rPr dirty="0" sz="1900" spc="-4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25">
                <a:solidFill>
                  <a:srgbClr val="082F50"/>
                </a:solidFill>
                <a:latin typeface="Lucida Sans Unicode"/>
                <a:cs typeface="Lucida Sans Unicode"/>
              </a:rPr>
              <a:t>to:</a:t>
            </a:r>
            <a:endParaRPr sz="1900">
              <a:latin typeface="Lucida Sans Unicode"/>
              <a:cs typeface="Lucida Sans Unicode"/>
            </a:endParaRPr>
          </a:p>
          <a:p>
            <a:pPr marL="485140" marR="5080" indent="-473075">
              <a:lnSpc>
                <a:spcPct val="101099"/>
              </a:lnSpc>
              <a:spcBef>
                <a:spcPts val="575"/>
              </a:spcBef>
              <a:buAutoNum type="arabicPeriod"/>
              <a:tabLst>
                <a:tab pos="485140" algn="l"/>
              </a:tabLst>
            </a:pPr>
            <a:r>
              <a:rPr dirty="0" sz="1900" spc="-125">
                <a:solidFill>
                  <a:srgbClr val="082F50"/>
                </a:solidFill>
                <a:latin typeface="Lucida Sans Unicode"/>
                <a:cs typeface="Lucida Sans Unicode"/>
              </a:rPr>
              <a:t>Understand</a:t>
            </a:r>
            <a:r>
              <a:rPr dirty="0" sz="1900" spc="-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95">
                <a:solidFill>
                  <a:srgbClr val="082F50"/>
                </a:solidFill>
                <a:latin typeface="Lucida Sans Unicode"/>
                <a:cs typeface="Lucida Sans Unicode"/>
              </a:rPr>
              <a:t>the</a:t>
            </a:r>
            <a:r>
              <a:rPr dirty="0" sz="1900" spc="-1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5">
                <a:solidFill>
                  <a:srgbClr val="082F50"/>
                </a:solidFill>
                <a:latin typeface="Lucida Sans Unicode"/>
                <a:cs typeface="Lucida Sans Unicode"/>
              </a:rPr>
              <a:t>differences</a:t>
            </a:r>
            <a:r>
              <a:rPr dirty="0" sz="1900" spc="-1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5">
                <a:solidFill>
                  <a:srgbClr val="082F50"/>
                </a:solidFill>
                <a:latin typeface="Lucida Sans Unicode"/>
                <a:cs typeface="Lucida Sans Unicode"/>
              </a:rPr>
              <a:t>between</a:t>
            </a:r>
            <a:r>
              <a:rPr dirty="0" sz="1900" spc="-1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85">
                <a:solidFill>
                  <a:srgbClr val="082F50"/>
                </a:solidFill>
                <a:latin typeface="Lucida Sans Unicode"/>
                <a:cs typeface="Lucida Sans Unicode"/>
              </a:rPr>
              <a:t>Artificial</a:t>
            </a:r>
            <a:r>
              <a:rPr dirty="0" sz="1900" spc="-2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80">
                <a:solidFill>
                  <a:srgbClr val="082F50"/>
                </a:solidFill>
                <a:latin typeface="Lucida Sans Unicode"/>
                <a:cs typeface="Lucida Sans Unicode"/>
              </a:rPr>
              <a:t>Intelligence</a:t>
            </a:r>
            <a:r>
              <a:rPr dirty="0" sz="1900" spc="-1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20">
                <a:solidFill>
                  <a:srgbClr val="082F50"/>
                </a:solidFill>
                <a:latin typeface="Lucida Sans Unicode"/>
                <a:cs typeface="Lucida Sans Unicode"/>
              </a:rPr>
              <a:t>(AI),</a:t>
            </a:r>
            <a:r>
              <a:rPr dirty="0" sz="1900" spc="-3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40">
                <a:solidFill>
                  <a:srgbClr val="082F50"/>
                </a:solidFill>
                <a:latin typeface="Lucida Sans Unicode"/>
                <a:cs typeface="Lucida Sans Unicode"/>
              </a:rPr>
              <a:t>Machine </a:t>
            </a:r>
            <a:r>
              <a:rPr dirty="0" sz="1900" spc="-105">
                <a:solidFill>
                  <a:srgbClr val="082F50"/>
                </a:solidFill>
                <a:latin typeface="Lucida Sans Unicode"/>
                <a:cs typeface="Lucida Sans Unicode"/>
              </a:rPr>
              <a:t>Learning</a:t>
            </a:r>
            <a:r>
              <a:rPr dirty="0" sz="1900" spc="-3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70">
                <a:solidFill>
                  <a:srgbClr val="082F50"/>
                </a:solidFill>
                <a:latin typeface="Lucida Sans Unicode"/>
                <a:cs typeface="Lucida Sans Unicode"/>
              </a:rPr>
              <a:t>(ML)</a:t>
            </a:r>
            <a:r>
              <a:rPr dirty="0" sz="1900" spc="-4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40">
                <a:solidFill>
                  <a:srgbClr val="082F50"/>
                </a:solidFill>
                <a:latin typeface="Lucida Sans Unicode"/>
                <a:cs typeface="Lucida Sans Unicode"/>
              </a:rPr>
              <a:t>and</a:t>
            </a:r>
            <a:r>
              <a:rPr dirty="0" sz="1900" spc="-2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40">
                <a:solidFill>
                  <a:srgbClr val="082F50"/>
                </a:solidFill>
                <a:latin typeface="Lucida Sans Unicode"/>
                <a:cs typeface="Lucida Sans Unicode"/>
              </a:rPr>
              <a:t>Deep</a:t>
            </a:r>
            <a:r>
              <a:rPr dirty="0" sz="1900" spc="-4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5">
                <a:solidFill>
                  <a:srgbClr val="082F50"/>
                </a:solidFill>
                <a:latin typeface="Lucida Sans Unicode"/>
                <a:cs typeface="Lucida Sans Unicode"/>
              </a:rPr>
              <a:t>Learning</a:t>
            </a:r>
            <a:r>
              <a:rPr dirty="0" sz="1900" spc="-2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Lucida Sans Unicode"/>
                <a:cs typeface="Lucida Sans Unicode"/>
              </a:rPr>
              <a:t>(DL).</a:t>
            </a:r>
            <a:endParaRPr sz="1900">
              <a:latin typeface="Lucida Sans Unicode"/>
              <a:cs typeface="Lucida Sans Unicode"/>
            </a:endParaRPr>
          </a:p>
          <a:p>
            <a:pPr marL="485140" indent="-472440">
              <a:lnSpc>
                <a:spcPct val="100000"/>
              </a:lnSpc>
              <a:spcBef>
                <a:spcPts val="525"/>
              </a:spcBef>
              <a:buAutoNum type="arabicPeriod"/>
              <a:tabLst>
                <a:tab pos="485140" algn="l"/>
              </a:tabLst>
            </a:pPr>
            <a:r>
              <a:rPr dirty="0" sz="1900" spc="-125">
                <a:solidFill>
                  <a:srgbClr val="082F50"/>
                </a:solidFill>
                <a:latin typeface="Lucida Sans Unicode"/>
                <a:cs typeface="Lucida Sans Unicode"/>
              </a:rPr>
              <a:t>Understand</a:t>
            </a:r>
            <a:r>
              <a:rPr dirty="0" sz="1900" spc="-1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20">
                <a:solidFill>
                  <a:srgbClr val="082F50"/>
                </a:solidFill>
                <a:latin typeface="Lucida Sans Unicode"/>
                <a:cs typeface="Lucida Sans Unicode"/>
              </a:rPr>
              <a:t>types</a:t>
            </a:r>
            <a:r>
              <a:rPr dirty="0" sz="1900" spc="-2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20">
                <a:solidFill>
                  <a:srgbClr val="082F50"/>
                </a:solidFill>
                <a:latin typeface="Lucida Sans Unicode"/>
                <a:cs typeface="Lucida Sans Unicode"/>
              </a:rPr>
              <a:t>of</a:t>
            </a:r>
            <a:r>
              <a:rPr dirty="0" sz="1900" spc="-2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10">
                <a:solidFill>
                  <a:srgbClr val="082F50"/>
                </a:solidFill>
                <a:latin typeface="Lucida Sans Unicode"/>
                <a:cs typeface="Lucida Sans Unicode"/>
              </a:rPr>
              <a:t>Machine</a:t>
            </a:r>
            <a:r>
              <a:rPr dirty="0" sz="1900" spc="-2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Lucida Sans Unicode"/>
                <a:cs typeface="Lucida Sans Unicode"/>
              </a:rPr>
              <a:t>Learning.</a:t>
            </a:r>
            <a:endParaRPr sz="1900">
              <a:latin typeface="Lucida Sans Unicode"/>
              <a:cs typeface="Lucida Sans Unicode"/>
            </a:endParaRPr>
          </a:p>
          <a:p>
            <a:pPr marL="485140" indent="-472440">
              <a:lnSpc>
                <a:spcPct val="100000"/>
              </a:lnSpc>
              <a:spcBef>
                <a:spcPts val="530"/>
              </a:spcBef>
              <a:buAutoNum type="arabicPeriod"/>
              <a:tabLst>
                <a:tab pos="485140" algn="l"/>
              </a:tabLst>
            </a:pPr>
            <a:r>
              <a:rPr dirty="0" sz="1900" spc="-125">
                <a:solidFill>
                  <a:srgbClr val="082F50"/>
                </a:solidFill>
                <a:latin typeface="Lucida Sans Unicode"/>
                <a:cs typeface="Lucida Sans Unicode"/>
              </a:rPr>
              <a:t>Understand</a:t>
            </a:r>
            <a:r>
              <a:rPr dirty="0" sz="1900" spc="-2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0">
                <a:solidFill>
                  <a:srgbClr val="082F50"/>
                </a:solidFill>
                <a:latin typeface="Lucida Sans Unicode"/>
                <a:cs typeface="Lucida Sans Unicode"/>
              </a:rPr>
              <a:t>characteristics</a:t>
            </a:r>
            <a:r>
              <a:rPr dirty="0" sz="1900" spc="-3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20">
                <a:solidFill>
                  <a:srgbClr val="082F50"/>
                </a:solidFill>
                <a:latin typeface="Lucida Sans Unicode"/>
                <a:cs typeface="Lucida Sans Unicode"/>
              </a:rPr>
              <a:t>of</a:t>
            </a:r>
            <a:r>
              <a:rPr dirty="0" sz="1900" spc="-3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40">
                <a:solidFill>
                  <a:srgbClr val="082F50"/>
                </a:solidFill>
                <a:latin typeface="Lucida Sans Unicode"/>
                <a:cs typeface="Lucida Sans Unicode"/>
              </a:rPr>
              <a:t>Deep</a:t>
            </a:r>
            <a:r>
              <a:rPr dirty="0" sz="1900" spc="-2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Lucida Sans Unicode"/>
                <a:cs typeface="Lucida Sans Unicode"/>
              </a:rPr>
              <a:t>Learning.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3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0"/>
              <a:t>TOPIC</a:t>
            </a:r>
            <a:r>
              <a:rPr dirty="0" spc="-60"/>
              <a:t> </a:t>
            </a:r>
            <a:r>
              <a:rPr dirty="0" spc="-130"/>
              <a:t>LEARNING</a:t>
            </a:r>
            <a:r>
              <a:rPr dirty="0" spc="-55"/>
              <a:t> </a:t>
            </a:r>
            <a:r>
              <a:rPr dirty="0" spc="-10"/>
              <a:t>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6959786"/>
            <a:ext cx="9461500" cy="368113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474753" y="7086055"/>
            <a:ext cx="32639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SLIDE</a:t>
            </a:r>
            <a:r>
              <a:rPr dirty="0" sz="600" spc="-50">
                <a:solidFill>
                  <a:srgbClr val="C0F9FC"/>
                </a:solidFill>
                <a:latin typeface="Verdana"/>
                <a:cs typeface="Verdana"/>
              </a:rPr>
              <a:t> 3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21916" y="7086055"/>
            <a:ext cx="66421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80">
                <a:solidFill>
                  <a:srgbClr val="C0F9FC"/>
                </a:solidFill>
                <a:latin typeface="Verdana"/>
                <a:cs typeface="Verdana"/>
              </a:rPr>
              <a:t>CT115-</a:t>
            </a:r>
            <a:r>
              <a:rPr dirty="0" sz="600" spc="-50">
                <a:solidFill>
                  <a:srgbClr val="C0F9FC"/>
                </a:solidFill>
                <a:latin typeface="Verdana"/>
                <a:cs typeface="Verdana"/>
              </a:rPr>
              <a:t>3-</a:t>
            </a: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M-</a:t>
            </a:r>
            <a:r>
              <a:rPr dirty="0" sz="600" spc="-20">
                <a:solidFill>
                  <a:srgbClr val="C0F9FC"/>
                </a:solidFill>
                <a:latin typeface="Verdana"/>
                <a:cs typeface="Verdana"/>
              </a:rPr>
              <a:t>DACS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850610" y="7070816"/>
            <a:ext cx="110744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10">
                <a:solidFill>
                  <a:srgbClr val="C0F9FC"/>
                </a:solidFill>
                <a:latin typeface="Verdana"/>
                <a:cs typeface="Verdana"/>
              </a:rPr>
              <a:t>Machine</a:t>
            </a:r>
            <a:r>
              <a:rPr dirty="0" sz="600" spc="4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10">
                <a:solidFill>
                  <a:srgbClr val="C0F9FC"/>
                </a:solidFill>
                <a:latin typeface="Verdana"/>
                <a:cs typeface="Verdana"/>
              </a:rPr>
              <a:t>Learning</a:t>
            </a:r>
            <a:r>
              <a:rPr dirty="0" sz="600" spc="55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9FC"/>
                </a:solidFill>
                <a:latin typeface="Verdana"/>
                <a:cs typeface="Verdana"/>
              </a:rPr>
              <a:t>Methods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9815" y="323814"/>
            <a:ext cx="773653" cy="91221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888629" y="1931436"/>
            <a:ext cx="3122930" cy="111379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278130" indent="-265430">
              <a:lnSpc>
                <a:spcPct val="100000"/>
              </a:lnSpc>
              <a:spcBef>
                <a:spcPts val="700"/>
              </a:spcBef>
              <a:buChar char="•"/>
              <a:tabLst>
                <a:tab pos="278130" algn="l"/>
              </a:tabLst>
            </a:pPr>
            <a:r>
              <a:rPr dirty="0" sz="1900" spc="-85">
                <a:solidFill>
                  <a:srgbClr val="082F50"/>
                </a:solidFill>
                <a:latin typeface="Lucida Sans Unicode"/>
                <a:cs typeface="Lucida Sans Unicode"/>
              </a:rPr>
              <a:t>Artificial</a:t>
            </a:r>
            <a:r>
              <a:rPr dirty="0" sz="1900" spc="1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Lucida Sans Unicode"/>
                <a:cs typeface="Lucida Sans Unicode"/>
              </a:rPr>
              <a:t>Intelligence</a:t>
            </a:r>
            <a:endParaRPr sz="1900">
              <a:latin typeface="Lucida Sans Unicode"/>
              <a:cs typeface="Lucida Sans Unicode"/>
            </a:endParaRPr>
          </a:p>
          <a:p>
            <a:pPr marL="278130" indent="-265430">
              <a:lnSpc>
                <a:spcPct val="100000"/>
              </a:lnSpc>
              <a:spcBef>
                <a:spcPts val="600"/>
              </a:spcBef>
              <a:buChar char="•"/>
              <a:tabLst>
                <a:tab pos="278130" algn="l"/>
              </a:tabLst>
            </a:pPr>
            <a:r>
              <a:rPr dirty="0" sz="1900" spc="-135">
                <a:solidFill>
                  <a:srgbClr val="082F50"/>
                </a:solidFill>
                <a:latin typeface="Lucida Sans Unicode"/>
                <a:cs typeface="Lucida Sans Unicode"/>
              </a:rPr>
              <a:t>Types</a:t>
            </a:r>
            <a:r>
              <a:rPr dirty="0" sz="1900" spc="-3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20">
                <a:solidFill>
                  <a:srgbClr val="082F50"/>
                </a:solidFill>
                <a:latin typeface="Lucida Sans Unicode"/>
                <a:cs typeface="Lucida Sans Unicode"/>
              </a:rPr>
              <a:t>of</a:t>
            </a:r>
            <a:r>
              <a:rPr dirty="0" sz="1900" spc="-3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10">
                <a:solidFill>
                  <a:srgbClr val="082F50"/>
                </a:solidFill>
                <a:latin typeface="Lucida Sans Unicode"/>
                <a:cs typeface="Lucida Sans Unicode"/>
              </a:rPr>
              <a:t>Machine</a:t>
            </a:r>
            <a:r>
              <a:rPr dirty="0" sz="1900" spc="-3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75">
                <a:solidFill>
                  <a:srgbClr val="082F50"/>
                </a:solidFill>
                <a:latin typeface="Lucida Sans Unicode"/>
                <a:cs typeface="Lucida Sans Unicode"/>
              </a:rPr>
              <a:t>Learning</a:t>
            </a:r>
            <a:endParaRPr sz="1900">
              <a:latin typeface="Lucida Sans Unicode"/>
              <a:cs typeface="Lucida Sans Unicode"/>
            </a:endParaRPr>
          </a:p>
          <a:p>
            <a:pPr marL="278130" indent="-265430">
              <a:lnSpc>
                <a:spcPct val="100000"/>
              </a:lnSpc>
              <a:spcBef>
                <a:spcPts val="525"/>
              </a:spcBef>
              <a:buChar char="•"/>
              <a:tabLst>
                <a:tab pos="278130" algn="l"/>
              </a:tabLst>
            </a:pPr>
            <a:r>
              <a:rPr dirty="0" sz="1900" spc="-140">
                <a:solidFill>
                  <a:srgbClr val="082F50"/>
                </a:solidFill>
                <a:latin typeface="Lucida Sans Unicode"/>
                <a:cs typeface="Lucida Sans Unicode"/>
              </a:rPr>
              <a:t>Deep</a:t>
            </a:r>
            <a:r>
              <a:rPr dirty="0" sz="1900" spc="-4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Lucida Sans Unicode"/>
                <a:cs typeface="Lucida Sans Unicode"/>
              </a:rPr>
              <a:t>Learning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33123" rIns="0" bIns="0" rtlCol="0" vert="horz">
            <a:spAutoFit/>
          </a:bodyPr>
          <a:lstStyle/>
          <a:p>
            <a:pPr marL="78740">
              <a:lnSpc>
                <a:spcPct val="100000"/>
              </a:lnSpc>
              <a:spcBef>
                <a:spcPts val="100"/>
              </a:spcBef>
            </a:pPr>
            <a:r>
              <a:rPr dirty="0" spc="-85"/>
              <a:t>CONTENTS</a:t>
            </a:r>
            <a:r>
              <a:rPr dirty="0" spc="-80"/>
              <a:t> </a:t>
            </a:r>
            <a:r>
              <a:rPr dirty="0" spc="-320"/>
              <a:t>&amp;</a:t>
            </a:r>
            <a:r>
              <a:rPr dirty="0" spc="-75"/>
              <a:t> </a:t>
            </a:r>
            <a:r>
              <a:rPr dirty="0" spc="-60"/>
              <a:t>STRUCTURE</a:t>
            </a: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00819" y="3288362"/>
            <a:ext cx="4113761" cy="20791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706" y="440467"/>
            <a:ext cx="8659499" cy="6640007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889183" y="4737435"/>
            <a:ext cx="2617470" cy="152971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735" rIns="0" bIns="0" rtlCol="0" vert="horz">
            <a:spAutoFit/>
          </a:bodyPr>
          <a:lstStyle/>
          <a:p>
            <a:pPr marL="94615" marR="132715">
              <a:lnSpc>
                <a:spcPct val="98700"/>
              </a:lnSpc>
              <a:spcBef>
                <a:spcPts val="305"/>
              </a:spcBef>
            </a:pPr>
            <a:r>
              <a:rPr dirty="0" sz="1900" spc="-20" b="1">
                <a:latin typeface="Arial"/>
                <a:cs typeface="Arial"/>
              </a:rPr>
              <a:t>Deep</a:t>
            </a:r>
            <a:r>
              <a:rPr dirty="0" sz="1900" spc="-75" b="1">
                <a:latin typeface="Arial"/>
                <a:cs typeface="Arial"/>
              </a:rPr>
              <a:t> </a:t>
            </a:r>
            <a:r>
              <a:rPr dirty="0" sz="1900" spc="-25" b="1">
                <a:latin typeface="Arial"/>
                <a:cs typeface="Arial"/>
              </a:rPr>
              <a:t>Learning</a:t>
            </a:r>
            <a:r>
              <a:rPr dirty="0" sz="1900" spc="-70" b="1">
                <a:latin typeface="Arial"/>
                <a:cs typeface="Arial"/>
              </a:rPr>
              <a:t> </a:t>
            </a:r>
            <a:r>
              <a:rPr dirty="0" sz="1900" spc="-20" b="1">
                <a:latin typeface="Arial"/>
                <a:cs typeface="Arial"/>
              </a:rPr>
              <a:t>(DL)</a:t>
            </a:r>
            <a:r>
              <a:rPr dirty="0" sz="1900" spc="-20">
                <a:latin typeface="Arial MT"/>
                <a:cs typeface="Arial MT"/>
              </a:rPr>
              <a:t>: </a:t>
            </a:r>
            <a:r>
              <a:rPr dirty="0" sz="1900">
                <a:latin typeface="Arial MT"/>
                <a:cs typeface="Arial MT"/>
              </a:rPr>
              <a:t>A</a:t>
            </a:r>
            <a:r>
              <a:rPr dirty="0" sz="1900" spc="-14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technique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to</a:t>
            </a:r>
            <a:r>
              <a:rPr dirty="0" sz="1900" spc="-5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perform </a:t>
            </a:r>
            <a:r>
              <a:rPr dirty="0" sz="1900" spc="-25">
                <a:latin typeface="Arial MT"/>
                <a:cs typeface="Arial MT"/>
              </a:rPr>
              <a:t>machine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learning </a:t>
            </a:r>
            <a:r>
              <a:rPr dirty="0" sz="1900" spc="-20">
                <a:latin typeface="Arial MT"/>
                <a:cs typeface="Arial MT"/>
              </a:rPr>
              <a:t>inspired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by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brain's </a:t>
            </a:r>
            <a:r>
              <a:rPr dirty="0" sz="1900" spc="-20">
                <a:latin typeface="Arial MT"/>
                <a:cs typeface="Arial MT"/>
              </a:rPr>
              <a:t>network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neurons.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210620" y="2924924"/>
            <a:ext cx="4284345" cy="12426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4290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270"/>
              </a:spcBef>
            </a:pPr>
            <a:r>
              <a:rPr dirty="0" sz="1900" spc="-25" b="1">
                <a:latin typeface="Arial"/>
                <a:cs typeface="Arial"/>
              </a:rPr>
              <a:t>Machine</a:t>
            </a:r>
            <a:r>
              <a:rPr dirty="0" sz="1900" spc="-75" b="1">
                <a:latin typeface="Arial"/>
                <a:cs typeface="Arial"/>
              </a:rPr>
              <a:t> </a:t>
            </a:r>
            <a:r>
              <a:rPr dirty="0" sz="1900" spc="-25" b="1">
                <a:latin typeface="Arial"/>
                <a:cs typeface="Arial"/>
              </a:rPr>
              <a:t>Learning</a:t>
            </a:r>
            <a:r>
              <a:rPr dirty="0" sz="1900" spc="-70" b="1">
                <a:latin typeface="Arial"/>
                <a:cs typeface="Arial"/>
              </a:rPr>
              <a:t> </a:t>
            </a:r>
            <a:r>
              <a:rPr dirty="0" sz="1900" spc="-20" b="1">
                <a:latin typeface="Arial"/>
                <a:cs typeface="Arial"/>
              </a:rPr>
              <a:t>(ML)</a:t>
            </a:r>
            <a:r>
              <a:rPr dirty="0" sz="1900" spc="-20">
                <a:latin typeface="Arial MT"/>
                <a:cs typeface="Arial MT"/>
              </a:rPr>
              <a:t>:</a:t>
            </a:r>
            <a:endParaRPr sz="1900">
              <a:latin typeface="Arial MT"/>
              <a:cs typeface="Arial MT"/>
            </a:endParaRPr>
          </a:p>
          <a:p>
            <a:pPr marL="93980" marR="263525">
              <a:lnSpc>
                <a:spcPct val="98900"/>
              </a:lnSpc>
              <a:spcBef>
                <a:spcPts val="45"/>
              </a:spcBef>
            </a:pPr>
            <a:r>
              <a:rPr dirty="0" sz="1900">
                <a:latin typeface="Arial MT"/>
                <a:cs typeface="Arial MT"/>
              </a:rPr>
              <a:t>A</a:t>
            </a:r>
            <a:r>
              <a:rPr dirty="0" sz="1900" spc="-14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technique</a:t>
            </a:r>
            <a:r>
              <a:rPr dirty="0" sz="1900" spc="-10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by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which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computer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can </a:t>
            </a:r>
            <a:r>
              <a:rPr dirty="0" sz="1900">
                <a:latin typeface="Arial MT"/>
                <a:cs typeface="Arial MT"/>
              </a:rPr>
              <a:t>use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statistical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patterns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inferred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from </a:t>
            </a:r>
            <a:r>
              <a:rPr dirty="0" sz="1900" spc="-25">
                <a:latin typeface="Arial MT"/>
                <a:cs typeface="Arial MT"/>
              </a:rPr>
              <a:t>observation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data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to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make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predictions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879291" y="1020302"/>
            <a:ext cx="4718685" cy="95631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3655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265"/>
              </a:spcBef>
            </a:pPr>
            <a:r>
              <a:rPr dirty="0" sz="1900" spc="-20" b="1">
                <a:latin typeface="Arial"/>
                <a:cs typeface="Arial"/>
              </a:rPr>
              <a:t>Artificial</a:t>
            </a:r>
            <a:r>
              <a:rPr dirty="0" sz="1900" spc="-45" b="1">
                <a:latin typeface="Arial"/>
                <a:cs typeface="Arial"/>
              </a:rPr>
              <a:t> </a:t>
            </a:r>
            <a:r>
              <a:rPr dirty="0" sz="1900" spc="-25" b="1">
                <a:latin typeface="Arial"/>
                <a:cs typeface="Arial"/>
              </a:rPr>
              <a:t>Intelligence</a:t>
            </a:r>
            <a:r>
              <a:rPr dirty="0" sz="1900" spc="-55" b="1">
                <a:latin typeface="Arial"/>
                <a:cs typeface="Arial"/>
              </a:rPr>
              <a:t> </a:t>
            </a:r>
            <a:r>
              <a:rPr dirty="0" sz="1900" spc="-20" b="1">
                <a:latin typeface="Arial"/>
                <a:cs typeface="Arial"/>
              </a:rPr>
              <a:t>(AI)</a:t>
            </a:r>
            <a:r>
              <a:rPr dirty="0" sz="1900" spc="-20">
                <a:latin typeface="Arial MT"/>
                <a:cs typeface="Arial MT"/>
              </a:rPr>
              <a:t>:</a:t>
            </a:r>
            <a:endParaRPr sz="1900">
              <a:latin typeface="Arial MT"/>
              <a:cs typeface="Arial MT"/>
            </a:endParaRPr>
          </a:p>
          <a:p>
            <a:pPr marL="93980" marR="96520">
              <a:lnSpc>
                <a:spcPts val="2210"/>
              </a:lnSpc>
              <a:spcBef>
                <a:spcPts val="155"/>
              </a:spcBef>
            </a:pPr>
            <a:r>
              <a:rPr dirty="0" sz="1900" spc="-25">
                <a:latin typeface="Arial MT"/>
                <a:cs typeface="Arial MT"/>
              </a:rPr>
              <a:t>Mimicking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intelligence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or</a:t>
            </a:r>
            <a:r>
              <a:rPr dirty="0" sz="1900" spc="-5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behavioural </a:t>
            </a:r>
            <a:r>
              <a:rPr dirty="0" sz="1900" spc="-20">
                <a:latin typeface="Arial MT"/>
                <a:cs typeface="Arial MT"/>
              </a:rPr>
              <a:t>pattern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humans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or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any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other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living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entity.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1116012"/>
            <a:ext cx="9461500" cy="53244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5656" y="735521"/>
            <a:ext cx="7848362" cy="60854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95800" y="2007473"/>
            <a:ext cx="7626984" cy="3226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7030" marR="5080" indent="-354965">
              <a:lnSpc>
                <a:spcPct val="100000"/>
              </a:lnSpc>
              <a:spcBef>
                <a:spcPts val="100"/>
              </a:spcBef>
              <a:buChar char="•"/>
              <a:tabLst>
                <a:tab pos="367030" algn="l"/>
              </a:tabLst>
            </a:pPr>
            <a:r>
              <a:rPr dirty="0" sz="2500">
                <a:latin typeface="Arial MT"/>
                <a:cs typeface="Arial MT"/>
              </a:rPr>
              <a:t>Artificial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intelligence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(AI)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wide-</a:t>
            </a:r>
            <a:r>
              <a:rPr dirty="0" sz="2500">
                <a:latin typeface="Arial MT"/>
                <a:cs typeface="Arial MT"/>
              </a:rPr>
              <a:t>ranging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branch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of </a:t>
            </a:r>
            <a:r>
              <a:rPr dirty="0" sz="2500">
                <a:latin typeface="Arial MT"/>
                <a:cs typeface="Arial MT"/>
              </a:rPr>
              <a:t>computer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science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concerned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with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building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smart </a:t>
            </a:r>
            <a:r>
              <a:rPr dirty="0" sz="2500">
                <a:latin typeface="Arial MT"/>
                <a:cs typeface="Arial MT"/>
              </a:rPr>
              <a:t>machines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capable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performing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tasks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that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typically </a:t>
            </a:r>
            <a:r>
              <a:rPr dirty="0" sz="2500">
                <a:latin typeface="Arial MT"/>
                <a:cs typeface="Arial MT"/>
              </a:rPr>
              <a:t>require</a:t>
            </a:r>
            <a:r>
              <a:rPr dirty="0" sz="2500" spc="-10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human</a:t>
            </a:r>
            <a:r>
              <a:rPr dirty="0" sz="2500" spc="-10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intelligence.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25"/>
              </a:spcBef>
              <a:buFont typeface="Arial MT"/>
              <a:buChar char="•"/>
            </a:pPr>
            <a:endParaRPr sz="2500">
              <a:latin typeface="Arial MT"/>
              <a:cs typeface="Arial MT"/>
            </a:endParaRPr>
          </a:p>
          <a:p>
            <a:pPr marL="367030" marR="10795" indent="-354965">
              <a:lnSpc>
                <a:spcPct val="100000"/>
              </a:lnSpc>
              <a:buChar char="•"/>
              <a:tabLst>
                <a:tab pos="367030" algn="l"/>
              </a:tabLst>
            </a:pP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science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making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things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smart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or,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other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words, </a:t>
            </a:r>
            <a:r>
              <a:rPr dirty="0" sz="2500">
                <a:latin typeface="Arial MT"/>
                <a:cs typeface="Arial MT"/>
              </a:rPr>
              <a:t>human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tasks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performed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by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machines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(e.g.,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visual </a:t>
            </a:r>
            <a:r>
              <a:rPr dirty="0" sz="2500">
                <a:latin typeface="Arial MT"/>
                <a:cs typeface="Arial MT"/>
              </a:rPr>
              <a:t>recognition,</a:t>
            </a:r>
            <a:r>
              <a:rPr dirty="0" sz="2500" spc="-13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understanding</a:t>
            </a:r>
            <a:r>
              <a:rPr dirty="0" sz="2500" spc="-13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speech,</a:t>
            </a:r>
            <a:r>
              <a:rPr dirty="0" sz="2500" spc="-13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etc.).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6099" rIns="0" bIns="0" rtlCol="0" vert="horz">
            <a:spAutoFit/>
          </a:bodyPr>
          <a:lstStyle/>
          <a:p>
            <a:pPr marL="1298575">
              <a:lnSpc>
                <a:spcPct val="100000"/>
              </a:lnSpc>
              <a:spcBef>
                <a:spcPts val="100"/>
              </a:spcBef>
            </a:pPr>
            <a:r>
              <a:rPr dirty="0" sz="3700" b="0">
                <a:solidFill>
                  <a:srgbClr val="000000"/>
                </a:solidFill>
                <a:latin typeface="Arial MT"/>
                <a:cs typeface="Arial MT"/>
              </a:rPr>
              <a:t>Artificial</a:t>
            </a:r>
            <a:r>
              <a:rPr dirty="0" sz="3700" spc="-4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700" b="0">
                <a:solidFill>
                  <a:srgbClr val="000000"/>
                </a:solidFill>
                <a:latin typeface="Arial MT"/>
                <a:cs typeface="Arial MT"/>
              </a:rPr>
              <a:t>Intelligence</a:t>
            </a:r>
            <a:r>
              <a:rPr dirty="0" sz="3700" spc="-2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700" spc="-20" b="0">
                <a:solidFill>
                  <a:srgbClr val="000000"/>
                </a:solidFill>
                <a:latin typeface="Arial MT"/>
                <a:cs typeface="Arial MT"/>
              </a:rPr>
              <a:t>(AI)</a:t>
            </a:r>
            <a:endParaRPr sz="3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68580" y="2092817"/>
            <a:ext cx="8075930" cy="4320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67030" marR="426084" indent="-354965">
              <a:lnSpc>
                <a:spcPct val="100000"/>
              </a:lnSpc>
              <a:spcBef>
                <a:spcPts val="100"/>
              </a:spcBef>
              <a:buChar char="•"/>
              <a:tabLst>
                <a:tab pos="367030" algn="l"/>
                <a:tab pos="368300" algn="l"/>
              </a:tabLst>
            </a:pPr>
            <a:r>
              <a:rPr dirty="0" sz="2500">
                <a:latin typeface="Arial MT"/>
                <a:cs typeface="Arial MT"/>
              </a:rPr>
              <a:t>	An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approach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(one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many)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AI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that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uses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system </a:t>
            </a:r>
            <a:r>
              <a:rPr dirty="0" sz="2500">
                <a:latin typeface="Arial MT"/>
                <a:cs typeface="Arial MT"/>
              </a:rPr>
              <a:t>that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capable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learning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from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experience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(typically </a:t>
            </a:r>
            <a:r>
              <a:rPr dirty="0" sz="2500">
                <a:latin typeface="Arial MT"/>
                <a:cs typeface="Arial MT"/>
              </a:rPr>
              <a:t>represented</a:t>
            </a:r>
            <a:r>
              <a:rPr dirty="0" sz="2500" spc="-10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by</a:t>
            </a:r>
            <a:r>
              <a:rPr dirty="0" sz="2500" spc="-10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data).</a:t>
            </a:r>
            <a:endParaRPr sz="2500">
              <a:latin typeface="Arial MT"/>
              <a:cs typeface="Arial MT"/>
            </a:endParaRPr>
          </a:p>
          <a:p>
            <a:pPr marL="367030" marR="5080" indent="-354965">
              <a:lnSpc>
                <a:spcPct val="100400"/>
              </a:lnSpc>
              <a:spcBef>
                <a:spcPts val="1285"/>
              </a:spcBef>
              <a:buChar char="•"/>
              <a:tabLst>
                <a:tab pos="367030" algn="l"/>
              </a:tabLst>
            </a:pPr>
            <a:r>
              <a:rPr dirty="0" sz="2500">
                <a:latin typeface="Arial MT"/>
                <a:cs typeface="Arial MT"/>
              </a:rPr>
              <a:t>It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intended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not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only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for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AI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goals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(e.g.,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copying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human </a:t>
            </a:r>
            <a:r>
              <a:rPr dirty="0" sz="2500">
                <a:latin typeface="Arial MT"/>
                <a:cs typeface="Arial MT"/>
              </a:rPr>
              <a:t>behavior)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but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it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can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also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reduce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efforts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and/or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time </a:t>
            </a:r>
            <a:r>
              <a:rPr dirty="0" sz="2500">
                <a:latin typeface="Arial MT"/>
                <a:cs typeface="Arial MT"/>
              </a:rPr>
              <a:t>spent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for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both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simple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difficult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tasks.</a:t>
            </a:r>
            <a:endParaRPr sz="2500">
              <a:latin typeface="Arial MT"/>
              <a:cs typeface="Arial MT"/>
            </a:endParaRPr>
          </a:p>
          <a:p>
            <a:pPr marL="367030" marR="440690" indent="-354965">
              <a:lnSpc>
                <a:spcPct val="100800"/>
              </a:lnSpc>
              <a:spcBef>
                <a:spcPts val="1150"/>
              </a:spcBef>
              <a:buChar char="•"/>
              <a:tabLst>
                <a:tab pos="367030" algn="l"/>
              </a:tabLst>
            </a:pPr>
            <a:r>
              <a:rPr dirty="0" sz="2500">
                <a:latin typeface="Arial MT"/>
                <a:cs typeface="Arial MT"/>
              </a:rPr>
              <a:t>ML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system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that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can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recognize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patterns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by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using </a:t>
            </a:r>
            <a:r>
              <a:rPr dirty="0" sz="2500">
                <a:latin typeface="Arial MT"/>
                <a:cs typeface="Arial MT"/>
              </a:rPr>
              <a:t>examples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rather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than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by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programming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them.</a:t>
            </a:r>
            <a:endParaRPr sz="2500">
              <a:latin typeface="Arial MT"/>
              <a:cs typeface="Arial MT"/>
            </a:endParaRPr>
          </a:p>
          <a:p>
            <a:pPr marL="367030" marR="1283970" indent="-354965">
              <a:lnSpc>
                <a:spcPct val="100000"/>
              </a:lnSpc>
              <a:spcBef>
                <a:spcPts val="1295"/>
              </a:spcBef>
              <a:buChar char="•"/>
              <a:tabLst>
                <a:tab pos="367030" algn="l"/>
              </a:tabLst>
            </a:pP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system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“learns”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patterns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data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using mathematical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statistical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analysis.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6099" rIns="0" bIns="0" rtlCol="0" vert="horz">
            <a:spAutoFit/>
          </a:bodyPr>
          <a:lstStyle/>
          <a:p>
            <a:pPr marL="1403350">
              <a:lnSpc>
                <a:spcPct val="100000"/>
              </a:lnSpc>
              <a:spcBef>
                <a:spcPts val="100"/>
              </a:spcBef>
            </a:pPr>
            <a:r>
              <a:rPr dirty="0" sz="3700" b="0">
                <a:solidFill>
                  <a:srgbClr val="000000"/>
                </a:solidFill>
                <a:latin typeface="Arial MT"/>
                <a:cs typeface="Arial MT"/>
              </a:rPr>
              <a:t>Machine</a:t>
            </a:r>
            <a:r>
              <a:rPr dirty="0" sz="3700" spc="-5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700" b="0">
                <a:solidFill>
                  <a:srgbClr val="000000"/>
                </a:solidFill>
                <a:latin typeface="Arial MT"/>
                <a:cs typeface="Arial MT"/>
              </a:rPr>
              <a:t>Learning</a:t>
            </a:r>
            <a:r>
              <a:rPr dirty="0" sz="3700" spc="-5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700" spc="-20" b="0">
                <a:solidFill>
                  <a:srgbClr val="000000"/>
                </a:solidFill>
                <a:latin typeface="Arial MT"/>
                <a:cs typeface="Arial MT"/>
              </a:rPr>
              <a:t>(ML)</a:t>
            </a:r>
            <a:endParaRPr sz="3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95800" y="2007473"/>
            <a:ext cx="8107045" cy="3390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7030" marR="135890" indent="-354965">
              <a:lnSpc>
                <a:spcPct val="100000"/>
              </a:lnSpc>
              <a:spcBef>
                <a:spcPts val="100"/>
              </a:spcBef>
              <a:buChar char="•"/>
              <a:tabLst>
                <a:tab pos="367030" algn="l"/>
              </a:tabLst>
            </a:pP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set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techniques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for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implementing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machine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learning </a:t>
            </a:r>
            <a:r>
              <a:rPr dirty="0" sz="2500">
                <a:latin typeface="Arial MT"/>
                <a:cs typeface="Arial MT"/>
              </a:rPr>
              <a:t>that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recognise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 b="1">
                <a:latin typeface="Arial"/>
                <a:cs typeface="Arial"/>
              </a:rPr>
              <a:t>patterns</a:t>
            </a:r>
            <a:r>
              <a:rPr dirty="0" sz="2500" spc="-85" b="1">
                <a:latin typeface="Arial"/>
                <a:cs typeface="Arial"/>
              </a:rPr>
              <a:t> </a:t>
            </a:r>
            <a:r>
              <a:rPr dirty="0" sz="2500" b="1">
                <a:latin typeface="Arial"/>
                <a:cs typeface="Arial"/>
              </a:rPr>
              <a:t>of</a:t>
            </a:r>
            <a:r>
              <a:rPr dirty="0" sz="2500" spc="-80" b="1">
                <a:latin typeface="Arial"/>
                <a:cs typeface="Arial"/>
              </a:rPr>
              <a:t> </a:t>
            </a:r>
            <a:r>
              <a:rPr dirty="0" sz="2500" spc="-10" b="1">
                <a:latin typeface="Arial"/>
                <a:cs typeface="Arial"/>
              </a:rPr>
              <a:t>patterns</a:t>
            </a:r>
            <a:r>
              <a:rPr dirty="0" sz="2500" spc="-10">
                <a:latin typeface="Arial MT"/>
                <a:cs typeface="Arial MT"/>
              </a:rPr>
              <a:t>.</a:t>
            </a:r>
            <a:endParaRPr sz="2500">
              <a:latin typeface="Arial MT"/>
              <a:cs typeface="Arial MT"/>
            </a:endParaRPr>
          </a:p>
          <a:p>
            <a:pPr marL="367030" marR="293370" indent="-354965">
              <a:lnSpc>
                <a:spcPct val="100000"/>
              </a:lnSpc>
              <a:spcBef>
                <a:spcPts val="1295"/>
              </a:spcBef>
              <a:buChar char="•"/>
              <a:tabLst>
                <a:tab pos="367030" algn="l"/>
              </a:tabLst>
            </a:pPr>
            <a:r>
              <a:rPr dirty="0" sz="2500">
                <a:latin typeface="Arial MT"/>
                <a:cs typeface="Arial MT"/>
              </a:rPr>
              <a:t>For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example,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image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recognition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systems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identify </a:t>
            </a:r>
            <a:r>
              <a:rPr dirty="0" sz="2500">
                <a:latin typeface="Arial MT"/>
                <a:cs typeface="Arial MT"/>
              </a:rPr>
              <a:t>primary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object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edges,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structure,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object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type,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and </a:t>
            </a:r>
            <a:r>
              <a:rPr dirty="0" sz="2500">
                <a:latin typeface="Arial MT"/>
                <a:cs typeface="Arial MT"/>
              </a:rPr>
              <a:t>then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object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itself.</a:t>
            </a:r>
            <a:endParaRPr sz="2500">
              <a:latin typeface="Arial MT"/>
              <a:cs typeface="Arial MT"/>
            </a:endParaRPr>
          </a:p>
          <a:p>
            <a:pPr marL="367030" marR="5080" indent="-354965">
              <a:lnSpc>
                <a:spcPct val="100000"/>
              </a:lnSpc>
              <a:spcBef>
                <a:spcPts val="1200"/>
              </a:spcBef>
              <a:buChar char="•"/>
              <a:tabLst>
                <a:tab pos="367030" algn="l"/>
              </a:tabLst>
            </a:pPr>
            <a:r>
              <a:rPr dirty="0" sz="2500">
                <a:latin typeface="Arial MT"/>
                <a:cs typeface="Arial MT"/>
              </a:rPr>
              <a:t>Deep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Learning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using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Deep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Neural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Networks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(DNNs), </a:t>
            </a:r>
            <a:r>
              <a:rPr dirty="0" sz="2500">
                <a:latin typeface="Arial MT"/>
                <a:cs typeface="Arial MT"/>
              </a:rPr>
              <a:t>which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come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many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forms.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DNNs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are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architecture, </a:t>
            </a:r>
            <a:r>
              <a:rPr dirty="0" sz="2500">
                <a:latin typeface="Arial MT"/>
                <a:cs typeface="Arial MT"/>
              </a:rPr>
              <a:t>not</a:t>
            </a:r>
            <a:r>
              <a:rPr dirty="0" sz="2500" spc="-3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</a:t>
            </a:r>
            <a:r>
              <a:rPr dirty="0" sz="2500" spc="-3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algorithm.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6099" rIns="0" bIns="0" rtlCol="0" vert="horz">
            <a:spAutoFit/>
          </a:bodyPr>
          <a:lstStyle/>
          <a:p>
            <a:pPr marL="1758314">
              <a:lnSpc>
                <a:spcPct val="100000"/>
              </a:lnSpc>
              <a:spcBef>
                <a:spcPts val="100"/>
              </a:spcBef>
            </a:pPr>
            <a:r>
              <a:rPr dirty="0" sz="3700" b="0">
                <a:solidFill>
                  <a:srgbClr val="000000"/>
                </a:solidFill>
                <a:latin typeface="Arial MT"/>
                <a:cs typeface="Arial MT"/>
              </a:rPr>
              <a:t>Deep</a:t>
            </a:r>
            <a:r>
              <a:rPr dirty="0" sz="3700" spc="-5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700" b="0">
                <a:solidFill>
                  <a:srgbClr val="000000"/>
                </a:solidFill>
                <a:latin typeface="Arial MT"/>
                <a:cs typeface="Arial MT"/>
              </a:rPr>
              <a:t>Learning</a:t>
            </a:r>
            <a:r>
              <a:rPr dirty="0" sz="3700" spc="-5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700" spc="-20" b="0">
                <a:solidFill>
                  <a:srgbClr val="000000"/>
                </a:solidFill>
                <a:latin typeface="Arial MT"/>
                <a:cs typeface="Arial MT"/>
              </a:rPr>
              <a:t>(DL)</a:t>
            </a:r>
            <a:endParaRPr sz="3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19233" y="1888601"/>
            <a:ext cx="5354320" cy="3991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4300" marR="508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main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mathematical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tools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used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by </a:t>
            </a:r>
            <a:r>
              <a:rPr dirty="0" sz="2500">
                <a:latin typeface="Arial MT"/>
                <a:cs typeface="Arial MT"/>
              </a:rPr>
              <a:t>all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ML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algorithms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are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blend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of: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25"/>
              </a:spcBef>
            </a:pPr>
            <a:endParaRPr sz="2500">
              <a:latin typeface="Arial MT"/>
              <a:cs typeface="Arial MT"/>
            </a:endParaRPr>
          </a:p>
          <a:p>
            <a:pPr marL="367030" indent="-354330">
              <a:lnSpc>
                <a:spcPct val="100000"/>
              </a:lnSpc>
              <a:buChar char="•"/>
              <a:tabLst>
                <a:tab pos="367030" algn="l"/>
              </a:tabLst>
            </a:pPr>
            <a:r>
              <a:rPr dirty="0" sz="2500">
                <a:latin typeface="Arial MT"/>
                <a:cs typeface="Arial MT"/>
              </a:rPr>
              <a:t>Linear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algebra</a:t>
            </a:r>
            <a:endParaRPr sz="2500">
              <a:latin typeface="Arial MT"/>
              <a:cs typeface="Arial MT"/>
            </a:endParaRPr>
          </a:p>
          <a:p>
            <a:pPr marL="367030" indent="-354330">
              <a:lnSpc>
                <a:spcPct val="100000"/>
              </a:lnSpc>
              <a:spcBef>
                <a:spcPts val="600"/>
              </a:spcBef>
              <a:buChar char="•"/>
              <a:tabLst>
                <a:tab pos="367030" algn="l"/>
              </a:tabLst>
            </a:pPr>
            <a:r>
              <a:rPr dirty="0" sz="2500">
                <a:latin typeface="Arial MT"/>
                <a:cs typeface="Arial MT"/>
              </a:rPr>
              <a:t>Analytic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geometry</a:t>
            </a:r>
            <a:endParaRPr sz="2500">
              <a:latin typeface="Arial MT"/>
              <a:cs typeface="Arial MT"/>
            </a:endParaRPr>
          </a:p>
          <a:p>
            <a:pPr marL="367030" indent="-354330">
              <a:lnSpc>
                <a:spcPct val="100000"/>
              </a:lnSpc>
              <a:spcBef>
                <a:spcPts val="625"/>
              </a:spcBef>
              <a:buChar char="•"/>
              <a:tabLst>
                <a:tab pos="367030" algn="l"/>
              </a:tabLst>
            </a:pPr>
            <a:r>
              <a:rPr dirty="0" sz="2500">
                <a:latin typeface="Arial MT"/>
                <a:cs typeface="Arial MT"/>
              </a:rPr>
              <a:t>Matrix</a:t>
            </a:r>
            <a:r>
              <a:rPr dirty="0" sz="2500" spc="-12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decompositions</a:t>
            </a:r>
            <a:endParaRPr sz="2500">
              <a:latin typeface="Arial MT"/>
              <a:cs typeface="Arial MT"/>
            </a:endParaRPr>
          </a:p>
          <a:p>
            <a:pPr marL="367030" indent="-354330">
              <a:lnSpc>
                <a:spcPct val="100000"/>
              </a:lnSpc>
              <a:spcBef>
                <a:spcPts val="600"/>
              </a:spcBef>
              <a:buChar char="•"/>
              <a:tabLst>
                <a:tab pos="367030" algn="l"/>
              </a:tabLst>
            </a:pPr>
            <a:r>
              <a:rPr dirty="0" sz="2500">
                <a:latin typeface="Arial MT"/>
                <a:cs typeface="Arial MT"/>
              </a:rPr>
              <a:t>Vector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calculations</a:t>
            </a:r>
            <a:endParaRPr sz="2500">
              <a:latin typeface="Arial MT"/>
              <a:cs typeface="Arial MT"/>
            </a:endParaRPr>
          </a:p>
          <a:p>
            <a:pPr marL="367030" indent="-354330">
              <a:lnSpc>
                <a:spcPct val="100000"/>
              </a:lnSpc>
              <a:spcBef>
                <a:spcPts val="600"/>
              </a:spcBef>
              <a:buChar char="•"/>
              <a:tabLst>
                <a:tab pos="367030" algn="l"/>
              </a:tabLst>
            </a:pPr>
            <a:r>
              <a:rPr dirty="0" sz="2500" spc="-10">
                <a:latin typeface="Arial MT"/>
                <a:cs typeface="Arial MT"/>
              </a:rPr>
              <a:t>Optimisation</a:t>
            </a:r>
            <a:endParaRPr sz="2500">
              <a:latin typeface="Arial MT"/>
              <a:cs typeface="Arial MT"/>
            </a:endParaRPr>
          </a:p>
          <a:p>
            <a:pPr marL="367030" indent="-354330">
              <a:lnSpc>
                <a:spcPct val="100000"/>
              </a:lnSpc>
              <a:spcBef>
                <a:spcPts val="600"/>
              </a:spcBef>
              <a:buChar char="•"/>
              <a:tabLst>
                <a:tab pos="367030" algn="l"/>
              </a:tabLst>
            </a:pPr>
            <a:r>
              <a:rPr dirty="0" sz="2500" spc="-10">
                <a:latin typeface="Arial MT"/>
                <a:cs typeface="Arial MT"/>
              </a:rPr>
              <a:t>Probability/Statistics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6099" rIns="0" bIns="0" rtlCol="0" vert="horz">
            <a:spAutoFit/>
          </a:bodyPr>
          <a:lstStyle/>
          <a:p>
            <a:pPr marL="140335">
              <a:lnSpc>
                <a:spcPct val="100000"/>
              </a:lnSpc>
              <a:spcBef>
                <a:spcPts val="100"/>
              </a:spcBef>
            </a:pPr>
            <a:r>
              <a:rPr dirty="0" sz="3700" b="0">
                <a:solidFill>
                  <a:srgbClr val="000000"/>
                </a:solidFill>
                <a:latin typeface="Arial MT"/>
                <a:cs typeface="Arial MT"/>
              </a:rPr>
              <a:t>ML</a:t>
            </a:r>
            <a:r>
              <a:rPr dirty="0" sz="3700" spc="-2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700" spc="-10" b="0">
                <a:solidFill>
                  <a:srgbClr val="000000"/>
                </a:solidFill>
                <a:latin typeface="Arial MT"/>
                <a:cs typeface="Arial MT"/>
              </a:rPr>
              <a:t>Algorithms</a:t>
            </a:r>
            <a:endParaRPr sz="37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5106" y="2737806"/>
            <a:ext cx="4333023" cy="39755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8634" rIns="0" bIns="0" rtlCol="0" vert="horz">
            <a:spAutoFit/>
          </a:bodyPr>
          <a:lstStyle/>
          <a:p>
            <a:pPr marL="625475">
              <a:lnSpc>
                <a:spcPct val="100000"/>
              </a:lnSpc>
              <a:spcBef>
                <a:spcPts val="100"/>
              </a:spcBef>
            </a:pPr>
            <a:r>
              <a:rPr dirty="0" sz="3300" b="0">
                <a:solidFill>
                  <a:srgbClr val="000000"/>
                </a:solidFill>
                <a:latin typeface="Arial MT"/>
                <a:cs typeface="Arial MT"/>
              </a:rPr>
              <a:t>Difference</a:t>
            </a:r>
            <a:r>
              <a:rPr dirty="0" sz="3300" spc="-7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300" b="0">
                <a:solidFill>
                  <a:srgbClr val="000000"/>
                </a:solidFill>
                <a:latin typeface="Arial MT"/>
                <a:cs typeface="Arial MT"/>
              </a:rPr>
              <a:t>between</a:t>
            </a:r>
            <a:r>
              <a:rPr dirty="0" sz="3300" spc="-7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300" b="0">
                <a:solidFill>
                  <a:srgbClr val="000000"/>
                </a:solidFill>
                <a:latin typeface="Arial MT"/>
                <a:cs typeface="Arial MT"/>
              </a:rPr>
              <a:t>AI,</a:t>
            </a:r>
            <a:r>
              <a:rPr dirty="0" sz="3300" spc="-7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300" b="0">
                <a:solidFill>
                  <a:srgbClr val="000000"/>
                </a:solidFill>
                <a:latin typeface="Arial MT"/>
                <a:cs typeface="Arial MT"/>
              </a:rPr>
              <a:t>ML</a:t>
            </a:r>
            <a:r>
              <a:rPr dirty="0" sz="3300" spc="-7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300" b="0">
                <a:solidFill>
                  <a:srgbClr val="000000"/>
                </a:solidFill>
                <a:latin typeface="Arial MT"/>
                <a:cs typeface="Arial MT"/>
              </a:rPr>
              <a:t>and</a:t>
            </a:r>
            <a:r>
              <a:rPr dirty="0" sz="3300" spc="-7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300" spc="-25" b="0">
                <a:solidFill>
                  <a:srgbClr val="000000"/>
                </a:solidFill>
                <a:latin typeface="Arial MT"/>
                <a:cs typeface="Arial MT"/>
              </a:rPr>
              <a:t>DL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94157" y="6488067"/>
            <a:ext cx="5170170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900" spc="-3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https://</a:t>
            </a:r>
            <a:r>
              <a:rPr dirty="0" u="heavy" sz="1900" spc="-3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www.youtube.com/watch?v=vNc2z2u_nh0</a:t>
            </a:r>
            <a:endParaRPr sz="19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4429" y="1568555"/>
            <a:ext cx="8294319" cy="46883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1715" rIns="0" bIns="0" rtlCol="0" vert="horz">
            <a:spAutoFit/>
          </a:bodyPr>
          <a:lstStyle/>
          <a:p>
            <a:pPr marL="1122045">
              <a:lnSpc>
                <a:spcPct val="100000"/>
              </a:lnSpc>
              <a:spcBef>
                <a:spcPts val="100"/>
              </a:spcBef>
            </a:pPr>
            <a:r>
              <a:rPr dirty="0" sz="3700" b="0">
                <a:solidFill>
                  <a:srgbClr val="0D0D0D"/>
                </a:solidFill>
                <a:latin typeface="Arial MT"/>
                <a:cs typeface="Arial MT"/>
              </a:rPr>
              <a:t>Types</a:t>
            </a:r>
            <a:r>
              <a:rPr dirty="0" sz="3700" spc="-85" b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3700" b="0">
                <a:solidFill>
                  <a:srgbClr val="0D0D0D"/>
                </a:solidFill>
                <a:latin typeface="Arial MT"/>
                <a:cs typeface="Arial MT"/>
              </a:rPr>
              <a:t>of</a:t>
            </a:r>
            <a:r>
              <a:rPr dirty="0" sz="3700" spc="-95" b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3700" b="0">
                <a:solidFill>
                  <a:srgbClr val="0D0D0D"/>
                </a:solidFill>
                <a:latin typeface="Arial MT"/>
                <a:cs typeface="Arial MT"/>
              </a:rPr>
              <a:t>Machine</a:t>
            </a:r>
            <a:r>
              <a:rPr dirty="0" sz="3700" spc="-80" b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3700" spc="-10" b="0">
                <a:solidFill>
                  <a:srgbClr val="0D0D0D"/>
                </a:solidFill>
                <a:latin typeface="Arial MT"/>
                <a:cs typeface="Arial MT"/>
              </a:rPr>
              <a:t>Learning</a:t>
            </a:r>
            <a:endParaRPr sz="37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75946" y="1821545"/>
            <a:ext cx="7979409" cy="7880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7030" marR="5080" indent="-354965">
              <a:lnSpc>
                <a:spcPct val="100000"/>
              </a:lnSpc>
              <a:spcBef>
                <a:spcPts val="100"/>
              </a:spcBef>
              <a:buChar char="•"/>
              <a:tabLst>
                <a:tab pos="367030" algn="l"/>
              </a:tabLst>
            </a:pPr>
            <a:r>
              <a:rPr dirty="0" sz="2500">
                <a:latin typeface="Arial MT"/>
                <a:cs typeface="Arial MT"/>
              </a:rPr>
              <a:t>Machine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learning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ability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machine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improve </a:t>
            </a:r>
            <a:r>
              <a:rPr dirty="0" sz="2500">
                <a:latin typeface="Arial MT"/>
                <a:cs typeface="Arial MT"/>
              </a:rPr>
              <a:t>its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performance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based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on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previous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results.</a:t>
            </a:r>
            <a:endParaRPr sz="25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1925" y="2956776"/>
            <a:ext cx="8019562" cy="38528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6812" y="519980"/>
            <a:ext cx="5703570" cy="5899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00" b="0">
                <a:solidFill>
                  <a:srgbClr val="0D0D0D"/>
                </a:solidFill>
                <a:latin typeface="Arial MT"/>
                <a:cs typeface="Arial MT"/>
              </a:rPr>
              <a:t>Types</a:t>
            </a:r>
            <a:r>
              <a:rPr dirty="0" sz="3700" spc="-85" b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3700" b="0">
                <a:solidFill>
                  <a:srgbClr val="0D0D0D"/>
                </a:solidFill>
                <a:latin typeface="Arial MT"/>
                <a:cs typeface="Arial MT"/>
              </a:rPr>
              <a:t>of</a:t>
            </a:r>
            <a:r>
              <a:rPr dirty="0" sz="3700" spc="-95" b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3700" b="0">
                <a:solidFill>
                  <a:srgbClr val="0D0D0D"/>
                </a:solidFill>
                <a:latin typeface="Arial MT"/>
                <a:cs typeface="Arial MT"/>
              </a:rPr>
              <a:t>Machine</a:t>
            </a:r>
            <a:r>
              <a:rPr dirty="0" sz="3700" spc="-80" b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3700" spc="-10" b="0">
                <a:solidFill>
                  <a:srgbClr val="0D0D0D"/>
                </a:solidFill>
                <a:latin typeface="Arial MT"/>
                <a:cs typeface="Arial MT"/>
              </a:rPr>
              <a:t>Learning</a:t>
            </a:r>
            <a:endParaRPr sz="37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33801" y="1445648"/>
            <a:ext cx="8736330" cy="5277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89865" marR="19050" indent="-177800">
              <a:lnSpc>
                <a:spcPct val="99500"/>
              </a:lnSpc>
              <a:spcBef>
                <a:spcPts val="110"/>
              </a:spcBef>
              <a:buChar char="–"/>
              <a:tabLst>
                <a:tab pos="189865" algn="l"/>
                <a:tab pos="307975" algn="l"/>
              </a:tabLst>
            </a:pPr>
            <a:r>
              <a:rPr dirty="0" sz="2100">
                <a:solidFill>
                  <a:srgbClr val="00B050"/>
                </a:solidFill>
                <a:latin typeface="Arial MT"/>
                <a:cs typeface="Arial MT"/>
              </a:rPr>
              <a:t>	</a:t>
            </a:r>
            <a:r>
              <a:rPr dirty="0" sz="2100" spc="-10" b="1">
                <a:solidFill>
                  <a:srgbClr val="00B050"/>
                </a:solidFill>
                <a:latin typeface="Arial"/>
                <a:cs typeface="Arial"/>
              </a:rPr>
              <a:t>Supervised</a:t>
            </a:r>
            <a:r>
              <a:rPr dirty="0" sz="2100" spc="-95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00B050"/>
                </a:solidFill>
                <a:latin typeface="Arial"/>
                <a:cs typeface="Arial"/>
              </a:rPr>
              <a:t>learning:</a:t>
            </a:r>
            <a:r>
              <a:rPr dirty="0" sz="2100" spc="-9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computer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presented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with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example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inputs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their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desired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outputs,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i.e.,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070C0"/>
                </a:solidFill>
                <a:latin typeface="Arial MT"/>
                <a:cs typeface="Arial MT"/>
              </a:rPr>
              <a:t>labelled</a:t>
            </a:r>
            <a:r>
              <a:rPr dirty="0" sz="2100" spc="-95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070C0"/>
                </a:solidFill>
                <a:latin typeface="Arial MT"/>
                <a:cs typeface="Arial MT"/>
              </a:rPr>
              <a:t>data</a:t>
            </a:r>
            <a:r>
              <a:rPr dirty="0" sz="2100">
                <a:latin typeface="Arial MT"/>
                <a:cs typeface="Arial MT"/>
              </a:rPr>
              <a:t>,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given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by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"teacher",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the </a:t>
            </a:r>
            <a:r>
              <a:rPr dirty="0" sz="2100">
                <a:latin typeface="Arial MT"/>
                <a:cs typeface="Arial MT"/>
              </a:rPr>
              <a:t>goal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learn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general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rule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that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maps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inputs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outputs.</a:t>
            </a:r>
            <a:endParaRPr sz="2100">
              <a:latin typeface="Arial MT"/>
              <a:cs typeface="Arial MT"/>
            </a:endParaRPr>
          </a:p>
          <a:p>
            <a:pPr lvl="1" marL="603885" indent="-236854">
              <a:lnSpc>
                <a:spcPts val="2495"/>
              </a:lnSpc>
              <a:buChar char="•"/>
              <a:tabLst>
                <a:tab pos="603885" algn="l"/>
              </a:tabLst>
            </a:pPr>
            <a:r>
              <a:rPr dirty="0" sz="2100">
                <a:latin typeface="Arial MT"/>
                <a:cs typeface="Arial MT"/>
              </a:rPr>
              <a:t>e.g.,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learn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recognise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cars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by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images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cars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35">
                <a:latin typeface="Arial MT"/>
                <a:cs typeface="Arial MT"/>
              </a:rPr>
              <a:t>non-</a:t>
            </a:r>
            <a:r>
              <a:rPr dirty="0" sz="2100" spc="-10">
                <a:latin typeface="Arial MT"/>
                <a:cs typeface="Arial MT"/>
              </a:rPr>
              <a:t>cars.</a:t>
            </a:r>
            <a:endParaRPr sz="2100">
              <a:latin typeface="Arial MT"/>
              <a:cs typeface="Arial MT"/>
            </a:endParaRPr>
          </a:p>
          <a:p>
            <a:pPr marL="189865" marR="5080" indent="-177800">
              <a:lnSpc>
                <a:spcPct val="99400"/>
              </a:lnSpc>
              <a:spcBef>
                <a:spcPts val="1889"/>
              </a:spcBef>
              <a:buChar char="–"/>
              <a:tabLst>
                <a:tab pos="189865" algn="l"/>
                <a:tab pos="307975" algn="l"/>
              </a:tabLst>
            </a:pPr>
            <a:r>
              <a:rPr dirty="0" sz="2100">
                <a:solidFill>
                  <a:srgbClr val="00B050"/>
                </a:solidFill>
                <a:latin typeface="Arial MT"/>
                <a:cs typeface="Arial MT"/>
              </a:rPr>
              <a:t>	</a:t>
            </a:r>
            <a:r>
              <a:rPr dirty="0" sz="2100" spc="-10" b="1">
                <a:solidFill>
                  <a:srgbClr val="00B050"/>
                </a:solidFill>
                <a:latin typeface="Arial"/>
                <a:cs typeface="Arial"/>
              </a:rPr>
              <a:t>Unsupervised</a:t>
            </a:r>
            <a:r>
              <a:rPr dirty="0" sz="2100" spc="-85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100" spc="-20" b="1">
                <a:solidFill>
                  <a:srgbClr val="00B050"/>
                </a:solidFill>
                <a:latin typeface="Arial"/>
                <a:cs typeface="Arial"/>
              </a:rPr>
              <a:t>learning:</a:t>
            </a:r>
            <a:r>
              <a:rPr dirty="0" sz="2100" spc="-95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100">
                <a:latin typeface="Arial MT"/>
                <a:cs typeface="Arial MT"/>
              </a:rPr>
              <a:t>no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labels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are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given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learning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algorithm </a:t>
            </a:r>
            <a:r>
              <a:rPr dirty="0" sz="2100">
                <a:latin typeface="Arial MT"/>
                <a:cs typeface="Arial MT"/>
              </a:rPr>
              <a:t>(i.e.,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0070C0"/>
                </a:solidFill>
                <a:latin typeface="Arial MT"/>
                <a:cs typeface="Arial MT"/>
              </a:rPr>
              <a:t>unlabelled</a:t>
            </a:r>
            <a:r>
              <a:rPr dirty="0" sz="2100" spc="-85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070C0"/>
                </a:solidFill>
                <a:latin typeface="Arial MT"/>
                <a:cs typeface="Arial MT"/>
              </a:rPr>
              <a:t>data</a:t>
            </a:r>
            <a:r>
              <a:rPr dirty="0" sz="2100">
                <a:latin typeface="Arial MT"/>
                <a:cs typeface="Arial MT"/>
              </a:rPr>
              <a:t>),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leaving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it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its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own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find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structure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its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input. Unsupervised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learning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can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goal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itself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(discovering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hidden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patterns </a:t>
            </a:r>
            <a:r>
              <a:rPr dirty="0" sz="2100">
                <a:latin typeface="Arial MT"/>
                <a:cs typeface="Arial MT"/>
              </a:rPr>
              <a:t>in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data)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or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means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towards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end.</a:t>
            </a:r>
            <a:endParaRPr sz="2100">
              <a:latin typeface="Arial MT"/>
              <a:cs typeface="Arial MT"/>
            </a:endParaRPr>
          </a:p>
          <a:p>
            <a:pPr lvl="1" marL="603885" indent="-236854">
              <a:lnSpc>
                <a:spcPts val="2495"/>
              </a:lnSpc>
              <a:buChar char="•"/>
              <a:tabLst>
                <a:tab pos="603885" algn="l"/>
              </a:tabLst>
            </a:pPr>
            <a:r>
              <a:rPr dirty="0" sz="2100">
                <a:latin typeface="Arial MT"/>
                <a:cs typeface="Arial MT"/>
              </a:rPr>
              <a:t>e.g.,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group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toys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given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colour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or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shape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from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Lego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set.</a:t>
            </a:r>
            <a:endParaRPr sz="2100">
              <a:latin typeface="Arial MT"/>
              <a:cs typeface="Arial MT"/>
            </a:endParaRPr>
          </a:p>
          <a:p>
            <a:pPr marL="189865" marR="62230" indent="-177800">
              <a:lnSpc>
                <a:spcPct val="99300"/>
              </a:lnSpc>
              <a:spcBef>
                <a:spcPts val="1889"/>
              </a:spcBef>
              <a:buChar char="–"/>
              <a:tabLst>
                <a:tab pos="189865" algn="l"/>
                <a:tab pos="307975" algn="l"/>
              </a:tabLst>
            </a:pPr>
            <a:r>
              <a:rPr dirty="0" sz="2100">
                <a:solidFill>
                  <a:srgbClr val="00B050"/>
                </a:solidFill>
                <a:latin typeface="Arial MT"/>
                <a:cs typeface="Arial MT"/>
              </a:rPr>
              <a:t>	</a:t>
            </a:r>
            <a:r>
              <a:rPr dirty="0" sz="2100" spc="-20" b="1">
                <a:solidFill>
                  <a:srgbClr val="00B050"/>
                </a:solidFill>
                <a:latin typeface="Arial"/>
                <a:cs typeface="Arial"/>
              </a:rPr>
              <a:t>Reinforcement</a:t>
            </a:r>
            <a:r>
              <a:rPr dirty="0" sz="2100" spc="-8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00B050"/>
                </a:solidFill>
                <a:latin typeface="Arial"/>
                <a:cs typeface="Arial"/>
              </a:rPr>
              <a:t>learning:</a:t>
            </a:r>
            <a:r>
              <a:rPr dirty="0" sz="2100" spc="-7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computer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program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interacts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with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dynamic environment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which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it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must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perform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certain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goal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(such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driving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50">
                <a:latin typeface="Arial MT"/>
                <a:cs typeface="Arial MT"/>
              </a:rPr>
              <a:t>a </a:t>
            </a:r>
            <a:r>
              <a:rPr dirty="0" sz="2100" spc="-10">
                <a:latin typeface="Arial MT"/>
                <a:cs typeface="Arial MT"/>
              </a:rPr>
              <a:t>vehicle),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without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teacher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explicitly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telling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whether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it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has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come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close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to </a:t>
            </a:r>
            <a:r>
              <a:rPr dirty="0" sz="2100">
                <a:latin typeface="Arial MT"/>
                <a:cs typeface="Arial MT"/>
              </a:rPr>
              <a:t>its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goal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or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not,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i.e.,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continuous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0070C0"/>
                </a:solidFill>
                <a:latin typeface="Arial MT"/>
                <a:cs typeface="Arial MT"/>
              </a:rPr>
              <a:t>reweighting</a:t>
            </a:r>
            <a:r>
              <a:rPr dirty="0" sz="2100" spc="-95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decision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elements </a:t>
            </a:r>
            <a:r>
              <a:rPr dirty="0" sz="2100">
                <a:latin typeface="Arial MT"/>
                <a:cs typeface="Arial MT"/>
              </a:rPr>
              <a:t>after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series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decisions.</a:t>
            </a:r>
            <a:endParaRPr sz="2100">
              <a:latin typeface="Arial MT"/>
              <a:cs typeface="Arial MT"/>
            </a:endParaRPr>
          </a:p>
          <a:p>
            <a:pPr lvl="1" marL="675640" indent="-308610">
              <a:lnSpc>
                <a:spcPct val="100000"/>
              </a:lnSpc>
              <a:buChar char="•"/>
              <a:tabLst>
                <a:tab pos="675640" algn="l"/>
              </a:tabLst>
            </a:pPr>
            <a:r>
              <a:rPr dirty="0" sz="2100">
                <a:latin typeface="Arial MT"/>
                <a:cs typeface="Arial MT"/>
              </a:rPr>
              <a:t>e.g.,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learn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play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tennis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/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table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tennis.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4827" rIns="0" bIns="0" rtlCol="0" vert="horz">
            <a:spAutoFit/>
          </a:bodyPr>
          <a:lstStyle/>
          <a:p>
            <a:pPr marL="1338580">
              <a:lnSpc>
                <a:spcPct val="100000"/>
              </a:lnSpc>
              <a:spcBef>
                <a:spcPts val="100"/>
              </a:spcBef>
            </a:pPr>
            <a:r>
              <a:rPr dirty="0" sz="3700" b="0">
                <a:solidFill>
                  <a:srgbClr val="0D0D0D"/>
                </a:solidFill>
                <a:latin typeface="Arial MT"/>
                <a:cs typeface="Arial MT"/>
              </a:rPr>
              <a:t>Types</a:t>
            </a:r>
            <a:r>
              <a:rPr dirty="0" sz="3700" spc="-85" b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3700" b="0">
                <a:solidFill>
                  <a:srgbClr val="0D0D0D"/>
                </a:solidFill>
                <a:latin typeface="Arial MT"/>
                <a:cs typeface="Arial MT"/>
              </a:rPr>
              <a:t>of</a:t>
            </a:r>
            <a:r>
              <a:rPr dirty="0" sz="3700" spc="-95" b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3700" b="0">
                <a:solidFill>
                  <a:srgbClr val="0D0D0D"/>
                </a:solidFill>
                <a:latin typeface="Arial MT"/>
                <a:cs typeface="Arial MT"/>
              </a:rPr>
              <a:t>Machine</a:t>
            </a:r>
            <a:r>
              <a:rPr dirty="0" sz="3700" spc="-80" b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3700" spc="-10" b="0">
                <a:solidFill>
                  <a:srgbClr val="0D0D0D"/>
                </a:solidFill>
                <a:latin typeface="Arial MT"/>
                <a:cs typeface="Arial MT"/>
              </a:rPr>
              <a:t>Learning</a:t>
            </a:r>
            <a:endParaRPr sz="37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9832" y="1335647"/>
            <a:ext cx="8643577" cy="488520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117282" y="6387483"/>
            <a:ext cx="6071870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900" spc="-3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https://</a:t>
            </a:r>
            <a:r>
              <a:rPr dirty="0" u="heavy" sz="1900" spc="-3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3"/>
              </a:rPr>
              <a:t>www.youtube.com/watch?v=1FZ0A1QCMWc&amp;t=1s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707" rIns="0" bIns="0" rtlCol="0" vert="horz">
            <a:spAutoFit/>
          </a:bodyPr>
          <a:lstStyle/>
          <a:p>
            <a:pPr marL="2191385">
              <a:lnSpc>
                <a:spcPct val="100000"/>
              </a:lnSpc>
              <a:spcBef>
                <a:spcPts val="100"/>
              </a:spcBef>
            </a:pPr>
            <a:r>
              <a:rPr dirty="0" sz="3700" b="0">
                <a:solidFill>
                  <a:srgbClr val="0D0D0D"/>
                </a:solidFill>
                <a:latin typeface="Arial MT"/>
                <a:cs typeface="Arial MT"/>
              </a:rPr>
              <a:t>Machine</a:t>
            </a:r>
            <a:r>
              <a:rPr dirty="0" sz="3700" spc="-45" b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3700" spc="-10" b="0">
                <a:solidFill>
                  <a:srgbClr val="0D0D0D"/>
                </a:solidFill>
                <a:latin typeface="Arial MT"/>
                <a:cs typeface="Arial MT"/>
              </a:rPr>
              <a:t>Learning</a:t>
            </a:r>
            <a:endParaRPr sz="370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280494" y="1176189"/>
            <a:ext cx="7870825" cy="5730240"/>
            <a:chOff x="1280494" y="1176189"/>
            <a:chExt cx="7870825" cy="573024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0494" y="1292552"/>
              <a:ext cx="7844455" cy="5613711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5059324" y="1202477"/>
              <a:ext cx="4065904" cy="3555365"/>
            </a:xfrm>
            <a:custGeom>
              <a:avLst/>
              <a:gdLst/>
              <a:ahLst/>
              <a:cxnLst/>
              <a:rect l="l" t="t" r="r" b="b"/>
              <a:pathLst>
                <a:path w="4065904" h="3555365">
                  <a:moveTo>
                    <a:pt x="0" y="592471"/>
                  </a:moveTo>
                  <a:lnTo>
                    <a:pt x="1963" y="543879"/>
                  </a:lnTo>
                  <a:lnTo>
                    <a:pt x="7750" y="496369"/>
                  </a:lnTo>
                  <a:lnTo>
                    <a:pt x="17211" y="450093"/>
                  </a:lnTo>
                  <a:lnTo>
                    <a:pt x="30191" y="405204"/>
                  </a:lnTo>
                  <a:lnTo>
                    <a:pt x="46538" y="361854"/>
                  </a:lnTo>
                  <a:lnTo>
                    <a:pt x="66100" y="320196"/>
                  </a:lnTo>
                  <a:lnTo>
                    <a:pt x="88726" y="280382"/>
                  </a:lnTo>
                  <a:lnTo>
                    <a:pt x="114261" y="242565"/>
                  </a:lnTo>
                  <a:lnTo>
                    <a:pt x="142554" y="206897"/>
                  </a:lnTo>
                  <a:lnTo>
                    <a:pt x="173453" y="173530"/>
                  </a:lnTo>
                  <a:lnTo>
                    <a:pt x="206804" y="142618"/>
                  </a:lnTo>
                  <a:lnTo>
                    <a:pt x="242456" y="114312"/>
                  </a:lnTo>
                  <a:lnTo>
                    <a:pt x="280256" y="88765"/>
                  </a:lnTo>
                  <a:lnTo>
                    <a:pt x="320053" y="66130"/>
                  </a:lnTo>
                  <a:lnTo>
                    <a:pt x="361692" y="46559"/>
                  </a:lnTo>
                  <a:lnTo>
                    <a:pt x="405022" y="30204"/>
                  </a:lnTo>
                  <a:lnTo>
                    <a:pt x="449891" y="17218"/>
                  </a:lnTo>
                  <a:lnTo>
                    <a:pt x="496146" y="7754"/>
                  </a:lnTo>
                  <a:lnTo>
                    <a:pt x="543635" y="1964"/>
                  </a:lnTo>
                  <a:lnTo>
                    <a:pt x="592205" y="0"/>
                  </a:lnTo>
                  <a:lnTo>
                    <a:pt x="3473419" y="0"/>
                  </a:lnTo>
                  <a:lnTo>
                    <a:pt x="3521989" y="1964"/>
                  </a:lnTo>
                  <a:lnTo>
                    <a:pt x="3569478" y="7754"/>
                  </a:lnTo>
                  <a:lnTo>
                    <a:pt x="3615733" y="17218"/>
                  </a:lnTo>
                  <a:lnTo>
                    <a:pt x="3660602" y="30204"/>
                  </a:lnTo>
                  <a:lnTo>
                    <a:pt x="3703932" y="46559"/>
                  </a:lnTo>
                  <a:lnTo>
                    <a:pt x="3745572" y="66130"/>
                  </a:lnTo>
                  <a:lnTo>
                    <a:pt x="3785368" y="88765"/>
                  </a:lnTo>
                  <a:lnTo>
                    <a:pt x="3823168" y="114312"/>
                  </a:lnTo>
                  <a:lnTo>
                    <a:pt x="3858820" y="142618"/>
                  </a:lnTo>
                  <a:lnTo>
                    <a:pt x="3892172" y="173530"/>
                  </a:lnTo>
                  <a:lnTo>
                    <a:pt x="3923070" y="206897"/>
                  </a:lnTo>
                  <a:lnTo>
                    <a:pt x="3951363" y="242565"/>
                  </a:lnTo>
                  <a:lnTo>
                    <a:pt x="3976899" y="280382"/>
                  </a:lnTo>
                  <a:lnTo>
                    <a:pt x="3999524" y="320196"/>
                  </a:lnTo>
                  <a:lnTo>
                    <a:pt x="4019086" y="361854"/>
                  </a:lnTo>
                  <a:lnTo>
                    <a:pt x="4035434" y="405204"/>
                  </a:lnTo>
                  <a:lnTo>
                    <a:pt x="4048414" y="450093"/>
                  </a:lnTo>
                  <a:lnTo>
                    <a:pt x="4057874" y="496369"/>
                  </a:lnTo>
                  <a:lnTo>
                    <a:pt x="4063662" y="543879"/>
                  </a:lnTo>
                  <a:lnTo>
                    <a:pt x="4065625" y="592471"/>
                  </a:lnTo>
                  <a:lnTo>
                    <a:pt x="4065625" y="2962284"/>
                  </a:lnTo>
                  <a:lnTo>
                    <a:pt x="4063662" y="3010876"/>
                  </a:lnTo>
                  <a:lnTo>
                    <a:pt x="4057874" y="3058386"/>
                  </a:lnTo>
                  <a:lnTo>
                    <a:pt x="4048414" y="3104662"/>
                  </a:lnTo>
                  <a:lnTo>
                    <a:pt x="4035434" y="3149551"/>
                  </a:lnTo>
                  <a:lnTo>
                    <a:pt x="4019086" y="3192901"/>
                  </a:lnTo>
                  <a:lnTo>
                    <a:pt x="3999524" y="3234559"/>
                  </a:lnTo>
                  <a:lnTo>
                    <a:pt x="3976899" y="3274373"/>
                  </a:lnTo>
                  <a:lnTo>
                    <a:pt x="3951363" y="3312190"/>
                  </a:lnTo>
                  <a:lnTo>
                    <a:pt x="3923070" y="3347858"/>
                  </a:lnTo>
                  <a:lnTo>
                    <a:pt x="3892172" y="3381224"/>
                  </a:lnTo>
                  <a:lnTo>
                    <a:pt x="3858820" y="3412137"/>
                  </a:lnTo>
                  <a:lnTo>
                    <a:pt x="3823168" y="3440442"/>
                  </a:lnTo>
                  <a:lnTo>
                    <a:pt x="3785368" y="3465989"/>
                  </a:lnTo>
                  <a:lnTo>
                    <a:pt x="3745572" y="3488624"/>
                  </a:lnTo>
                  <a:lnTo>
                    <a:pt x="3703932" y="3508196"/>
                  </a:lnTo>
                  <a:lnTo>
                    <a:pt x="3660602" y="3524550"/>
                  </a:lnTo>
                  <a:lnTo>
                    <a:pt x="3615733" y="3537536"/>
                  </a:lnTo>
                  <a:lnTo>
                    <a:pt x="3569478" y="3547000"/>
                  </a:lnTo>
                  <a:lnTo>
                    <a:pt x="3521989" y="3552791"/>
                  </a:lnTo>
                  <a:lnTo>
                    <a:pt x="3473419" y="3554755"/>
                  </a:lnTo>
                  <a:lnTo>
                    <a:pt x="592205" y="3554755"/>
                  </a:lnTo>
                  <a:lnTo>
                    <a:pt x="543635" y="3552791"/>
                  </a:lnTo>
                  <a:lnTo>
                    <a:pt x="496146" y="3547000"/>
                  </a:lnTo>
                  <a:lnTo>
                    <a:pt x="449891" y="3537536"/>
                  </a:lnTo>
                  <a:lnTo>
                    <a:pt x="405022" y="3524550"/>
                  </a:lnTo>
                  <a:lnTo>
                    <a:pt x="361692" y="3508196"/>
                  </a:lnTo>
                  <a:lnTo>
                    <a:pt x="320053" y="3488624"/>
                  </a:lnTo>
                  <a:lnTo>
                    <a:pt x="280256" y="3465989"/>
                  </a:lnTo>
                  <a:lnTo>
                    <a:pt x="242456" y="3440442"/>
                  </a:lnTo>
                  <a:lnTo>
                    <a:pt x="206804" y="3412137"/>
                  </a:lnTo>
                  <a:lnTo>
                    <a:pt x="173453" y="3381224"/>
                  </a:lnTo>
                  <a:lnTo>
                    <a:pt x="142554" y="3347858"/>
                  </a:lnTo>
                  <a:lnTo>
                    <a:pt x="114261" y="3312190"/>
                  </a:lnTo>
                  <a:lnTo>
                    <a:pt x="88726" y="3274373"/>
                  </a:lnTo>
                  <a:lnTo>
                    <a:pt x="66100" y="3234559"/>
                  </a:lnTo>
                  <a:lnTo>
                    <a:pt x="46538" y="3192901"/>
                  </a:lnTo>
                  <a:lnTo>
                    <a:pt x="30191" y="3149551"/>
                  </a:lnTo>
                  <a:lnTo>
                    <a:pt x="17211" y="3104662"/>
                  </a:lnTo>
                  <a:lnTo>
                    <a:pt x="7750" y="3058386"/>
                  </a:lnTo>
                  <a:lnTo>
                    <a:pt x="1963" y="3010876"/>
                  </a:lnTo>
                  <a:lnTo>
                    <a:pt x="0" y="2962284"/>
                  </a:lnTo>
                  <a:lnTo>
                    <a:pt x="0" y="592471"/>
                  </a:lnTo>
                  <a:close/>
                </a:path>
              </a:pathLst>
            </a:custGeom>
            <a:ln w="525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86501" y="228602"/>
            <a:ext cx="1284598" cy="134426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1" y="7043598"/>
            <a:ext cx="9461500" cy="27608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2635" rIns="0" bIns="0" rtlCol="0" vert="horz">
            <a:spAutoFit/>
          </a:bodyPr>
          <a:lstStyle/>
          <a:p>
            <a:pPr marL="2251075">
              <a:lnSpc>
                <a:spcPct val="100000"/>
              </a:lnSpc>
              <a:spcBef>
                <a:spcPts val="100"/>
              </a:spcBef>
            </a:pPr>
            <a:r>
              <a:rPr dirty="0" sz="3700" b="0">
                <a:solidFill>
                  <a:srgbClr val="0D0D0D"/>
                </a:solidFill>
                <a:latin typeface="Arial MT"/>
                <a:cs typeface="Arial MT"/>
              </a:rPr>
              <a:t>Supervised</a:t>
            </a:r>
            <a:r>
              <a:rPr dirty="0" sz="3700" spc="-10" b="0">
                <a:solidFill>
                  <a:srgbClr val="0D0D0D"/>
                </a:solidFill>
                <a:latin typeface="Arial MT"/>
                <a:cs typeface="Arial MT"/>
              </a:rPr>
              <a:t> Learning</a:t>
            </a:r>
            <a:endParaRPr sz="37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12853" y="1680079"/>
            <a:ext cx="7737401" cy="353151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451293" y="6000387"/>
            <a:ext cx="5189220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20">
                <a:latin typeface="Arial MT"/>
                <a:cs typeface="Arial MT"/>
              </a:rPr>
              <a:t>That’s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nice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–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but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where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do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labels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come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from?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86501" y="228602"/>
            <a:ext cx="1284598" cy="134426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1" y="7043598"/>
            <a:ext cx="9461500" cy="276085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1017432" y="2945069"/>
            <a:ext cx="2727960" cy="3145790"/>
            <a:chOff x="1017432" y="2945069"/>
            <a:chExt cx="2727960" cy="3145790"/>
          </a:xfrm>
        </p:grpSpPr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58436" y="4305767"/>
              <a:ext cx="1783886" cy="1784685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177947" y="2958216"/>
              <a:ext cx="1191260" cy="132080"/>
            </a:xfrm>
            <a:custGeom>
              <a:avLst/>
              <a:gdLst/>
              <a:ahLst/>
              <a:cxnLst/>
              <a:rect l="l" t="t" r="r" b="b"/>
              <a:pathLst>
                <a:path w="1191260" h="132080">
                  <a:moveTo>
                    <a:pt x="1190901" y="0"/>
                  </a:moveTo>
                  <a:lnTo>
                    <a:pt x="0" y="0"/>
                  </a:lnTo>
                  <a:lnTo>
                    <a:pt x="0" y="131467"/>
                  </a:lnTo>
                  <a:lnTo>
                    <a:pt x="1190901" y="131467"/>
                  </a:lnTo>
                  <a:lnTo>
                    <a:pt x="1190901" y="0"/>
                  </a:lnTo>
                  <a:close/>
                </a:path>
              </a:pathLst>
            </a:custGeom>
            <a:solidFill>
              <a:srgbClr val="2626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177947" y="2958216"/>
              <a:ext cx="1191260" cy="132080"/>
            </a:xfrm>
            <a:custGeom>
              <a:avLst/>
              <a:gdLst/>
              <a:ahLst/>
              <a:cxnLst/>
              <a:rect l="l" t="t" r="r" b="b"/>
              <a:pathLst>
                <a:path w="1191260" h="132080">
                  <a:moveTo>
                    <a:pt x="0" y="0"/>
                  </a:moveTo>
                  <a:lnTo>
                    <a:pt x="1190901" y="0"/>
                  </a:lnTo>
                  <a:lnTo>
                    <a:pt x="1190901" y="131468"/>
                  </a:lnTo>
                  <a:lnTo>
                    <a:pt x="0" y="131468"/>
                  </a:lnTo>
                  <a:lnTo>
                    <a:pt x="0" y="0"/>
                  </a:lnTo>
                  <a:close/>
                </a:path>
              </a:pathLst>
            </a:custGeom>
            <a:ln w="26293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444408" y="2958216"/>
              <a:ext cx="314325" cy="132080"/>
            </a:xfrm>
            <a:custGeom>
              <a:avLst/>
              <a:gdLst/>
              <a:ahLst/>
              <a:cxnLst/>
              <a:rect l="l" t="t" r="r" b="b"/>
              <a:pathLst>
                <a:path w="314325" h="132080">
                  <a:moveTo>
                    <a:pt x="313740" y="0"/>
                  </a:moveTo>
                  <a:lnTo>
                    <a:pt x="0" y="0"/>
                  </a:lnTo>
                  <a:lnTo>
                    <a:pt x="0" y="131467"/>
                  </a:lnTo>
                  <a:lnTo>
                    <a:pt x="313740" y="131467"/>
                  </a:lnTo>
                  <a:lnTo>
                    <a:pt x="313740" y="0"/>
                  </a:lnTo>
                  <a:close/>
                </a:path>
              </a:pathLst>
            </a:custGeom>
            <a:solidFill>
              <a:srgbClr val="2626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444408" y="2958216"/>
              <a:ext cx="314325" cy="132080"/>
            </a:xfrm>
            <a:custGeom>
              <a:avLst/>
              <a:gdLst/>
              <a:ahLst/>
              <a:cxnLst/>
              <a:rect l="l" t="t" r="r" b="b"/>
              <a:pathLst>
                <a:path w="314325" h="132080">
                  <a:moveTo>
                    <a:pt x="0" y="0"/>
                  </a:moveTo>
                  <a:lnTo>
                    <a:pt x="313740" y="0"/>
                  </a:lnTo>
                  <a:lnTo>
                    <a:pt x="313740" y="131468"/>
                  </a:lnTo>
                  <a:lnTo>
                    <a:pt x="0" y="131468"/>
                  </a:lnTo>
                  <a:lnTo>
                    <a:pt x="0" y="0"/>
                  </a:lnTo>
                  <a:close/>
                </a:path>
              </a:pathLst>
            </a:custGeom>
            <a:ln w="26291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145452" y="3089661"/>
              <a:ext cx="504825" cy="1216660"/>
            </a:xfrm>
            <a:custGeom>
              <a:avLst/>
              <a:gdLst/>
              <a:ahLst/>
              <a:cxnLst/>
              <a:rect l="l" t="t" r="r" b="b"/>
              <a:pathLst>
                <a:path w="504825" h="1216660">
                  <a:moveTo>
                    <a:pt x="454562" y="19563"/>
                  </a:moveTo>
                  <a:lnTo>
                    <a:pt x="449445" y="27899"/>
                  </a:lnTo>
                  <a:lnTo>
                    <a:pt x="448796" y="56624"/>
                  </a:lnTo>
                  <a:lnTo>
                    <a:pt x="445051" y="112900"/>
                  </a:lnTo>
                  <a:lnTo>
                    <a:pt x="439007" y="168291"/>
                  </a:lnTo>
                  <a:lnTo>
                    <a:pt x="430828" y="222347"/>
                  </a:lnTo>
                  <a:lnTo>
                    <a:pt x="420681" y="274618"/>
                  </a:lnTo>
                  <a:lnTo>
                    <a:pt x="408732" y="324652"/>
                  </a:lnTo>
                  <a:lnTo>
                    <a:pt x="395151" y="372002"/>
                  </a:lnTo>
                  <a:lnTo>
                    <a:pt x="380108" y="416210"/>
                  </a:lnTo>
                  <a:lnTo>
                    <a:pt x="363778" y="456824"/>
                  </a:lnTo>
                  <a:lnTo>
                    <a:pt x="346293" y="493472"/>
                  </a:lnTo>
                  <a:lnTo>
                    <a:pt x="318452" y="539732"/>
                  </a:lnTo>
                  <a:lnTo>
                    <a:pt x="289272" y="574291"/>
                  </a:lnTo>
                  <a:lnTo>
                    <a:pt x="249175" y="600010"/>
                  </a:lnTo>
                  <a:lnTo>
                    <a:pt x="248965" y="600010"/>
                  </a:lnTo>
                  <a:lnTo>
                    <a:pt x="239327" y="602397"/>
                  </a:lnTo>
                  <a:lnTo>
                    <a:pt x="238567" y="602397"/>
                  </a:lnTo>
                  <a:lnTo>
                    <a:pt x="217489" y="604160"/>
                  </a:lnTo>
                  <a:lnTo>
                    <a:pt x="218236" y="604160"/>
                  </a:lnTo>
                  <a:lnTo>
                    <a:pt x="206819" y="606987"/>
                  </a:lnTo>
                  <a:lnTo>
                    <a:pt x="207035" y="606987"/>
                  </a:lnTo>
                  <a:lnTo>
                    <a:pt x="195988" y="611538"/>
                  </a:lnTo>
                  <a:lnTo>
                    <a:pt x="185111" y="617721"/>
                  </a:lnTo>
                  <a:lnTo>
                    <a:pt x="153540" y="645341"/>
                  </a:lnTo>
                  <a:lnTo>
                    <a:pt x="123691" y="685311"/>
                  </a:lnTo>
                  <a:lnTo>
                    <a:pt x="87134" y="755338"/>
                  </a:lnTo>
                  <a:lnTo>
                    <a:pt x="70586" y="796488"/>
                  </a:lnTo>
                  <a:lnTo>
                    <a:pt x="55378" y="841176"/>
                  </a:lnTo>
                  <a:lnTo>
                    <a:pt x="41669" y="888969"/>
                  </a:lnTo>
                  <a:lnTo>
                    <a:pt x="29620" y="939424"/>
                  </a:lnTo>
                  <a:lnTo>
                    <a:pt x="19394" y="992102"/>
                  </a:lnTo>
                  <a:lnTo>
                    <a:pt x="11153" y="1046562"/>
                  </a:lnTo>
                  <a:lnTo>
                    <a:pt x="5064" y="1102363"/>
                  </a:lnTo>
                  <a:lnTo>
                    <a:pt x="1291" y="1159064"/>
                  </a:lnTo>
                  <a:lnTo>
                    <a:pt x="0" y="1215994"/>
                  </a:lnTo>
                  <a:lnTo>
                    <a:pt x="9852" y="1216218"/>
                  </a:lnTo>
                  <a:lnTo>
                    <a:pt x="11144" y="1159287"/>
                  </a:lnTo>
                  <a:lnTo>
                    <a:pt x="14898" y="1103020"/>
                  </a:lnTo>
                  <a:lnTo>
                    <a:pt x="20951" y="1047634"/>
                  </a:lnTo>
                  <a:lnTo>
                    <a:pt x="29138" y="993579"/>
                  </a:lnTo>
                  <a:lnTo>
                    <a:pt x="39295" y="941304"/>
                  </a:lnTo>
                  <a:lnTo>
                    <a:pt x="51254" y="891260"/>
                  </a:lnTo>
                  <a:lnTo>
                    <a:pt x="64851" y="843898"/>
                  </a:lnTo>
                  <a:lnTo>
                    <a:pt x="79916" y="799666"/>
                  </a:lnTo>
                  <a:lnTo>
                    <a:pt x="96277" y="759020"/>
                  </a:lnTo>
                  <a:lnTo>
                    <a:pt x="113761" y="722415"/>
                  </a:lnTo>
                  <a:lnTo>
                    <a:pt x="141629" y="676184"/>
                  </a:lnTo>
                  <a:lnTo>
                    <a:pt x="170948" y="641562"/>
                  </a:lnTo>
                  <a:lnTo>
                    <a:pt x="210210" y="616338"/>
                  </a:lnTo>
                  <a:lnTo>
                    <a:pt x="210080" y="616338"/>
                  </a:lnTo>
                  <a:lnTo>
                    <a:pt x="210757" y="616117"/>
                  </a:lnTo>
                  <a:lnTo>
                    <a:pt x="210972" y="616117"/>
                  </a:lnTo>
                  <a:lnTo>
                    <a:pt x="220092" y="613858"/>
                  </a:lnTo>
                  <a:lnTo>
                    <a:pt x="219831" y="613858"/>
                  </a:lnTo>
                  <a:lnTo>
                    <a:pt x="240921" y="612095"/>
                  </a:lnTo>
                  <a:lnTo>
                    <a:pt x="241183" y="612095"/>
                  </a:lnTo>
                  <a:lnTo>
                    <a:pt x="252450" y="609304"/>
                  </a:lnTo>
                  <a:lnTo>
                    <a:pt x="263380" y="604864"/>
                  </a:lnTo>
                  <a:lnTo>
                    <a:pt x="272030" y="600010"/>
                  </a:lnTo>
                  <a:lnTo>
                    <a:pt x="249175" y="600010"/>
                  </a:lnTo>
                  <a:lnTo>
                    <a:pt x="249583" y="599877"/>
                  </a:lnTo>
                  <a:lnTo>
                    <a:pt x="272266" y="599877"/>
                  </a:lnTo>
                  <a:lnTo>
                    <a:pt x="274365" y="598699"/>
                  </a:lnTo>
                  <a:lnTo>
                    <a:pt x="306161" y="571040"/>
                  </a:lnTo>
                  <a:lnTo>
                    <a:pt x="336116" y="531011"/>
                  </a:lnTo>
                  <a:lnTo>
                    <a:pt x="372672" y="461073"/>
                  </a:lnTo>
                  <a:lnTo>
                    <a:pt x="389251" y="419892"/>
                  </a:lnTo>
                  <a:lnTo>
                    <a:pt x="404481" y="375180"/>
                  </a:lnTo>
                  <a:lnTo>
                    <a:pt x="418205" y="327374"/>
                  </a:lnTo>
                  <a:lnTo>
                    <a:pt x="430267" y="276909"/>
                  </a:lnTo>
                  <a:lnTo>
                    <a:pt x="440503" y="224228"/>
                  </a:lnTo>
                  <a:lnTo>
                    <a:pt x="448751" y="169768"/>
                  </a:lnTo>
                  <a:lnTo>
                    <a:pt x="454849" y="113972"/>
                  </a:lnTo>
                  <a:lnTo>
                    <a:pt x="458631" y="57279"/>
                  </a:lnTo>
                  <a:lnTo>
                    <a:pt x="459294" y="28121"/>
                  </a:lnTo>
                  <a:lnTo>
                    <a:pt x="454562" y="19563"/>
                  </a:lnTo>
                  <a:close/>
                </a:path>
                <a:path w="504825" h="1216660">
                  <a:moveTo>
                    <a:pt x="210757" y="616117"/>
                  </a:moveTo>
                  <a:lnTo>
                    <a:pt x="210080" y="616338"/>
                  </a:lnTo>
                  <a:lnTo>
                    <a:pt x="210210" y="616338"/>
                  </a:lnTo>
                  <a:lnTo>
                    <a:pt x="210757" y="616117"/>
                  </a:lnTo>
                  <a:close/>
                </a:path>
                <a:path w="504825" h="1216660">
                  <a:moveTo>
                    <a:pt x="210972" y="616117"/>
                  </a:moveTo>
                  <a:lnTo>
                    <a:pt x="210757" y="616117"/>
                  </a:lnTo>
                  <a:lnTo>
                    <a:pt x="210210" y="616338"/>
                  </a:lnTo>
                  <a:lnTo>
                    <a:pt x="210080" y="616338"/>
                  </a:lnTo>
                  <a:lnTo>
                    <a:pt x="210972" y="616117"/>
                  </a:lnTo>
                  <a:close/>
                </a:path>
                <a:path w="504825" h="1216660">
                  <a:moveTo>
                    <a:pt x="460353" y="9669"/>
                  </a:moveTo>
                  <a:lnTo>
                    <a:pt x="449856" y="9669"/>
                  </a:lnTo>
                  <a:lnTo>
                    <a:pt x="459709" y="9893"/>
                  </a:lnTo>
                  <a:lnTo>
                    <a:pt x="459299" y="27899"/>
                  </a:lnTo>
                  <a:lnTo>
                    <a:pt x="459294" y="28121"/>
                  </a:lnTo>
                  <a:lnTo>
                    <a:pt x="495981" y="94454"/>
                  </a:lnTo>
                  <a:lnTo>
                    <a:pt x="498980" y="95317"/>
                  </a:lnTo>
                  <a:lnTo>
                    <a:pt x="503744" y="92682"/>
                  </a:lnTo>
                  <a:lnTo>
                    <a:pt x="504606" y="89681"/>
                  </a:lnTo>
                  <a:lnTo>
                    <a:pt x="460477" y="9893"/>
                  </a:lnTo>
                  <a:lnTo>
                    <a:pt x="460353" y="9669"/>
                  </a:lnTo>
                  <a:close/>
                </a:path>
                <a:path w="504825" h="1216660">
                  <a:moveTo>
                    <a:pt x="455005" y="0"/>
                  </a:moveTo>
                  <a:lnTo>
                    <a:pt x="401389" y="87337"/>
                  </a:lnTo>
                  <a:lnTo>
                    <a:pt x="402115" y="90374"/>
                  </a:lnTo>
                  <a:lnTo>
                    <a:pt x="406753" y="93224"/>
                  </a:lnTo>
                  <a:lnTo>
                    <a:pt x="409788" y="92499"/>
                  </a:lnTo>
                  <a:lnTo>
                    <a:pt x="449445" y="27899"/>
                  </a:lnTo>
                  <a:lnTo>
                    <a:pt x="449796" y="12362"/>
                  </a:lnTo>
                  <a:lnTo>
                    <a:pt x="449856" y="9669"/>
                  </a:lnTo>
                  <a:lnTo>
                    <a:pt x="460353" y="9669"/>
                  </a:lnTo>
                  <a:lnTo>
                    <a:pt x="455005" y="0"/>
                  </a:lnTo>
                  <a:close/>
                </a:path>
                <a:path w="504825" h="1216660">
                  <a:moveTo>
                    <a:pt x="459657" y="12167"/>
                  </a:moveTo>
                  <a:lnTo>
                    <a:pt x="450471" y="12167"/>
                  </a:lnTo>
                  <a:lnTo>
                    <a:pt x="458983" y="12362"/>
                  </a:lnTo>
                  <a:lnTo>
                    <a:pt x="454562" y="19563"/>
                  </a:lnTo>
                  <a:lnTo>
                    <a:pt x="459172" y="27899"/>
                  </a:lnTo>
                  <a:lnTo>
                    <a:pt x="459294" y="28121"/>
                  </a:lnTo>
                  <a:lnTo>
                    <a:pt x="459653" y="12362"/>
                  </a:lnTo>
                  <a:lnTo>
                    <a:pt x="459657" y="12167"/>
                  </a:lnTo>
                  <a:close/>
                </a:path>
                <a:path w="504825" h="1216660">
                  <a:moveTo>
                    <a:pt x="449856" y="9669"/>
                  </a:moveTo>
                  <a:lnTo>
                    <a:pt x="449445" y="27899"/>
                  </a:lnTo>
                  <a:lnTo>
                    <a:pt x="454562" y="19563"/>
                  </a:lnTo>
                  <a:lnTo>
                    <a:pt x="450579" y="12362"/>
                  </a:lnTo>
                  <a:lnTo>
                    <a:pt x="450471" y="12167"/>
                  </a:lnTo>
                  <a:lnTo>
                    <a:pt x="459657" y="12167"/>
                  </a:lnTo>
                  <a:lnTo>
                    <a:pt x="459709" y="9893"/>
                  </a:lnTo>
                  <a:lnTo>
                    <a:pt x="449856" y="9669"/>
                  </a:lnTo>
                  <a:close/>
                </a:path>
                <a:path w="504825" h="1216660">
                  <a:moveTo>
                    <a:pt x="450471" y="12167"/>
                  </a:moveTo>
                  <a:lnTo>
                    <a:pt x="454562" y="19563"/>
                  </a:lnTo>
                  <a:lnTo>
                    <a:pt x="458983" y="12362"/>
                  </a:lnTo>
                  <a:lnTo>
                    <a:pt x="450471" y="12167"/>
                  </a:lnTo>
                  <a:close/>
                </a:path>
              </a:pathLst>
            </a:custGeom>
            <a:solidFill>
              <a:srgbClr val="B6DC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017422" y="2965741"/>
              <a:ext cx="2727960" cy="2344420"/>
            </a:xfrm>
            <a:custGeom>
              <a:avLst/>
              <a:gdLst/>
              <a:ahLst/>
              <a:cxnLst/>
              <a:rect l="l" t="t" r="r" b="b"/>
              <a:pathLst>
                <a:path w="2727960" h="2344420">
                  <a:moveTo>
                    <a:pt x="760069" y="124129"/>
                  </a:moveTo>
                  <a:lnTo>
                    <a:pt x="750227" y="123761"/>
                  </a:lnTo>
                  <a:lnTo>
                    <a:pt x="748068" y="182575"/>
                  </a:lnTo>
                  <a:lnTo>
                    <a:pt x="741819" y="240588"/>
                  </a:lnTo>
                  <a:lnTo>
                    <a:pt x="731748" y="297688"/>
                  </a:lnTo>
                  <a:lnTo>
                    <a:pt x="718121" y="353428"/>
                  </a:lnTo>
                  <a:lnTo>
                    <a:pt x="701217" y="407327"/>
                  </a:lnTo>
                  <a:lnTo>
                    <a:pt x="681316" y="458939"/>
                  </a:lnTo>
                  <a:lnTo>
                    <a:pt x="658685" y="507796"/>
                  </a:lnTo>
                  <a:lnTo>
                    <a:pt x="633603" y="553427"/>
                  </a:lnTo>
                  <a:lnTo>
                    <a:pt x="606361" y="595363"/>
                  </a:lnTo>
                  <a:lnTo>
                    <a:pt x="577303" y="633069"/>
                  </a:lnTo>
                  <a:lnTo>
                    <a:pt x="546608" y="666229"/>
                  </a:lnTo>
                  <a:lnTo>
                    <a:pt x="514629" y="694321"/>
                  </a:lnTo>
                  <a:lnTo>
                    <a:pt x="481660" y="716889"/>
                  </a:lnTo>
                  <a:lnTo>
                    <a:pt x="430999" y="739419"/>
                  </a:lnTo>
                  <a:lnTo>
                    <a:pt x="379780" y="747179"/>
                  </a:lnTo>
                  <a:lnTo>
                    <a:pt x="362153" y="748296"/>
                  </a:lnTo>
                  <a:lnTo>
                    <a:pt x="308114" y="764971"/>
                  </a:lnTo>
                  <a:lnTo>
                    <a:pt x="273037" y="786295"/>
                  </a:lnTo>
                  <a:lnTo>
                    <a:pt x="239001" y="815009"/>
                  </a:lnTo>
                  <a:lnTo>
                    <a:pt x="206222" y="850506"/>
                  </a:lnTo>
                  <a:lnTo>
                    <a:pt x="174917" y="892200"/>
                  </a:lnTo>
                  <a:lnTo>
                    <a:pt x="145351" y="939546"/>
                  </a:lnTo>
                  <a:lnTo>
                    <a:pt x="117754" y="991958"/>
                  </a:lnTo>
                  <a:lnTo>
                    <a:pt x="92417" y="1048816"/>
                  </a:lnTo>
                  <a:lnTo>
                    <a:pt x="69545" y="1109700"/>
                  </a:lnTo>
                  <a:lnTo>
                    <a:pt x="49453" y="1173975"/>
                  </a:lnTo>
                  <a:lnTo>
                    <a:pt x="32385" y="1241094"/>
                  </a:lnTo>
                  <a:lnTo>
                    <a:pt x="18643" y="1310474"/>
                  </a:lnTo>
                  <a:lnTo>
                    <a:pt x="8470" y="1381556"/>
                  </a:lnTo>
                  <a:lnTo>
                    <a:pt x="2171" y="1453794"/>
                  </a:lnTo>
                  <a:lnTo>
                    <a:pt x="0" y="1526603"/>
                  </a:lnTo>
                  <a:lnTo>
                    <a:pt x="1358" y="1599184"/>
                  </a:lnTo>
                  <a:lnTo>
                    <a:pt x="5283" y="1670964"/>
                  </a:lnTo>
                  <a:lnTo>
                    <a:pt x="5308" y="1671510"/>
                  </a:lnTo>
                  <a:lnTo>
                    <a:pt x="11607" y="1741627"/>
                  </a:lnTo>
                  <a:lnTo>
                    <a:pt x="20332" y="1811794"/>
                  </a:lnTo>
                  <a:lnTo>
                    <a:pt x="31038" y="1878825"/>
                  </a:lnTo>
                  <a:lnTo>
                    <a:pt x="43662" y="1943011"/>
                  </a:lnTo>
                  <a:lnTo>
                    <a:pt x="58026" y="2003806"/>
                  </a:lnTo>
                  <a:lnTo>
                    <a:pt x="73964" y="2060651"/>
                  </a:lnTo>
                  <a:lnTo>
                    <a:pt x="91313" y="2113026"/>
                  </a:lnTo>
                  <a:lnTo>
                    <a:pt x="109880" y="2160295"/>
                  </a:lnTo>
                  <a:lnTo>
                    <a:pt x="129527" y="2201926"/>
                  </a:lnTo>
                  <a:lnTo>
                    <a:pt x="150126" y="2237409"/>
                  </a:lnTo>
                  <a:lnTo>
                    <a:pt x="154038" y="2243036"/>
                  </a:lnTo>
                  <a:lnTo>
                    <a:pt x="151917" y="2245969"/>
                  </a:lnTo>
                  <a:lnTo>
                    <a:pt x="152400" y="2249055"/>
                  </a:lnTo>
                  <a:lnTo>
                    <a:pt x="165442" y="2258555"/>
                  </a:lnTo>
                  <a:lnTo>
                    <a:pt x="171538" y="2266175"/>
                  </a:lnTo>
                  <a:lnTo>
                    <a:pt x="205117" y="2295563"/>
                  </a:lnTo>
                  <a:lnTo>
                    <a:pt x="217322" y="2301671"/>
                  </a:lnTo>
                  <a:lnTo>
                    <a:pt x="216623" y="2301671"/>
                  </a:lnTo>
                  <a:lnTo>
                    <a:pt x="143700" y="2334869"/>
                  </a:lnTo>
                  <a:lnTo>
                    <a:pt x="142608" y="2337790"/>
                  </a:lnTo>
                  <a:lnTo>
                    <a:pt x="144856" y="2342743"/>
                  </a:lnTo>
                  <a:lnTo>
                    <a:pt x="147777" y="2343835"/>
                  </a:lnTo>
                  <a:lnTo>
                    <a:pt x="232422" y="2305316"/>
                  </a:lnTo>
                  <a:lnTo>
                    <a:pt x="240423" y="2301671"/>
                  </a:lnTo>
                  <a:lnTo>
                    <a:pt x="241401" y="2301671"/>
                  </a:lnTo>
                  <a:lnTo>
                    <a:pt x="210388" y="2279091"/>
                  </a:lnTo>
                  <a:lnTo>
                    <a:pt x="210388" y="2287232"/>
                  </a:lnTo>
                  <a:lnTo>
                    <a:pt x="210096" y="2287079"/>
                  </a:lnTo>
                  <a:lnTo>
                    <a:pt x="200215" y="2280285"/>
                  </a:lnTo>
                  <a:lnTo>
                    <a:pt x="210388" y="2287232"/>
                  </a:lnTo>
                  <a:lnTo>
                    <a:pt x="210388" y="2279091"/>
                  </a:lnTo>
                  <a:lnTo>
                    <a:pt x="172262" y="2251329"/>
                  </a:lnTo>
                  <a:lnTo>
                    <a:pt x="168821" y="2247023"/>
                  </a:lnTo>
                  <a:lnTo>
                    <a:pt x="164680" y="2241080"/>
                  </a:lnTo>
                  <a:lnTo>
                    <a:pt x="158521" y="2232241"/>
                  </a:lnTo>
                  <a:lnTo>
                    <a:pt x="138366" y="2197544"/>
                  </a:lnTo>
                  <a:lnTo>
                    <a:pt x="118999" y="2156549"/>
                  </a:lnTo>
                  <a:lnTo>
                    <a:pt x="100622" y="2109813"/>
                  </a:lnTo>
                  <a:lnTo>
                    <a:pt x="83451" y="2057984"/>
                  </a:lnTo>
                  <a:lnTo>
                    <a:pt x="67614" y="2001545"/>
                  </a:lnTo>
                  <a:lnTo>
                    <a:pt x="53340" y="1941106"/>
                  </a:lnTo>
                  <a:lnTo>
                    <a:pt x="40779" y="1877263"/>
                  </a:lnTo>
                  <a:lnTo>
                    <a:pt x="30111" y="1810575"/>
                  </a:lnTo>
                  <a:lnTo>
                    <a:pt x="21615" y="1742503"/>
                  </a:lnTo>
                  <a:lnTo>
                    <a:pt x="15201" y="1671510"/>
                  </a:lnTo>
                  <a:lnTo>
                    <a:pt x="15151" y="1670964"/>
                  </a:lnTo>
                  <a:lnTo>
                    <a:pt x="11226" y="1599361"/>
                  </a:lnTo>
                  <a:lnTo>
                    <a:pt x="9855" y="1526895"/>
                  </a:lnTo>
                  <a:lnTo>
                    <a:pt x="11988" y="1454645"/>
                  </a:lnTo>
                  <a:lnTo>
                    <a:pt x="18237" y="1382953"/>
                  </a:lnTo>
                  <a:lnTo>
                    <a:pt x="28308" y="1312392"/>
                  </a:lnTo>
                  <a:lnTo>
                    <a:pt x="41935" y="1243520"/>
                  </a:lnTo>
                  <a:lnTo>
                    <a:pt x="58851" y="1176921"/>
                  </a:lnTo>
                  <a:lnTo>
                    <a:pt x="78778" y="1113167"/>
                  </a:lnTo>
                  <a:lnTo>
                    <a:pt x="101422" y="1052830"/>
                  </a:lnTo>
                  <a:lnTo>
                    <a:pt x="126555" y="996403"/>
                  </a:lnTo>
                  <a:lnTo>
                    <a:pt x="153809" y="944600"/>
                  </a:lnTo>
                  <a:lnTo>
                    <a:pt x="182943" y="897940"/>
                  </a:lnTo>
                  <a:lnTo>
                    <a:pt x="213639" y="856996"/>
                  </a:lnTo>
                  <a:lnTo>
                    <a:pt x="245605" y="822325"/>
                  </a:lnTo>
                  <a:lnTo>
                    <a:pt x="278511" y="794499"/>
                  </a:lnTo>
                  <a:lnTo>
                    <a:pt x="312026" y="774026"/>
                  </a:lnTo>
                  <a:lnTo>
                    <a:pt x="362775" y="758139"/>
                  </a:lnTo>
                  <a:lnTo>
                    <a:pt x="398360" y="756056"/>
                  </a:lnTo>
                  <a:lnTo>
                    <a:pt x="416369" y="753275"/>
                  </a:lnTo>
                  <a:lnTo>
                    <a:pt x="469582" y="734631"/>
                  </a:lnTo>
                  <a:lnTo>
                    <a:pt x="504075" y="714273"/>
                  </a:lnTo>
                  <a:lnTo>
                    <a:pt x="537464" y="688162"/>
                  </a:lnTo>
                  <a:lnTo>
                    <a:pt x="569531" y="656780"/>
                  </a:lnTo>
                  <a:lnTo>
                    <a:pt x="600011" y="620572"/>
                  </a:lnTo>
                  <a:lnTo>
                    <a:pt x="642239" y="558177"/>
                  </a:lnTo>
                  <a:lnTo>
                    <a:pt x="667626" y="511937"/>
                  </a:lnTo>
                  <a:lnTo>
                    <a:pt x="690511" y="462495"/>
                  </a:lnTo>
                  <a:lnTo>
                    <a:pt x="710628" y="410286"/>
                  </a:lnTo>
                  <a:lnTo>
                    <a:pt x="727697" y="355765"/>
                  </a:lnTo>
                  <a:lnTo>
                    <a:pt x="741451" y="299402"/>
                  </a:lnTo>
                  <a:lnTo>
                    <a:pt x="751624" y="241642"/>
                  </a:lnTo>
                  <a:lnTo>
                    <a:pt x="757923" y="182943"/>
                  </a:lnTo>
                  <a:lnTo>
                    <a:pt x="760069" y="124129"/>
                  </a:lnTo>
                  <a:close/>
                </a:path>
                <a:path w="2727960" h="2344420">
                  <a:moveTo>
                    <a:pt x="2727960" y="51638"/>
                  </a:moveTo>
                  <a:lnTo>
                    <a:pt x="2719514" y="46710"/>
                  </a:lnTo>
                  <a:lnTo>
                    <a:pt x="2639466" y="0"/>
                  </a:lnTo>
                  <a:lnTo>
                    <a:pt x="2636443" y="787"/>
                  </a:lnTo>
                  <a:lnTo>
                    <a:pt x="2633700" y="5499"/>
                  </a:lnTo>
                  <a:lnTo>
                    <a:pt x="2634500" y="8509"/>
                  </a:lnTo>
                  <a:lnTo>
                    <a:pt x="2699956" y="46710"/>
                  </a:lnTo>
                  <a:lnTo>
                    <a:pt x="1898408" y="46710"/>
                  </a:lnTo>
                  <a:lnTo>
                    <a:pt x="1898408" y="56565"/>
                  </a:lnTo>
                  <a:lnTo>
                    <a:pt x="2699956" y="56565"/>
                  </a:lnTo>
                  <a:lnTo>
                    <a:pt x="2634500" y="94767"/>
                  </a:lnTo>
                  <a:lnTo>
                    <a:pt x="2633700" y="97790"/>
                  </a:lnTo>
                  <a:lnTo>
                    <a:pt x="2636443" y="102489"/>
                  </a:lnTo>
                  <a:lnTo>
                    <a:pt x="2639466" y="103289"/>
                  </a:lnTo>
                  <a:lnTo>
                    <a:pt x="2719514" y="56565"/>
                  </a:lnTo>
                  <a:lnTo>
                    <a:pt x="2727960" y="51638"/>
                  </a:lnTo>
                  <a:close/>
                </a:path>
              </a:pathLst>
            </a:custGeom>
            <a:solidFill>
              <a:srgbClr val="B6DC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400033" y="492548"/>
            <a:ext cx="4358640" cy="5899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00" b="0">
                <a:solidFill>
                  <a:srgbClr val="0D0D0D"/>
                </a:solidFill>
                <a:latin typeface="Arial MT"/>
                <a:cs typeface="Arial MT"/>
              </a:rPr>
              <a:t>Supervised</a:t>
            </a:r>
            <a:r>
              <a:rPr dirty="0" sz="3700" spc="-10" b="0">
                <a:solidFill>
                  <a:srgbClr val="0D0D0D"/>
                </a:solidFill>
                <a:latin typeface="Arial MT"/>
                <a:cs typeface="Arial MT"/>
              </a:rPr>
              <a:t> Learning</a:t>
            </a:r>
            <a:endParaRPr sz="3700">
              <a:latin typeface="Arial MT"/>
              <a:cs typeface="Arial MT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8158894" y="3161803"/>
            <a:ext cx="1814195" cy="1487170"/>
            <a:chOff x="8158894" y="3161803"/>
            <a:chExt cx="1814195" cy="1487170"/>
          </a:xfrm>
        </p:grpSpPr>
        <p:sp>
          <p:nvSpPr>
            <p:cNvPr id="14" name="object 14" descr=""/>
            <p:cNvSpPr/>
            <p:nvPr/>
          </p:nvSpPr>
          <p:spPr>
            <a:xfrm>
              <a:off x="8172229" y="3175138"/>
              <a:ext cx="1787525" cy="1460500"/>
            </a:xfrm>
            <a:custGeom>
              <a:avLst/>
              <a:gdLst/>
              <a:ahLst/>
              <a:cxnLst/>
              <a:rect l="l" t="t" r="r" b="b"/>
              <a:pathLst>
                <a:path w="1787525" h="1460500">
                  <a:moveTo>
                    <a:pt x="1787173" y="0"/>
                  </a:moveTo>
                  <a:lnTo>
                    <a:pt x="0" y="0"/>
                  </a:lnTo>
                  <a:lnTo>
                    <a:pt x="0" y="1381241"/>
                  </a:lnTo>
                  <a:lnTo>
                    <a:pt x="58268" y="1397322"/>
                  </a:lnTo>
                  <a:lnTo>
                    <a:pt x="114006" y="1411380"/>
                  </a:lnTo>
                  <a:lnTo>
                    <a:pt x="167332" y="1423491"/>
                  </a:lnTo>
                  <a:lnTo>
                    <a:pt x="218363" y="1433731"/>
                  </a:lnTo>
                  <a:lnTo>
                    <a:pt x="267217" y="1442177"/>
                  </a:lnTo>
                  <a:lnTo>
                    <a:pt x="314012" y="1448905"/>
                  </a:lnTo>
                  <a:lnTo>
                    <a:pt x="358866" y="1453992"/>
                  </a:lnTo>
                  <a:lnTo>
                    <a:pt x="401895" y="1457513"/>
                  </a:lnTo>
                  <a:lnTo>
                    <a:pt x="443218" y="1459547"/>
                  </a:lnTo>
                  <a:lnTo>
                    <a:pt x="482953" y="1460168"/>
                  </a:lnTo>
                  <a:lnTo>
                    <a:pt x="521216" y="1459454"/>
                  </a:lnTo>
                  <a:lnTo>
                    <a:pt x="593802" y="1454324"/>
                  </a:lnTo>
                  <a:lnTo>
                    <a:pt x="661915" y="1444769"/>
                  </a:lnTo>
                  <a:lnTo>
                    <a:pt x="726498" y="1431399"/>
                  </a:lnTo>
                  <a:lnTo>
                    <a:pt x="788493" y="1414827"/>
                  </a:lnTo>
                  <a:lnTo>
                    <a:pt x="848840" y="1395663"/>
                  </a:lnTo>
                  <a:lnTo>
                    <a:pt x="908481" y="1374519"/>
                  </a:lnTo>
                  <a:lnTo>
                    <a:pt x="1060673" y="1317007"/>
                  </a:lnTo>
                  <a:lnTo>
                    <a:pt x="1092582" y="1305319"/>
                  </a:lnTo>
                  <a:lnTo>
                    <a:pt x="1158813" y="1282368"/>
                  </a:lnTo>
                  <a:lnTo>
                    <a:pt x="1229045" y="1260493"/>
                  </a:lnTo>
                  <a:lnTo>
                    <a:pt x="1265955" y="1250151"/>
                  </a:lnTo>
                  <a:lnTo>
                    <a:pt x="1304219" y="1240307"/>
                  </a:lnTo>
                  <a:lnTo>
                    <a:pt x="1343953" y="1231038"/>
                  </a:lnTo>
                  <a:lnTo>
                    <a:pt x="1385277" y="1222420"/>
                  </a:lnTo>
                  <a:lnTo>
                    <a:pt x="1428306" y="1214529"/>
                  </a:lnTo>
                  <a:lnTo>
                    <a:pt x="1473160" y="1207443"/>
                  </a:lnTo>
                  <a:lnTo>
                    <a:pt x="1519955" y="1201238"/>
                  </a:lnTo>
                  <a:lnTo>
                    <a:pt x="1568809" y="1195989"/>
                  </a:lnTo>
                  <a:lnTo>
                    <a:pt x="1619840" y="1191774"/>
                  </a:lnTo>
                  <a:lnTo>
                    <a:pt x="1673166" y="1188668"/>
                  </a:lnTo>
                  <a:lnTo>
                    <a:pt x="1728904" y="1186749"/>
                  </a:lnTo>
                  <a:lnTo>
                    <a:pt x="1787173" y="1186092"/>
                  </a:lnTo>
                  <a:lnTo>
                    <a:pt x="1787173" y="0"/>
                  </a:lnTo>
                  <a:close/>
                </a:path>
              </a:pathLst>
            </a:custGeom>
            <a:solidFill>
              <a:srgbClr val="2626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172229" y="3175138"/>
              <a:ext cx="1787525" cy="1460500"/>
            </a:xfrm>
            <a:custGeom>
              <a:avLst/>
              <a:gdLst/>
              <a:ahLst/>
              <a:cxnLst/>
              <a:rect l="l" t="t" r="r" b="b"/>
              <a:pathLst>
                <a:path w="1787525" h="1460500">
                  <a:moveTo>
                    <a:pt x="0" y="0"/>
                  </a:moveTo>
                  <a:lnTo>
                    <a:pt x="1787172" y="0"/>
                  </a:lnTo>
                  <a:lnTo>
                    <a:pt x="1787172" y="1186092"/>
                  </a:lnTo>
                  <a:lnTo>
                    <a:pt x="1728903" y="1186749"/>
                  </a:lnTo>
                  <a:lnTo>
                    <a:pt x="1673165" y="1188668"/>
                  </a:lnTo>
                  <a:lnTo>
                    <a:pt x="1619839" y="1191774"/>
                  </a:lnTo>
                  <a:lnTo>
                    <a:pt x="1568808" y="1195989"/>
                  </a:lnTo>
                  <a:lnTo>
                    <a:pt x="1519954" y="1201238"/>
                  </a:lnTo>
                  <a:lnTo>
                    <a:pt x="1473159" y="1207443"/>
                  </a:lnTo>
                  <a:lnTo>
                    <a:pt x="1428306" y="1214529"/>
                  </a:lnTo>
                  <a:lnTo>
                    <a:pt x="1385276" y="1222420"/>
                  </a:lnTo>
                  <a:lnTo>
                    <a:pt x="1343953" y="1231038"/>
                  </a:lnTo>
                  <a:lnTo>
                    <a:pt x="1304218" y="1240307"/>
                  </a:lnTo>
                  <a:lnTo>
                    <a:pt x="1265955" y="1250151"/>
                  </a:lnTo>
                  <a:lnTo>
                    <a:pt x="1229044" y="1260493"/>
                  </a:lnTo>
                  <a:lnTo>
                    <a:pt x="1158813" y="1282368"/>
                  </a:lnTo>
                  <a:lnTo>
                    <a:pt x="1092582" y="1305319"/>
                  </a:lnTo>
                  <a:lnTo>
                    <a:pt x="1029411" y="1328735"/>
                  </a:lnTo>
                  <a:lnTo>
                    <a:pt x="968358" y="1352006"/>
                  </a:lnTo>
                  <a:lnTo>
                    <a:pt x="938331" y="1363395"/>
                  </a:lnTo>
                  <a:lnTo>
                    <a:pt x="878690" y="1385300"/>
                  </a:lnTo>
                  <a:lnTo>
                    <a:pt x="818814" y="1405530"/>
                  </a:lnTo>
                  <a:lnTo>
                    <a:pt x="757760" y="1423475"/>
                  </a:lnTo>
                  <a:lnTo>
                    <a:pt x="694589" y="1438522"/>
                  </a:lnTo>
                  <a:lnTo>
                    <a:pt x="628358" y="1450061"/>
                  </a:lnTo>
                  <a:lnTo>
                    <a:pt x="558127" y="1457480"/>
                  </a:lnTo>
                  <a:lnTo>
                    <a:pt x="482953" y="1460168"/>
                  </a:lnTo>
                  <a:lnTo>
                    <a:pt x="443218" y="1459547"/>
                  </a:lnTo>
                  <a:lnTo>
                    <a:pt x="401895" y="1457513"/>
                  </a:lnTo>
                  <a:lnTo>
                    <a:pt x="358866" y="1453991"/>
                  </a:lnTo>
                  <a:lnTo>
                    <a:pt x="314012" y="1448904"/>
                  </a:lnTo>
                  <a:lnTo>
                    <a:pt x="267217" y="1442176"/>
                  </a:lnTo>
                  <a:lnTo>
                    <a:pt x="218363" y="1433730"/>
                  </a:lnTo>
                  <a:lnTo>
                    <a:pt x="167332" y="1423490"/>
                  </a:lnTo>
                  <a:lnTo>
                    <a:pt x="114006" y="1411380"/>
                  </a:lnTo>
                  <a:lnTo>
                    <a:pt x="58268" y="1397322"/>
                  </a:lnTo>
                  <a:lnTo>
                    <a:pt x="0" y="1381241"/>
                  </a:lnTo>
                  <a:lnTo>
                    <a:pt x="0" y="0"/>
                  </a:lnTo>
                  <a:close/>
                </a:path>
              </a:pathLst>
            </a:custGeom>
            <a:ln w="26288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8573470" y="3318147"/>
            <a:ext cx="986790" cy="8851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2700" marR="5080" indent="19685">
              <a:lnSpc>
                <a:spcPct val="98400"/>
              </a:lnSpc>
              <a:spcBef>
                <a:spcPts val="135"/>
              </a:spcBef>
            </a:pPr>
            <a:r>
              <a:rPr dirty="0" sz="1900" spc="-10">
                <a:solidFill>
                  <a:srgbClr val="FFFFFF"/>
                </a:solidFill>
                <a:latin typeface="Arial MT"/>
                <a:cs typeface="Arial MT"/>
              </a:rPr>
              <a:t>Learning </a:t>
            </a:r>
            <a:r>
              <a:rPr dirty="0" sz="1900" spc="-30">
                <a:solidFill>
                  <a:srgbClr val="FFFFFF"/>
                </a:solidFill>
                <a:latin typeface="Arial MT"/>
                <a:cs typeface="Arial MT"/>
              </a:rPr>
              <a:t>“Healthy” </a:t>
            </a:r>
            <a:r>
              <a:rPr dirty="0" sz="1900" spc="-10">
                <a:solidFill>
                  <a:srgbClr val="FFFFFF"/>
                </a:solidFill>
                <a:latin typeface="Arial MT"/>
                <a:cs typeface="Arial MT"/>
              </a:rPr>
              <a:t>Concept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1333996" y="2624611"/>
            <a:ext cx="1266825" cy="223520"/>
          </a:xfrm>
          <a:custGeom>
            <a:avLst/>
            <a:gdLst/>
            <a:ahLst/>
            <a:cxnLst/>
            <a:rect l="l" t="t" r="r" b="b"/>
            <a:pathLst>
              <a:path w="1266825" h="223519">
                <a:moveTo>
                  <a:pt x="0" y="223497"/>
                </a:moveTo>
                <a:lnTo>
                  <a:pt x="1462" y="180000"/>
                </a:lnTo>
                <a:lnTo>
                  <a:pt x="5452" y="144479"/>
                </a:lnTo>
                <a:lnTo>
                  <a:pt x="11369" y="120530"/>
                </a:lnTo>
                <a:lnTo>
                  <a:pt x="18616" y="111748"/>
                </a:lnTo>
                <a:lnTo>
                  <a:pt x="614614" y="111748"/>
                </a:lnTo>
                <a:lnTo>
                  <a:pt x="621860" y="102967"/>
                </a:lnTo>
                <a:lnTo>
                  <a:pt x="627777" y="79018"/>
                </a:lnTo>
                <a:lnTo>
                  <a:pt x="631767" y="43497"/>
                </a:lnTo>
                <a:lnTo>
                  <a:pt x="633230" y="0"/>
                </a:lnTo>
                <a:lnTo>
                  <a:pt x="634693" y="43497"/>
                </a:lnTo>
                <a:lnTo>
                  <a:pt x="638682" y="79018"/>
                </a:lnTo>
                <a:lnTo>
                  <a:pt x="644600" y="102967"/>
                </a:lnTo>
                <a:lnTo>
                  <a:pt x="651846" y="111748"/>
                </a:lnTo>
                <a:lnTo>
                  <a:pt x="1247844" y="111748"/>
                </a:lnTo>
                <a:lnTo>
                  <a:pt x="1255090" y="120530"/>
                </a:lnTo>
                <a:lnTo>
                  <a:pt x="1261008" y="144479"/>
                </a:lnTo>
                <a:lnTo>
                  <a:pt x="1264997" y="180000"/>
                </a:lnTo>
                <a:lnTo>
                  <a:pt x="1266460" y="223497"/>
                </a:lnTo>
              </a:path>
            </a:pathLst>
          </a:custGeom>
          <a:ln w="9855">
            <a:solidFill>
              <a:srgbClr val="B6DCD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8" name="object 18" descr=""/>
          <p:cNvGraphicFramePr>
            <a:graphicFrameLocks noGrp="1"/>
          </p:cNvGraphicFramePr>
          <p:nvPr/>
        </p:nvGraphicFramePr>
        <p:xfrm>
          <a:off x="3871842" y="2710070"/>
          <a:ext cx="3495040" cy="2840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0230"/>
                <a:gridCol w="483234"/>
                <a:gridCol w="480059"/>
                <a:gridCol w="521334"/>
                <a:gridCol w="913765"/>
                <a:gridCol w="424179"/>
              </a:tblGrid>
              <a:tr h="354965">
                <a:tc>
                  <a:txBody>
                    <a:bodyPr/>
                    <a:lstStyle/>
                    <a:p>
                      <a:pPr algn="ctr" marR="3873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700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BP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430">
                    <a:lnL w="28575">
                      <a:solidFill>
                        <a:srgbClr val="89A4A7"/>
                      </a:solidFill>
                      <a:prstDash val="solid"/>
                    </a:lnL>
                    <a:lnT w="28575">
                      <a:solidFill>
                        <a:srgbClr val="89A4A7"/>
                      </a:solidFill>
                      <a:prstDash val="solid"/>
                    </a:lnT>
                    <a:lnB w="28575">
                      <a:solidFill>
                        <a:srgbClr val="89A4A7"/>
                      </a:solidFill>
                      <a:prstDash val="solid"/>
                    </a:lnB>
                    <a:solidFill>
                      <a:srgbClr val="26267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430">
                    <a:lnT w="28575">
                      <a:solidFill>
                        <a:srgbClr val="89A4A7"/>
                      </a:solidFill>
                      <a:prstDash val="solid"/>
                    </a:lnT>
                    <a:lnB w="28575">
                      <a:solidFill>
                        <a:srgbClr val="89A4A7"/>
                      </a:solidFill>
                      <a:prstDash val="solid"/>
                    </a:lnB>
                    <a:solidFill>
                      <a:srgbClr val="26267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47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430">
                    <a:lnT w="28575">
                      <a:solidFill>
                        <a:srgbClr val="89A4A7"/>
                      </a:solidFill>
                      <a:prstDash val="solid"/>
                    </a:lnT>
                    <a:lnB w="28575">
                      <a:solidFill>
                        <a:srgbClr val="89A4A7"/>
                      </a:solidFill>
                      <a:prstDash val="solid"/>
                    </a:lnB>
                    <a:solidFill>
                      <a:srgbClr val="262673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076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430">
                    <a:lnT w="28575">
                      <a:solidFill>
                        <a:srgbClr val="89A4A7"/>
                      </a:solidFill>
                      <a:prstDash val="solid"/>
                    </a:lnT>
                    <a:lnB w="28575">
                      <a:solidFill>
                        <a:srgbClr val="89A4A7"/>
                      </a:solidFill>
                      <a:prstDash val="solid"/>
                    </a:lnB>
                    <a:solidFill>
                      <a:srgbClr val="262673"/>
                    </a:solidFill>
                  </a:tcPr>
                </a:tc>
                <a:tc>
                  <a:txBody>
                    <a:bodyPr/>
                    <a:lstStyle/>
                    <a:p>
                      <a:pPr marL="20002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430">
                    <a:lnR w="28575">
                      <a:solidFill>
                        <a:srgbClr val="89A4A7"/>
                      </a:solidFill>
                      <a:prstDash val="solid"/>
                    </a:lnR>
                    <a:lnT w="28575">
                      <a:solidFill>
                        <a:srgbClr val="89A4A7"/>
                      </a:solidFill>
                      <a:prstDash val="solid"/>
                    </a:lnT>
                    <a:lnB w="28575">
                      <a:solidFill>
                        <a:srgbClr val="89A4A7"/>
                      </a:solidFill>
                      <a:prstDash val="solid"/>
                    </a:lnB>
                    <a:solidFill>
                      <a:srgbClr val="26267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8575">
                        <a:lnSpc>
                          <a:spcPts val="1814"/>
                        </a:lnSpc>
                      </a:pPr>
                      <a:r>
                        <a:rPr dirty="0" sz="1700" spc="-5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89A4A7"/>
                      </a:solidFill>
                      <a:prstDash val="solid"/>
                    </a:lnL>
                    <a:lnR w="28575">
                      <a:solidFill>
                        <a:srgbClr val="89A4A7"/>
                      </a:solidFill>
                      <a:prstDash val="solid"/>
                    </a:lnR>
                    <a:lnT w="28575">
                      <a:solidFill>
                        <a:srgbClr val="89A4A7"/>
                      </a:solidFill>
                      <a:prstDash val="solid"/>
                    </a:lnT>
                    <a:lnB w="28575">
                      <a:solidFill>
                        <a:srgbClr val="89A4A7"/>
                      </a:solidFill>
                      <a:prstDash val="solid"/>
                    </a:lnB>
                    <a:solidFill>
                      <a:srgbClr val="262673"/>
                    </a:solidFill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algn="ctr" marR="7620">
                        <a:lnSpc>
                          <a:spcPts val="2020"/>
                        </a:lnSpc>
                        <a:spcBef>
                          <a:spcPts val="530"/>
                        </a:spcBef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7310">
                    <a:lnL w="28575">
                      <a:solidFill>
                        <a:srgbClr val="89A4A7"/>
                      </a:solidFill>
                      <a:prstDash val="solid"/>
                    </a:lnL>
                    <a:lnT w="28575">
                      <a:solidFill>
                        <a:srgbClr val="89A4A7"/>
                      </a:solidFill>
                      <a:prstDash val="solid"/>
                    </a:lnT>
                    <a:solidFill>
                      <a:srgbClr val="2626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20"/>
                        </a:lnSpc>
                        <a:spcBef>
                          <a:spcPts val="530"/>
                        </a:spcBef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7310">
                    <a:lnT w="28575">
                      <a:solidFill>
                        <a:srgbClr val="89A4A7"/>
                      </a:solidFill>
                      <a:prstDash val="solid"/>
                    </a:lnT>
                    <a:solidFill>
                      <a:srgbClr val="26267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0330">
                        <a:lnSpc>
                          <a:spcPts val="2020"/>
                        </a:lnSpc>
                        <a:spcBef>
                          <a:spcPts val="530"/>
                        </a:spcBef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7310">
                    <a:lnT w="28575">
                      <a:solidFill>
                        <a:srgbClr val="89A4A7"/>
                      </a:solidFill>
                      <a:prstDash val="solid"/>
                    </a:lnT>
                    <a:solidFill>
                      <a:srgbClr val="262673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92405">
                        <a:lnSpc>
                          <a:spcPts val="2020"/>
                        </a:lnSpc>
                        <a:spcBef>
                          <a:spcPts val="530"/>
                        </a:spcBef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7310">
                    <a:lnT w="28575">
                      <a:solidFill>
                        <a:srgbClr val="89A4A7"/>
                      </a:solidFill>
                      <a:prstDash val="solid"/>
                    </a:lnT>
                    <a:solidFill>
                      <a:srgbClr val="262673"/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2020"/>
                        </a:lnSpc>
                        <a:spcBef>
                          <a:spcPts val="530"/>
                        </a:spcBef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7310">
                    <a:lnR w="28575">
                      <a:solidFill>
                        <a:srgbClr val="89A4A7"/>
                      </a:solidFill>
                      <a:prstDash val="solid"/>
                    </a:lnR>
                    <a:lnT w="28575">
                      <a:solidFill>
                        <a:srgbClr val="89A4A7"/>
                      </a:solidFill>
                      <a:prstDash val="solid"/>
                    </a:lnT>
                    <a:solidFill>
                      <a:srgbClr val="262673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41910" marR="101600">
                        <a:lnSpc>
                          <a:spcPct val="104000"/>
                        </a:lnSpc>
                        <a:spcBef>
                          <a:spcPts val="280"/>
                        </a:spcBef>
                      </a:pPr>
                      <a:r>
                        <a:rPr dirty="0" sz="1400" spc="-5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H</a:t>
                      </a:r>
                      <a:r>
                        <a:rPr dirty="0" sz="1400" spc="50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H 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NH 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H 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NH NH 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H</a:t>
                      </a:r>
                      <a:endParaRPr sz="14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35560">
                    <a:lnL w="28575">
                      <a:solidFill>
                        <a:srgbClr val="89A4A7"/>
                      </a:solidFill>
                      <a:prstDash val="solid"/>
                    </a:lnL>
                    <a:lnR w="28575">
                      <a:solidFill>
                        <a:srgbClr val="89A4A7"/>
                      </a:solidFill>
                      <a:prstDash val="solid"/>
                    </a:lnR>
                    <a:lnT w="28575">
                      <a:solidFill>
                        <a:srgbClr val="89A4A7"/>
                      </a:solidFill>
                      <a:prstDash val="solid"/>
                    </a:lnT>
                    <a:lnB w="28575">
                      <a:solidFill>
                        <a:srgbClr val="89A4A7"/>
                      </a:solidFill>
                      <a:prstDash val="solid"/>
                    </a:lnB>
                    <a:solidFill>
                      <a:srgbClr val="262673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 marR="7620">
                        <a:lnSpc>
                          <a:spcPts val="1905"/>
                        </a:lnSpc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89A4A7"/>
                      </a:solidFill>
                      <a:prstDash val="solid"/>
                    </a:lnL>
                    <a:solidFill>
                      <a:srgbClr val="2626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5"/>
                        </a:lnSpc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6267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0330">
                        <a:lnSpc>
                          <a:spcPts val="1905"/>
                        </a:lnSpc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62673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92405">
                        <a:lnSpc>
                          <a:spcPts val="1905"/>
                        </a:lnSpc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62673"/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05"/>
                        </a:lnSpc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89A4A7"/>
                      </a:solidFill>
                      <a:prstDash val="solid"/>
                    </a:lnR>
                    <a:solidFill>
                      <a:srgbClr val="262673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5560">
                    <a:lnL w="28575">
                      <a:solidFill>
                        <a:srgbClr val="89A4A7"/>
                      </a:solidFill>
                      <a:prstDash val="solid"/>
                    </a:lnL>
                    <a:lnR w="28575">
                      <a:solidFill>
                        <a:srgbClr val="89A4A7"/>
                      </a:solidFill>
                      <a:prstDash val="solid"/>
                    </a:lnR>
                    <a:lnT w="28575">
                      <a:solidFill>
                        <a:srgbClr val="89A4A7"/>
                      </a:solidFill>
                      <a:prstDash val="solid"/>
                    </a:lnT>
                    <a:lnB w="28575">
                      <a:solidFill>
                        <a:srgbClr val="89A4A7"/>
                      </a:solidFill>
                      <a:prstDash val="solid"/>
                    </a:lnB>
                    <a:solidFill>
                      <a:srgbClr val="262673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 marR="7620">
                        <a:lnSpc>
                          <a:spcPts val="1905"/>
                        </a:lnSpc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89A4A7"/>
                      </a:solidFill>
                      <a:prstDash val="solid"/>
                    </a:lnL>
                    <a:solidFill>
                      <a:srgbClr val="2626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5"/>
                        </a:lnSpc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6267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0330">
                        <a:lnSpc>
                          <a:spcPts val="1905"/>
                        </a:lnSpc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62673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92405">
                        <a:lnSpc>
                          <a:spcPts val="1905"/>
                        </a:lnSpc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62673"/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05"/>
                        </a:lnSpc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89A4A7"/>
                      </a:solidFill>
                      <a:prstDash val="solid"/>
                    </a:lnR>
                    <a:solidFill>
                      <a:srgbClr val="262673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5560">
                    <a:lnL w="28575">
                      <a:solidFill>
                        <a:srgbClr val="89A4A7"/>
                      </a:solidFill>
                      <a:prstDash val="solid"/>
                    </a:lnL>
                    <a:lnR w="28575">
                      <a:solidFill>
                        <a:srgbClr val="89A4A7"/>
                      </a:solidFill>
                      <a:prstDash val="solid"/>
                    </a:lnR>
                    <a:lnT w="28575">
                      <a:solidFill>
                        <a:srgbClr val="89A4A7"/>
                      </a:solidFill>
                      <a:prstDash val="solid"/>
                    </a:lnT>
                    <a:lnB w="28575">
                      <a:solidFill>
                        <a:srgbClr val="89A4A7"/>
                      </a:solidFill>
                      <a:prstDash val="solid"/>
                    </a:lnB>
                    <a:solidFill>
                      <a:srgbClr val="262673"/>
                    </a:solidFill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algn="ctr" marR="7620">
                        <a:lnSpc>
                          <a:spcPts val="1889"/>
                        </a:lnSpc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89A4A7"/>
                      </a:solidFill>
                      <a:prstDash val="solid"/>
                    </a:lnL>
                    <a:solidFill>
                      <a:srgbClr val="2626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9"/>
                        </a:lnSpc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6267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0330">
                        <a:lnSpc>
                          <a:spcPts val="1889"/>
                        </a:lnSpc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62673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92405">
                        <a:lnSpc>
                          <a:spcPts val="1889"/>
                        </a:lnSpc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62673"/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889"/>
                        </a:lnSpc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89A4A7"/>
                      </a:solidFill>
                      <a:prstDash val="solid"/>
                    </a:lnR>
                    <a:solidFill>
                      <a:srgbClr val="262673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5560">
                    <a:lnL w="28575">
                      <a:solidFill>
                        <a:srgbClr val="89A4A7"/>
                      </a:solidFill>
                      <a:prstDash val="solid"/>
                    </a:lnL>
                    <a:lnR w="28575">
                      <a:solidFill>
                        <a:srgbClr val="89A4A7"/>
                      </a:solidFill>
                      <a:prstDash val="solid"/>
                    </a:lnR>
                    <a:lnT w="28575">
                      <a:solidFill>
                        <a:srgbClr val="89A4A7"/>
                      </a:solidFill>
                      <a:prstDash val="solid"/>
                    </a:lnT>
                    <a:lnB w="28575">
                      <a:solidFill>
                        <a:srgbClr val="89A4A7"/>
                      </a:solidFill>
                      <a:prstDash val="solid"/>
                    </a:lnB>
                    <a:solidFill>
                      <a:srgbClr val="262673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 marR="7620">
                        <a:lnSpc>
                          <a:spcPts val="1905"/>
                        </a:lnSpc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89A4A7"/>
                      </a:solidFill>
                      <a:prstDash val="solid"/>
                    </a:lnL>
                    <a:solidFill>
                      <a:srgbClr val="2626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5"/>
                        </a:lnSpc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6267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0330">
                        <a:lnSpc>
                          <a:spcPts val="1905"/>
                        </a:lnSpc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62673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92405">
                        <a:lnSpc>
                          <a:spcPts val="1905"/>
                        </a:lnSpc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62673"/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05"/>
                        </a:lnSpc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89A4A7"/>
                      </a:solidFill>
                      <a:prstDash val="solid"/>
                    </a:lnR>
                    <a:solidFill>
                      <a:srgbClr val="262673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5560">
                    <a:lnL w="28575">
                      <a:solidFill>
                        <a:srgbClr val="89A4A7"/>
                      </a:solidFill>
                      <a:prstDash val="solid"/>
                    </a:lnL>
                    <a:lnR w="28575">
                      <a:solidFill>
                        <a:srgbClr val="89A4A7"/>
                      </a:solidFill>
                      <a:prstDash val="solid"/>
                    </a:lnR>
                    <a:lnT w="28575">
                      <a:solidFill>
                        <a:srgbClr val="89A4A7"/>
                      </a:solidFill>
                      <a:prstDash val="solid"/>
                    </a:lnT>
                    <a:lnB w="28575">
                      <a:solidFill>
                        <a:srgbClr val="89A4A7"/>
                      </a:solidFill>
                      <a:prstDash val="solid"/>
                    </a:lnB>
                    <a:solidFill>
                      <a:srgbClr val="262673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 marR="7620">
                        <a:lnSpc>
                          <a:spcPts val="1905"/>
                        </a:lnSpc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89A4A7"/>
                      </a:solidFill>
                      <a:prstDash val="solid"/>
                    </a:lnL>
                    <a:solidFill>
                      <a:srgbClr val="2626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5"/>
                        </a:lnSpc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6267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0330">
                        <a:lnSpc>
                          <a:spcPts val="1905"/>
                        </a:lnSpc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62673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92405">
                        <a:lnSpc>
                          <a:spcPts val="1905"/>
                        </a:lnSpc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62673"/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05"/>
                        </a:lnSpc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89A4A7"/>
                      </a:solidFill>
                      <a:prstDash val="solid"/>
                    </a:lnR>
                    <a:solidFill>
                      <a:srgbClr val="262673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5560">
                    <a:lnL w="28575">
                      <a:solidFill>
                        <a:srgbClr val="89A4A7"/>
                      </a:solidFill>
                      <a:prstDash val="solid"/>
                    </a:lnL>
                    <a:lnR w="28575">
                      <a:solidFill>
                        <a:srgbClr val="89A4A7"/>
                      </a:solidFill>
                      <a:prstDash val="solid"/>
                    </a:lnR>
                    <a:lnT w="28575">
                      <a:solidFill>
                        <a:srgbClr val="89A4A7"/>
                      </a:solidFill>
                      <a:prstDash val="solid"/>
                    </a:lnT>
                    <a:lnB w="28575">
                      <a:solidFill>
                        <a:srgbClr val="89A4A7"/>
                      </a:solidFill>
                      <a:prstDash val="solid"/>
                    </a:lnB>
                    <a:solidFill>
                      <a:srgbClr val="262673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 marR="7620">
                        <a:lnSpc>
                          <a:spcPts val="1905"/>
                        </a:lnSpc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89A4A7"/>
                      </a:solidFill>
                      <a:prstDash val="solid"/>
                    </a:lnL>
                    <a:solidFill>
                      <a:srgbClr val="2626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5"/>
                        </a:lnSpc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6267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0330">
                        <a:lnSpc>
                          <a:spcPts val="1905"/>
                        </a:lnSpc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62673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92405">
                        <a:lnSpc>
                          <a:spcPts val="1905"/>
                        </a:lnSpc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262673"/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05"/>
                        </a:lnSpc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89A4A7"/>
                      </a:solidFill>
                      <a:prstDash val="solid"/>
                    </a:lnR>
                    <a:solidFill>
                      <a:srgbClr val="262673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5560">
                    <a:lnL w="28575">
                      <a:solidFill>
                        <a:srgbClr val="89A4A7"/>
                      </a:solidFill>
                      <a:prstDash val="solid"/>
                    </a:lnL>
                    <a:lnR w="28575">
                      <a:solidFill>
                        <a:srgbClr val="89A4A7"/>
                      </a:solidFill>
                      <a:prstDash val="solid"/>
                    </a:lnR>
                    <a:lnT w="28575">
                      <a:solidFill>
                        <a:srgbClr val="89A4A7"/>
                      </a:solidFill>
                      <a:prstDash val="solid"/>
                    </a:lnT>
                    <a:lnB w="28575">
                      <a:solidFill>
                        <a:srgbClr val="89A4A7"/>
                      </a:solidFill>
                      <a:prstDash val="solid"/>
                    </a:lnB>
                    <a:solidFill>
                      <a:srgbClr val="262673"/>
                    </a:solidFill>
                  </a:tcPr>
                </a:tc>
              </a:tr>
              <a:tr h="626745">
                <a:tc>
                  <a:txBody>
                    <a:bodyPr/>
                    <a:lstStyle/>
                    <a:p>
                      <a:pPr algn="ctr" marR="7620">
                        <a:lnSpc>
                          <a:spcPts val="1920"/>
                        </a:lnSpc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89A4A7"/>
                      </a:solidFill>
                      <a:prstDash val="solid"/>
                    </a:lnL>
                    <a:lnB w="28575">
                      <a:solidFill>
                        <a:srgbClr val="89A4A7"/>
                      </a:solidFill>
                      <a:prstDash val="solid"/>
                    </a:lnB>
                    <a:solidFill>
                      <a:srgbClr val="2626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28575">
                      <a:solidFill>
                        <a:srgbClr val="89A4A7"/>
                      </a:solidFill>
                      <a:prstDash val="solid"/>
                    </a:lnB>
                    <a:solidFill>
                      <a:srgbClr val="26267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0330">
                        <a:lnSpc>
                          <a:spcPts val="1920"/>
                        </a:lnSpc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28575">
                      <a:solidFill>
                        <a:srgbClr val="89A4A7"/>
                      </a:solidFill>
                      <a:prstDash val="solid"/>
                    </a:lnB>
                    <a:solidFill>
                      <a:srgbClr val="262673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92405">
                        <a:lnSpc>
                          <a:spcPts val="1920"/>
                        </a:lnSpc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28575">
                      <a:solidFill>
                        <a:srgbClr val="89A4A7"/>
                      </a:solidFill>
                      <a:prstDash val="solid"/>
                    </a:lnB>
                    <a:solidFill>
                      <a:srgbClr val="262673"/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920"/>
                        </a:lnSpc>
                      </a:pPr>
                      <a:r>
                        <a:rPr dirty="0" sz="1700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89A4A7"/>
                      </a:solidFill>
                      <a:prstDash val="solid"/>
                    </a:lnR>
                    <a:lnB w="28575">
                      <a:solidFill>
                        <a:srgbClr val="89A4A7"/>
                      </a:solidFill>
                      <a:prstDash val="solid"/>
                    </a:lnB>
                    <a:solidFill>
                      <a:srgbClr val="262673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5560">
                    <a:lnL w="28575">
                      <a:solidFill>
                        <a:srgbClr val="89A4A7"/>
                      </a:solidFill>
                      <a:prstDash val="solid"/>
                    </a:lnL>
                    <a:lnR w="28575">
                      <a:solidFill>
                        <a:srgbClr val="89A4A7"/>
                      </a:solidFill>
                      <a:prstDash val="solid"/>
                    </a:lnR>
                    <a:lnT w="28575">
                      <a:solidFill>
                        <a:srgbClr val="89A4A7"/>
                      </a:solidFill>
                      <a:prstDash val="solid"/>
                    </a:lnT>
                    <a:lnB w="28575">
                      <a:solidFill>
                        <a:srgbClr val="89A4A7"/>
                      </a:solidFill>
                      <a:prstDash val="solid"/>
                    </a:lnB>
                    <a:solidFill>
                      <a:srgbClr val="262673"/>
                    </a:solidFill>
                  </a:tcPr>
                </a:tc>
              </a:tr>
            </a:tbl>
          </a:graphicData>
        </a:graphic>
      </p:graphicFrame>
      <p:grpSp>
        <p:nvGrpSpPr>
          <p:cNvPr id="19" name="object 19" descr=""/>
          <p:cNvGrpSpPr/>
          <p:nvPr/>
        </p:nvGrpSpPr>
        <p:grpSpPr>
          <a:xfrm>
            <a:off x="7329560" y="3715804"/>
            <a:ext cx="816610" cy="438784"/>
            <a:chOff x="7329560" y="3715804"/>
            <a:chExt cx="816610" cy="438784"/>
          </a:xfrm>
        </p:grpSpPr>
        <p:sp>
          <p:nvSpPr>
            <p:cNvPr id="20" name="object 20" descr=""/>
            <p:cNvSpPr/>
            <p:nvPr/>
          </p:nvSpPr>
          <p:spPr>
            <a:xfrm>
              <a:off x="7342705" y="3728949"/>
              <a:ext cx="790575" cy="412750"/>
            </a:xfrm>
            <a:custGeom>
              <a:avLst/>
              <a:gdLst/>
              <a:ahLst/>
              <a:cxnLst/>
              <a:rect l="l" t="t" r="r" b="b"/>
              <a:pathLst>
                <a:path w="790575" h="412750">
                  <a:moveTo>
                    <a:pt x="583952" y="0"/>
                  </a:moveTo>
                  <a:lnTo>
                    <a:pt x="583952" y="103120"/>
                  </a:lnTo>
                  <a:lnTo>
                    <a:pt x="0" y="103120"/>
                  </a:lnTo>
                  <a:lnTo>
                    <a:pt x="0" y="309361"/>
                  </a:lnTo>
                  <a:lnTo>
                    <a:pt x="583952" y="309361"/>
                  </a:lnTo>
                  <a:lnTo>
                    <a:pt x="583952" y="412482"/>
                  </a:lnTo>
                  <a:lnTo>
                    <a:pt x="790101" y="206241"/>
                  </a:lnTo>
                  <a:lnTo>
                    <a:pt x="583952" y="0"/>
                  </a:lnTo>
                  <a:close/>
                </a:path>
              </a:pathLst>
            </a:custGeom>
            <a:solidFill>
              <a:srgbClr val="2626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342705" y="3728949"/>
              <a:ext cx="790575" cy="412750"/>
            </a:xfrm>
            <a:custGeom>
              <a:avLst/>
              <a:gdLst/>
              <a:ahLst/>
              <a:cxnLst/>
              <a:rect l="l" t="t" r="r" b="b"/>
              <a:pathLst>
                <a:path w="790575" h="412750">
                  <a:moveTo>
                    <a:pt x="0" y="103120"/>
                  </a:moveTo>
                  <a:lnTo>
                    <a:pt x="583951" y="103120"/>
                  </a:lnTo>
                  <a:lnTo>
                    <a:pt x="583951" y="0"/>
                  </a:lnTo>
                  <a:lnTo>
                    <a:pt x="790100" y="206241"/>
                  </a:lnTo>
                  <a:lnTo>
                    <a:pt x="583951" y="412482"/>
                  </a:lnTo>
                  <a:lnTo>
                    <a:pt x="583951" y="309362"/>
                  </a:lnTo>
                  <a:lnTo>
                    <a:pt x="0" y="309362"/>
                  </a:lnTo>
                  <a:lnTo>
                    <a:pt x="0" y="103120"/>
                  </a:lnTo>
                  <a:close/>
                </a:path>
              </a:pathLst>
            </a:custGeom>
            <a:ln w="26291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1790718" y="6114190"/>
            <a:ext cx="103124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>
                <a:latin typeface="Arial MT"/>
                <a:cs typeface="Arial MT"/>
              </a:rPr>
              <a:t>Supervisor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376844" y="3364894"/>
            <a:ext cx="84645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i="1">
                <a:latin typeface="Times New Roman"/>
                <a:cs typeface="Times New Roman"/>
              </a:rPr>
              <a:t>y</a:t>
            </a:r>
            <a:r>
              <a:rPr dirty="0" sz="1700" spc="385" i="1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(Label)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205656" y="3395374"/>
            <a:ext cx="12128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 i="1">
                <a:latin typeface="Times New Roman"/>
                <a:cs typeface="Times New Roman"/>
              </a:rPr>
              <a:t>x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3860131" y="5684422"/>
            <a:ext cx="1840230" cy="79375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 marR="5080">
              <a:lnSpc>
                <a:spcPts val="1989"/>
              </a:lnSpc>
              <a:spcBef>
                <a:spcPts val="204"/>
              </a:spcBef>
            </a:pPr>
            <a:r>
              <a:rPr dirty="0" sz="1700">
                <a:latin typeface="Arial MT"/>
                <a:cs typeface="Arial MT"/>
              </a:rPr>
              <a:t>BP:</a:t>
            </a:r>
            <a:r>
              <a:rPr dirty="0" sz="1700" spc="-9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Blood</a:t>
            </a:r>
            <a:r>
              <a:rPr dirty="0" sz="1700" spc="-9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pressure </a:t>
            </a:r>
            <a:r>
              <a:rPr dirty="0" sz="1700" spc="-125">
                <a:latin typeface="Arial MT"/>
                <a:cs typeface="Arial MT"/>
              </a:rPr>
              <a:t>T:</a:t>
            </a:r>
            <a:r>
              <a:rPr dirty="0" sz="1700" spc="-3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Temperature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ts val="1960"/>
              </a:lnSpc>
            </a:pPr>
            <a:r>
              <a:rPr dirty="0" sz="1700" spc="-30">
                <a:latin typeface="Arial MT"/>
                <a:cs typeface="Arial MT"/>
              </a:rPr>
              <a:t>A:</a:t>
            </a:r>
            <a:r>
              <a:rPr dirty="0" sz="1700" spc="-10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Age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6089168" y="5717950"/>
            <a:ext cx="1103630" cy="54102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>
              <a:lnSpc>
                <a:spcPts val="2020"/>
              </a:lnSpc>
              <a:spcBef>
                <a:spcPts val="185"/>
              </a:spcBef>
            </a:pPr>
            <a:r>
              <a:rPr dirty="0" sz="1700">
                <a:latin typeface="Arial MT"/>
                <a:cs typeface="Arial MT"/>
              </a:rPr>
              <a:t>G: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Gender </a:t>
            </a:r>
            <a:r>
              <a:rPr dirty="0" sz="1700">
                <a:latin typeface="Arial MT"/>
                <a:cs typeface="Arial MT"/>
              </a:rPr>
              <a:t>S: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35">
                <a:latin typeface="Arial MT"/>
                <a:cs typeface="Arial MT"/>
              </a:rPr>
              <a:t>Smoking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3924410" y="2361676"/>
            <a:ext cx="2551430" cy="250190"/>
          </a:xfrm>
          <a:custGeom>
            <a:avLst/>
            <a:gdLst/>
            <a:ahLst/>
            <a:cxnLst/>
            <a:rect l="l" t="t" r="r" b="b"/>
            <a:pathLst>
              <a:path w="2551429" h="250189">
                <a:moveTo>
                  <a:pt x="0" y="249790"/>
                </a:moveTo>
                <a:lnTo>
                  <a:pt x="1635" y="201175"/>
                </a:lnTo>
                <a:lnTo>
                  <a:pt x="6094" y="161476"/>
                </a:lnTo>
                <a:lnTo>
                  <a:pt x="12707" y="134709"/>
                </a:lnTo>
                <a:lnTo>
                  <a:pt x="20806" y="124895"/>
                </a:lnTo>
                <a:lnTo>
                  <a:pt x="1254689" y="124895"/>
                </a:lnTo>
                <a:lnTo>
                  <a:pt x="1262788" y="115080"/>
                </a:lnTo>
                <a:lnTo>
                  <a:pt x="1269401" y="88314"/>
                </a:lnTo>
                <a:lnTo>
                  <a:pt x="1273860" y="48614"/>
                </a:lnTo>
                <a:lnTo>
                  <a:pt x="1275495" y="0"/>
                </a:lnTo>
                <a:lnTo>
                  <a:pt x="1277130" y="48614"/>
                </a:lnTo>
                <a:lnTo>
                  <a:pt x="1281589" y="88314"/>
                </a:lnTo>
                <a:lnTo>
                  <a:pt x="1288203" y="115080"/>
                </a:lnTo>
                <a:lnTo>
                  <a:pt x="1296302" y="124895"/>
                </a:lnTo>
                <a:lnTo>
                  <a:pt x="2530185" y="124895"/>
                </a:lnTo>
                <a:lnTo>
                  <a:pt x="2538284" y="134709"/>
                </a:lnTo>
                <a:lnTo>
                  <a:pt x="2544897" y="161476"/>
                </a:lnTo>
                <a:lnTo>
                  <a:pt x="2549356" y="201175"/>
                </a:lnTo>
                <a:lnTo>
                  <a:pt x="2550991" y="249790"/>
                </a:lnTo>
              </a:path>
            </a:pathLst>
          </a:custGeom>
          <a:ln w="9855">
            <a:solidFill>
              <a:srgbClr val="B6DCD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796311" y="1248520"/>
            <a:ext cx="6748145" cy="1346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b="1">
                <a:latin typeface="Arial"/>
                <a:cs typeface="Arial"/>
              </a:rPr>
              <a:t>The</a:t>
            </a:r>
            <a:r>
              <a:rPr dirty="0" sz="2500" spc="-70" b="1">
                <a:latin typeface="Arial"/>
                <a:cs typeface="Arial"/>
              </a:rPr>
              <a:t> </a:t>
            </a:r>
            <a:r>
              <a:rPr dirty="0" sz="2500" b="1">
                <a:latin typeface="Arial"/>
                <a:cs typeface="Arial"/>
              </a:rPr>
              <a:t>labels</a:t>
            </a:r>
            <a:r>
              <a:rPr dirty="0" sz="2500" spc="-65" b="1">
                <a:latin typeface="Arial"/>
                <a:cs typeface="Arial"/>
              </a:rPr>
              <a:t> </a:t>
            </a:r>
            <a:r>
              <a:rPr dirty="0" sz="2500" b="1">
                <a:latin typeface="Arial"/>
                <a:cs typeface="Arial"/>
              </a:rPr>
              <a:t>come</a:t>
            </a:r>
            <a:r>
              <a:rPr dirty="0" sz="2500" spc="-70" b="1">
                <a:latin typeface="Arial"/>
                <a:cs typeface="Arial"/>
              </a:rPr>
              <a:t> </a:t>
            </a:r>
            <a:r>
              <a:rPr dirty="0" sz="2500" b="1">
                <a:latin typeface="Arial"/>
                <a:cs typeface="Arial"/>
              </a:rPr>
              <a:t>from</a:t>
            </a:r>
            <a:r>
              <a:rPr dirty="0" sz="2500" spc="-60" b="1">
                <a:latin typeface="Arial"/>
                <a:cs typeface="Arial"/>
              </a:rPr>
              <a:t> </a:t>
            </a:r>
            <a:r>
              <a:rPr dirty="0" sz="2500" b="1" i="1">
                <a:solidFill>
                  <a:srgbClr val="0070C0"/>
                </a:solidFill>
                <a:latin typeface="Arial"/>
                <a:cs typeface="Arial"/>
              </a:rPr>
              <a:t>human</a:t>
            </a:r>
            <a:r>
              <a:rPr dirty="0" sz="2500" spc="-75" b="1" i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500" spc="-10" b="1" i="1">
                <a:solidFill>
                  <a:srgbClr val="0070C0"/>
                </a:solidFill>
                <a:latin typeface="Arial"/>
                <a:cs typeface="Arial"/>
              </a:rPr>
              <a:t>intelligence</a:t>
            </a:r>
            <a:endParaRPr sz="2500">
              <a:latin typeface="Arial"/>
              <a:cs typeface="Arial"/>
            </a:endParaRPr>
          </a:p>
          <a:p>
            <a:pPr marL="3386454">
              <a:lnSpc>
                <a:spcPct val="100000"/>
              </a:lnSpc>
              <a:spcBef>
                <a:spcPts val="2335"/>
              </a:spcBef>
            </a:pPr>
            <a:r>
              <a:rPr dirty="0" sz="1700" spc="-30">
                <a:latin typeface="Arial MT"/>
                <a:cs typeface="Arial MT"/>
              </a:rPr>
              <a:t>X:</a:t>
            </a:r>
            <a:r>
              <a:rPr dirty="0" sz="1700" spc="-11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Attributes</a:t>
            </a:r>
            <a:r>
              <a:rPr dirty="0" sz="1700" spc="-3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(Features,</a:t>
            </a:r>
            <a:r>
              <a:rPr dirty="0" sz="1700" spc="-1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Descriptors)</a:t>
            </a:r>
            <a:endParaRPr sz="1700">
              <a:latin typeface="Arial MT"/>
              <a:cs typeface="Arial MT"/>
            </a:endParaRPr>
          </a:p>
          <a:p>
            <a:pPr marL="19050">
              <a:lnSpc>
                <a:spcPct val="100000"/>
              </a:lnSpc>
              <a:spcBef>
                <a:spcPts val="985"/>
              </a:spcBef>
            </a:pPr>
            <a:r>
              <a:rPr dirty="0" sz="1700" spc="-30">
                <a:latin typeface="Arial MT"/>
                <a:cs typeface="Arial MT"/>
              </a:rPr>
              <a:t>Labeled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 spc="-30">
                <a:latin typeface="Arial MT"/>
                <a:cs typeface="Arial MT"/>
              </a:rPr>
              <a:t>example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/</a:t>
            </a:r>
            <a:r>
              <a:rPr dirty="0" sz="1700" spc="-3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Concept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8242646" y="4800503"/>
            <a:ext cx="1511935" cy="537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014"/>
              </a:lnSpc>
              <a:spcBef>
                <a:spcPts val="100"/>
              </a:spcBef>
            </a:pPr>
            <a:r>
              <a:rPr dirty="0" sz="1700">
                <a:latin typeface="Arial MT"/>
                <a:cs typeface="Arial MT"/>
              </a:rPr>
              <a:t>H: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Healthy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ts val="2014"/>
              </a:lnSpc>
            </a:pPr>
            <a:r>
              <a:rPr dirty="0" sz="1700">
                <a:latin typeface="Arial MT"/>
                <a:cs typeface="Arial MT"/>
              </a:rPr>
              <a:t>NH:</a:t>
            </a:r>
            <a:r>
              <a:rPr dirty="0" sz="1700" spc="-10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Not</a:t>
            </a:r>
            <a:r>
              <a:rPr dirty="0" sz="1700" spc="-10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healthy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2223770" marR="5080" indent="-407670">
              <a:lnSpc>
                <a:spcPct val="101600"/>
              </a:lnSpc>
              <a:spcBef>
                <a:spcPts val="30"/>
              </a:spcBef>
            </a:pPr>
            <a:r>
              <a:rPr dirty="0" sz="3700" b="0">
                <a:solidFill>
                  <a:srgbClr val="0D0D0D"/>
                </a:solidFill>
                <a:latin typeface="Arial MT"/>
                <a:cs typeface="Arial MT"/>
              </a:rPr>
              <a:t>Supervised</a:t>
            </a:r>
            <a:r>
              <a:rPr dirty="0" sz="3700" spc="-45" b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3700" b="0">
                <a:solidFill>
                  <a:srgbClr val="0D0D0D"/>
                </a:solidFill>
                <a:latin typeface="Arial MT"/>
                <a:cs typeface="Arial MT"/>
              </a:rPr>
              <a:t>Learning</a:t>
            </a:r>
            <a:r>
              <a:rPr dirty="0" sz="3700" spc="-25" b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3700" spc="-50" b="0">
                <a:solidFill>
                  <a:srgbClr val="0D0D0D"/>
                </a:solidFill>
                <a:latin typeface="Arial MT"/>
                <a:cs typeface="Arial MT"/>
              </a:rPr>
              <a:t>– </a:t>
            </a:r>
            <a:r>
              <a:rPr dirty="0" sz="3700" b="0">
                <a:solidFill>
                  <a:srgbClr val="0D0D0D"/>
                </a:solidFill>
                <a:latin typeface="Arial MT"/>
                <a:cs typeface="Arial MT"/>
              </a:rPr>
              <a:t>Types</a:t>
            </a:r>
            <a:r>
              <a:rPr dirty="0" sz="3700" spc="-110" b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3700" b="0">
                <a:solidFill>
                  <a:srgbClr val="0D0D0D"/>
                </a:solidFill>
                <a:latin typeface="Arial MT"/>
                <a:cs typeface="Arial MT"/>
              </a:rPr>
              <a:t>of</a:t>
            </a:r>
            <a:r>
              <a:rPr dirty="0" sz="3700" spc="-114" b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3700" spc="-10" b="0">
                <a:solidFill>
                  <a:srgbClr val="0D0D0D"/>
                </a:solidFill>
                <a:latin typeface="Arial MT"/>
                <a:cs typeface="Arial MT"/>
              </a:rPr>
              <a:t>Problems</a:t>
            </a:r>
            <a:endParaRPr sz="37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60705" y="1717947"/>
            <a:ext cx="6304280" cy="46488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2700" marR="207645">
              <a:lnSpc>
                <a:spcPct val="98400"/>
              </a:lnSpc>
              <a:spcBef>
                <a:spcPts val="135"/>
              </a:spcBef>
            </a:pPr>
            <a:r>
              <a:rPr dirty="0" sz="1900" spc="-25" b="1">
                <a:solidFill>
                  <a:srgbClr val="2D2D8A"/>
                </a:solidFill>
                <a:latin typeface="Arial"/>
                <a:cs typeface="Arial"/>
              </a:rPr>
              <a:t>Supervised</a:t>
            </a:r>
            <a:r>
              <a:rPr dirty="0" sz="1900" spc="-90" b="1">
                <a:solidFill>
                  <a:srgbClr val="2D2D8A"/>
                </a:solidFill>
                <a:latin typeface="Arial"/>
                <a:cs typeface="Arial"/>
              </a:rPr>
              <a:t> </a:t>
            </a:r>
            <a:r>
              <a:rPr dirty="0" sz="1900" spc="-25" b="1">
                <a:solidFill>
                  <a:srgbClr val="2D2D8A"/>
                </a:solidFill>
                <a:latin typeface="Arial"/>
                <a:cs typeface="Arial"/>
              </a:rPr>
              <a:t>Methods</a:t>
            </a:r>
            <a:r>
              <a:rPr dirty="0" sz="1900" spc="-90" b="1">
                <a:solidFill>
                  <a:srgbClr val="2D2D8A"/>
                </a:solidFill>
                <a:latin typeface="Arial"/>
                <a:cs typeface="Arial"/>
              </a:rPr>
              <a:t> </a:t>
            </a:r>
            <a:r>
              <a:rPr dirty="0" sz="1900" spc="-10">
                <a:latin typeface="Arial MT"/>
                <a:cs typeface="Arial MT"/>
              </a:rPr>
              <a:t>(also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called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25" b="1">
                <a:latin typeface="Arial"/>
                <a:cs typeface="Arial"/>
              </a:rPr>
              <a:t>Predictive</a:t>
            </a:r>
            <a:r>
              <a:rPr dirty="0" sz="1900" spc="-25">
                <a:latin typeface="Arial MT"/>
                <a:cs typeface="Arial MT"/>
              </a:rPr>
              <a:t>):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Predict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an unknown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value(s)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variable(s)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from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values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some </a:t>
            </a:r>
            <a:r>
              <a:rPr dirty="0" sz="1900" spc="-10">
                <a:latin typeface="Arial MT"/>
                <a:cs typeface="Arial MT"/>
              </a:rPr>
              <a:t>attributes</a:t>
            </a:r>
            <a:endParaRPr sz="1900">
              <a:latin typeface="Arial MT"/>
              <a:cs typeface="Arial MT"/>
            </a:endParaRPr>
          </a:p>
          <a:p>
            <a:pPr algn="just" marL="780415" indent="-294640">
              <a:lnSpc>
                <a:spcPct val="100000"/>
              </a:lnSpc>
              <a:spcBef>
                <a:spcPts val="434"/>
              </a:spcBef>
              <a:buFont typeface="Arial MT"/>
              <a:buChar char="–"/>
              <a:tabLst>
                <a:tab pos="780415" algn="l"/>
              </a:tabLst>
            </a:pPr>
            <a:r>
              <a:rPr dirty="0" sz="1900" spc="-30" b="1">
                <a:solidFill>
                  <a:srgbClr val="00B050"/>
                </a:solidFill>
                <a:latin typeface="Arial"/>
                <a:cs typeface="Arial"/>
              </a:rPr>
              <a:t>Classification:</a:t>
            </a:r>
            <a:r>
              <a:rPr dirty="0" sz="1900" spc="-65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1900" spc="-20">
                <a:latin typeface="Arial MT"/>
                <a:cs typeface="Arial MT"/>
              </a:rPr>
              <a:t>predict</a:t>
            </a:r>
            <a:r>
              <a:rPr dirty="0" sz="1900" spc="-5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type/class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-5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new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cases</a:t>
            </a:r>
            <a:endParaRPr sz="1900">
              <a:latin typeface="Arial MT"/>
              <a:cs typeface="Arial MT"/>
            </a:endParaRPr>
          </a:p>
          <a:p>
            <a:pPr algn="just" lvl="1" marL="1313180" indent="-295275">
              <a:lnSpc>
                <a:spcPts val="1810"/>
              </a:lnSpc>
              <a:spcBef>
                <a:spcPts val="30"/>
              </a:spcBef>
              <a:buFont typeface="Wingdings"/>
              <a:buChar char=""/>
              <a:tabLst>
                <a:tab pos="1313180" algn="l"/>
              </a:tabLst>
            </a:pPr>
            <a:r>
              <a:rPr dirty="0" sz="1700" spc="-20">
                <a:latin typeface="Arial MT"/>
                <a:cs typeface="Arial MT"/>
              </a:rPr>
              <a:t>Spam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Filtering,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 spc="-30">
                <a:latin typeface="Arial MT"/>
                <a:cs typeface="Arial MT"/>
              </a:rPr>
              <a:t>Handwriting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Character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Recognition,</a:t>
            </a:r>
            <a:endParaRPr sz="1700">
              <a:latin typeface="Arial MT"/>
              <a:cs typeface="Arial MT"/>
            </a:endParaRPr>
          </a:p>
          <a:p>
            <a:pPr algn="just" marL="1313180">
              <a:lnSpc>
                <a:spcPts val="1810"/>
              </a:lnSpc>
            </a:pPr>
            <a:r>
              <a:rPr dirty="0" sz="1700" spc="-20">
                <a:latin typeface="Arial MT"/>
                <a:cs typeface="Arial MT"/>
              </a:rPr>
              <a:t>Patient</a:t>
            </a:r>
            <a:r>
              <a:rPr dirty="0" sz="1700" spc="-8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Diagnosis</a:t>
            </a:r>
            <a:endParaRPr sz="1700">
              <a:latin typeface="Arial MT"/>
              <a:cs typeface="Arial MT"/>
            </a:endParaRPr>
          </a:p>
          <a:p>
            <a:pPr algn="just" marL="780415" indent="-294640">
              <a:lnSpc>
                <a:spcPct val="100000"/>
              </a:lnSpc>
              <a:spcBef>
                <a:spcPts val="1170"/>
              </a:spcBef>
              <a:buFont typeface="Arial MT"/>
              <a:buChar char="–"/>
              <a:tabLst>
                <a:tab pos="780415" algn="l"/>
              </a:tabLst>
            </a:pPr>
            <a:r>
              <a:rPr dirty="0" sz="1900" spc="-30" b="1">
                <a:solidFill>
                  <a:srgbClr val="00B050"/>
                </a:solidFill>
                <a:latin typeface="Arial"/>
                <a:cs typeface="Arial"/>
              </a:rPr>
              <a:t>Regression:</a:t>
            </a:r>
            <a:r>
              <a:rPr dirty="0" sz="1900" spc="-7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1900" spc="-20">
                <a:latin typeface="Arial MT"/>
                <a:cs typeface="Arial MT"/>
              </a:rPr>
              <a:t>predict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numerical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value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new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cases</a:t>
            </a:r>
            <a:endParaRPr sz="1900">
              <a:latin typeface="Arial MT"/>
              <a:cs typeface="Arial MT"/>
            </a:endParaRPr>
          </a:p>
          <a:p>
            <a:pPr algn="just" lvl="1" marL="1313180" indent="-295275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1313180" algn="l"/>
              </a:tabLst>
            </a:pPr>
            <a:r>
              <a:rPr dirty="0" sz="1700" spc="-25">
                <a:latin typeface="Arial MT"/>
                <a:cs typeface="Arial MT"/>
              </a:rPr>
              <a:t>Blood</a:t>
            </a:r>
            <a:r>
              <a:rPr dirty="0" sz="1700" spc="-8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Pressure,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Sales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Amounts</a:t>
            </a:r>
            <a:endParaRPr sz="1700">
              <a:latin typeface="Arial MT"/>
              <a:cs typeface="Arial MT"/>
            </a:endParaRPr>
          </a:p>
          <a:p>
            <a:pPr marL="781050" marR="440690" indent="-295910">
              <a:lnSpc>
                <a:spcPct val="99600"/>
              </a:lnSpc>
              <a:spcBef>
                <a:spcPts val="1180"/>
              </a:spcBef>
              <a:buFont typeface="Arial MT"/>
              <a:buChar char="–"/>
              <a:tabLst>
                <a:tab pos="781050" algn="l"/>
              </a:tabLst>
            </a:pPr>
            <a:r>
              <a:rPr dirty="0" sz="1900" spc="-25" b="1">
                <a:solidFill>
                  <a:srgbClr val="00B050"/>
                </a:solidFill>
                <a:latin typeface="Arial"/>
                <a:cs typeface="Arial"/>
              </a:rPr>
              <a:t>Supervised</a:t>
            </a:r>
            <a:r>
              <a:rPr dirty="0" sz="1900" spc="-7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1900" spc="-25" b="1">
                <a:solidFill>
                  <a:srgbClr val="00B050"/>
                </a:solidFill>
                <a:latin typeface="Arial"/>
                <a:cs typeface="Arial"/>
              </a:rPr>
              <a:t>Anomaly</a:t>
            </a:r>
            <a:r>
              <a:rPr dirty="0" sz="1900" spc="-65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1900" spc="-25" b="1">
                <a:solidFill>
                  <a:srgbClr val="00B050"/>
                </a:solidFill>
                <a:latin typeface="Arial"/>
                <a:cs typeface="Arial"/>
              </a:rPr>
              <a:t>Detection:</a:t>
            </a:r>
            <a:r>
              <a:rPr dirty="0" sz="1900" spc="-6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1900" spc="-20">
                <a:latin typeface="Arial MT"/>
                <a:cs typeface="Arial MT"/>
              </a:rPr>
              <a:t>identify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items, </a:t>
            </a:r>
            <a:r>
              <a:rPr dirty="0" sz="1900" spc="-20">
                <a:latin typeface="Arial MT"/>
                <a:cs typeface="Arial MT"/>
              </a:rPr>
              <a:t>events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or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observations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deviating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from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expected </a:t>
            </a:r>
            <a:r>
              <a:rPr dirty="0" sz="1900" spc="-20">
                <a:latin typeface="Arial MT"/>
                <a:cs typeface="Arial MT"/>
              </a:rPr>
              <a:t>patterns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using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data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labeled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as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"normal"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and "abnormal"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(involves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training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classifier)</a:t>
            </a:r>
            <a:endParaRPr sz="1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85"/>
              </a:spcBef>
            </a:pPr>
            <a:endParaRPr sz="1900">
              <a:latin typeface="Arial MT"/>
              <a:cs typeface="Arial MT"/>
            </a:endParaRPr>
          </a:p>
          <a:p>
            <a:pPr marL="278765" marR="376555" indent="-236854">
              <a:lnSpc>
                <a:spcPct val="80000"/>
              </a:lnSpc>
              <a:buFont typeface="Wingdings"/>
              <a:buChar char="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It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common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combine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different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methods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such </a:t>
            </a:r>
            <a:r>
              <a:rPr dirty="0" sz="2100">
                <a:latin typeface="Arial MT"/>
                <a:cs typeface="Arial MT"/>
              </a:rPr>
              <a:t>as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clustering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classification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(Hybrid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methods)</a:t>
            </a:r>
            <a:endParaRPr sz="21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6423" y="1784286"/>
            <a:ext cx="2610737" cy="464576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09601" y="2925819"/>
            <a:ext cx="9461500" cy="4394200"/>
            <a:chOff x="609601" y="2925819"/>
            <a:chExt cx="9461500" cy="43942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39919" y="3866991"/>
              <a:ext cx="5254746" cy="3222622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36136" y="2925819"/>
              <a:ext cx="4253409" cy="92210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50950">
              <a:lnSpc>
                <a:spcPct val="100000"/>
              </a:lnSpc>
              <a:spcBef>
                <a:spcPts val="100"/>
              </a:spcBef>
            </a:pPr>
            <a:r>
              <a:rPr dirty="0" sz="3700" spc="-10" b="0">
                <a:solidFill>
                  <a:srgbClr val="000000"/>
                </a:solidFill>
                <a:latin typeface="Arial MT"/>
                <a:cs typeface="Arial MT"/>
              </a:rPr>
              <a:t>Classification</a:t>
            </a:r>
            <a:endParaRPr sz="37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215510" y="1635617"/>
            <a:ext cx="8197215" cy="7880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latin typeface="Arial MT"/>
                <a:cs typeface="Arial MT"/>
              </a:rPr>
              <a:t>Extracting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features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from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given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inputs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allows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us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separate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classify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inputs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according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defined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categories</a:t>
            </a:r>
            <a:endParaRPr sz="25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6214" y="4341407"/>
            <a:ext cx="3242478" cy="2550143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3596" y="2841235"/>
            <a:ext cx="3165615" cy="137031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96922" rIns="0" bIns="0" rtlCol="0" vert="horz">
            <a:spAutoFit/>
          </a:bodyPr>
          <a:lstStyle/>
          <a:p>
            <a:pPr marL="236854">
              <a:lnSpc>
                <a:spcPct val="100000"/>
              </a:lnSpc>
              <a:spcBef>
                <a:spcPts val="100"/>
              </a:spcBef>
            </a:pPr>
            <a:r>
              <a:rPr dirty="0" sz="3300" b="0">
                <a:solidFill>
                  <a:srgbClr val="000000"/>
                </a:solidFill>
                <a:latin typeface="Arial MT"/>
                <a:cs typeface="Arial MT"/>
              </a:rPr>
              <a:t>Example:</a:t>
            </a:r>
            <a:r>
              <a:rPr dirty="0" sz="3300" spc="-8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300" b="0">
                <a:solidFill>
                  <a:srgbClr val="000000"/>
                </a:solidFill>
                <a:latin typeface="Arial MT"/>
                <a:cs typeface="Arial MT"/>
              </a:rPr>
              <a:t>Recognizing</a:t>
            </a:r>
            <a:r>
              <a:rPr dirty="0" sz="3300" spc="-8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300" b="0">
                <a:solidFill>
                  <a:srgbClr val="000000"/>
                </a:solidFill>
                <a:latin typeface="Arial MT"/>
                <a:cs typeface="Arial MT"/>
              </a:rPr>
              <a:t>Five</a:t>
            </a:r>
            <a:r>
              <a:rPr dirty="0" sz="3300" spc="-8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300" spc="-10" b="0">
                <a:solidFill>
                  <a:srgbClr val="000000"/>
                </a:solidFill>
                <a:latin typeface="Arial MT"/>
                <a:cs typeface="Arial MT"/>
              </a:rPr>
              <a:t>Letters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37287" y="1961103"/>
            <a:ext cx="3674745" cy="1550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b="1">
                <a:solidFill>
                  <a:srgbClr val="FF0000"/>
                </a:solidFill>
                <a:latin typeface="Arial"/>
                <a:cs typeface="Arial"/>
              </a:rPr>
              <a:t>A,</a:t>
            </a:r>
            <a:r>
              <a:rPr dirty="0" sz="5000" spc="-5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5000" b="1">
                <a:solidFill>
                  <a:srgbClr val="FF0000"/>
                </a:solidFill>
                <a:latin typeface="Arial"/>
                <a:cs typeface="Arial"/>
              </a:rPr>
              <a:t>B,</a:t>
            </a:r>
            <a:r>
              <a:rPr dirty="0" sz="5000" spc="-4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5000" b="1">
                <a:solidFill>
                  <a:srgbClr val="FF0000"/>
                </a:solidFill>
                <a:latin typeface="Arial"/>
                <a:cs typeface="Arial"/>
              </a:rPr>
              <a:t>C,</a:t>
            </a:r>
            <a:r>
              <a:rPr dirty="0" sz="5000" spc="-4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5000" b="1">
                <a:solidFill>
                  <a:srgbClr val="FF0000"/>
                </a:solidFill>
                <a:latin typeface="Arial"/>
                <a:cs typeface="Arial"/>
              </a:rPr>
              <a:t>D,</a:t>
            </a:r>
            <a:r>
              <a:rPr dirty="0" sz="5000" spc="-4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5000" spc="-50" b="1">
                <a:solidFill>
                  <a:srgbClr val="FF0000"/>
                </a:solidFill>
                <a:latin typeface="Arial"/>
                <a:cs typeface="Arial"/>
              </a:rPr>
              <a:t>E</a:t>
            </a:r>
            <a:endParaRPr sz="5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05"/>
              </a:spcBef>
            </a:pPr>
            <a:r>
              <a:rPr dirty="0" sz="2500">
                <a:latin typeface="Arial MT"/>
                <a:cs typeface="Arial MT"/>
              </a:rPr>
              <a:t>Example</a:t>
            </a:r>
            <a:r>
              <a:rPr dirty="0" sz="2500" spc="-114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features: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37287" y="3869801"/>
            <a:ext cx="4407535" cy="7880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i="1">
                <a:latin typeface="Arial"/>
                <a:cs typeface="Arial"/>
              </a:rPr>
              <a:t>x</a:t>
            </a:r>
            <a:r>
              <a:rPr dirty="0" sz="2500">
                <a:latin typeface="Arial MT"/>
                <a:cs typeface="Arial MT"/>
              </a:rPr>
              <a:t>: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Number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curved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segments</a:t>
            </a:r>
            <a:endParaRPr sz="2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500" i="1">
                <a:latin typeface="Arial"/>
                <a:cs typeface="Arial"/>
              </a:rPr>
              <a:t>y</a:t>
            </a:r>
            <a:r>
              <a:rPr dirty="0" sz="2500">
                <a:latin typeface="Arial MT"/>
                <a:cs typeface="Arial MT"/>
              </a:rPr>
              <a:t>: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Number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straight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segments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37287" y="5012801"/>
            <a:ext cx="3025775" cy="407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latin typeface="Arial MT"/>
                <a:cs typeface="Arial MT"/>
              </a:rPr>
              <a:t>Where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would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“F”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fall?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37287" y="5774801"/>
            <a:ext cx="4131310" cy="407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i="1">
                <a:latin typeface="Arial"/>
                <a:cs typeface="Arial"/>
              </a:rPr>
              <a:t>Suggest</a:t>
            </a:r>
            <a:r>
              <a:rPr dirty="0" sz="2500" spc="-75" i="1">
                <a:latin typeface="Arial"/>
                <a:cs typeface="Arial"/>
              </a:rPr>
              <a:t> </a:t>
            </a:r>
            <a:r>
              <a:rPr dirty="0" sz="2500" i="1">
                <a:latin typeface="Arial"/>
                <a:cs typeface="Arial"/>
              </a:rPr>
              <a:t>an</a:t>
            </a:r>
            <a:r>
              <a:rPr dirty="0" sz="2500" spc="-75" i="1">
                <a:latin typeface="Arial"/>
                <a:cs typeface="Arial"/>
              </a:rPr>
              <a:t> </a:t>
            </a:r>
            <a:r>
              <a:rPr dirty="0" sz="2500" i="1">
                <a:latin typeface="Arial"/>
                <a:cs typeface="Arial"/>
              </a:rPr>
              <a:t>additional</a:t>
            </a:r>
            <a:r>
              <a:rPr dirty="0" sz="2500" spc="-60" i="1">
                <a:latin typeface="Arial"/>
                <a:cs typeface="Arial"/>
              </a:rPr>
              <a:t> </a:t>
            </a:r>
            <a:r>
              <a:rPr dirty="0" sz="2500" spc="-10" i="1">
                <a:latin typeface="Arial"/>
                <a:cs typeface="Arial"/>
              </a:rPr>
              <a:t>feature</a:t>
            </a:r>
            <a:endParaRPr sz="2500">
              <a:latin typeface="Arial"/>
              <a:cs typeface="Arial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6220790" y="2424124"/>
            <a:ext cx="3442970" cy="3577590"/>
          </a:xfrm>
          <a:custGeom>
            <a:avLst/>
            <a:gdLst/>
            <a:ahLst/>
            <a:cxnLst/>
            <a:rect l="l" t="t" r="r" b="b"/>
            <a:pathLst>
              <a:path w="3442970" h="3577590">
                <a:moveTo>
                  <a:pt x="3442932" y="3518433"/>
                </a:moveTo>
                <a:lnTo>
                  <a:pt x="3403511" y="3498710"/>
                </a:lnTo>
                <a:lnTo>
                  <a:pt x="3324669" y="3459276"/>
                </a:lnTo>
                <a:lnTo>
                  <a:pt x="3324669" y="3498710"/>
                </a:lnTo>
                <a:lnTo>
                  <a:pt x="78841" y="3498710"/>
                </a:lnTo>
                <a:lnTo>
                  <a:pt x="78841" y="118325"/>
                </a:lnTo>
                <a:lnTo>
                  <a:pt x="118275" y="118325"/>
                </a:lnTo>
                <a:lnTo>
                  <a:pt x="108407" y="98602"/>
                </a:lnTo>
                <a:lnTo>
                  <a:pt x="59131" y="0"/>
                </a:lnTo>
                <a:lnTo>
                  <a:pt x="0" y="118325"/>
                </a:lnTo>
                <a:lnTo>
                  <a:pt x="39420" y="118325"/>
                </a:lnTo>
                <a:lnTo>
                  <a:pt x="39420" y="3518433"/>
                </a:lnTo>
                <a:lnTo>
                  <a:pt x="59131" y="3518433"/>
                </a:lnTo>
                <a:lnTo>
                  <a:pt x="59131" y="3538156"/>
                </a:lnTo>
                <a:lnTo>
                  <a:pt x="3324669" y="3538156"/>
                </a:lnTo>
                <a:lnTo>
                  <a:pt x="3324669" y="3577590"/>
                </a:lnTo>
                <a:lnTo>
                  <a:pt x="3403511" y="3538156"/>
                </a:lnTo>
                <a:lnTo>
                  <a:pt x="3442932" y="3518433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6222221" y="6036929"/>
            <a:ext cx="202565" cy="407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50">
                <a:latin typeface="Arial MT"/>
                <a:cs typeface="Arial MT"/>
              </a:rPr>
              <a:t>0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168372" y="6036929"/>
            <a:ext cx="202565" cy="407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50">
                <a:latin typeface="Arial MT"/>
                <a:cs typeface="Arial MT"/>
              </a:rPr>
              <a:t>1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114521" y="6036929"/>
            <a:ext cx="202565" cy="407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50">
                <a:latin typeface="Arial MT"/>
                <a:cs typeface="Arial MT"/>
              </a:rPr>
              <a:t>2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682869" y="5249552"/>
            <a:ext cx="873760" cy="119443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algn="ctr" marL="12700" marR="5080">
              <a:lnSpc>
                <a:spcPts val="2500"/>
              </a:lnSpc>
              <a:spcBef>
                <a:spcPts val="200"/>
              </a:spcBef>
            </a:pPr>
            <a:r>
              <a:rPr dirty="0" sz="2100" spc="-25">
                <a:latin typeface="Arial MT"/>
                <a:cs typeface="Arial MT"/>
              </a:rPr>
              <a:t>Curved strokes</a:t>
            </a:r>
            <a:endParaRPr sz="2100">
              <a:latin typeface="Arial MT"/>
              <a:cs typeface="Arial MT"/>
            </a:endParaRPr>
          </a:p>
          <a:p>
            <a:pPr algn="ctr" marL="83820">
              <a:lnSpc>
                <a:spcPct val="100000"/>
              </a:lnSpc>
              <a:spcBef>
                <a:spcPts val="1100"/>
              </a:spcBef>
            </a:pPr>
            <a:r>
              <a:rPr dirty="0" sz="2500" spc="-50">
                <a:latin typeface="Arial MT"/>
                <a:cs typeface="Arial MT"/>
              </a:rPr>
              <a:t>3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895340" y="4967081"/>
            <a:ext cx="202565" cy="407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50">
                <a:latin typeface="Arial MT"/>
                <a:cs typeface="Arial MT"/>
              </a:rPr>
              <a:t>1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895340" y="5729081"/>
            <a:ext cx="202565" cy="407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50">
                <a:latin typeface="Arial MT"/>
                <a:cs typeface="Arial MT"/>
              </a:rPr>
              <a:t>0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886196" y="2497551"/>
            <a:ext cx="484505" cy="7880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spc="-50" b="1">
                <a:solidFill>
                  <a:srgbClr val="FF0000"/>
                </a:solidFill>
                <a:latin typeface="Arial"/>
                <a:cs typeface="Arial"/>
              </a:rPr>
              <a:t>B</a:t>
            </a:r>
            <a:endParaRPr sz="50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081311" y="5432775"/>
            <a:ext cx="484505" cy="7880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spc="-50" b="1">
                <a:solidFill>
                  <a:srgbClr val="FF0000"/>
                </a:solidFill>
                <a:latin typeface="Arial"/>
                <a:cs typeface="Arial"/>
              </a:rPr>
              <a:t>C</a:t>
            </a:r>
            <a:endParaRPr sz="50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646543" y="2021720"/>
            <a:ext cx="1899920" cy="2586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100" spc="-10">
                <a:latin typeface="Arial MT"/>
                <a:cs typeface="Arial MT"/>
              </a:rPr>
              <a:t>Straight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strokes</a:t>
            </a:r>
            <a:endParaRPr sz="2100">
              <a:latin typeface="Arial MT"/>
              <a:cs typeface="Arial MT"/>
            </a:endParaRPr>
          </a:p>
          <a:p>
            <a:pPr marL="260985">
              <a:lnSpc>
                <a:spcPct val="100000"/>
              </a:lnSpc>
              <a:spcBef>
                <a:spcPts val="145"/>
              </a:spcBef>
            </a:pPr>
            <a:r>
              <a:rPr dirty="0" sz="2500" spc="-25">
                <a:latin typeface="Arial MT"/>
                <a:cs typeface="Arial MT"/>
              </a:rPr>
              <a:t>4</a:t>
            </a:r>
            <a:r>
              <a:rPr dirty="0" baseline="-12777" sz="7500" spc="-37" b="1">
                <a:solidFill>
                  <a:srgbClr val="FF0000"/>
                </a:solidFill>
                <a:latin typeface="Arial"/>
                <a:cs typeface="Arial"/>
              </a:rPr>
              <a:t>E</a:t>
            </a:r>
            <a:endParaRPr baseline="-12777" sz="7500">
              <a:latin typeface="Arial"/>
              <a:cs typeface="Arial"/>
            </a:endParaRPr>
          </a:p>
          <a:p>
            <a:pPr marL="260985">
              <a:lnSpc>
                <a:spcPct val="100000"/>
              </a:lnSpc>
              <a:spcBef>
                <a:spcPts val="795"/>
              </a:spcBef>
              <a:tabLst>
                <a:tab pos="1323975" algn="l"/>
              </a:tabLst>
            </a:pPr>
            <a:r>
              <a:rPr dirty="0" baseline="17777" sz="3750" spc="-37">
                <a:latin typeface="Arial MT"/>
                <a:cs typeface="Arial MT"/>
              </a:rPr>
              <a:t>3</a:t>
            </a:r>
            <a:r>
              <a:rPr dirty="0" sz="5000" spc="-25" b="1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dirty="0" sz="5000" b="1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dirty="0" sz="5000" spc="-50" b="1">
                <a:solidFill>
                  <a:srgbClr val="FF0000"/>
                </a:solidFill>
                <a:latin typeface="Arial"/>
                <a:cs typeface="Arial"/>
              </a:rPr>
              <a:t>D</a:t>
            </a:r>
            <a:endParaRPr sz="5000">
              <a:latin typeface="Arial"/>
              <a:cs typeface="Arial"/>
            </a:endParaRPr>
          </a:p>
          <a:p>
            <a:pPr marL="260985">
              <a:lnSpc>
                <a:spcPct val="100000"/>
              </a:lnSpc>
              <a:spcBef>
                <a:spcPts val="1705"/>
              </a:spcBef>
            </a:pPr>
            <a:r>
              <a:rPr dirty="0" sz="2500" spc="-50">
                <a:latin typeface="Arial MT"/>
                <a:cs typeface="Arial MT"/>
              </a:rPr>
              <a:t>2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6047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b="0">
                <a:solidFill>
                  <a:srgbClr val="000000"/>
                </a:solidFill>
                <a:latin typeface="Arial MT"/>
                <a:cs typeface="Arial MT"/>
              </a:rPr>
              <a:t>Handwriting</a:t>
            </a:r>
            <a:r>
              <a:rPr dirty="0" sz="3300" spc="-17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300" spc="-10" b="0">
                <a:solidFill>
                  <a:srgbClr val="000000"/>
                </a:solidFill>
                <a:latin typeface="Arial MT"/>
                <a:cs typeface="Arial MT"/>
              </a:rPr>
              <a:t>Recognition</a:t>
            </a:r>
            <a:endParaRPr sz="33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4324" y="2312501"/>
            <a:ext cx="7753762" cy="3734963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186239" y="1760585"/>
            <a:ext cx="7012940" cy="407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latin typeface="Arial MT"/>
                <a:cs typeface="Arial MT"/>
              </a:rPr>
              <a:t>Requires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dealing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with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many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variants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characters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0138" rIns="0" bIns="0" rtlCol="0" vert="horz">
            <a:spAutoFit/>
          </a:bodyPr>
          <a:lstStyle/>
          <a:p>
            <a:pPr marL="153035">
              <a:lnSpc>
                <a:spcPct val="100000"/>
              </a:lnSpc>
              <a:spcBef>
                <a:spcPts val="100"/>
              </a:spcBef>
            </a:pPr>
            <a:r>
              <a:rPr dirty="0" sz="3300" b="0">
                <a:solidFill>
                  <a:srgbClr val="000000"/>
                </a:solidFill>
                <a:latin typeface="Arial MT"/>
                <a:cs typeface="Arial MT"/>
              </a:rPr>
              <a:t>Features:</a:t>
            </a:r>
            <a:r>
              <a:rPr dirty="0" sz="3300" spc="-14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300" b="0">
                <a:solidFill>
                  <a:srgbClr val="000000"/>
                </a:solidFill>
                <a:latin typeface="Arial MT"/>
                <a:cs typeface="Arial MT"/>
              </a:rPr>
              <a:t>Comparing</a:t>
            </a:r>
            <a:r>
              <a:rPr dirty="0" sz="3300" spc="-14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300" spc="-10" b="0">
                <a:solidFill>
                  <a:srgbClr val="000000"/>
                </a:solidFill>
                <a:latin typeface="Arial MT"/>
                <a:cs typeface="Arial MT"/>
              </a:rPr>
              <a:t>Fingerprints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477643" y="6494397"/>
            <a:ext cx="5971540" cy="382905"/>
          </a:xfrm>
          <a:prstGeom prst="rect">
            <a:avLst/>
          </a:prstGeom>
          <a:solidFill>
            <a:srgbClr val="FFCC99"/>
          </a:solidFill>
        </p:spPr>
        <p:txBody>
          <a:bodyPr wrap="square" lIns="0" tIns="36830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290"/>
              </a:spcBef>
              <a:tabLst>
                <a:tab pos="5226050" algn="l"/>
              </a:tabLst>
            </a:pPr>
            <a:r>
              <a:rPr dirty="0" u="heavy" sz="1900" spc="-10">
                <a:solidFill>
                  <a:srgbClr val="99CC00"/>
                </a:solidFill>
                <a:uFill>
                  <a:solidFill>
                    <a:srgbClr val="99CC00"/>
                  </a:solidFill>
                </a:uFill>
                <a:latin typeface="Arial MT"/>
                <a:cs typeface="Arial MT"/>
                <a:hlinkClick r:id="rId2"/>
              </a:rPr>
              <a:t>http://www.youtube.com/watch?v=IrpTqKkgygA</a:t>
            </a:r>
            <a:r>
              <a:rPr dirty="0" sz="1900">
                <a:solidFill>
                  <a:srgbClr val="99CC00"/>
                </a:solidFill>
                <a:latin typeface="Arial MT"/>
                <a:cs typeface="Arial MT"/>
              </a:rPr>
              <a:t>	</a:t>
            </a:r>
            <a:r>
              <a:rPr dirty="0" sz="1900" spc="-10">
                <a:latin typeface="Arial MT"/>
                <a:cs typeface="Arial MT"/>
              </a:rPr>
              <a:t>[6min]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22097" y="1782920"/>
            <a:ext cx="8436610" cy="1179195"/>
          </a:xfrm>
          <a:prstGeom prst="rect">
            <a:avLst/>
          </a:prstGeom>
          <a:solidFill>
            <a:srgbClr val="FFCC99"/>
          </a:solidFill>
        </p:spPr>
        <p:txBody>
          <a:bodyPr wrap="square" lIns="0" tIns="34925" rIns="0" bIns="0" rtlCol="0" vert="horz">
            <a:spAutoFit/>
          </a:bodyPr>
          <a:lstStyle/>
          <a:p>
            <a:pPr marL="93980">
              <a:lnSpc>
                <a:spcPts val="2510"/>
              </a:lnSpc>
              <a:spcBef>
                <a:spcPts val="275"/>
              </a:spcBef>
            </a:pPr>
            <a:r>
              <a:rPr dirty="0" sz="2100" spc="-10" b="1">
                <a:solidFill>
                  <a:srgbClr val="C00000"/>
                </a:solidFill>
                <a:latin typeface="Arial"/>
                <a:cs typeface="Arial"/>
              </a:rPr>
              <a:t>Criminal</a:t>
            </a:r>
            <a:r>
              <a:rPr dirty="0" sz="2100" spc="-9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100" spc="-20" b="1">
                <a:solidFill>
                  <a:srgbClr val="C00000"/>
                </a:solidFill>
                <a:latin typeface="Arial"/>
                <a:cs typeface="Arial"/>
              </a:rPr>
              <a:t>investigations</a:t>
            </a:r>
            <a:r>
              <a:rPr dirty="0" sz="2100" spc="-9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2100" spc="-9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100" spc="-20" b="1">
                <a:solidFill>
                  <a:srgbClr val="C00000"/>
                </a:solidFill>
                <a:latin typeface="Arial"/>
                <a:cs typeface="Arial"/>
              </a:rPr>
              <a:t>biometric</a:t>
            </a:r>
            <a:r>
              <a:rPr dirty="0" sz="2100" spc="-9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C00000"/>
                </a:solidFill>
                <a:latin typeface="Arial"/>
                <a:cs typeface="Arial"/>
              </a:rPr>
              <a:t>identification</a:t>
            </a:r>
            <a:endParaRPr sz="2100">
              <a:latin typeface="Arial"/>
              <a:cs typeface="Arial"/>
            </a:endParaRPr>
          </a:p>
          <a:p>
            <a:pPr marL="93980" marR="756285">
              <a:lnSpc>
                <a:spcPts val="2500"/>
              </a:lnSpc>
              <a:spcBef>
                <a:spcPts val="90"/>
              </a:spcBef>
            </a:pPr>
            <a:r>
              <a:rPr dirty="0" sz="2100">
                <a:solidFill>
                  <a:srgbClr val="CC3300"/>
                </a:solidFill>
                <a:latin typeface="Arial MT"/>
                <a:cs typeface="Arial MT"/>
              </a:rPr>
              <a:t>Does</a:t>
            </a:r>
            <a:r>
              <a:rPr dirty="0" sz="2100" spc="-75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CC3300"/>
                </a:solidFill>
                <a:latin typeface="Arial MT"/>
                <a:cs typeface="Arial MT"/>
              </a:rPr>
              <a:t>a</a:t>
            </a:r>
            <a:r>
              <a:rPr dirty="0" sz="2100" spc="-75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CC3300"/>
                </a:solidFill>
                <a:latin typeface="Arial MT"/>
                <a:cs typeface="Arial MT"/>
              </a:rPr>
              <a:t>fingerprint</a:t>
            </a:r>
            <a:r>
              <a:rPr dirty="0" sz="2100" spc="-7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CC3300"/>
                </a:solidFill>
                <a:latin typeface="Arial MT"/>
                <a:cs typeface="Arial MT"/>
              </a:rPr>
              <a:t>match</a:t>
            </a:r>
            <a:r>
              <a:rPr dirty="0" sz="2100" spc="-75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CC3300"/>
                </a:solidFill>
                <a:latin typeface="Arial MT"/>
                <a:cs typeface="Arial MT"/>
              </a:rPr>
              <a:t>any</a:t>
            </a:r>
            <a:r>
              <a:rPr dirty="0" sz="2100" spc="-75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CC3300"/>
                </a:solidFill>
                <a:latin typeface="Arial MT"/>
                <a:cs typeface="Arial MT"/>
              </a:rPr>
              <a:t>of</a:t>
            </a:r>
            <a:r>
              <a:rPr dirty="0" sz="2100" spc="-7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CC3300"/>
                </a:solidFill>
                <a:latin typeface="Arial MT"/>
                <a:cs typeface="Arial MT"/>
              </a:rPr>
              <a:t>the</a:t>
            </a:r>
            <a:r>
              <a:rPr dirty="0" sz="2100" spc="-75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CC3300"/>
                </a:solidFill>
                <a:latin typeface="Arial MT"/>
                <a:cs typeface="Arial MT"/>
              </a:rPr>
              <a:t>prints</a:t>
            </a:r>
            <a:r>
              <a:rPr dirty="0" sz="2100" spc="-7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CC3300"/>
                </a:solidFill>
                <a:latin typeface="Arial MT"/>
                <a:cs typeface="Arial MT"/>
              </a:rPr>
              <a:t>in</a:t>
            </a:r>
            <a:r>
              <a:rPr dirty="0" sz="2100" spc="-75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CC3300"/>
                </a:solidFill>
                <a:latin typeface="Arial MT"/>
                <a:cs typeface="Arial MT"/>
              </a:rPr>
              <a:t>a</a:t>
            </a:r>
            <a:r>
              <a:rPr dirty="0" sz="2100" spc="-75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CC3300"/>
                </a:solidFill>
                <a:latin typeface="Arial MT"/>
                <a:cs typeface="Arial MT"/>
              </a:rPr>
              <a:t>criminal</a:t>
            </a:r>
            <a:r>
              <a:rPr dirty="0" sz="2100" spc="-55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CC3300"/>
                </a:solidFill>
                <a:latin typeface="Arial MT"/>
                <a:cs typeface="Arial MT"/>
              </a:rPr>
              <a:t>database? </a:t>
            </a:r>
            <a:r>
              <a:rPr dirty="0" sz="2100">
                <a:solidFill>
                  <a:srgbClr val="CC3300"/>
                </a:solidFill>
                <a:latin typeface="Arial MT"/>
                <a:cs typeface="Arial MT"/>
              </a:rPr>
              <a:t>Does</a:t>
            </a:r>
            <a:r>
              <a:rPr dirty="0" sz="2100" spc="-85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CC3300"/>
                </a:solidFill>
                <a:latin typeface="Arial MT"/>
                <a:cs typeface="Arial MT"/>
              </a:rPr>
              <a:t>the</a:t>
            </a:r>
            <a:r>
              <a:rPr dirty="0" sz="2100" spc="-8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CC3300"/>
                </a:solidFill>
                <a:latin typeface="Arial MT"/>
                <a:cs typeface="Arial MT"/>
              </a:rPr>
              <a:t>fingerprint</a:t>
            </a:r>
            <a:r>
              <a:rPr dirty="0" sz="2100" spc="-85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CC3300"/>
                </a:solidFill>
                <a:latin typeface="Arial MT"/>
                <a:cs typeface="Arial MT"/>
              </a:rPr>
              <a:t>match</a:t>
            </a:r>
            <a:r>
              <a:rPr dirty="0" sz="2100" spc="-8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CC3300"/>
                </a:solidFill>
                <a:latin typeface="Arial MT"/>
                <a:cs typeface="Arial MT"/>
              </a:rPr>
              <a:t>one</a:t>
            </a:r>
            <a:r>
              <a:rPr dirty="0" sz="2100" spc="-8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CC3300"/>
                </a:solidFill>
                <a:latin typeface="Arial MT"/>
                <a:cs typeface="Arial MT"/>
              </a:rPr>
              <a:t>recorded</a:t>
            </a:r>
            <a:r>
              <a:rPr dirty="0" sz="2100" spc="-85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CC3300"/>
                </a:solidFill>
                <a:latin typeface="Arial MT"/>
                <a:cs typeface="Arial MT"/>
              </a:rPr>
              <a:t>for</a:t>
            </a:r>
            <a:r>
              <a:rPr dirty="0" sz="2100" spc="-8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CC3300"/>
                </a:solidFill>
                <a:latin typeface="Arial MT"/>
                <a:cs typeface="Arial MT"/>
              </a:rPr>
              <a:t>an</a:t>
            </a:r>
            <a:r>
              <a:rPr dirty="0" sz="2100" spc="-85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CC3300"/>
                </a:solidFill>
                <a:latin typeface="Arial MT"/>
                <a:cs typeface="Arial MT"/>
              </a:rPr>
              <a:t>authorized</a:t>
            </a:r>
            <a:r>
              <a:rPr dirty="0" sz="2100" spc="-8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CC3300"/>
                </a:solidFill>
                <a:latin typeface="Arial MT"/>
                <a:cs typeface="Arial MT"/>
              </a:rPr>
              <a:t>user?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15014" y="3710312"/>
            <a:ext cx="1685925" cy="256794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366395">
              <a:lnSpc>
                <a:spcPts val="2500"/>
              </a:lnSpc>
              <a:spcBef>
                <a:spcPts val="200"/>
              </a:spcBef>
            </a:pPr>
            <a:r>
              <a:rPr dirty="0" sz="2100" spc="-10">
                <a:latin typeface="Arial MT"/>
                <a:cs typeface="Arial MT"/>
              </a:rPr>
              <a:t>Human </a:t>
            </a:r>
            <a:r>
              <a:rPr dirty="0" sz="2100" spc="-20">
                <a:latin typeface="Arial MT"/>
                <a:cs typeface="Arial MT"/>
              </a:rPr>
              <a:t>fingerprints </a:t>
            </a:r>
            <a:r>
              <a:rPr dirty="0" sz="2100">
                <a:latin typeface="Arial MT"/>
                <a:cs typeface="Arial MT"/>
              </a:rPr>
              <a:t>tend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be </a:t>
            </a:r>
            <a:r>
              <a:rPr dirty="0" sz="2100" spc="-10">
                <a:latin typeface="Arial MT"/>
                <a:cs typeface="Arial MT"/>
              </a:rPr>
              <a:t>unique</a:t>
            </a:r>
            <a:endParaRPr sz="2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2100">
              <a:latin typeface="Arial MT"/>
              <a:cs typeface="Arial MT"/>
            </a:endParaRPr>
          </a:p>
          <a:p>
            <a:pPr marL="12700" marR="5080">
              <a:lnSpc>
                <a:spcPts val="2500"/>
              </a:lnSpc>
            </a:pPr>
            <a:r>
              <a:rPr dirty="0" sz="2100">
                <a:latin typeface="Arial MT"/>
                <a:cs typeface="Arial MT"/>
              </a:rPr>
              <a:t>Even</a:t>
            </a:r>
            <a:r>
              <a:rPr dirty="0" sz="2100" spc="-114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identical </a:t>
            </a:r>
            <a:r>
              <a:rPr dirty="0" sz="2100">
                <a:latin typeface="Arial MT"/>
                <a:cs typeface="Arial MT"/>
              </a:rPr>
              <a:t>twins</a:t>
            </a:r>
            <a:r>
              <a:rPr dirty="0" sz="2100" spc="-13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have </a:t>
            </a:r>
            <a:r>
              <a:rPr dirty="0" sz="2100" spc="-10">
                <a:latin typeface="Arial MT"/>
                <a:cs typeface="Arial MT"/>
              </a:rPr>
              <a:t>different</a:t>
            </a:r>
            <a:r>
              <a:rPr dirty="0" sz="2100" spc="-12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prints</a:t>
            </a:r>
            <a:endParaRPr sz="21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13252" y="3390744"/>
            <a:ext cx="6534348" cy="304678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707" rIns="0" bIns="0" rtlCol="0" vert="horz">
            <a:spAutoFit/>
          </a:bodyPr>
          <a:lstStyle/>
          <a:p>
            <a:pPr marL="2191385">
              <a:lnSpc>
                <a:spcPct val="100000"/>
              </a:lnSpc>
              <a:spcBef>
                <a:spcPts val="100"/>
              </a:spcBef>
            </a:pPr>
            <a:r>
              <a:rPr dirty="0" sz="3700" b="0">
                <a:solidFill>
                  <a:srgbClr val="0D0D0D"/>
                </a:solidFill>
                <a:latin typeface="Arial MT"/>
                <a:cs typeface="Arial MT"/>
              </a:rPr>
              <a:t>Machine</a:t>
            </a:r>
            <a:r>
              <a:rPr dirty="0" sz="3700" spc="-45" b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3700" spc="-10" b="0">
                <a:solidFill>
                  <a:srgbClr val="0D0D0D"/>
                </a:solidFill>
                <a:latin typeface="Arial MT"/>
                <a:cs typeface="Arial MT"/>
              </a:rPr>
              <a:t>Learning</a:t>
            </a:r>
            <a:endParaRPr sz="370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254205" y="1160428"/>
            <a:ext cx="7870825" cy="5746115"/>
            <a:chOff x="1254205" y="1160428"/>
            <a:chExt cx="7870825" cy="574611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0493" y="1292552"/>
              <a:ext cx="7844455" cy="5613711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280493" y="1186717"/>
              <a:ext cx="3829685" cy="3498215"/>
            </a:xfrm>
            <a:custGeom>
              <a:avLst/>
              <a:gdLst/>
              <a:ahLst/>
              <a:cxnLst/>
              <a:rect l="l" t="t" r="r" b="b"/>
              <a:pathLst>
                <a:path w="3829685" h="3498215">
                  <a:moveTo>
                    <a:pt x="0" y="582961"/>
                  </a:moveTo>
                  <a:lnTo>
                    <a:pt x="1931" y="535149"/>
                  </a:lnTo>
                  <a:lnTo>
                    <a:pt x="7626" y="488402"/>
                  </a:lnTo>
                  <a:lnTo>
                    <a:pt x="16934" y="442869"/>
                  </a:lnTo>
                  <a:lnTo>
                    <a:pt x="29706" y="398700"/>
                  </a:lnTo>
                  <a:lnTo>
                    <a:pt x="45791" y="356046"/>
                  </a:lnTo>
                  <a:lnTo>
                    <a:pt x="65039" y="315057"/>
                  </a:lnTo>
                  <a:lnTo>
                    <a:pt x="87301" y="275882"/>
                  </a:lnTo>
                  <a:lnTo>
                    <a:pt x="112427" y="238672"/>
                  </a:lnTo>
                  <a:lnTo>
                    <a:pt x="140266" y="203576"/>
                  </a:lnTo>
                  <a:lnTo>
                    <a:pt x="170669" y="170745"/>
                  </a:lnTo>
                  <a:lnTo>
                    <a:pt x="203485" y="140329"/>
                  </a:lnTo>
                  <a:lnTo>
                    <a:pt x="238565" y="112477"/>
                  </a:lnTo>
                  <a:lnTo>
                    <a:pt x="275758" y="87341"/>
                  </a:lnTo>
                  <a:lnTo>
                    <a:pt x="314916" y="65069"/>
                  </a:lnTo>
                  <a:lnTo>
                    <a:pt x="355887" y="45812"/>
                  </a:lnTo>
                  <a:lnTo>
                    <a:pt x="398522" y="29719"/>
                  </a:lnTo>
                  <a:lnTo>
                    <a:pt x="442670" y="16942"/>
                  </a:lnTo>
                  <a:lnTo>
                    <a:pt x="488183" y="7629"/>
                  </a:lnTo>
                  <a:lnTo>
                    <a:pt x="534910" y="1932"/>
                  </a:lnTo>
                  <a:lnTo>
                    <a:pt x="582700" y="0"/>
                  </a:lnTo>
                  <a:lnTo>
                    <a:pt x="3246387" y="0"/>
                  </a:lnTo>
                  <a:lnTo>
                    <a:pt x="3294177" y="1932"/>
                  </a:lnTo>
                  <a:lnTo>
                    <a:pt x="3340904" y="7629"/>
                  </a:lnTo>
                  <a:lnTo>
                    <a:pt x="3386416" y="16942"/>
                  </a:lnTo>
                  <a:lnTo>
                    <a:pt x="3430565" y="29719"/>
                  </a:lnTo>
                  <a:lnTo>
                    <a:pt x="3473200" y="45812"/>
                  </a:lnTo>
                  <a:lnTo>
                    <a:pt x="3514171" y="65069"/>
                  </a:lnTo>
                  <a:lnTo>
                    <a:pt x="3553329" y="87341"/>
                  </a:lnTo>
                  <a:lnTo>
                    <a:pt x="3590522" y="112477"/>
                  </a:lnTo>
                  <a:lnTo>
                    <a:pt x="3625602" y="140329"/>
                  </a:lnTo>
                  <a:lnTo>
                    <a:pt x="3658418" y="170745"/>
                  </a:lnTo>
                  <a:lnTo>
                    <a:pt x="3688821" y="203576"/>
                  </a:lnTo>
                  <a:lnTo>
                    <a:pt x="3716660" y="238672"/>
                  </a:lnTo>
                  <a:lnTo>
                    <a:pt x="3741785" y="275882"/>
                  </a:lnTo>
                  <a:lnTo>
                    <a:pt x="3764047" y="315057"/>
                  </a:lnTo>
                  <a:lnTo>
                    <a:pt x="3783296" y="356046"/>
                  </a:lnTo>
                  <a:lnTo>
                    <a:pt x="3799381" y="398700"/>
                  </a:lnTo>
                  <a:lnTo>
                    <a:pt x="3812152" y="442869"/>
                  </a:lnTo>
                  <a:lnTo>
                    <a:pt x="3821461" y="488402"/>
                  </a:lnTo>
                  <a:lnTo>
                    <a:pt x="3827156" y="535149"/>
                  </a:lnTo>
                  <a:lnTo>
                    <a:pt x="3829087" y="582961"/>
                  </a:lnTo>
                  <a:lnTo>
                    <a:pt x="3829087" y="2914742"/>
                  </a:lnTo>
                  <a:lnTo>
                    <a:pt x="3827156" y="2962554"/>
                  </a:lnTo>
                  <a:lnTo>
                    <a:pt x="3821461" y="3009302"/>
                  </a:lnTo>
                  <a:lnTo>
                    <a:pt x="3812152" y="3054835"/>
                  </a:lnTo>
                  <a:lnTo>
                    <a:pt x="3799381" y="3099003"/>
                  </a:lnTo>
                  <a:lnTo>
                    <a:pt x="3783296" y="3141657"/>
                  </a:lnTo>
                  <a:lnTo>
                    <a:pt x="3764047" y="3182646"/>
                  </a:lnTo>
                  <a:lnTo>
                    <a:pt x="3741785" y="3221821"/>
                  </a:lnTo>
                  <a:lnTo>
                    <a:pt x="3716660" y="3259032"/>
                  </a:lnTo>
                  <a:lnTo>
                    <a:pt x="3688821" y="3294127"/>
                  </a:lnTo>
                  <a:lnTo>
                    <a:pt x="3658418" y="3326958"/>
                  </a:lnTo>
                  <a:lnTo>
                    <a:pt x="3625602" y="3357374"/>
                  </a:lnTo>
                  <a:lnTo>
                    <a:pt x="3590522" y="3385226"/>
                  </a:lnTo>
                  <a:lnTo>
                    <a:pt x="3553329" y="3410363"/>
                  </a:lnTo>
                  <a:lnTo>
                    <a:pt x="3514171" y="3432635"/>
                  </a:lnTo>
                  <a:lnTo>
                    <a:pt x="3473200" y="3451892"/>
                  </a:lnTo>
                  <a:lnTo>
                    <a:pt x="3430565" y="3467984"/>
                  </a:lnTo>
                  <a:lnTo>
                    <a:pt x="3386416" y="3480761"/>
                  </a:lnTo>
                  <a:lnTo>
                    <a:pt x="3340904" y="3490074"/>
                  </a:lnTo>
                  <a:lnTo>
                    <a:pt x="3294177" y="3495771"/>
                  </a:lnTo>
                  <a:lnTo>
                    <a:pt x="3246387" y="3497704"/>
                  </a:lnTo>
                  <a:lnTo>
                    <a:pt x="582700" y="3497704"/>
                  </a:lnTo>
                  <a:lnTo>
                    <a:pt x="534910" y="3495771"/>
                  </a:lnTo>
                  <a:lnTo>
                    <a:pt x="488183" y="3490074"/>
                  </a:lnTo>
                  <a:lnTo>
                    <a:pt x="442670" y="3480761"/>
                  </a:lnTo>
                  <a:lnTo>
                    <a:pt x="398522" y="3467984"/>
                  </a:lnTo>
                  <a:lnTo>
                    <a:pt x="355887" y="3451892"/>
                  </a:lnTo>
                  <a:lnTo>
                    <a:pt x="314916" y="3432635"/>
                  </a:lnTo>
                  <a:lnTo>
                    <a:pt x="275758" y="3410363"/>
                  </a:lnTo>
                  <a:lnTo>
                    <a:pt x="238565" y="3385226"/>
                  </a:lnTo>
                  <a:lnTo>
                    <a:pt x="203485" y="3357374"/>
                  </a:lnTo>
                  <a:lnTo>
                    <a:pt x="170669" y="3326958"/>
                  </a:lnTo>
                  <a:lnTo>
                    <a:pt x="140266" y="3294127"/>
                  </a:lnTo>
                  <a:lnTo>
                    <a:pt x="112427" y="3259032"/>
                  </a:lnTo>
                  <a:lnTo>
                    <a:pt x="87301" y="3221821"/>
                  </a:lnTo>
                  <a:lnTo>
                    <a:pt x="65039" y="3182646"/>
                  </a:lnTo>
                  <a:lnTo>
                    <a:pt x="45791" y="3141657"/>
                  </a:lnTo>
                  <a:lnTo>
                    <a:pt x="29706" y="3099003"/>
                  </a:lnTo>
                  <a:lnTo>
                    <a:pt x="16934" y="3054835"/>
                  </a:lnTo>
                  <a:lnTo>
                    <a:pt x="7626" y="3009302"/>
                  </a:lnTo>
                  <a:lnTo>
                    <a:pt x="1931" y="2962554"/>
                  </a:lnTo>
                  <a:lnTo>
                    <a:pt x="0" y="2914742"/>
                  </a:lnTo>
                  <a:lnTo>
                    <a:pt x="0" y="582961"/>
                  </a:lnTo>
                  <a:close/>
                </a:path>
              </a:pathLst>
            </a:custGeom>
            <a:ln w="525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3405" rIns="0" bIns="0" rtlCol="0" vert="horz">
            <a:spAutoFit/>
          </a:bodyPr>
          <a:lstStyle/>
          <a:p>
            <a:pPr marL="2052955" marR="5080" indent="-670560">
              <a:lnSpc>
                <a:spcPct val="101099"/>
              </a:lnSpc>
              <a:spcBef>
                <a:spcPts val="50"/>
              </a:spcBef>
            </a:pPr>
            <a:r>
              <a:rPr dirty="0" sz="3700" b="0">
                <a:solidFill>
                  <a:srgbClr val="000000"/>
                </a:solidFill>
                <a:latin typeface="Arial MT"/>
                <a:cs typeface="Arial MT"/>
              </a:rPr>
              <a:t>Unsupervised</a:t>
            </a:r>
            <a:r>
              <a:rPr dirty="0" sz="370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700" b="0">
                <a:solidFill>
                  <a:srgbClr val="000000"/>
                </a:solidFill>
                <a:latin typeface="Arial MT"/>
                <a:cs typeface="Arial MT"/>
              </a:rPr>
              <a:t>Learning</a:t>
            </a:r>
            <a:r>
              <a:rPr dirty="0" sz="3700" spc="-50" b="0">
                <a:solidFill>
                  <a:srgbClr val="000000"/>
                </a:solidFill>
                <a:latin typeface="Arial MT"/>
                <a:cs typeface="Arial MT"/>
              </a:rPr>
              <a:t> – </a:t>
            </a:r>
            <a:r>
              <a:rPr dirty="0" sz="3700" b="0">
                <a:solidFill>
                  <a:srgbClr val="000000"/>
                </a:solidFill>
                <a:latin typeface="Arial MT"/>
                <a:cs typeface="Arial MT"/>
              </a:rPr>
              <a:t>Types</a:t>
            </a:r>
            <a:r>
              <a:rPr dirty="0" sz="3700" spc="-11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700" b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dirty="0" sz="3700" spc="-114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700" spc="-10" b="0">
                <a:solidFill>
                  <a:srgbClr val="000000"/>
                </a:solidFill>
                <a:latin typeface="Arial MT"/>
                <a:cs typeface="Arial MT"/>
              </a:rPr>
              <a:t>Problems</a:t>
            </a:r>
            <a:endParaRPr sz="37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5200" y="1718461"/>
            <a:ext cx="6078220" cy="48450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367030" marR="5080" indent="-354965">
              <a:lnSpc>
                <a:spcPts val="2090"/>
              </a:lnSpc>
              <a:spcBef>
                <a:spcPts val="225"/>
              </a:spcBef>
              <a:buFont typeface="Arial MT"/>
              <a:buChar char="•"/>
              <a:tabLst>
                <a:tab pos="367030" algn="l"/>
              </a:tabLst>
            </a:pPr>
            <a:r>
              <a:rPr dirty="0" sz="1800" spc="-25" b="1">
                <a:solidFill>
                  <a:srgbClr val="2D2D8A"/>
                </a:solidFill>
                <a:latin typeface="Arial"/>
                <a:cs typeface="Arial"/>
              </a:rPr>
              <a:t>Unsupervised</a:t>
            </a:r>
            <a:r>
              <a:rPr dirty="0" sz="1800" spc="-80" b="1">
                <a:solidFill>
                  <a:srgbClr val="2D2D8A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2D2D8A"/>
                </a:solidFill>
                <a:latin typeface="Arial"/>
                <a:cs typeface="Arial"/>
              </a:rPr>
              <a:t>Methods</a:t>
            </a:r>
            <a:r>
              <a:rPr dirty="0" sz="1800" spc="-75" b="1">
                <a:solidFill>
                  <a:srgbClr val="2D2D8A"/>
                </a:solidFill>
                <a:latin typeface="Arial"/>
                <a:cs typeface="Arial"/>
              </a:rPr>
              <a:t> </a:t>
            </a:r>
            <a:r>
              <a:rPr dirty="0" sz="1800" spc="-10">
                <a:latin typeface="Arial MT"/>
                <a:cs typeface="Arial MT"/>
              </a:rPr>
              <a:t>(also</a:t>
            </a:r>
            <a:r>
              <a:rPr dirty="0" sz="1800" spc="-7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called</a:t>
            </a:r>
            <a:r>
              <a:rPr dirty="0" sz="1800" spc="-70">
                <a:latin typeface="Arial MT"/>
                <a:cs typeface="Arial MT"/>
              </a:rPr>
              <a:t> </a:t>
            </a:r>
            <a:r>
              <a:rPr dirty="0" sz="1800" spc="-20" b="1">
                <a:latin typeface="Arial"/>
                <a:cs typeface="Arial"/>
              </a:rPr>
              <a:t>Descriptive</a:t>
            </a:r>
            <a:r>
              <a:rPr dirty="0" sz="1800" spc="-20">
                <a:latin typeface="Arial MT"/>
                <a:cs typeface="Arial MT"/>
              </a:rPr>
              <a:t>):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Try</a:t>
            </a:r>
            <a:r>
              <a:rPr dirty="0" sz="1800" spc="-7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to </a:t>
            </a:r>
            <a:r>
              <a:rPr dirty="0" sz="1800">
                <a:latin typeface="Arial MT"/>
                <a:cs typeface="Arial MT"/>
              </a:rPr>
              <a:t>find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meaningful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patterns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data.</a:t>
            </a:r>
            <a:endParaRPr sz="1800">
              <a:latin typeface="Arial MT"/>
              <a:cs typeface="Arial MT"/>
            </a:endParaRPr>
          </a:p>
          <a:p>
            <a:pPr lvl="1" marL="781050" indent="-295275">
              <a:lnSpc>
                <a:spcPct val="100000"/>
              </a:lnSpc>
              <a:spcBef>
                <a:spcPts val="1190"/>
              </a:spcBef>
              <a:buFont typeface="Arial MT"/>
              <a:buChar char="–"/>
              <a:tabLst>
                <a:tab pos="781050" algn="l"/>
              </a:tabLst>
            </a:pPr>
            <a:r>
              <a:rPr dirty="0" sz="1800" spc="-25" b="1">
                <a:solidFill>
                  <a:srgbClr val="00B050"/>
                </a:solidFill>
                <a:latin typeface="Arial"/>
                <a:cs typeface="Arial"/>
              </a:rPr>
              <a:t>Clustering:</a:t>
            </a:r>
            <a:r>
              <a:rPr dirty="0" sz="1800" spc="-8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group</a:t>
            </a:r>
            <a:r>
              <a:rPr dirty="0" sz="1800" spc="-7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similar</a:t>
            </a:r>
            <a:r>
              <a:rPr dirty="0" sz="1800" spc="-8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data</a:t>
            </a:r>
            <a:r>
              <a:rPr dirty="0" sz="1800" spc="-7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into</a:t>
            </a:r>
            <a:r>
              <a:rPr dirty="0" sz="1800" spc="-7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clusters</a:t>
            </a:r>
            <a:endParaRPr sz="1800">
              <a:latin typeface="Arial MT"/>
              <a:cs typeface="Arial MT"/>
            </a:endParaRPr>
          </a:p>
          <a:p>
            <a:pPr lvl="2" marL="1313180" indent="-295275">
              <a:lnSpc>
                <a:spcPct val="100000"/>
              </a:lnSpc>
              <a:spcBef>
                <a:spcPts val="340"/>
              </a:spcBef>
              <a:buFont typeface="Wingdings"/>
              <a:buChar char=""/>
              <a:tabLst>
                <a:tab pos="1313180" algn="l"/>
              </a:tabLst>
            </a:pPr>
            <a:r>
              <a:rPr dirty="0" sz="1700" spc="-20">
                <a:latin typeface="Arial MT"/>
                <a:cs typeface="Arial MT"/>
              </a:rPr>
              <a:t>Market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 spc="-30">
                <a:latin typeface="Arial MT"/>
                <a:cs typeface="Arial MT"/>
              </a:rPr>
              <a:t>Segmentation,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30">
                <a:latin typeface="Arial MT"/>
                <a:cs typeface="Arial MT"/>
              </a:rPr>
              <a:t>Document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Clustering</a:t>
            </a:r>
            <a:endParaRPr sz="1700">
              <a:latin typeface="Arial MT"/>
              <a:cs typeface="Arial MT"/>
            </a:endParaRPr>
          </a:p>
          <a:p>
            <a:pPr lvl="1" marL="781050" marR="1092835" indent="-295910">
              <a:lnSpc>
                <a:spcPts val="2110"/>
              </a:lnSpc>
              <a:spcBef>
                <a:spcPts val="1355"/>
              </a:spcBef>
              <a:buFont typeface="Arial MT"/>
              <a:buChar char="–"/>
              <a:tabLst>
                <a:tab pos="781050" algn="l"/>
              </a:tabLst>
            </a:pPr>
            <a:r>
              <a:rPr dirty="0" sz="1800" spc="-25" b="1">
                <a:solidFill>
                  <a:srgbClr val="00B050"/>
                </a:solidFill>
                <a:latin typeface="Arial"/>
                <a:cs typeface="Arial"/>
              </a:rPr>
              <a:t>Association</a:t>
            </a:r>
            <a:r>
              <a:rPr dirty="0" sz="1800" spc="-7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00B050"/>
                </a:solidFill>
                <a:latin typeface="Arial"/>
                <a:cs typeface="Arial"/>
              </a:rPr>
              <a:t>Rule</a:t>
            </a:r>
            <a:r>
              <a:rPr dirty="0" sz="1800" spc="-6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00B050"/>
                </a:solidFill>
                <a:latin typeface="Arial"/>
                <a:cs typeface="Arial"/>
              </a:rPr>
              <a:t>Discovery:</a:t>
            </a:r>
            <a:r>
              <a:rPr dirty="0" sz="1800" spc="-65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find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human </a:t>
            </a:r>
            <a:r>
              <a:rPr dirty="0" sz="1800" spc="-20">
                <a:latin typeface="Arial MT"/>
                <a:cs typeface="Arial MT"/>
              </a:rPr>
              <a:t>interpretable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patterns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(associations)</a:t>
            </a:r>
            <a:endParaRPr sz="1800">
              <a:latin typeface="Arial MT"/>
              <a:cs typeface="Arial MT"/>
            </a:endParaRPr>
          </a:p>
          <a:p>
            <a:pPr lvl="2" marL="1313180" marR="1062355" indent="-295910">
              <a:lnSpc>
                <a:spcPts val="2020"/>
              </a:lnSpc>
              <a:spcBef>
                <a:spcPts val="365"/>
              </a:spcBef>
              <a:buFont typeface="Wingdings"/>
              <a:buChar char=""/>
              <a:tabLst>
                <a:tab pos="1313180" algn="l"/>
              </a:tabLst>
            </a:pPr>
            <a:r>
              <a:rPr dirty="0" sz="1700" spc="-25">
                <a:latin typeface="Arial MT"/>
                <a:cs typeface="Arial MT"/>
              </a:rPr>
              <a:t>Product</a:t>
            </a:r>
            <a:r>
              <a:rPr dirty="0" sz="1700" spc="-30">
                <a:latin typeface="Arial MT"/>
                <a:cs typeface="Arial MT"/>
              </a:rPr>
              <a:t> </a:t>
            </a:r>
            <a:r>
              <a:rPr dirty="0" sz="1700" spc="-35">
                <a:latin typeface="Arial MT"/>
                <a:cs typeface="Arial MT"/>
              </a:rPr>
              <a:t>Recommendations,</a:t>
            </a:r>
            <a:r>
              <a:rPr dirty="0" sz="1700" spc="-25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Store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Shelf Management</a:t>
            </a:r>
            <a:endParaRPr sz="1700">
              <a:latin typeface="Arial MT"/>
              <a:cs typeface="Arial MT"/>
            </a:endParaRPr>
          </a:p>
          <a:p>
            <a:pPr lvl="1" marL="781050" marR="459105" indent="-295910">
              <a:lnSpc>
                <a:spcPts val="2110"/>
              </a:lnSpc>
              <a:spcBef>
                <a:spcPts val="1290"/>
              </a:spcBef>
              <a:buFont typeface="Arial MT"/>
              <a:buChar char="–"/>
              <a:tabLst>
                <a:tab pos="781050" algn="l"/>
              </a:tabLst>
            </a:pPr>
            <a:r>
              <a:rPr dirty="0" sz="1800" spc="-20" b="1">
                <a:solidFill>
                  <a:srgbClr val="00B050"/>
                </a:solidFill>
                <a:latin typeface="Arial"/>
                <a:cs typeface="Arial"/>
              </a:rPr>
              <a:t>Sequential</a:t>
            </a:r>
            <a:r>
              <a:rPr dirty="0" sz="1800" spc="-8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00B050"/>
                </a:solidFill>
                <a:latin typeface="Arial"/>
                <a:cs typeface="Arial"/>
              </a:rPr>
              <a:t>Pattern</a:t>
            </a:r>
            <a:r>
              <a:rPr dirty="0" sz="1800" spc="-10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00B050"/>
                </a:solidFill>
                <a:latin typeface="Arial"/>
                <a:cs typeface="Arial"/>
              </a:rPr>
              <a:t>Discovery:</a:t>
            </a:r>
            <a:r>
              <a:rPr dirty="0" sz="1800" spc="-8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1800" spc="-10">
                <a:latin typeface="Arial MT"/>
                <a:cs typeface="Arial MT"/>
              </a:rPr>
              <a:t>describe</a:t>
            </a:r>
            <a:r>
              <a:rPr dirty="0" sz="1800" spc="-9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the </a:t>
            </a:r>
            <a:r>
              <a:rPr dirty="0" sz="1800" spc="-10">
                <a:latin typeface="Arial MT"/>
                <a:cs typeface="Arial MT"/>
              </a:rPr>
              <a:t>sequential</a:t>
            </a:r>
            <a:r>
              <a:rPr dirty="0" sz="1800" spc="-90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dependencies</a:t>
            </a:r>
            <a:r>
              <a:rPr dirty="0" sz="1800" spc="-8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among</a:t>
            </a:r>
            <a:r>
              <a:rPr dirty="0" sz="1800" spc="-8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different</a:t>
            </a:r>
            <a:r>
              <a:rPr dirty="0" sz="1800" spc="-7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events</a:t>
            </a:r>
            <a:endParaRPr sz="1800">
              <a:latin typeface="Arial MT"/>
              <a:cs typeface="Arial MT"/>
            </a:endParaRPr>
          </a:p>
          <a:p>
            <a:pPr lvl="2" marL="1313180" indent="-295275">
              <a:lnSpc>
                <a:spcPct val="100000"/>
              </a:lnSpc>
              <a:spcBef>
                <a:spcPts val="280"/>
              </a:spcBef>
              <a:buFont typeface="Wingdings"/>
              <a:buChar char=""/>
              <a:tabLst>
                <a:tab pos="1313180" algn="l"/>
              </a:tabLst>
            </a:pPr>
            <a:r>
              <a:rPr dirty="0" sz="1700" spc="-25">
                <a:latin typeface="Arial MT"/>
                <a:cs typeface="Arial MT"/>
              </a:rPr>
              <a:t>Buying</a:t>
            </a:r>
            <a:r>
              <a:rPr dirty="0" sz="1700" spc="-9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Patterns,</a:t>
            </a:r>
            <a:r>
              <a:rPr dirty="0" sz="1700" spc="240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Gene</a:t>
            </a:r>
            <a:r>
              <a:rPr dirty="0" sz="1700" spc="-10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Sequencing</a:t>
            </a:r>
            <a:endParaRPr sz="1700">
              <a:latin typeface="Arial MT"/>
              <a:cs typeface="Arial MT"/>
            </a:endParaRPr>
          </a:p>
          <a:p>
            <a:pPr lvl="1" marL="781050" marR="280035" indent="-295910">
              <a:lnSpc>
                <a:spcPts val="2110"/>
              </a:lnSpc>
              <a:spcBef>
                <a:spcPts val="1355"/>
              </a:spcBef>
              <a:buFont typeface="Arial MT"/>
              <a:buChar char="–"/>
              <a:tabLst>
                <a:tab pos="781050" algn="l"/>
              </a:tabLst>
            </a:pPr>
            <a:r>
              <a:rPr dirty="0" sz="1800" spc="-25" b="1">
                <a:solidFill>
                  <a:srgbClr val="00B050"/>
                </a:solidFill>
                <a:latin typeface="Arial"/>
                <a:cs typeface="Arial"/>
              </a:rPr>
              <a:t>Unsupervised</a:t>
            </a:r>
            <a:r>
              <a:rPr dirty="0" sz="1800" spc="-6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00B050"/>
                </a:solidFill>
                <a:latin typeface="Arial"/>
                <a:cs typeface="Arial"/>
              </a:rPr>
              <a:t>anomaly</a:t>
            </a:r>
            <a:r>
              <a:rPr dirty="0" sz="1800" spc="-5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00B050"/>
                </a:solidFill>
                <a:latin typeface="Arial"/>
                <a:cs typeface="Arial"/>
              </a:rPr>
              <a:t>detection:</a:t>
            </a:r>
            <a:r>
              <a:rPr dirty="0" sz="1800" spc="-5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detect anomalies</a:t>
            </a:r>
            <a:r>
              <a:rPr dirty="0" sz="1800" spc="-8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</a:t>
            </a:r>
            <a:r>
              <a:rPr dirty="0" sz="1800" spc="-8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unlabeled</a:t>
            </a:r>
            <a:r>
              <a:rPr dirty="0" sz="1800" spc="-8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data</a:t>
            </a:r>
            <a:r>
              <a:rPr dirty="0" sz="1800" spc="-8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under</a:t>
            </a:r>
            <a:r>
              <a:rPr dirty="0" sz="1800" spc="-8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8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assumption </a:t>
            </a:r>
            <a:r>
              <a:rPr dirty="0" sz="1800">
                <a:latin typeface="Arial MT"/>
                <a:cs typeface="Arial MT"/>
              </a:rPr>
              <a:t>that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majority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instances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are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normal</a:t>
            </a:r>
            <a:endParaRPr sz="1800">
              <a:latin typeface="Arial MT"/>
              <a:cs typeface="Arial MT"/>
            </a:endParaRPr>
          </a:p>
          <a:p>
            <a:pPr lvl="2" marL="1313180" indent="-295275">
              <a:lnSpc>
                <a:spcPct val="100000"/>
              </a:lnSpc>
              <a:spcBef>
                <a:spcPts val="375"/>
              </a:spcBef>
              <a:buFont typeface="Wingdings"/>
              <a:buChar char=""/>
              <a:tabLst>
                <a:tab pos="1313180" algn="l"/>
              </a:tabLst>
            </a:pPr>
            <a:r>
              <a:rPr dirty="0" sz="1700" spc="-20">
                <a:latin typeface="Arial MT"/>
                <a:cs typeface="Arial MT"/>
              </a:rPr>
              <a:t>Fraud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Detection,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Network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Intrusion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Detection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0772" y="1599159"/>
            <a:ext cx="2429437" cy="534014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9876" y="1876409"/>
            <a:ext cx="8112125" cy="3238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7030" marR="5080" indent="-354965">
              <a:lnSpc>
                <a:spcPct val="100000"/>
              </a:lnSpc>
              <a:spcBef>
                <a:spcPts val="100"/>
              </a:spcBef>
              <a:buChar char="•"/>
              <a:tabLst>
                <a:tab pos="367030" algn="l"/>
              </a:tabLst>
            </a:pPr>
            <a:r>
              <a:rPr dirty="0" sz="2500">
                <a:latin typeface="Arial MT"/>
                <a:cs typeface="Arial MT"/>
              </a:rPr>
              <a:t>Clustering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similar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classification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with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only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but </a:t>
            </a:r>
            <a:r>
              <a:rPr dirty="0" sz="2500">
                <a:latin typeface="Arial MT"/>
                <a:cs typeface="Arial MT"/>
              </a:rPr>
              <a:t>major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difference.</a:t>
            </a:r>
            <a:r>
              <a:rPr dirty="0" sz="2500" spc="-10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information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about</a:t>
            </a:r>
            <a:r>
              <a:rPr dirty="0" sz="2500" spc="-10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classes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of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data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unknown.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There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no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idea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whether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this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data </a:t>
            </a:r>
            <a:r>
              <a:rPr dirty="0" sz="2500">
                <a:latin typeface="Arial MT"/>
                <a:cs typeface="Arial MT"/>
              </a:rPr>
              <a:t>can</a:t>
            </a:r>
            <a:r>
              <a:rPr dirty="0" sz="2500" spc="-3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be</a:t>
            </a:r>
            <a:r>
              <a:rPr dirty="0" sz="2500" spc="-3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classified.</a:t>
            </a:r>
            <a:endParaRPr sz="2500">
              <a:latin typeface="Arial MT"/>
              <a:cs typeface="Arial MT"/>
            </a:endParaRPr>
          </a:p>
          <a:p>
            <a:pPr marL="367030" marR="242570" indent="-354965">
              <a:lnSpc>
                <a:spcPct val="100000"/>
              </a:lnSpc>
              <a:spcBef>
                <a:spcPts val="1295"/>
              </a:spcBef>
              <a:buChar char="•"/>
              <a:tabLst>
                <a:tab pos="367030" algn="l"/>
              </a:tabLst>
            </a:pPr>
            <a:r>
              <a:rPr dirty="0" sz="2500">
                <a:latin typeface="Arial MT"/>
                <a:cs typeface="Arial MT"/>
              </a:rPr>
              <a:t>Usually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clustering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not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applied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solving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particular </a:t>
            </a:r>
            <a:r>
              <a:rPr dirty="0" sz="2500">
                <a:latin typeface="Arial MT"/>
                <a:cs typeface="Arial MT"/>
              </a:rPr>
              <a:t>task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cybersecurity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as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it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more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like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one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the </a:t>
            </a:r>
            <a:r>
              <a:rPr dirty="0" sz="2500">
                <a:latin typeface="Arial MT"/>
                <a:cs typeface="Arial MT"/>
              </a:rPr>
              <a:t>subtasks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pipeline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(e.g.,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grouping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users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into </a:t>
            </a:r>
            <a:r>
              <a:rPr dirty="0" sz="2500">
                <a:latin typeface="Arial MT"/>
                <a:cs typeface="Arial MT"/>
              </a:rPr>
              <a:t>separate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groups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adjust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risk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values).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6099" rIns="0" bIns="0" rtlCol="0" vert="horz">
            <a:spAutoFit/>
          </a:bodyPr>
          <a:lstStyle/>
          <a:p>
            <a:pPr marL="1193165">
              <a:lnSpc>
                <a:spcPct val="100000"/>
              </a:lnSpc>
              <a:spcBef>
                <a:spcPts val="100"/>
              </a:spcBef>
            </a:pPr>
            <a:r>
              <a:rPr dirty="0" sz="3700" b="0">
                <a:solidFill>
                  <a:srgbClr val="000000"/>
                </a:solidFill>
                <a:latin typeface="Arial MT"/>
                <a:cs typeface="Arial MT"/>
              </a:rPr>
              <a:t>Unsupervised:</a:t>
            </a:r>
            <a:r>
              <a:rPr dirty="0" sz="3700" spc="-4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700" spc="-10" b="0">
                <a:solidFill>
                  <a:srgbClr val="000000"/>
                </a:solidFill>
                <a:latin typeface="Arial MT"/>
                <a:cs typeface="Arial MT"/>
              </a:rPr>
              <a:t>Clustering</a:t>
            </a:r>
            <a:endParaRPr sz="3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3562" rIns="0" bIns="0" rtlCol="0" vert="horz">
            <a:spAutoFit/>
          </a:bodyPr>
          <a:lstStyle/>
          <a:p>
            <a:pPr marL="1463040">
              <a:lnSpc>
                <a:spcPct val="100000"/>
              </a:lnSpc>
              <a:spcBef>
                <a:spcPts val="100"/>
              </a:spcBef>
            </a:pPr>
            <a:r>
              <a:rPr dirty="0" sz="3300" b="0">
                <a:solidFill>
                  <a:srgbClr val="000000"/>
                </a:solidFill>
                <a:latin typeface="Arial MT"/>
                <a:cs typeface="Arial MT"/>
              </a:rPr>
              <a:t>Unsupervised</a:t>
            </a:r>
            <a:r>
              <a:rPr dirty="0" sz="3300" spc="-7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300" b="0">
                <a:solidFill>
                  <a:srgbClr val="000000"/>
                </a:solidFill>
                <a:latin typeface="Arial MT"/>
                <a:cs typeface="Arial MT"/>
              </a:rPr>
              <a:t>vs.</a:t>
            </a:r>
            <a:r>
              <a:rPr dirty="0" sz="3300" spc="-7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300" spc="-10" b="0">
                <a:solidFill>
                  <a:srgbClr val="000000"/>
                </a:solidFill>
                <a:latin typeface="Arial MT"/>
                <a:cs typeface="Arial MT"/>
              </a:rPr>
              <a:t>Supervised</a:t>
            </a:r>
            <a:endParaRPr sz="33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1846" y="1411817"/>
            <a:ext cx="7171781" cy="546973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707" rIns="0" bIns="0" rtlCol="0" vert="horz">
            <a:spAutoFit/>
          </a:bodyPr>
          <a:lstStyle/>
          <a:p>
            <a:pPr marL="2059939">
              <a:lnSpc>
                <a:spcPct val="100000"/>
              </a:lnSpc>
              <a:spcBef>
                <a:spcPts val="100"/>
              </a:spcBef>
            </a:pPr>
            <a:r>
              <a:rPr dirty="0" sz="3700">
                <a:solidFill>
                  <a:srgbClr val="2D2D8A"/>
                </a:solidFill>
                <a:latin typeface="Arial"/>
                <a:cs typeface="Arial"/>
              </a:rPr>
              <a:t>Machine</a:t>
            </a:r>
            <a:r>
              <a:rPr dirty="0" sz="3700" spc="-50">
                <a:solidFill>
                  <a:srgbClr val="2D2D8A"/>
                </a:solidFill>
                <a:latin typeface="Arial"/>
                <a:cs typeface="Arial"/>
              </a:rPr>
              <a:t> </a:t>
            </a:r>
            <a:r>
              <a:rPr dirty="0" sz="3700" spc="-10">
                <a:solidFill>
                  <a:srgbClr val="2D2D8A"/>
                </a:solidFill>
                <a:latin typeface="Arial"/>
                <a:cs typeface="Arial"/>
              </a:rPr>
              <a:t>Learning</a:t>
            </a:r>
            <a:endParaRPr sz="37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280494" y="1292552"/>
            <a:ext cx="7844790" cy="5663565"/>
            <a:chOff x="1280494" y="1292552"/>
            <a:chExt cx="7844790" cy="566356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0494" y="1292552"/>
              <a:ext cx="7844455" cy="5613711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3090358" y="4869116"/>
              <a:ext cx="4027170" cy="2060575"/>
            </a:xfrm>
            <a:custGeom>
              <a:avLst/>
              <a:gdLst/>
              <a:ahLst/>
              <a:cxnLst/>
              <a:rect l="l" t="t" r="r" b="b"/>
              <a:pathLst>
                <a:path w="4027170" h="2060575">
                  <a:moveTo>
                    <a:pt x="0" y="343378"/>
                  </a:moveTo>
                  <a:lnTo>
                    <a:pt x="3133" y="296784"/>
                  </a:lnTo>
                  <a:lnTo>
                    <a:pt x="12260" y="252095"/>
                  </a:lnTo>
                  <a:lnTo>
                    <a:pt x="26972" y="209720"/>
                  </a:lnTo>
                  <a:lnTo>
                    <a:pt x="46860" y="170068"/>
                  </a:lnTo>
                  <a:lnTo>
                    <a:pt x="71515" y="133550"/>
                  </a:lnTo>
                  <a:lnTo>
                    <a:pt x="100528" y="100573"/>
                  </a:lnTo>
                  <a:lnTo>
                    <a:pt x="133490" y="71547"/>
                  </a:lnTo>
                  <a:lnTo>
                    <a:pt x="169992" y="46881"/>
                  </a:lnTo>
                  <a:lnTo>
                    <a:pt x="209626" y="26984"/>
                  </a:lnTo>
                  <a:lnTo>
                    <a:pt x="251982" y="12265"/>
                  </a:lnTo>
                  <a:lnTo>
                    <a:pt x="296651" y="3134"/>
                  </a:lnTo>
                  <a:lnTo>
                    <a:pt x="343225" y="0"/>
                  </a:lnTo>
                  <a:lnTo>
                    <a:pt x="3683681" y="0"/>
                  </a:lnTo>
                  <a:lnTo>
                    <a:pt x="3730254" y="3134"/>
                  </a:lnTo>
                  <a:lnTo>
                    <a:pt x="3774924" y="12265"/>
                  </a:lnTo>
                  <a:lnTo>
                    <a:pt x="3817279" y="26984"/>
                  </a:lnTo>
                  <a:lnTo>
                    <a:pt x="3856913" y="46881"/>
                  </a:lnTo>
                  <a:lnTo>
                    <a:pt x="3893415" y="71547"/>
                  </a:lnTo>
                  <a:lnTo>
                    <a:pt x="3926377" y="100573"/>
                  </a:lnTo>
                  <a:lnTo>
                    <a:pt x="3955390" y="133550"/>
                  </a:lnTo>
                  <a:lnTo>
                    <a:pt x="3980045" y="170068"/>
                  </a:lnTo>
                  <a:lnTo>
                    <a:pt x="3999933" y="209720"/>
                  </a:lnTo>
                  <a:lnTo>
                    <a:pt x="4014645" y="252095"/>
                  </a:lnTo>
                  <a:lnTo>
                    <a:pt x="4023772" y="296784"/>
                  </a:lnTo>
                  <a:lnTo>
                    <a:pt x="4026905" y="343378"/>
                  </a:lnTo>
                  <a:lnTo>
                    <a:pt x="4026905" y="1716854"/>
                  </a:lnTo>
                  <a:lnTo>
                    <a:pt x="4023772" y="1763448"/>
                  </a:lnTo>
                  <a:lnTo>
                    <a:pt x="4014645" y="1808138"/>
                  </a:lnTo>
                  <a:lnTo>
                    <a:pt x="3999933" y="1850512"/>
                  </a:lnTo>
                  <a:lnTo>
                    <a:pt x="3980045" y="1890164"/>
                  </a:lnTo>
                  <a:lnTo>
                    <a:pt x="3955390" y="1926682"/>
                  </a:lnTo>
                  <a:lnTo>
                    <a:pt x="3926377" y="1959659"/>
                  </a:lnTo>
                  <a:lnTo>
                    <a:pt x="3893415" y="1988685"/>
                  </a:lnTo>
                  <a:lnTo>
                    <a:pt x="3856913" y="2013351"/>
                  </a:lnTo>
                  <a:lnTo>
                    <a:pt x="3817279" y="2033248"/>
                  </a:lnTo>
                  <a:lnTo>
                    <a:pt x="3774924" y="2047966"/>
                  </a:lnTo>
                  <a:lnTo>
                    <a:pt x="3730254" y="2057098"/>
                  </a:lnTo>
                  <a:lnTo>
                    <a:pt x="3683681" y="2060232"/>
                  </a:lnTo>
                  <a:lnTo>
                    <a:pt x="343225" y="2060232"/>
                  </a:lnTo>
                  <a:lnTo>
                    <a:pt x="296651" y="2057098"/>
                  </a:lnTo>
                  <a:lnTo>
                    <a:pt x="251982" y="2047966"/>
                  </a:lnTo>
                  <a:lnTo>
                    <a:pt x="209626" y="2033248"/>
                  </a:lnTo>
                  <a:lnTo>
                    <a:pt x="169992" y="2013351"/>
                  </a:lnTo>
                  <a:lnTo>
                    <a:pt x="133490" y="1988685"/>
                  </a:lnTo>
                  <a:lnTo>
                    <a:pt x="100528" y="1959659"/>
                  </a:lnTo>
                  <a:lnTo>
                    <a:pt x="71515" y="1926682"/>
                  </a:lnTo>
                  <a:lnTo>
                    <a:pt x="46860" y="1890164"/>
                  </a:lnTo>
                  <a:lnTo>
                    <a:pt x="26972" y="1850512"/>
                  </a:lnTo>
                  <a:lnTo>
                    <a:pt x="12260" y="1808138"/>
                  </a:lnTo>
                  <a:lnTo>
                    <a:pt x="3133" y="1763448"/>
                  </a:lnTo>
                  <a:lnTo>
                    <a:pt x="0" y="1716854"/>
                  </a:lnTo>
                  <a:lnTo>
                    <a:pt x="0" y="343378"/>
                  </a:lnTo>
                  <a:close/>
                </a:path>
              </a:pathLst>
            </a:custGeom>
            <a:ln w="525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10004" y="1955691"/>
            <a:ext cx="8296909" cy="1181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67030" marR="5080" indent="-354965">
              <a:lnSpc>
                <a:spcPct val="99600"/>
              </a:lnSpc>
              <a:spcBef>
                <a:spcPts val="110"/>
              </a:spcBef>
              <a:buFont typeface="Arial MT"/>
              <a:buChar char="•"/>
              <a:tabLst>
                <a:tab pos="367030" algn="l"/>
              </a:tabLst>
            </a:pPr>
            <a:r>
              <a:rPr dirty="0" sz="1900" spc="-30" b="1">
                <a:solidFill>
                  <a:srgbClr val="00B050"/>
                </a:solidFill>
                <a:latin typeface="Arial"/>
                <a:cs typeface="Arial"/>
              </a:rPr>
              <a:t>Reinforcement</a:t>
            </a:r>
            <a:r>
              <a:rPr dirty="0" sz="1900" spc="-55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1900" spc="-20" b="1">
                <a:solidFill>
                  <a:srgbClr val="00B050"/>
                </a:solidFill>
                <a:latin typeface="Arial"/>
                <a:cs typeface="Arial"/>
              </a:rPr>
              <a:t>learning</a:t>
            </a:r>
            <a:r>
              <a:rPr dirty="0" sz="1900" spc="-55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1900">
                <a:latin typeface="Arial MT"/>
                <a:cs typeface="Arial MT"/>
              </a:rPr>
              <a:t>is</a:t>
            </a:r>
            <a:r>
              <a:rPr dirty="0" sz="1900" spc="-5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40">
                <a:latin typeface="Arial MT"/>
                <a:cs typeface="Arial MT"/>
              </a:rPr>
              <a:t>machine-</a:t>
            </a:r>
            <a:r>
              <a:rPr dirty="0" sz="1900" spc="-20">
                <a:latin typeface="Arial MT"/>
                <a:cs typeface="Arial MT"/>
              </a:rPr>
              <a:t>learning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training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method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based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on rewarding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desired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behaviors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and/or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punishing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undesired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ones.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In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general,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50">
                <a:latin typeface="Arial MT"/>
                <a:cs typeface="Arial MT"/>
              </a:rPr>
              <a:t>a </a:t>
            </a:r>
            <a:r>
              <a:rPr dirty="0" sz="1900" spc="-25">
                <a:latin typeface="Arial MT"/>
                <a:cs typeface="Arial MT"/>
              </a:rPr>
              <a:t>reinforcement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learning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agent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is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able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to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perceive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and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interpret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its environment,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take</a:t>
            </a:r>
            <a:r>
              <a:rPr dirty="0" sz="1900" spc="-10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actions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and</a:t>
            </a:r>
            <a:r>
              <a:rPr dirty="0" sz="1900" spc="-10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learn</a:t>
            </a:r>
            <a:r>
              <a:rPr dirty="0" sz="1900" spc="-10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through</a:t>
            </a:r>
            <a:r>
              <a:rPr dirty="0" sz="1900" spc="-10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trial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and</a:t>
            </a:r>
            <a:r>
              <a:rPr dirty="0" sz="1900" spc="-10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error.</a:t>
            </a:r>
            <a:endParaRPr sz="19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56153" y="3535028"/>
            <a:ext cx="5874207" cy="34146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3745" rIns="0" bIns="0" rtlCol="0" vert="horz">
            <a:spAutoFit/>
          </a:bodyPr>
          <a:lstStyle/>
          <a:p>
            <a:pPr marL="1875789" marR="5080" indent="-683260">
              <a:lnSpc>
                <a:spcPct val="101600"/>
              </a:lnSpc>
              <a:spcBef>
                <a:spcPts val="30"/>
              </a:spcBef>
            </a:pPr>
            <a:r>
              <a:rPr dirty="0" sz="3700" b="0">
                <a:solidFill>
                  <a:srgbClr val="000000"/>
                </a:solidFill>
                <a:latin typeface="Arial MT"/>
                <a:cs typeface="Arial MT"/>
              </a:rPr>
              <a:t>Reinforcement</a:t>
            </a:r>
            <a:r>
              <a:rPr dirty="0" sz="370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700" b="0">
                <a:solidFill>
                  <a:srgbClr val="000000"/>
                </a:solidFill>
                <a:latin typeface="Arial MT"/>
                <a:cs typeface="Arial MT"/>
              </a:rPr>
              <a:t>learning</a:t>
            </a:r>
            <a:r>
              <a:rPr dirty="0" sz="370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700" spc="-50" b="0">
                <a:solidFill>
                  <a:srgbClr val="000000"/>
                </a:solidFill>
                <a:latin typeface="Arial MT"/>
                <a:cs typeface="Arial MT"/>
              </a:rPr>
              <a:t>– </a:t>
            </a:r>
            <a:r>
              <a:rPr dirty="0" sz="3700" b="0">
                <a:solidFill>
                  <a:srgbClr val="000000"/>
                </a:solidFill>
                <a:latin typeface="Arial MT"/>
                <a:cs typeface="Arial MT"/>
              </a:rPr>
              <a:t>Types</a:t>
            </a:r>
            <a:r>
              <a:rPr dirty="0" sz="3700" spc="-11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700" b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dirty="0" sz="3700" spc="-114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700" spc="-10" b="0">
                <a:solidFill>
                  <a:srgbClr val="000000"/>
                </a:solidFill>
                <a:latin typeface="Arial MT"/>
                <a:cs typeface="Arial MT"/>
              </a:rPr>
              <a:t>Problems</a:t>
            </a:r>
            <a:endParaRPr sz="37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10004" y="4119771"/>
            <a:ext cx="2512060" cy="1181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600"/>
              </a:lnSpc>
              <a:spcBef>
                <a:spcPts val="110"/>
              </a:spcBef>
            </a:pPr>
            <a:r>
              <a:rPr dirty="0" sz="1900" spc="-20" b="1">
                <a:solidFill>
                  <a:srgbClr val="00B050"/>
                </a:solidFill>
                <a:latin typeface="Arial"/>
                <a:cs typeface="Arial"/>
              </a:rPr>
              <a:t>Action</a:t>
            </a:r>
            <a:r>
              <a:rPr dirty="0" sz="1900" spc="-10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00B050"/>
                </a:solidFill>
                <a:latin typeface="Arial"/>
                <a:cs typeface="Arial"/>
              </a:rPr>
              <a:t>(for</a:t>
            </a:r>
            <a:r>
              <a:rPr dirty="0" sz="1900" spc="-9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00B050"/>
                </a:solidFill>
                <a:latin typeface="Arial"/>
                <a:cs typeface="Arial"/>
              </a:rPr>
              <a:t>example) </a:t>
            </a:r>
            <a:r>
              <a:rPr dirty="0" sz="1900" spc="-20">
                <a:latin typeface="Arial MT"/>
                <a:cs typeface="Arial MT"/>
              </a:rPr>
              <a:t>Robot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movement </a:t>
            </a:r>
            <a:r>
              <a:rPr dirty="0" sz="1900" spc="-25">
                <a:latin typeface="Arial MT"/>
                <a:cs typeface="Arial MT"/>
              </a:rPr>
              <a:t>Characters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in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games </a:t>
            </a:r>
            <a:r>
              <a:rPr dirty="0" sz="1900" spc="-30">
                <a:latin typeface="Arial MT"/>
                <a:cs typeface="Arial MT"/>
              </a:rPr>
              <a:t>Autonomous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car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driving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1299" rIns="0" bIns="0" rtlCol="0" vert="horz">
            <a:spAutoFit/>
          </a:bodyPr>
          <a:lstStyle/>
          <a:p>
            <a:pPr marL="1390015">
              <a:lnSpc>
                <a:spcPct val="100000"/>
              </a:lnSpc>
              <a:spcBef>
                <a:spcPts val="100"/>
              </a:spcBef>
            </a:pPr>
            <a:r>
              <a:rPr dirty="0" sz="3700" b="0">
                <a:solidFill>
                  <a:srgbClr val="000000"/>
                </a:solidFill>
                <a:latin typeface="Arial MT"/>
                <a:cs typeface="Arial MT"/>
              </a:rPr>
              <a:t>Reinforcement</a:t>
            </a:r>
            <a:r>
              <a:rPr dirty="0" sz="370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700" spc="-10" b="0">
                <a:solidFill>
                  <a:srgbClr val="000000"/>
                </a:solidFill>
                <a:latin typeface="Arial MT"/>
                <a:cs typeface="Arial MT"/>
              </a:rPr>
              <a:t>learning</a:t>
            </a:r>
            <a:endParaRPr sz="37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2242" y="1513517"/>
            <a:ext cx="8349115" cy="471878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738851" y="6494163"/>
            <a:ext cx="5481320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900" spc="-3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https://</a:t>
            </a:r>
            <a:r>
              <a:rPr dirty="0" u="heavy" sz="1900" spc="-3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3"/>
              </a:rPr>
              <a:t>www.youtube.com/watch?v=nIgIv4IfJ6s&amp;t=1s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3086" y="3698154"/>
            <a:ext cx="5990182" cy="3370983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97193" y="1815449"/>
            <a:ext cx="8559800" cy="1717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7030" marR="196215" indent="-35496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Char char="•"/>
              <a:tabLst>
                <a:tab pos="367030" algn="l"/>
              </a:tabLst>
            </a:pPr>
            <a:r>
              <a:rPr dirty="0" u="heavy" sz="25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https://</a:t>
            </a:r>
            <a:r>
              <a:rPr dirty="0" u="heavy" sz="25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3"/>
              </a:rPr>
              <a:t>www.theverge.com/tldr/2017/7/10/15946542/deep</a:t>
            </a:r>
            <a:r>
              <a:rPr dirty="0" u="heavy" sz="2500" spc="-26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dirty="0" sz="2500" spc="-26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dirty="0" u="heavy" sz="25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mind-parkour-</a:t>
            </a:r>
            <a:r>
              <a:rPr dirty="0" u="heavy" sz="2500" spc="-2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agent-</a:t>
            </a:r>
            <a:r>
              <a:rPr dirty="0" u="heavy" sz="2500" spc="-25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reinforcement-</a:t>
            </a:r>
            <a:r>
              <a:rPr dirty="0" u="heavy" sz="25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learning</a:t>
            </a:r>
            <a:endParaRPr sz="2500">
              <a:latin typeface="Arial MT"/>
              <a:cs typeface="Arial MT"/>
            </a:endParaRPr>
          </a:p>
          <a:p>
            <a:pPr marL="367030" marR="5080" indent="-354965">
              <a:lnSpc>
                <a:spcPct val="100800"/>
              </a:lnSpc>
              <a:spcBef>
                <a:spcPts val="1270"/>
              </a:spcBef>
              <a:buClr>
                <a:srgbClr val="000000"/>
              </a:buClr>
              <a:buChar char="•"/>
              <a:tabLst>
                <a:tab pos="367030" algn="l"/>
              </a:tabLst>
            </a:pPr>
            <a:r>
              <a:rPr dirty="0" u="heavy" sz="25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https://video.twimg.com/ext_tw_video/1111683489890332</a:t>
            </a:r>
            <a:r>
              <a:rPr dirty="0" u="heavy" sz="2500" spc="-265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 </a:t>
            </a:r>
            <a:r>
              <a:rPr dirty="0" sz="2500" spc="-265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dirty="0" u="heavy" sz="25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672/pu/vid/1200x674/WqUJEhUETw0M0gCl.mp4?tag=8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6099" rIns="0" bIns="0" rtlCol="0" vert="horz">
            <a:spAutoFit/>
          </a:bodyPr>
          <a:lstStyle/>
          <a:p>
            <a:pPr marL="1390015">
              <a:lnSpc>
                <a:spcPct val="100000"/>
              </a:lnSpc>
              <a:spcBef>
                <a:spcPts val="100"/>
              </a:spcBef>
            </a:pPr>
            <a:r>
              <a:rPr dirty="0" sz="3700" b="0">
                <a:solidFill>
                  <a:srgbClr val="000000"/>
                </a:solidFill>
                <a:latin typeface="Arial MT"/>
                <a:cs typeface="Arial MT"/>
              </a:rPr>
              <a:t>Reinforcement</a:t>
            </a:r>
            <a:r>
              <a:rPr dirty="0" sz="370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700" spc="-10" b="0">
                <a:solidFill>
                  <a:srgbClr val="000000"/>
                </a:solidFill>
                <a:latin typeface="Arial MT"/>
                <a:cs typeface="Arial MT"/>
              </a:rPr>
              <a:t>learning</a:t>
            </a:r>
            <a:endParaRPr sz="3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2409" rIns="0" bIns="0" rtlCol="0" vert="horz">
            <a:spAutoFit/>
          </a:bodyPr>
          <a:lstStyle/>
          <a:p>
            <a:pPr marL="2334895" marR="5080" indent="-1156970">
              <a:lnSpc>
                <a:spcPct val="101600"/>
              </a:lnSpc>
              <a:spcBef>
                <a:spcPts val="30"/>
              </a:spcBef>
            </a:pPr>
            <a:r>
              <a:rPr dirty="0" sz="3700" b="0">
                <a:solidFill>
                  <a:srgbClr val="0D0D0D"/>
                </a:solidFill>
                <a:latin typeface="Arial MT"/>
                <a:cs typeface="Arial MT"/>
              </a:rPr>
              <a:t>Supervised</a:t>
            </a:r>
            <a:r>
              <a:rPr dirty="0" sz="3700" spc="5" b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3700" b="0">
                <a:solidFill>
                  <a:srgbClr val="0D0D0D"/>
                </a:solidFill>
                <a:latin typeface="Arial MT"/>
                <a:cs typeface="Arial MT"/>
              </a:rPr>
              <a:t>vs</a:t>
            </a:r>
            <a:r>
              <a:rPr dirty="0" sz="3700" spc="10" b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3700" spc="-10" b="0">
                <a:solidFill>
                  <a:srgbClr val="0D0D0D"/>
                </a:solidFill>
                <a:latin typeface="Arial MT"/>
                <a:cs typeface="Arial MT"/>
              </a:rPr>
              <a:t>Unsupervised </a:t>
            </a:r>
            <a:r>
              <a:rPr dirty="0" sz="3700" b="0">
                <a:solidFill>
                  <a:srgbClr val="0D0D0D"/>
                </a:solidFill>
                <a:latin typeface="Arial MT"/>
                <a:cs typeface="Arial MT"/>
              </a:rPr>
              <a:t>vs</a:t>
            </a:r>
            <a:r>
              <a:rPr dirty="0" sz="3700" spc="25" b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3700" spc="-10" b="0">
                <a:solidFill>
                  <a:srgbClr val="0D0D0D"/>
                </a:solidFill>
                <a:latin typeface="Arial MT"/>
                <a:cs typeface="Arial MT"/>
              </a:rPr>
              <a:t>Reinforcement</a:t>
            </a:r>
            <a:endParaRPr sz="37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7995" y="2061405"/>
            <a:ext cx="8761142" cy="404661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706" y="440467"/>
            <a:ext cx="8659499" cy="6640007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4063587" y="4608195"/>
            <a:ext cx="2350135" cy="18161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0640" rIns="0" bIns="0" rtlCol="0" vert="horz">
            <a:spAutoFit/>
          </a:bodyPr>
          <a:lstStyle/>
          <a:p>
            <a:pPr marL="93980" marR="473075">
              <a:lnSpc>
                <a:spcPct val="98400"/>
              </a:lnSpc>
              <a:spcBef>
                <a:spcPts val="320"/>
              </a:spcBef>
            </a:pPr>
            <a:r>
              <a:rPr dirty="0" sz="1900" spc="-10">
                <a:latin typeface="Arial MT"/>
                <a:cs typeface="Arial MT"/>
              </a:rPr>
              <a:t>Deep</a:t>
            </a:r>
            <a:r>
              <a:rPr dirty="0" sz="1900" spc="-12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Learning: </a:t>
            </a:r>
            <a:r>
              <a:rPr dirty="0" sz="1900">
                <a:latin typeface="Arial MT"/>
                <a:cs typeface="Arial MT"/>
              </a:rPr>
              <a:t>A</a:t>
            </a:r>
            <a:r>
              <a:rPr dirty="0" sz="1900" spc="-14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technique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to </a:t>
            </a:r>
            <a:r>
              <a:rPr dirty="0" sz="1900" spc="-20">
                <a:latin typeface="Arial MT"/>
                <a:cs typeface="Arial MT"/>
              </a:rPr>
              <a:t>perform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30">
                <a:latin typeface="Arial MT"/>
                <a:cs typeface="Arial MT"/>
              </a:rPr>
              <a:t>machine</a:t>
            </a:r>
            <a:endParaRPr sz="1900">
              <a:latin typeface="Arial MT"/>
              <a:cs typeface="Arial MT"/>
            </a:endParaRPr>
          </a:p>
          <a:p>
            <a:pPr marL="93980" marR="194310">
              <a:lnSpc>
                <a:spcPct val="98900"/>
              </a:lnSpc>
              <a:spcBef>
                <a:spcPts val="50"/>
              </a:spcBef>
            </a:pPr>
            <a:r>
              <a:rPr dirty="0" sz="1900" spc="-20">
                <a:latin typeface="Arial MT"/>
                <a:cs typeface="Arial MT"/>
              </a:rPr>
              <a:t>learning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inspired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by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brain's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network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neurons.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210622" y="2755085"/>
            <a:ext cx="4284345" cy="12426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3020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260"/>
              </a:spcBef>
            </a:pPr>
            <a:r>
              <a:rPr dirty="0" sz="1900" spc="-25">
                <a:latin typeface="Arial MT"/>
                <a:cs typeface="Arial MT"/>
              </a:rPr>
              <a:t>Machine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Learning:</a:t>
            </a:r>
            <a:endParaRPr sz="1900">
              <a:latin typeface="Arial MT"/>
              <a:cs typeface="Arial MT"/>
            </a:endParaRPr>
          </a:p>
          <a:p>
            <a:pPr marL="94615" marR="263525">
              <a:lnSpc>
                <a:spcPct val="98900"/>
              </a:lnSpc>
              <a:spcBef>
                <a:spcPts val="50"/>
              </a:spcBef>
            </a:pPr>
            <a:r>
              <a:rPr dirty="0" sz="1900">
                <a:latin typeface="Arial MT"/>
                <a:cs typeface="Arial MT"/>
              </a:rPr>
              <a:t>A</a:t>
            </a:r>
            <a:r>
              <a:rPr dirty="0" sz="1900" spc="-14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technique</a:t>
            </a:r>
            <a:r>
              <a:rPr dirty="0" sz="1900" spc="-10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by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which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computer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can </a:t>
            </a:r>
            <a:r>
              <a:rPr dirty="0" sz="1900">
                <a:latin typeface="Arial MT"/>
                <a:cs typeface="Arial MT"/>
              </a:rPr>
              <a:t>use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statistical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patterns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inferred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from </a:t>
            </a:r>
            <a:r>
              <a:rPr dirty="0" sz="1900" spc="-25">
                <a:latin typeface="Arial MT"/>
                <a:cs typeface="Arial MT"/>
              </a:rPr>
              <a:t>observation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data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to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make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predictions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879291" y="1020302"/>
            <a:ext cx="4718685" cy="95631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3655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265"/>
              </a:spcBef>
            </a:pPr>
            <a:r>
              <a:rPr dirty="0" sz="1900" spc="-20">
                <a:latin typeface="Arial MT"/>
                <a:cs typeface="Arial MT"/>
              </a:rPr>
              <a:t>Artificial</a:t>
            </a:r>
            <a:r>
              <a:rPr dirty="0" sz="1900" spc="-3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Intelligence:</a:t>
            </a:r>
            <a:endParaRPr sz="1900">
              <a:latin typeface="Arial MT"/>
              <a:cs typeface="Arial MT"/>
            </a:endParaRPr>
          </a:p>
          <a:p>
            <a:pPr marL="93980" marR="96520">
              <a:lnSpc>
                <a:spcPts val="2210"/>
              </a:lnSpc>
              <a:spcBef>
                <a:spcPts val="155"/>
              </a:spcBef>
            </a:pPr>
            <a:r>
              <a:rPr dirty="0" sz="1900" spc="-25">
                <a:latin typeface="Arial MT"/>
                <a:cs typeface="Arial MT"/>
              </a:rPr>
              <a:t>Mimicking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intelligence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or</a:t>
            </a:r>
            <a:r>
              <a:rPr dirty="0" sz="1900" spc="-5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behavioural </a:t>
            </a:r>
            <a:r>
              <a:rPr dirty="0" sz="1900" spc="-20">
                <a:latin typeface="Arial MT"/>
                <a:cs typeface="Arial MT"/>
              </a:rPr>
              <a:t>pattern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humans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or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any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other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living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entity.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95216" y="228601"/>
            <a:ext cx="9276080" cy="1398905"/>
            <a:chOff x="795216" y="228601"/>
            <a:chExt cx="9276080" cy="1398905"/>
          </a:xfrm>
        </p:grpSpPr>
        <p:sp>
          <p:nvSpPr>
            <p:cNvPr id="3" name="object 3" descr=""/>
            <p:cNvSpPr/>
            <p:nvPr/>
          </p:nvSpPr>
          <p:spPr>
            <a:xfrm>
              <a:off x="795216" y="1617237"/>
              <a:ext cx="9088755" cy="0"/>
            </a:xfrm>
            <a:custGeom>
              <a:avLst/>
              <a:gdLst/>
              <a:ahLst/>
              <a:cxnLst/>
              <a:rect l="l" t="t" r="r" b="b"/>
              <a:pathLst>
                <a:path w="9088755" h="0">
                  <a:moveTo>
                    <a:pt x="0" y="0"/>
                  </a:moveTo>
                  <a:lnTo>
                    <a:pt x="9088623" y="1"/>
                  </a:lnTo>
                </a:path>
              </a:pathLst>
            </a:custGeom>
            <a:ln w="19720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90865" y="228601"/>
              <a:ext cx="1280234" cy="1340979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1" y="7043598"/>
            <a:ext cx="9461500" cy="27608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15035" rIns="0" bIns="0" rtlCol="0" vert="horz">
            <a:spAutoFit/>
          </a:bodyPr>
          <a:lstStyle/>
          <a:p>
            <a:pPr marL="2657475">
              <a:lnSpc>
                <a:spcPct val="100000"/>
              </a:lnSpc>
              <a:spcBef>
                <a:spcPts val="100"/>
              </a:spcBef>
            </a:pPr>
            <a:r>
              <a:rPr dirty="0" sz="3700" b="0">
                <a:solidFill>
                  <a:srgbClr val="000000"/>
                </a:solidFill>
                <a:latin typeface="Arial MT"/>
                <a:cs typeface="Arial MT"/>
              </a:rPr>
              <a:t>Deep</a:t>
            </a:r>
            <a:r>
              <a:rPr dirty="0" sz="3700" spc="-4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700" spc="-10" b="0">
                <a:solidFill>
                  <a:srgbClr val="000000"/>
                </a:solidFill>
                <a:latin typeface="Arial MT"/>
                <a:cs typeface="Arial MT"/>
              </a:rPr>
              <a:t>Learning</a:t>
            </a:r>
            <a:endParaRPr sz="37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29894" y="1748393"/>
            <a:ext cx="7416800" cy="2007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67030" marR="151130" indent="-354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67030" algn="l"/>
                <a:tab pos="368300" algn="l"/>
              </a:tabLst>
            </a:pPr>
            <a:r>
              <a:rPr dirty="0" sz="2500">
                <a:latin typeface="Arial"/>
                <a:cs typeface="Arial"/>
              </a:rPr>
              <a:t>	</a:t>
            </a:r>
            <a:r>
              <a:rPr dirty="0" sz="2500" b="1">
                <a:latin typeface="Arial"/>
                <a:cs typeface="Arial"/>
              </a:rPr>
              <a:t>Deep</a:t>
            </a:r>
            <a:r>
              <a:rPr dirty="0" sz="2500" spc="-80" b="1">
                <a:latin typeface="Arial"/>
                <a:cs typeface="Arial"/>
              </a:rPr>
              <a:t> </a:t>
            </a:r>
            <a:r>
              <a:rPr dirty="0" sz="2500" b="1">
                <a:latin typeface="Arial"/>
                <a:cs typeface="Arial"/>
              </a:rPr>
              <a:t>learning</a:t>
            </a:r>
            <a:r>
              <a:rPr dirty="0" sz="2500" spc="-65" b="1">
                <a:latin typeface="Arial"/>
                <a:cs typeface="Arial"/>
              </a:rPr>
              <a:t> </a:t>
            </a:r>
            <a:r>
              <a:rPr dirty="0" sz="2500" b="1">
                <a:latin typeface="Arial"/>
                <a:cs typeface="Arial"/>
              </a:rPr>
              <a:t>is</a:t>
            </a:r>
            <a:r>
              <a:rPr dirty="0" sz="2500" spc="-55" b="1">
                <a:latin typeface="Arial"/>
                <a:cs typeface="Arial"/>
              </a:rPr>
              <a:t> </a:t>
            </a:r>
            <a:r>
              <a:rPr dirty="0" sz="2500" b="1">
                <a:latin typeface="Arial"/>
                <a:cs typeface="Arial"/>
              </a:rPr>
              <a:t>a</a:t>
            </a:r>
            <a:r>
              <a:rPr dirty="0" sz="2500" spc="-60" b="1">
                <a:latin typeface="Arial"/>
                <a:cs typeface="Arial"/>
              </a:rPr>
              <a:t> </a:t>
            </a:r>
            <a:r>
              <a:rPr dirty="0" sz="2500" b="1">
                <a:latin typeface="Arial"/>
                <a:cs typeface="Arial"/>
              </a:rPr>
              <a:t>system</a:t>
            </a:r>
            <a:r>
              <a:rPr dirty="0" sz="2500" spc="-60" b="1">
                <a:latin typeface="Arial"/>
                <a:cs typeface="Arial"/>
              </a:rPr>
              <a:t> </a:t>
            </a:r>
            <a:r>
              <a:rPr dirty="0" sz="2500" spc="-10" b="1">
                <a:latin typeface="Arial"/>
                <a:cs typeface="Arial"/>
              </a:rPr>
              <a:t>architecture,</a:t>
            </a:r>
            <a:r>
              <a:rPr dirty="0" sz="2500" spc="-60" b="1">
                <a:latin typeface="Arial"/>
                <a:cs typeface="Arial"/>
              </a:rPr>
              <a:t> </a:t>
            </a:r>
            <a:r>
              <a:rPr dirty="0" sz="2500" b="1">
                <a:latin typeface="Arial"/>
                <a:cs typeface="Arial"/>
              </a:rPr>
              <a:t>not</a:t>
            </a:r>
            <a:r>
              <a:rPr dirty="0" sz="2500" spc="-55" b="1">
                <a:latin typeface="Arial"/>
                <a:cs typeface="Arial"/>
              </a:rPr>
              <a:t> </a:t>
            </a:r>
            <a:r>
              <a:rPr dirty="0" sz="2500" spc="-25" b="1">
                <a:latin typeface="Arial"/>
                <a:cs typeface="Arial"/>
              </a:rPr>
              <a:t>an </a:t>
            </a:r>
            <a:r>
              <a:rPr dirty="0" sz="2500" spc="-10" b="1">
                <a:latin typeface="Arial"/>
                <a:cs typeface="Arial"/>
              </a:rPr>
              <a:t>algorithm</a:t>
            </a:r>
            <a:endParaRPr sz="2500">
              <a:latin typeface="Arial"/>
              <a:cs typeface="Arial"/>
            </a:endParaRPr>
          </a:p>
          <a:p>
            <a:pPr algn="just" marL="367030" marR="5080" indent="-354965">
              <a:lnSpc>
                <a:spcPct val="100000"/>
              </a:lnSpc>
              <a:spcBef>
                <a:spcPts val="600"/>
              </a:spcBef>
              <a:buChar char="•"/>
              <a:tabLst>
                <a:tab pos="367030" algn="l"/>
                <a:tab pos="368300" algn="l"/>
              </a:tabLst>
            </a:pPr>
            <a:r>
              <a:rPr dirty="0" sz="2500">
                <a:latin typeface="Arial MT"/>
                <a:cs typeface="Arial MT"/>
              </a:rPr>
              <a:t>	a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style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parallel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computation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inspired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by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neurons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their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adaptive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connections: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It’s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very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different </a:t>
            </a:r>
            <a:r>
              <a:rPr dirty="0" sz="2500">
                <a:latin typeface="Arial MT"/>
                <a:cs typeface="Arial MT"/>
              </a:rPr>
              <a:t>style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from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sequential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computation.</a:t>
            </a:r>
            <a:endParaRPr sz="2500">
              <a:latin typeface="Arial MT"/>
              <a:cs typeface="Arial MT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0436" y="4352614"/>
            <a:ext cx="3205544" cy="247095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69776" y="4300041"/>
            <a:ext cx="5234271" cy="260895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95216" y="228601"/>
            <a:ext cx="9276080" cy="1398905"/>
            <a:chOff x="795216" y="228601"/>
            <a:chExt cx="9276080" cy="1398905"/>
          </a:xfrm>
        </p:grpSpPr>
        <p:sp>
          <p:nvSpPr>
            <p:cNvPr id="3" name="object 3" descr=""/>
            <p:cNvSpPr/>
            <p:nvPr/>
          </p:nvSpPr>
          <p:spPr>
            <a:xfrm>
              <a:off x="795216" y="1617237"/>
              <a:ext cx="9088755" cy="0"/>
            </a:xfrm>
            <a:custGeom>
              <a:avLst/>
              <a:gdLst/>
              <a:ahLst/>
              <a:cxnLst/>
              <a:rect l="l" t="t" r="r" b="b"/>
              <a:pathLst>
                <a:path w="9088755" h="0">
                  <a:moveTo>
                    <a:pt x="0" y="0"/>
                  </a:moveTo>
                  <a:lnTo>
                    <a:pt x="9088623" y="1"/>
                  </a:lnTo>
                </a:path>
              </a:pathLst>
            </a:custGeom>
            <a:ln w="19720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90865" y="228601"/>
              <a:ext cx="1280234" cy="1340979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1" y="7043598"/>
            <a:ext cx="9461500" cy="27608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45515" rIns="0" bIns="0" rtlCol="0" vert="horz">
            <a:spAutoFit/>
          </a:bodyPr>
          <a:lstStyle/>
          <a:p>
            <a:pPr marL="1772920">
              <a:lnSpc>
                <a:spcPct val="100000"/>
              </a:lnSpc>
              <a:spcBef>
                <a:spcPts val="100"/>
              </a:spcBef>
            </a:pPr>
            <a:r>
              <a:rPr dirty="0" sz="3700" b="0">
                <a:solidFill>
                  <a:srgbClr val="000000"/>
                </a:solidFill>
                <a:latin typeface="Arial MT"/>
                <a:cs typeface="Arial MT"/>
              </a:rPr>
              <a:t>Artificial</a:t>
            </a:r>
            <a:r>
              <a:rPr dirty="0" sz="3700" spc="-3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700" b="0">
                <a:solidFill>
                  <a:srgbClr val="000000"/>
                </a:solidFill>
                <a:latin typeface="Arial MT"/>
                <a:cs typeface="Arial MT"/>
              </a:rPr>
              <a:t>Neural</a:t>
            </a:r>
            <a:r>
              <a:rPr dirty="0" sz="3700" spc="-2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700" spc="-10" b="0">
                <a:solidFill>
                  <a:srgbClr val="000000"/>
                </a:solidFill>
                <a:latin typeface="Arial MT"/>
                <a:cs typeface="Arial MT"/>
              </a:rPr>
              <a:t>Network</a:t>
            </a:r>
            <a:endParaRPr sz="37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97031" y="1763633"/>
            <a:ext cx="8289925" cy="2859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latin typeface="Arial MT"/>
                <a:cs typeface="Arial MT"/>
              </a:rPr>
              <a:t>ANN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machine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learning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approach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inspired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by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way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in </a:t>
            </a:r>
            <a:r>
              <a:rPr dirty="0" sz="2500">
                <a:latin typeface="Arial MT"/>
                <a:cs typeface="Arial MT"/>
              </a:rPr>
              <a:t>which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brain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performs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particular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learning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task</a:t>
            </a:r>
            <a:endParaRPr sz="2500">
              <a:latin typeface="Arial MT"/>
              <a:cs typeface="Arial MT"/>
            </a:endParaRPr>
          </a:p>
          <a:p>
            <a:pPr marL="278130" indent="-265430">
              <a:lnSpc>
                <a:spcPct val="100000"/>
              </a:lnSpc>
              <a:spcBef>
                <a:spcPts val="1290"/>
              </a:spcBef>
              <a:buChar char="•"/>
              <a:tabLst>
                <a:tab pos="278130" algn="l"/>
              </a:tabLst>
            </a:pPr>
            <a:r>
              <a:rPr dirty="0" sz="2100">
                <a:latin typeface="Arial MT"/>
                <a:cs typeface="Arial MT"/>
              </a:rPr>
              <a:t>ANN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has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several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“neurons”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interconnected</a:t>
            </a:r>
            <a:r>
              <a:rPr dirty="0" sz="2100" spc="-11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(</a:t>
            </a:r>
            <a:r>
              <a:rPr dirty="0" sz="2100" spc="-10">
                <a:solidFill>
                  <a:srgbClr val="0070C0"/>
                </a:solidFill>
                <a:latin typeface="Arial MT"/>
                <a:cs typeface="Arial MT"/>
              </a:rPr>
              <a:t>architecture</a:t>
            </a:r>
            <a:r>
              <a:rPr dirty="0" sz="2100" spc="-10">
                <a:latin typeface="Arial MT"/>
                <a:cs typeface="Arial MT"/>
              </a:rPr>
              <a:t>)</a:t>
            </a:r>
            <a:endParaRPr sz="2100">
              <a:latin typeface="Arial MT"/>
              <a:cs typeface="Arial MT"/>
            </a:endParaRPr>
          </a:p>
          <a:p>
            <a:pPr marL="278765" marR="1083945" indent="-266700">
              <a:lnSpc>
                <a:spcPct val="100000"/>
              </a:lnSpc>
              <a:spcBef>
                <a:spcPts val="1175"/>
              </a:spcBef>
              <a:buChar char="•"/>
              <a:tabLst>
                <a:tab pos="278765" algn="l"/>
              </a:tabLst>
            </a:pPr>
            <a:r>
              <a:rPr dirty="0" sz="2100" spc="-10">
                <a:latin typeface="Arial MT"/>
                <a:cs typeface="Arial MT"/>
              </a:rPr>
              <a:t>Knowledge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about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learning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task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stored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as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inter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neuron connection</a:t>
            </a:r>
            <a:r>
              <a:rPr dirty="0" sz="2100" spc="-13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strengths</a:t>
            </a:r>
            <a:r>
              <a:rPr dirty="0" sz="2100" spc="-12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(</a:t>
            </a:r>
            <a:r>
              <a:rPr dirty="0" sz="2100" spc="-10">
                <a:solidFill>
                  <a:srgbClr val="0070C0"/>
                </a:solidFill>
                <a:latin typeface="Arial MT"/>
                <a:cs typeface="Arial MT"/>
              </a:rPr>
              <a:t>weights</a:t>
            </a:r>
            <a:r>
              <a:rPr dirty="0" sz="2100" spc="-10">
                <a:latin typeface="Arial MT"/>
                <a:cs typeface="Arial MT"/>
              </a:rPr>
              <a:t>)</a:t>
            </a:r>
            <a:endParaRPr sz="2100">
              <a:latin typeface="Arial MT"/>
              <a:cs typeface="Arial MT"/>
            </a:endParaRPr>
          </a:p>
          <a:p>
            <a:pPr marL="278765" marR="64769" indent="-266700">
              <a:lnSpc>
                <a:spcPts val="2500"/>
              </a:lnSpc>
              <a:spcBef>
                <a:spcPts val="1370"/>
              </a:spcBef>
              <a:buChar char="•"/>
              <a:tabLst>
                <a:tab pos="278765" algn="l"/>
                <a:tab pos="4075429" algn="l"/>
              </a:tabLst>
            </a:pPr>
            <a:r>
              <a:rPr dirty="0" sz="2100">
                <a:latin typeface="Arial MT"/>
                <a:cs typeface="Arial MT"/>
              </a:rPr>
              <a:t>During</a:t>
            </a:r>
            <a:r>
              <a:rPr dirty="0" sz="2100" spc="-1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114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learning</a:t>
            </a:r>
            <a:r>
              <a:rPr dirty="0" sz="2100" spc="-114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process</a:t>
            </a:r>
            <a:r>
              <a:rPr dirty="0" sz="2100" spc="-114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the</a:t>
            </a:r>
            <a:r>
              <a:rPr dirty="0" sz="2100">
                <a:latin typeface="Arial MT"/>
                <a:cs typeface="Arial MT"/>
              </a:rPr>
              <a:t>	weights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are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modified</a:t>
            </a:r>
            <a:r>
              <a:rPr dirty="0" sz="2100" spc="-1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order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to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particular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learning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task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correctly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on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training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examples.</a:t>
            </a:r>
            <a:endParaRPr sz="2100">
              <a:latin typeface="Arial MT"/>
              <a:cs typeface="Arial MT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50343" y="5161776"/>
            <a:ext cx="3562316" cy="1619958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58216" y="5402703"/>
            <a:ext cx="2636422" cy="115620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95216" y="228601"/>
            <a:ext cx="9276080" cy="1398905"/>
            <a:chOff x="795216" y="228601"/>
            <a:chExt cx="9276080" cy="1398905"/>
          </a:xfrm>
        </p:grpSpPr>
        <p:sp>
          <p:nvSpPr>
            <p:cNvPr id="3" name="object 3" descr=""/>
            <p:cNvSpPr/>
            <p:nvPr/>
          </p:nvSpPr>
          <p:spPr>
            <a:xfrm>
              <a:off x="795216" y="1617237"/>
              <a:ext cx="9088755" cy="0"/>
            </a:xfrm>
            <a:custGeom>
              <a:avLst/>
              <a:gdLst/>
              <a:ahLst/>
              <a:cxnLst/>
              <a:rect l="l" t="t" r="r" b="b"/>
              <a:pathLst>
                <a:path w="9088755" h="0">
                  <a:moveTo>
                    <a:pt x="0" y="0"/>
                  </a:moveTo>
                  <a:lnTo>
                    <a:pt x="9088623" y="1"/>
                  </a:lnTo>
                </a:path>
              </a:pathLst>
            </a:custGeom>
            <a:ln w="19720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90865" y="228601"/>
              <a:ext cx="1280234" cy="1340979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1" y="7043598"/>
            <a:ext cx="9461500" cy="27608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1027" rIns="0" bIns="0" rtlCol="0" vert="horz">
            <a:spAutoFit/>
          </a:bodyPr>
          <a:lstStyle/>
          <a:p>
            <a:pPr marL="2487295">
              <a:lnSpc>
                <a:spcPct val="100000"/>
              </a:lnSpc>
              <a:spcBef>
                <a:spcPts val="100"/>
              </a:spcBef>
            </a:pPr>
            <a:r>
              <a:rPr dirty="0" sz="3700" b="0">
                <a:solidFill>
                  <a:srgbClr val="000000"/>
                </a:solidFill>
                <a:latin typeface="Arial MT"/>
                <a:cs typeface="Arial MT"/>
              </a:rPr>
              <a:t>Deep</a:t>
            </a:r>
            <a:r>
              <a:rPr dirty="0" sz="3700" spc="-4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700" spc="-10" b="0">
                <a:solidFill>
                  <a:srgbClr val="000000"/>
                </a:solidFill>
                <a:latin typeface="Arial MT"/>
                <a:cs typeface="Arial MT"/>
              </a:rPr>
              <a:t>Learning</a:t>
            </a:r>
            <a:endParaRPr sz="37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82588" y="1760585"/>
            <a:ext cx="8506460" cy="1790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7030" marR="5080" indent="-354965">
              <a:lnSpc>
                <a:spcPct val="100000"/>
              </a:lnSpc>
              <a:spcBef>
                <a:spcPts val="100"/>
              </a:spcBef>
              <a:buChar char="•"/>
              <a:tabLst>
                <a:tab pos="367030" algn="l"/>
              </a:tabLst>
            </a:pP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Deep</a:t>
            </a:r>
            <a:r>
              <a:rPr dirty="0" sz="2500" spc="-7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learning</a:t>
            </a:r>
            <a:r>
              <a:rPr dirty="0" sz="2500" spc="-7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methods</a:t>
            </a:r>
            <a:r>
              <a:rPr dirty="0" sz="2500" spc="-8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aim</a:t>
            </a:r>
            <a:r>
              <a:rPr dirty="0" sz="2500" spc="-8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at</a:t>
            </a:r>
            <a:r>
              <a:rPr dirty="0" sz="2500" spc="-8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learning</a:t>
            </a:r>
            <a:r>
              <a:rPr dirty="0" sz="2500" spc="-9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FF0000"/>
                </a:solidFill>
                <a:latin typeface="Arial MT"/>
                <a:cs typeface="Arial MT"/>
              </a:rPr>
              <a:t>feature</a:t>
            </a:r>
            <a:r>
              <a:rPr dirty="0" sz="2500" spc="-8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FF0000"/>
                </a:solidFill>
                <a:latin typeface="Arial MT"/>
                <a:cs typeface="Arial MT"/>
              </a:rPr>
              <a:t>hierarchies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where</a:t>
            </a:r>
            <a:r>
              <a:rPr dirty="0" sz="2500" spc="-7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features</a:t>
            </a:r>
            <a:r>
              <a:rPr dirty="0" sz="2500" spc="-7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from</a:t>
            </a:r>
            <a:r>
              <a:rPr dirty="0" sz="2500" spc="-7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higher</a:t>
            </a:r>
            <a:r>
              <a:rPr dirty="0" sz="2500" spc="-7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levels</a:t>
            </a:r>
            <a:r>
              <a:rPr dirty="0" sz="2500" spc="-7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of</a:t>
            </a:r>
            <a:r>
              <a:rPr dirty="0" sz="2500" spc="-7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dirty="0" sz="2500" spc="-6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hierarchy</a:t>
            </a:r>
            <a:r>
              <a:rPr dirty="0" sz="2500" spc="-7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 spc="-25">
                <a:solidFill>
                  <a:srgbClr val="0D0D0D"/>
                </a:solidFill>
                <a:latin typeface="Arial MT"/>
                <a:cs typeface="Arial MT"/>
              </a:rPr>
              <a:t>are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formed</a:t>
            </a:r>
            <a:r>
              <a:rPr dirty="0" sz="2500" spc="-8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from</a:t>
            </a:r>
            <a:r>
              <a:rPr dirty="0" sz="2500" spc="-8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dirty="0" sz="2500" spc="-7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0D0D0D"/>
                </a:solidFill>
                <a:latin typeface="Arial MT"/>
                <a:cs typeface="Arial MT"/>
              </a:rPr>
              <a:t>lower-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level</a:t>
            </a:r>
            <a:r>
              <a:rPr dirty="0" sz="2500" spc="-6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0D0D0D"/>
                </a:solidFill>
                <a:latin typeface="Arial MT"/>
                <a:cs typeface="Arial MT"/>
              </a:rPr>
              <a:t>features.</a:t>
            </a:r>
            <a:endParaRPr sz="2500">
              <a:latin typeface="Arial MT"/>
              <a:cs typeface="Arial MT"/>
            </a:endParaRPr>
          </a:p>
          <a:p>
            <a:pPr lvl="1" marL="1270000" indent="-236220">
              <a:lnSpc>
                <a:spcPct val="100000"/>
              </a:lnSpc>
              <a:spcBef>
                <a:spcPts val="1895"/>
              </a:spcBef>
              <a:buFont typeface="Times New Roman"/>
              <a:buChar char="•"/>
              <a:tabLst>
                <a:tab pos="1270000" algn="l"/>
              </a:tabLst>
            </a:pPr>
            <a:r>
              <a:rPr dirty="0" sz="2500" b="1" i="1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dirty="0" sz="2500" spc="-75" b="1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500" b="1" i="1">
                <a:solidFill>
                  <a:srgbClr val="C00000"/>
                </a:solidFill>
                <a:latin typeface="Arial"/>
                <a:cs typeface="Arial"/>
              </a:rPr>
              <a:t>Model</a:t>
            </a:r>
            <a:r>
              <a:rPr dirty="0" sz="2500" spc="-75" b="1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500" b="1" i="1">
                <a:solidFill>
                  <a:srgbClr val="C00000"/>
                </a:solidFill>
                <a:latin typeface="Arial"/>
                <a:cs typeface="Arial"/>
              </a:rPr>
              <a:t>Defines</a:t>
            </a:r>
            <a:r>
              <a:rPr dirty="0" sz="2500" spc="-75" b="1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500" b="1" i="1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dirty="0" sz="2500" spc="-75" b="1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500" spc="-10" b="1" i="1">
                <a:solidFill>
                  <a:srgbClr val="C00000"/>
                </a:solidFill>
                <a:latin typeface="Arial"/>
                <a:cs typeface="Arial"/>
              </a:rPr>
              <a:t>Features</a:t>
            </a:r>
            <a:endParaRPr sz="250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36158" y="3946240"/>
            <a:ext cx="5541173" cy="267183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95216" y="228601"/>
            <a:ext cx="9276080" cy="1398905"/>
            <a:chOff x="795216" y="228601"/>
            <a:chExt cx="9276080" cy="1398905"/>
          </a:xfrm>
        </p:grpSpPr>
        <p:sp>
          <p:nvSpPr>
            <p:cNvPr id="3" name="object 3" descr=""/>
            <p:cNvSpPr/>
            <p:nvPr/>
          </p:nvSpPr>
          <p:spPr>
            <a:xfrm>
              <a:off x="795216" y="1617237"/>
              <a:ext cx="9088755" cy="0"/>
            </a:xfrm>
            <a:custGeom>
              <a:avLst/>
              <a:gdLst/>
              <a:ahLst/>
              <a:cxnLst/>
              <a:rect l="l" t="t" r="r" b="b"/>
              <a:pathLst>
                <a:path w="9088755" h="0">
                  <a:moveTo>
                    <a:pt x="0" y="0"/>
                  </a:moveTo>
                  <a:lnTo>
                    <a:pt x="9088623" y="1"/>
                  </a:lnTo>
                </a:path>
              </a:pathLst>
            </a:custGeom>
            <a:ln w="19720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90865" y="228601"/>
              <a:ext cx="1280234" cy="1340979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1" y="7043598"/>
            <a:ext cx="9461500" cy="27608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1027" rIns="0" bIns="0" rtlCol="0" vert="horz">
            <a:spAutoFit/>
          </a:bodyPr>
          <a:lstStyle/>
          <a:p>
            <a:pPr marL="2487295">
              <a:lnSpc>
                <a:spcPct val="100000"/>
              </a:lnSpc>
              <a:spcBef>
                <a:spcPts val="100"/>
              </a:spcBef>
            </a:pPr>
            <a:r>
              <a:rPr dirty="0" sz="3700" b="0">
                <a:solidFill>
                  <a:srgbClr val="000000"/>
                </a:solidFill>
                <a:latin typeface="Arial MT"/>
                <a:cs typeface="Arial MT"/>
              </a:rPr>
              <a:t>Deep</a:t>
            </a:r>
            <a:r>
              <a:rPr dirty="0" sz="3700" spc="-4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700" spc="-10" b="0">
                <a:solidFill>
                  <a:srgbClr val="000000"/>
                </a:solidFill>
                <a:latin typeface="Arial MT"/>
                <a:cs typeface="Arial MT"/>
              </a:rPr>
              <a:t>Learning</a:t>
            </a:r>
            <a:endParaRPr sz="37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0476" y="2239911"/>
            <a:ext cx="9173219" cy="411167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95216" y="228601"/>
            <a:ext cx="9276080" cy="1398905"/>
            <a:chOff x="795216" y="228601"/>
            <a:chExt cx="9276080" cy="1398905"/>
          </a:xfrm>
        </p:grpSpPr>
        <p:sp>
          <p:nvSpPr>
            <p:cNvPr id="3" name="object 3" descr=""/>
            <p:cNvSpPr/>
            <p:nvPr/>
          </p:nvSpPr>
          <p:spPr>
            <a:xfrm>
              <a:off x="795216" y="1617237"/>
              <a:ext cx="9088755" cy="0"/>
            </a:xfrm>
            <a:custGeom>
              <a:avLst/>
              <a:gdLst/>
              <a:ahLst/>
              <a:cxnLst/>
              <a:rect l="l" t="t" r="r" b="b"/>
              <a:pathLst>
                <a:path w="9088755" h="0">
                  <a:moveTo>
                    <a:pt x="0" y="0"/>
                  </a:moveTo>
                  <a:lnTo>
                    <a:pt x="9088623" y="1"/>
                  </a:lnTo>
                </a:path>
              </a:pathLst>
            </a:custGeom>
            <a:ln w="19720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90865" y="228601"/>
              <a:ext cx="1280234" cy="1340979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1" y="7043598"/>
            <a:ext cx="9461500" cy="27608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6818" rIns="0" bIns="0" rtlCol="0" vert="horz">
            <a:spAutoFit/>
          </a:bodyPr>
          <a:lstStyle/>
          <a:p>
            <a:pPr marL="567690">
              <a:lnSpc>
                <a:spcPct val="100000"/>
              </a:lnSpc>
              <a:spcBef>
                <a:spcPts val="100"/>
              </a:spcBef>
            </a:pPr>
            <a:r>
              <a:rPr dirty="0" sz="3300" b="0">
                <a:solidFill>
                  <a:srgbClr val="000000"/>
                </a:solidFill>
                <a:latin typeface="Arial MT"/>
                <a:cs typeface="Arial MT"/>
              </a:rPr>
              <a:t>Machine</a:t>
            </a:r>
            <a:r>
              <a:rPr dirty="0" sz="3300" spc="-8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300" b="0">
                <a:solidFill>
                  <a:srgbClr val="000000"/>
                </a:solidFill>
                <a:latin typeface="Arial MT"/>
                <a:cs typeface="Arial MT"/>
              </a:rPr>
              <a:t>Learning</a:t>
            </a:r>
            <a:r>
              <a:rPr dirty="0" sz="3300" spc="-7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300" b="0">
                <a:solidFill>
                  <a:srgbClr val="000000"/>
                </a:solidFill>
                <a:latin typeface="Arial MT"/>
                <a:cs typeface="Arial MT"/>
              </a:rPr>
              <a:t>v.</a:t>
            </a:r>
            <a:r>
              <a:rPr dirty="0" sz="3300" spc="-8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300" b="0">
                <a:solidFill>
                  <a:srgbClr val="000000"/>
                </a:solidFill>
                <a:latin typeface="Arial MT"/>
                <a:cs typeface="Arial MT"/>
              </a:rPr>
              <a:t>Deep</a:t>
            </a:r>
            <a:r>
              <a:rPr dirty="0" sz="3300" spc="-7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300" spc="-10" b="0">
                <a:solidFill>
                  <a:srgbClr val="000000"/>
                </a:solidFill>
                <a:latin typeface="Arial MT"/>
                <a:cs typeface="Arial MT"/>
              </a:rPr>
              <a:t>Learning</a:t>
            </a:r>
            <a:endParaRPr sz="33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8206" y="1716073"/>
            <a:ext cx="6807602" cy="521066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95216" y="228601"/>
            <a:ext cx="9276080" cy="1398905"/>
            <a:chOff x="795216" y="228601"/>
            <a:chExt cx="9276080" cy="1398905"/>
          </a:xfrm>
        </p:grpSpPr>
        <p:sp>
          <p:nvSpPr>
            <p:cNvPr id="3" name="object 3" descr=""/>
            <p:cNvSpPr/>
            <p:nvPr/>
          </p:nvSpPr>
          <p:spPr>
            <a:xfrm>
              <a:off x="795216" y="1617237"/>
              <a:ext cx="9088755" cy="0"/>
            </a:xfrm>
            <a:custGeom>
              <a:avLst/>
              <a:gdLst/>
              <a:ahLst/>
              <a:cxnLst/>
              <a:rect l="l" t="t" r="r" b="b"/>
              <a:pathLst>
                <a:path w="9088755" h="0">
                  <a:moveTo>
                    <a:pt x="0" y="0"/>
                  </a:moveTo>
                  <a:lnTo>
                    <a:pt x="9088623" y="1"/>
                  </a:lnTo>
                </a:path>
              </a:pathLst>
            </a:custGeom>
            <a:ln w="19720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90865" y="228601"/>
              <a:ext cx="1280234" cy="1340979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1" y="7043598"/>
            <a:ext cx="9461500" cy="276085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100451" y="1708769"/>
            <a:ext cx="8397240" cy="5287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265" marR="74295" indent="-354965">
              <a:lnSpc>
                <a:spcPct val="100000"/>
              </a:lnSpc>
              <a:spcBef>
                <a:spcPts val="100"/>
              </a:spcBef>
              <a:buChar char="•"/>
              <a:tabLst>
                <a:tab pos="469265" algn="l"/>
              </a:tabLst>
            </a:pP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DNNs</a:t>
            </a:r>
            <a:r>
              <a:rPr dirty="0" sz="2500" spc="-7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consist</a:t>
            </a:r>
            <a:r>
              <a:rPr dirty="0" sz="2500" spc="-6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of</a:t>
            </a:r>
            <a:r>
              <a:rPr dirty="0" sz="2500" spc="-6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multiple</a:t>
            </a:r>
            <a:r>
              <a:rPr dirty="0" sz="2500" spc="-6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layers</a:t>
            </a:r>
            <a:r>
              <a:rPr dirty="0" sz="2500" spc="-6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of</a:t>
            </a:r>
            <a:r>
              <a:rPr dirty="0" sz="2500" spc="-6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0D0D0D"/>
                </a:solidFill>
                <a:latin typeface="Arial MT"/>
                <a:cs typeface="Arial MT"/>
              </a:rPr>
              <a:t>interconnected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neurons.</a:t>
            </a:r>
            <a:r>
              <a:rPr dirty="0" sz="2500" spc="-8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Each</a:t>
            </a:r>
            <a:r>
              <a:rPr dirty="0" sz="2500" spc="-7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neuron</a:t>
            </a:r>
            <a:r>
              <a:rPr dirty="0" sz="2500" spc="-7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and</a:t>
            </a:r>
            <a:r>
              <a:rPr dirty="0" sz="2500" spc="-7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layer</a:t>
            </a:r>
            <a:r>
              <a:rPr dirty="0" sz="2500" spc="-7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contributes</a:t>
            </a:r>
            <a:r>
              <a:rPr dirty="0" sz="2500" spc="-7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towards</a:t>
            </a:r>
            <a:r>
              <a:rPr dirty="0" sz="2500" spc="-8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 spc="-25">
                <a:solidFill>
                  <a:srgbClr val="0D0D0D"/>
                </a:solidFill>
                <a:latin typeface="Arial MT"/>
                <a:cs typeface="Arial MT"/>
              </a:rPr>
              <a:t>the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task</a:t>
            </a:r>
            <a:r>
              <a:rPr dirty="0" sz="2500" spc="-6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that</a:t>
            </a:r>
            <a:r>
              <a:rPr dirty="0" sz="2500" spc="-6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dirty="0" sz="2500" spc="-6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network</a:t>
            </a:r>
            <a:r>
              <a:rPr dirty="0" sz="2500" spc="-6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has</a:t>
            </a:r>
            <a:r>
              <a:rPr dirty="0" sz="2500" spc="-6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been</a:t>
            </a:r>
            <a:r>
              <a:rPr dirty="0" sz="2500" spc="-6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trained</a:t>
            </a:r>
            <a:r>
              <a:rPr dirty="0" sz="2500" spc="-6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to</a:t>
            </a:r>
            <a:r>
              <a:rPr dirty="0" sz="2500" spc="-6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0D0D0D"/>
                </a:solidFill>
                <a:latin typeface="Arial MT"/>
                <a:cs typeface="Arial MT"/>
              </a:rPr>
              <a:t>execute.</a:t>
            </a:r>
            <a:endParaRPr sz="2500">
              <a:latin typeface="Arial MT"/>
              <a:cs typeface="Arial MT"/>
            </a:endParaRPr>
          </a:p>
          <a:p>
            <a:pPr marL="469265" indent="-354965">
              <a:lnSpc>
                <a:spcPct val="100000"/>
              </a:lnSpc>
              <a:spcBef>
                <a:spcPts val="1295"/>
              </a:spcBef>
              <a:buChar char="•"/>
              <a:tabLst>
                <a:tab pos="469265" algn="l"/>
              </a:tabLst>
            </a:pP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However,</a:t>
            </a:r>
            <a:r>
              <a:rPr dirty="0" sz="2500" spc="-8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scalability</a:t>
            </a:r>
            <a:r>
              <a:rPr dirty="0" sz="2500" spc="-7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and</a:t>
            </a:r>
            <a:r>
              <a:rPr dirty="0" sz="2500" spc="-8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generalisation</a:t>
            </a:r>
            <a:r>
              <a:rPr dirty="0" sz="2500" spc="-7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is</a:t>
            </a:r>
            <a:r>
              <a:rPr dirty="0" sz="2500" spc="-8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not</a:t>
            </a:r>
            <a:r>
              <a:rPr dirty="0" sz="2500" spc="-7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0D0D0D"/>
                </a:solidFill>
                <a:latin typeface="Arial MT"/>
                <a:cs typeface="Arial MT"/>
              </a:rPr>
              <a:t>simple.</a:t>
            </a:r>
            <a:endParaRPr sz="2500">
              <a:latin typeface="Arial MT"/>
              <a:cs typeface="Arial MT"/>
            </a:endParaRPr>
          </a:p>
          <a:p>
            <a:pPr marL="469265" marR="6985" indent="-354965">
              <a:lnSpc>
                <a:spcPct val="100000"/>
              </a:lnSpc>
              <a:spcBef>
                <a:spcPts val="1200"/>
              </a:spcBef>
              <a:buChar char="•"/>
              <a:tabLst>
                <a:tab pos="469265" algn="l"/>
              </a:tabLst>
            </a:pP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dirty="0" sz="2500" spc="-5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behaviour</a:t>
            </a:r>
            <a:r>
              <a:rPr dirty="0" sz="2500" spc="-5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of</a:t>
            </a:r>
            <a:r>
              <a:rPr dirty="0" sz="2500" spc="-6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a</a:t>
            </a:r>
            <a:r>
              <a:rPr dirty="0" sz="2500" spc="-5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NN</a:t>
            </a:r>
            <a:r>
              <a:rPr dirty="0" sz="2500" spc="-6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changes</a:t>
            </a:r>
            <a:r>
              <a:rPr dirty="0" sz="2500" spc="-5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with</a:t>
            </a:r>
            <a:r>
              <a:rPr dirty="0" sz="2500" spc="-5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dirty="0" sz="2500" spc="-5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amount</a:t>
            </a:r>
            <a:r>
              <a:rPr dirty="0" sz="2500" spc="-5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of</a:t>
            </a:r>
            <a:r>
              <a:rPr dirty="0" sz="2500" spc="-6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0D0D0D"/>
                </a:solidFill>
                <a:latin typeface="Arial MT"/>
                <a:cs typeface="Arial MT"/>
              </a:rPr>
              <a:t>data,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and</a:t>
            </a:r>
            <a:r>
              <a:rPr dirty="0" sz="2500" spc="-5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it</a:t>
            </a:r>
            <a:r>
              <a:rPr dirty="0" sz="2500" spc="-5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also</a:t>
            </a:r>
            <a:r>
              <a:rPr dirty="0" sz="2500" spc="-5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depends</a:t>
            </a:r>
            <a:r>
              <a:rPr dirty="0" sz="2500" spc="-5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on</a:t>
            </a:r>
            <a:r>
              <a:rPr dirty="0" sz="2500" spc="-5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methods</a:t>
            </a:r>
            <a:r>
              <a:rPr dirty="0" sz="2500" spc="-5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of</a:t>
            </a:r>
            <a:r>
              <a:rPr dirty="0" sz="2500" spc="-6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training</a:t>
            </a:r>
            <a:r>
              <a:rPr dirty="0" sz="2500" spc="-5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and</a:t>
            </a:r>
            <a:r>
              <a:rPr dirty="0" sz="2500" spc="-5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0D0D0D"/>
                </a:solidFill>
                <a:latin typeface="Arial MT"/>
                <a:cs typeface="Arial MT"/>
              </a:rPr>
              <a:t>network architecture.</a:t>
            </a:r>
            <a:endParaRPr sz="2500">
              <a:latin typeface="Arial MT"/>
              <a:cs typeface="Arial MT"/>
            </a:endParaRPr>
          </a:p>
          <a:p>
            <a:pPr marL="950594" marR="763270" indent="-295910">
              <a:lnSpc>
                <a:spcPts val="2500"/>
              </a:lnSpc>
              <a:spcBef>
                <a:spcPts val="1415"/>
              </a:spcBef>
              <a:tabLst>
                <a:tab pos="950594" algn="l"/>
              </a:tabLst>
            </a:pPr>
            <a:r>
              <a:rPr dirty="0" sz="2100" spc="-50">
                <a:solidFill>
                  <a:srgbClr val="0D0D0D"/>
                </a:solidFill>
                <a:latin typeface="Arial MT"/>
                <a:cs typeface="Arial MT"/>
              </a:rPr>
              <a:t>–</a:t>
            </a:r>
            <a:r>
              <a:rPr dirty="0" sz="2100">
                <a:solidFill>
                  <a:srgbClr val="0D0D0D"/>
                </a:solidFill>
                <a:latin typeface="Arial MT"/>
                <a:cs typeface="Arial MT"/>
              </a:rPr>
              <a:t>	you</a:t>
            </a:r>
            <a:r>
              <a:rPr dirty="0" sz="2100" spc="-8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D0D0D"/>
                </a:solidFill>
                <a:latin typeface="Arial MT"/>
                <a:cs typeface="Arial MT"/>
              </a:rPr>
              <a:t>can’t</a:t>
            </a:r>
            <a:r>
              <a:rPr dirty="0" sz="2100" spc="-8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D0D0D"/>
                </a:solidFill>
                <a:latin typeface="Arial MT"/>
                <a:cs typeface="Arial MT"/>
              </a:rPr>
              <a:t>just</a:t>
            </a:r>
            <a:r>
              <a:rPr dirty="0" sz="2100" spc="-8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D0D0D"/>
                </a:solidFill>
                <a:latin typeface="Arial MT"/>
                <a:cs typeface="Arial MT"/>
              </a:rPr>
              <a:t>feed</a:t>
            </a:r>
            <a:r>
              <a:rPr dirty="0" sz="2100" spc="-8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D0D0D"/>
                </a:solidFill>
                <a:latin typeface="Arial MT"/>
                <a:cs typeface="Arial MT"/>
              </a:rPr>
              <a:t>10x</a:t>
            </a:r>
            <a:r>
              <a:rPr dirty="0" sz="2100" spc="-8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D0D0D"/>
                </a:solidFill>
                <a:latin typeface="Arial MT"/>
                <a:cs typeface="Arial MT"/>
              </a:rPr>
              <a:t>more</a:t>
            </a:r>
            <a:r>
              <a:rPr dirty="0" sz="2100" spc="-8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D0D0D"/>
                </a:solidFill>
                <a:latin typeface="Arial MT"/>
                <a:cs typeface="Arial MT"/>
              </a:rPr>
              <a:t>data</a:t>
            </a:r>
            <a:r>
              <a:rPr dirty="0" sz="2100" spc="-8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D0D0D"/>
                </a:solidFill>
                <a:latin typeface="Arial MT"/>
                <a:cs typeface="Arial MT"/>
              </a:rPr>
              <a:t>to</a:t>
            </a:r>
            <a:r>
              <a:rPr dirty="0" sz="2100" spc="-8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D0D0D"/>
                </a:solidFill>
                <a:latin typeface="Arial MT"/>
                <a:cs typeface="Arial MT"/>
              </a:rPr>
              <a:t>a</a:t>
            </a:r>
            <a:r>
              <a:rPr dirty="0" sz="2100" spc="-8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D0D0D"/>
                </a:solidFill>
                <a:latin typeface="Arial MT"/>
                <a:cs typeface="Arial MT"/>
              </a:rPr>
              <a:t>NN</a:t>
            </a:r>
            <a:r>
              <a:rPr dirty="0" sz="2100" spc="-8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D0D0D"/>
                </a:solidFill>
                <a:latin typeface="Arial MT"/>
                <a:cs typeface="Arial MT"/>
              </a:rPr>
              <a:t>and</a:t>
            </a:r>
            <a:r>
              <a:rPr dirty="0" sz="2100" spc="-8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D0D0D"/>
                </a:solidFill>
                <a:latin typeface="Arial MT"/>
                <a:cs typeface="Arial MT"/>
              </a:rPr>
              <a:t>expect</a:t>
            </a:r>
            <a:r>
              <a:rPr dirty="0" sz="2100" spc="-8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D0D0D"/>
                </a:solidFill>
                <a:latin typeface="Arial MT"/>
                <a:cs typeface="Arial MT"/>
              </a:rPr>
              <a:t>it</a:t>
            </a:r>
            <a:r>
              <a:rPr dirty="0" sz="2100" spc="-7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100" spc="-25">
                <a:solidFill>
                  <a:srgbClr val="0D0D0D"/>
                </a:solidFill>
                <a:latin typeface="Arial MT"/>
                <a:cs typeface="Arial MT"/>
              </a:rPr>
              <a:t>to </a:t>
            </a:r>
            <a:r>
              <a:rPr dirty="0" sz="2100">
                <a:solidFill>
                  <a:srgbClr val="0D0D0D"/>
                </a:solidFill>
                <a:latin typeface="Arial MT"/>
                <a:cs typeface="Arial MT"/>
              </a:rPr>
              <a:t>become</a:t>
            </a:r>
            <a:r>
              <a:rPr dirty="0" sz="2100" spc="-114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D0D0D"/>
                </a:solidFill>
                <a:latin typeface="Arial MT"/>
                <a:cs typeface="Arial MT"/>
              </a:rPr>
              <a:t>10x</a:t>
            </a:r>
            <a:r>
              <a:rPr dirty="0" sz="2100" spc="-10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D0D0D"/>
                </a:solidFill>
                <a:latin typeface="Arial MT"/>
                <a:cs typeface="Arial MT"/>
              </a:rPr>
              <a:t>more</a:t>
            </a:r>
            <a:r>
              <a:rPr dirty="0" sz="2100" spc="-11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0D0D0D"/>
                </a:solidFill>
                <a:latin typeface="Arial MT"/>
                <a:cs typeface="Arial MT"/>
              </a:rPr>
              <a:t>precise.</a:t>
            </a:r>
            <a:endParaRPr sz="2100">
              <a:latin typeface="Arial MT"/>
              <a:cs typeface="Arial MT"/>
            </a:endParaRPr>
          </a:p>
          <a:p>
            <a:pPr marL="469265" marR="535305" indent="-354965">
              <a:lnSpc>
                <a:spcPct val="100000"/>
              </a:lnSpc>
              <a:spcBef>
                <a:spcPts val="1100"/>
              </a:spcBef>
              <a:buChar char="•"/>
              <a:tabLst>
                <a:tab pos="469265" algn="l"/>
              </a:tabLst>
            </a:pP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Must</a:t>
            </a:r>
            <a:r>
              <a:rPr dirty="0" sz="2500" spc="-114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experiment</a:t>
            </a:r>
            <a:r>
              <a:rPr dirty="0" sz="2500" spc="-10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with</a:t>
            </a:r>
            <a:r>
              <a:rPr dirty="0" sz="2500" spc="-10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network</a:t>
            </a:r>
            <a:r>
              <a:rPr dirty="0" sz="2500" spc="-10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structures</a:t>
            </a:r>
            <a:r>
              <a:rPr dirty="0" sz="2500" spc="-10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and</a:t>
            </a:r>
            <a:r>
              <a:rPr dirty="0" sz="2500" spc="-9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0D0D0D"/>
                </a:solidFill>
                <a:latin typeface="Arial MT"/>
                <a:cs typeface="Arial MT"/>
              </a:rPr>
              <a:t>training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modes</a:t>
            </a:r>
            <a:r>
              <a:rPr dirty="0" sz="2500" spc="-7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for</a:t>
            </a:r>
            <a:r>
              <a:rPr dirty="0" sz="2500" spc="-6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dirty="0" sz="2500" spc="-6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technology</a:t>
            </a:r>
            <a:r>
              <a:rPr dirty="0" sz="2500" spc="-6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to</a:t>
            </a:r>
            <a:r>
              <a:rPr dirty="0" sz="2500" spc="-7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be</a:t>
            </a:r>
            <a:r>
              <a:rPr dirty="0" sz="2500" spc="-6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0D0D0D"/>
                </a:solidFill>
                <a:latin typeface="Arial MT"/>
                <a:cs typeface="Arial MT"/>
              </a:rPr>
              <a:t>usable.</a:t>
            </a:r>
            <a:endParaRPr sz="2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dirty="0" sz="2500" b="1" i="1">
                <a:solidFill>
                  <a:srgbClr val="C00000"/>
                </a:solidFill>
                <a:latin typeface="Arial"/>
                <a:cs typeface="Arial"/>
              </a:rPr>
              <a:t>This</a:t>
            </a:r>
            <a:r>
              <a:rPr dirty="0" sz="2500" spc="-65" b="1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500" b="1" i="1">
                <a:solidFill>
                  <a:srgbClr val="C00000"/>
                </a:solidFill>
                <a:latin typeface="Arial"/>
                <a:cs typeface="Arial"/>
              </a:rPr>
              <a:t>has</a:t>
            </a:r>
            <a:r>
              <a:rPr dirty="0" sz="2500" spc="-65" b="1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500" b="1" i="1">
                <a:solidFill>
                  <a:srgbClr val="C00000"/>
                </a:solidFill>
                <a:latin typeface="Arial"/>
                <a:cs typeface="Arial"/>
              </a:rPr>
              <a:t>led</a:t>
            </a:r>
            <a:r>
              <a:rPr dirty="0" sz="2500" spc="-65" b="1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500" b="1" i="1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dirty="0" sz="2500" spc="-70" b="1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500" b="1" i="1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2500" spc="-65" b="1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500" b="1" i="1">
                <a:solidFill>
                  <a:srgbClr val="C00000"/>
                </a:solidFill>
                <a:latin typeface="Arial"/>
                <a:cs typeface="Arial"/>
              </a:rPr>
              <a:t>LOT</a:t>
            </a:r>
            <a:r>
              <a:rPr dirty="0" sz="2500" spc="-65" b="1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500" b="1" i="1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dirty="0" sz="2500" spc="-60" b="1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500" b="1" i="1">
                <a:solidFill>
                  <a:srgbClr val="C00000"/>
                </a:solidFill>
                <a:latin typeface="Arial"/>
                <a:cs typeface="Arial"/>
              </a:rPr>
              <a:t>variations</a:t>
            </a:r>
            <a:r>
              <a:rPr dirty="0" sz="2500" spc="-65" b="1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500" b="1" i="1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dirty="0" sz="2500" spc="-55" b="1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500" b="1" i="1">
                <a:solidFill>
                  <a:srgbClr val="C00000"/>
                </a:solidFill>
                <a:latin typeface="Arial"/>
                <a:cs typeface="Arial"/>
              </a:rPr>
              <a:t>DNN</a:t>
            </a:r>
            <a:r>
              <a:rPr dirty="0" sz="2500" spc="-65" b="1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500" spc="-10" b="1" i="1">
                <a:solidFill>
                  <a:srgbClr val="C00000"/>
                </a:solidFill>
                <a:latin typeface="Arial"/>
                <a:cs typeface="Arial"/>
              </a:rPr>
              <a:t>architectures</a:t>
            </a:r>
            <a:endParaRPr sz="25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5139" rIns="0" bIns="0" rtlCol="0" vert="horz">
            <a:spAutoFit/>
          </a:bodyPr>
          <a:lstStyle/>
          <a:p>
            <a:pPr marL="2575560">
              <a:lnSpc>
                <a:spcPct val="100000"/>
              </a:lnSpc>
              <a:spcBef>
                <a:spcPts val="100"/>
              </a:spcBef>
            </a:pPr>
            <a:r>
              <a:rPr dirty="0" sz="3700" b="0">
                <a:solidFill>
                  <a:srgbClr val="000000"/>
                </a:solidFill>
                <a:latin typeface="Arial MT"/>
                <a:cs typeface="Arial MT"/>
              </a:rPr>
              <a:t>Current</a:t>
            </a:r>
            <a:r>
              <a:rPr dirty="0" sz="3700" spc="-3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700" spc="-10" b="0">
                <a:solidFill>
                  <a:srgbClr val="000000"/>
                </a:solidFill>
                <a:latin typeface="Arial MT"/>
                <a:cs typeface="Arial MT"/>
              </a:rPr>
              <a:t>Limits</a:t>
            </a:r>
            <a:endParaRPr sz="3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85633" y="6763858"/>
            <a:ext cx="8648700" cy="318770"/>
          </a:xfrm>
          <a:prstGeom prst="rect">
            <a:avLst/>
          </a:prstGeom>
          <a:solidFill>
            <a:srgbClr val="F2F2F2"/>
          </a:solidFill>
          <a:ln w="13146">
            <a:solidFill>
              <a:srgbClr val="000000"/>
            </a:solidFill>
          </a:ln>
        </p:spPr>
        <p:txBody>
          <a:bodyPr wrap="square" lIns="0" tIns="50165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395"/>
              </a:spcBef>
            </a:pPr>
            <a:r>
              <a:rPr dirty="0" u="heavy" sz="140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https://towardsdatascience.com/the-mostly-complete-chart-of-neural-networks-explained-</a:t>
            </a:r>
            <a:r>
              <a:rPr dirty="0" u="heavy" sz="14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3fb6f2367464</a:t>
            </a:r>
            <a:r>
              <a:rPr dirty="0" u="heavy" sz="1400" spc="50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 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50194" y="3272078"/>
            <a:ext cx="1781052" cy="137319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587057" y="2928003"/>
            <a:ext cx="538480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25">
                <a:latin typeface="Arial MT"/>
                <a:cs typeface="Arial MT"/>
              </a:rPr>
              <a:t>RNN</a:t>
            </a:r>
            <a:endParaRPr sz="19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13484" y="2187436"/>
            <a:ext cx="1852915" cy="1436726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7689368" y="1727091"/>
            <a:ext cx="660400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20">
                <a:latin typeface="Arial MT"/>
                <a:cs typeface="Arial MT"/>
              </a:rPr>
              <a:t>LSTM</a:t>
            </a:r>
            <a:endParaRPr sz="19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13484" y="4385734"/>
            <a:ext cx="1895336" cy="1486888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7795521" y="4064907"/>
            <a:ext cx="554990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25">
                <a:latin typeface="Arial MT"/>
                <a:cs typeface="Arial MT"/>
              </a:rPr>
              <a:t>GRU</a:t>
            </a:r>
            <a:endParaRPr sz="1900">
              <a:latin typeface="Arial MT"/>
              <a:cs typeface="Arial MT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07107" y="5230869"/>
            <a:ext cx="3657724" cy="1523147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3589023" y="4872627"/>
            <a:ext cx="541655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25">
                <a:latin typeface="Arial MT"/>
                <a:cs typeface="Arial MT"/>
              </a:rPr>
              <a:t>GAN</a:t>
            </a:r>
            <a:endParaRPr sz="1900">
              <a:latin typeface="Arial MT"/>
              <a:cs typeface="Arial MT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856520" y="788929"/>
            <a:ext cx="5445760" cy="4946015"/>
            <a:chOff x="856520" y="788929"/>
            <a:chExt cx="5445760" cy="4946015"/>
          </a:xfrm>
        </p:grpSpPr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0188" y="3557004"/>
              <a:ext cx="2170829" cy="2177456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6520" y="2148956"/>
              <a:ext cx="2300933" cy="2301962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88540" y="788929"/>
              <a:ext cx="3713351" cy="1954516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2621379" y="348367"/>
            <a:ext cx="597535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25">
                <a:latin typeface="Arial MT"/>
                <a:cs typeface="Arial MT"/>
              </a:rPr>
              <a:t>CNN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95216" y="228601"/>
            <a:ext cx="9276080" cy="1398905"/>
            <a:chOff x="795216" y="228601"/>
            <a:chExt cx="9276080" cy="1398905"/>
          </a:xfrm>
        </p:grpSpPr>
        <p:sp>
          <p:nvSpPr>
            <p:cNvPr id="3" name="object 3" descr=""/>
            <p:cNvSpPr/>
            <p:nvPr/>
          </p:nvSpPr>
          <p:spPr>
            <a:xfrm>
              <a:off x="795216" y="1617237"/>
              <a:ext cx="9088755" cy="0"/>
            </a:xfrm>
            <a:custGeom>
              <a:avLst/>
              <a:gdLst/>
              <a:ahLst/>
              <a:cxnLst/>
              <a:rect l="l" t="t" r="r" b="b"/>
              <a:pathLst>
                <a:path w="9088755" h="0">
                  <a:moveTo>
                    <a:pt x="0" y="0"/>
                  </a:moveTo>
                  <a:lnTo>
                    <a:pt x="9088623" y="1"/>
                  </a:lnTo>
                </a:path>
              </a:pathLst>
            </a:custGeom>
            <a:ln w="19720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90865" y="228601"/>
              <a:ext cx="1280234" cy="1340979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1" y="7043598"/>
            <a:ext cx="9461500" cy="27608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69315" rIns="0" bIns="0" rtlCol="0" vert="horz">
            <a:spAutoFit/>
          </a:bodyPr>
          <a:lstStyle/>
          <a:p>
            <a:pPr marL="1814830">
              <a:lnSpc>
                <a:spcPct val="100000"/>
              </a:lnSpc>
              <a:spcBef>
                <a:spcPts val="100"/>
              </a:spcBef>
            </a:pPr>
            <a:r>
              <a:rPr dirty="0" sz="3700" b="0">
                <a:solidFill>
                  <a:srgbClr val="000000"/>
                </a:solidFill>
                <a:latin typeface="Arial MT"/>
                <a:cs typeface="Arial MT"/>
              </a:rPr>
              <a:t>Hardware</a:t>
            </a:r>
            <a:r>
              <a:rPr dirty="0" sz="3700" spc="-3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700" b="0">
                <a:solidFill>
                  <a:srgbClr val="000000"/>
                </a:solidFill>
                <a:latin typeface="Arial MT"/>
                <a:cs typeface="Arial MT"/>
              </a:rPr>
              <a:t>is</a:t>
            </a:r>
            <a:r>
              <a:rPr dirty="0" sz="3700" spc="-2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700" spc="-10" b="0">
                <a:solidFill>
                  <a:srgbClr val="000000"/>
                </a:solidFill>
                <a:latin typeface="Arial MT"/>
                <a:cs typeface="Arial MT"/>
              </a:rPr>
              <a:t>Important</a:t>
            </a:r>
            <a:endParaRPr sz="37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93202" y="1859114"/>
            <a:ext cx="8581390" cy="445071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75"/>
              </a:spcBef>
            </a:pPr>
            <a:r>
              <a:rPr dirty="0" sz="2900" b="1">
                <a:solidFill>
                  <a:srgbClr val="0D0D0D"/>
                </a:solidFill>
                <a:latin typeface="Arial"/>
                <a:cs typeface="Arial"/>
              </a:rPr>
              <a:t>Training</a:t>
            </a:r>
            <a:r>
              <a:rPr dirty="0" sz="2900" spc="-3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D0D0D"/>
                </a:solidFill>
                <a:latin typeface="Arial"/>
                <a:cs typeface="Arial"/>
              </a:rPr>
              <a:t>a</a:t>
            </a:r>
            <a:r>
              <a:rPr dirty="0" sz="2900" spc="-2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D0D0D"/>
                </a:solidFill>
                <a:latin typeface="Arial"/>
                <a:cs typeface="Arial"/>
              </a:rPr>
              <a:t>neural</a:t>
            </a:r>
            <a:r>
              <a:rPr dirty="0" sz="2900" spc="-3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D0D0D"/>
                </a:solidFill>
                <a:latin typeface="Arial"/>
                <a:cs typeface="Arial"/>
              </a:rPr>
              <a:t>network</a:t>
            </a:r>
            <a:r>
              <a:rPr dirty="0" sz="2900" spc="-2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D0D0D"/>
                </a:solidFill>
                <a:latin typeface="Arial"/>
                <a:cs typeface="Arial"/>
              </a:rPr>
              <a:t>is</a:t>
            </a:r>
            <a:r>
              <a:rPr dirty="0" sz="2900" spc="-2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0D0D0D"/>
                </a:solidFill>
                <a:latin typeface="Arial"/>
                <a:cs typeface="Arial"/>
              </a:rPr>
              <a:t>a</a:t>
            </a:r>
            <a:r>
              <a:rPr dirty="0" sz="2900" spc="-2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2900" spc="-10" b="1">
                <a:solidFill>
                  <a:srgbClr val="0D0D0D"/>
                </a:solidFill>
                <a:latin typeface="Arial"/>
                <a:cs typeface="Arial"/>
              </a:rPr>
              <a:t>compute-intensive process</a:t>
            </a:r>
            <a:endParaRPr sz="2900">
              <a:latin typeface="Arial"/>
              <a:cs typeface="Arial"/>
            </a:endParaRPr>
          </a:p>
          <a:p>
            <a:pPr algn="just" marL="367030" marR="394970" indent="-354965">
              <a:lnSpc>
                <a:spcPct val="100000"/>
              </a:lnSpc>
              <a:spcBef>
                <a:spcPts val="1335"/>
              </a:spcBef>
              <a:buChar char="•"/>
              <a:tabLst>
                <a:tab pos="367030" algn="l"/>
                <a:tab pos="368300" algn="l"/>
              </a:tabLst>
            </a:pP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	DNNs</a:t>
            </a:r>
            <a:r>
              <a:rPr dirty="0" sz="2500" spc="-6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require</a:t>
            </a:r>
            <a:r>
              <a:rPr dirty="0" sz="2500" spc="-5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a</a:t>
            </a:r>
            <a:r>
              <a:rPr dirty="0" sz="2500" spc="-5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large</a:t>
            </a:r>
            <a:r>
              <a:rPr dirty="0" sz="2500" spc="-5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amount</a:t>
            </a:r>
            <a:r>
              <a:rPr dirty="0" sz="2500" spc="-6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of</a:t>
            </a:r>
            <a:r>
              <a:rPr dirty="0" sz="2500" spc="-6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training</a:t>
            </a:r>
            <a:r>
              <a:rPr dirty="0" sz="2500" spc="-5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data</a:t>
            </a:r>
            <a:r>
              <a:rPr dirty="0" sz="2500" spc="-5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to</a:t>
            </a:r>
            <a:r>
              <a:rPr dirty="0" sz="2500" spc="-5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0D0D0D"/>
                </a:solidFill>
                <a:latin typeface="Arial MT"/>
                <a:cs typeface="Arial MT"/>
              </a:rPr>
              <a:t>achieve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high</a:t>
            </a:r>
            <a:r>
              <a:rPr dirty="0" sz="2500" spc="-7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accuracy,</a:t>
            </a:r>
            <a:r>
              <a:rPr dirty="0" sz="2500" spc="-8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meaning</a:t>
            </a:r>
            <a:r>
              <a:rPr dirty="0" sz="2500" spc="-7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hundreds</a:t>
            </a:r>
            <a:r>
              <a:rPr dirty="0" sz="2500" spc="-8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of</a:t>
            </a:r>
            <a:r>
              <a:rPr dirty="0" sz="2500" spc="-8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thousands</a:t>
            </a:r>
            <a:r>
              <a:rPr dirty="0" sz="2500" spc="-7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of</a:t>
            </a:r>
            <a:r>
              <a:rPr dirty="0" sz="2500" spc="-8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0D0D0D"/>
                </a:solidFill>
                <a:latin typeface="Arial MT"/>
                <a:cs typeface="Arial MT"/>
              </a:rPr>
              <a:t>input samples</a:t>
            </a:r>
            <a:endParaRPr sz="2500">
              <a:latin typeface="Arial MT"/>
              <a:cs typeface="Arial MT"/>
            </a:endParaRPr>
          </a:p>
          <a:p>
            <a:pPr marL="367030" marR="941069" indent="-354965">
              <a:lnSpc>
                <a:spcPct val="100000"/>
              </a:lnSpc>
              <a:spcBef>
                <a:spcPts val="1200"/>
              </a:spcBef>
              <a:buChar char="•"/>
              <a:tabLst>
                <a:tab pos="367030" algn="l"/>
              </a:tabLst>
            </a:pPr>
            <a:r>
              <a:rPr dirty="0" sz="2500" spc="-25">
                <a:solidFill>
                  <a:srgbClr val="0D0D0D"/>
                </a:solidFill>
                <a:latin typeface="Arial MT"/>
                <a:cs typeface="Arial MT"/>
              </a:rPr>
              <a:t>State-of-</a:t>
            </a:r>
            <a:r>
              <a:rPr dirty="0" sz="2500" spc="-20">
                <a:solidFill>
                  <a:srgbClr val="0D0D0D"/>
                </a:solidFill>
                <a:latin typeface="Arial MT"/>
                <a:cs typeface="Arial MT"/>
              </a:rPr>
              <a:t>the-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art</a:t>
            </a:r>
            <a:r>
              <a:rPr dirty="0" sz="2500" spc="-4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DNNs</a:t>
            </a:r>
            <a:r>
              <a:rPr dirty="0" sz="2500" spc="-4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can</a:t>
            </a:r>
            <a:r>
              <a:rPr dirty="0" sz="25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have</a:t>
            </a:r>
            <a:r>
              <a:rPr dirty="0" sz="25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well</a:t>
            </a:r>
            <a:r>
              <a:rPr dirty="0" sz="25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over</a:t>
            </a:r>
            <a:r>
              <a:rPr dirty="0" sz="25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one</a:t>
            </a:r>
            <a:r>
              <a:rPr dirty="0" sz="25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0D0D0D"/>
                </a:solidFill>
                <a:latin typeface="Arial MT"/>
                <a:cs typeface="Arial MT"/>
              </a:rPr>
              <a:t>billion parameters</a:t>
            </a:r>
            <a:r>
              <a:rPr dirty="0" sz="2500" spc="-6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to</a:t>
            </a:r>
            <a:r>
              <a:rPr dirty="0" sz="2500" spc="-5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0D0D0D"/>
                </a:solidFill>
                <a:latin typeface="Arial MT"/>
                <a:cs typeface="Arial MT"/>
              </a:rPr>
              <a:t>adjust</a:t>
            </a:r>
            <a:endParaRPr sz="2500">
              <a:latin typeface="Arial MT"/>
              <a:cs typeface="Arial MT"/>
            </a:endParaRPr>
          </a:p>
          <a:p>
            <a:pPr marL="367030" marR="254000" indent="-354965">
              <a:lnSpc>
                <a:spcPct val="100400"/>
              </a:lnSpc>
              <a:spcBef>
                <a:spcPts val="1285"/>
              </a:spcBef>
              <a:buChar char="•"/>
              <a:tabLst>
                <a:tab pos="367030" algn="l"/>
              </a:tabLst>
            </a:pP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Requires</a:t>
            </a:r>
            <a:r>
              <a:rPr dirty="0" sz="2500" spc="-9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multiple</a:t>
            </a:r>
            <a:r>
              <a:rPr dirty="0" sz="2500" spc="-8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forward</a:t>
            </a:r>
            <a:r>
              <a:rPr dirty="0" sz="2500" spc="-8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passes</a:t>
            </a:r>
            <a:r>
              <a:rPr dirty="0" sz="2500" spc="-9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for</a:t>
            </a:r>
            <a:r>
              <a:rPr dirty="0" sz="2500" spc="-8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error</a:t>
            </a:r>
            <a:r>
              <a:rPr dirty="0" sz="2500" spc="-8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detection,</a:t>
            </a:r>
            <a:r>
              <a:rPr dirty="0" sz="2500" spc="-9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 spc="-25">
                <a:solidFill>
                  <a:srgbClr val="0D0D0D"/>
                </a:solidFill>
                <a:latin typeface="Arial MT"/>
                <a:cs typeface="Arial MT"/>
              </a:rPr>
              <a:t>and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multiple</a:t>
            </a:r>
            <a:r>
              <a:rPr dirty="0" sz="2500" spc="-8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backward</a:t>
            </a:r>
            <a:r>
              <a:rPr dirty="0" sz="2500" spc="-8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passes</a:t>
            </a:r>
            <a:r>
              <a:rPr dirty="0" sz="2500" spc="-7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of</a:t>
            </a:r>
            <a:r>
              <a:rPr dirty="0" sz="2500" spc="-8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adjusting</a:t>
            </a:r>
            <a:r>
              <a:rPr dirty="0" sz="2500" spc="-7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dirty="0" sz="2500" spc="-8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weights</a:t>
            </a:r>
            <a:r>
              <a:rPr dirty="0" sz="2500" spc="-7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 spc="-25">
                <a:solidFill>
                  <a:srgbClr val="0D0D0D"/>
                </a:solidFill>
                <a:latin typeface="Arial MT"/>
                <a:cs typeface="Arial MT"/>
              </a:rPr>
              <a:t>of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millions</a:t>
            </a:r>
            <a:r>
              <a:rPr dirty="0" sz="2500" spc="-5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of</a:t>
            </a:r>
            <a:r>
              <a:rPr dirty="0" sz="2500" spc="-6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neurons</a:t>
            </a:r>
            <a:r>
              <a:rPr dirty="0" sz="2500" spc="-5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in</a:t>
            </a:r>
            <a:r>
              <a:rPr dirty="0" sz="2500" spc="-5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various</a:t>
            </a:r>
            <a:r>
              <a:rPr dirty="0" sz="2500" spc="-5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layers</a:t>
            </a:r>
            <a:r>
              <a:rPr dirty="0" sz="2500" spc="-5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of</a:t>
            </a:r>
            <a:r>
              <a:rPr dirty="0" sz="2500" spc="-6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dirty="0" sz="2500" spc="-5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0D0D0D"/>
                </a:solidFill>
                <a:latin typeface="Arial MT"/>
                <a:cs typeface="Arial MT"/>
              </a:rPr>
              <a:t>network.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95216" y="228601"/>
            <a:ext cx="9276080" cy="1398905"/>
            <a:chOff x="795216" y="228601"/>
            <a:chExt cx="9276080" cy="1398905"/>
          </a:xfrm>
        </p:grpSpPr>
        <p:sp>
          <p:nvSpPr>
            <p:cNvPr id="3" name="object 3" descr=""/>
            <p:cNvSpPr/>
            <p:nvPr/>
          </p:nvSpPr>
          <p:spPr>
            <a:xfrm>
              <a:off x="795216" y="1617237"/>
              <a:ext cx="9088755" cy="0"/>
            </a:xfrm>
            <a:custGeom>
              <a:avLst/>
              <a:gdLst/>
              <a:ahLst/>
              <a:cxnLst/>
              <a:rect l="l" t="t" r="r" b="b"/>
              <a:pathLst>
                <a:path w="9088755" h="0">
                  <a:moveTo>
                    <a:pt x="0" y="0"/>
                  </a:moveTo>
                  <a:lnTo>
                    <a:pt x="9088623" y="1"/>
                  </a:lnTo>
                </a:path>
              </a:pathLst>
            </a:custGeom>
            <a:ln w="19720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90865" y="228601"/>
              <a:ext cx="1280234" cy="1340979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1" y="7043598"/>
            <a:ext cx="9461500" cy="27608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0755" rIns="0" bIns="0" rtlCol="0" vert="horz">
            <a:spAutoFit/>
          </a:bodyPr>
          <a:lstStyle/>
          <a:p>
            <a:pPr marL="1818639">
              <a:lnSpc>
                <a:spcPct val="100000"/>
              </a:lnSpc>
              <a:spcBef>
                <a:spcPts val="100"/>
              </a:spcBef>
            </a:pPr>
            <a:r>
              <a:rPr dirty="0" sz="3700" b="0">
                <a:solidFill>
                  <a:srgbClr val="000000"/>
                </a:solidFill>
                <a:latin typeface="Arial MT"/>
                <a:cs typeface="Arial MT"/>
              </a:rPr>
              <a:t>Hardware</a:t>
            </a:r>
            <a:r>
              <a:rPr dirty="0" sz="3700" spc="-3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700" b="0">
                <a:solidFill>
                  <a:srgbClr val="000000"/>
                </a:solidFill>
                <a:latin typeface="Arial MT"/>
                <a:cs typeface="Arial MT"/>
              </a:rPr>
              <a:t>is</a:t>
            </a:r>
            <a:r>
              <a:rPr dirty="0" sz="3700" spc="-2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700" spc="-10" b="0">
                <a:solidFill>
                  <a:srgbClr val="000000"/>
                </a:solidFill>
                <a:latin typeface="Arial MT"/>
                <a:cs typeface="Arial MT"/>
              </a:rPr>
              <a:t>Important</a:t>
            </a:r>
            <a:endParaRPr sz="37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67030" marR="5080" indent="-354965">
              <a:lnSpc>
                <a:spcPct val="100000"/>
              </a:lnSpc>
              <a:spcBef>
                <a:spcPts val="100"/>
              </a:spcBef>
              <a:buChar char="•"/>
              <a:tabLst>
                <a:tab pos="367030" algn="l"/>
              </a:tabLst>
            </a:pPr>
            <a:r>
              <a:rPr dirty="0"/>
              <a:t>Because</a:t>
            </a:r>
            <a:r>
              <a:rPr dirty="0" spc="-80"/>
              <a:t> </a:t>
            </a:r>
            <a:r>
              <a:rPr dirty="0"/>
              <a:t>neural</a:t>
            </a:r>
            <a:r>
              <a:rPr dirty="0" spc="-65"/>
              <a:t> </a:t>
            </a:r>
            <a:r>
              <a:rPr dirty="0"/>
              <a:t>networks</a:t>
            </a:r>
            <a:r>
              <a:rPr dirty="0" spc="-75"/>
              <a:t> </a:t>
            </a:r>
            <a:r>
              <a:rPr dirty="0"/>
              <a:t>are</a:t>
            </a:r>
            <a:r>
              <a:rPr dirty="0" spc="-75"/>
              <a:t> </a:t>
            </a:r>
            <a:r>
              <a:rPr dirty="0"/>
              <a:t>created</a:t>
            </a:r>
            <a:r>
              <a:rPr dirty="0" spc="-75"/>
              <a:t> </a:t>
            </a:r>
            <a:r>
              <a:rPr dirty="0"/>
              <a:t>from</a:t>
            </a:r>
            <a:r>
              <a:rPr dirty="0" spc="-80"/>
              <a:t> </a:t>
            </a:r>
            <a:r>
              <a:rPr dirty="0"/>
              <a:t>large</a:t>
            </a:r>
            <a:r>
              <a:rPr dirty="0" spc="-75"/>
              <a:t> </a:t>
            </a:r>
            <a:r>
              <a:rPr dirty="0" spc="-10"/>
              <a:t>numbers </a:t>
            </a:r>
            <a:r>
              <a:rPr dirty="0"/>
              <a:t>of</a:t>
            </a:r>
            <a:r>
              <a:rPr dirty="0" spc="-65"/>
              <a:t> </a:t>
            </a:r>
            <a:r>
              <a:rPr dirty="0"/>
              <a:t>identical</a:t>
            </a:r>
            <a:r>
              <a:rPr dirty="0" spc="-50"/>
              <a:t> </a:t>
            </a:r>
            <a:r>
              <a:rPr dirty="0"/>
              <a:t>neurons,</a:t>
            </a:r>
            <a:r>
              <a:rPr dirty="0" spc="-60"/>
              <a:t> </a:t>
            </a:r>
            <a:r>
              <a:rPr dirty="0"/>
              <a:t>they</a:t>
            </a:r>
            <a:r>
              <a:rPr dirty="0" spc="-60"/>
              <a:t> </a:t>
            </a:r>
            <a:r>
              <a:rPr dirty="0"/>
              <a:t>are</a:t>
            </a:r>
            <a:r>
              <a:rPr dirty="0" spc="-55"/>
              <a:t> </a:t>
            </a:r>
            <a:r>
              <a:rPr dirty="0"/>
              <a:t>highly</a:t>
            </a:r>
            <a:r>
              <a:rPr dirty="0" spc="-60"/>
              <a:t> </a:t>
            </a:r>
            <a:r>
              <a:rPr dirty="0"/>
              <a:t>parallel</a:t>
            </a:r>
            <a:r>
              <a:rPr dirty="0" spc="-50"/>
              <a:t> </a:t>
            </a:r>
            <a:r>
              <a:rPr dirty="0"/>
              <a:t>by</a:t>
            </a:r>
            <a:r>
              <a:rPr dirty="0" spc="-60"/>
              <a:t> </a:t>
            </a:r>
            <a:r>
              <a:rPr dirty="0" spc="-10"/>
              <a:t>nature.</a:t>
            </a:r>
          </a:p>
          <a:p>
            <a:pPr marL="367030" marR="75565" indent="-354965">
              <a:lnSpc>
                <a:spcPct val="100800"/>
              </a:lnSpc>
              <a:spcBef>
                <a:spcPts val="1270"/>
              </a:spcBef>
              <a:buChar char="•"/>
              <a:tabLst>
                <a:tab pos="367030" algn="l"/>
              </a:tabLst>
            </a:pPr>
            <a:r>
              <a:rPr dirty="0"/>
              <a:t>This</a:t>
            </a:r>
            <a:r>
              <a:rPr dirty="0" spc="-75"/>
              <a:t> </a:t>
            </a:r>
            <a:r>
              <a:rPr dirty="0"/>
              <a:t>parallelism</a:t>
            </a:r>
            <a:r>
              <a:rPr dirty="0" spc="-75"/>
              <a:t> </a:t>
            </a:r>
            <a:r>
              <a:rPr dirty="0"/>
              <a:t>maps</a:t>
            </a:r>
            <a:r>
              <a:rPr dirty="0" spc="-75"/>
              <a:t> </a:t>
            </a:r>
            <a:r>
              <a:rPr dirty="0"/>
              <a:t>naturally</a:t>
            </a:r>
            <a:r>
              <a:rPr dirty="0" spc="-70"/>
              <a:t> </a:t>
            </a:r>
            <a:r>
              <a:rPr dirty="0"/>
              <a:t>to</a:t>
            </a:r>
            <a:r>
              <a:rPr dirty="0" spc="-75"/>
              <a:t> </a:t>
            </a:r>
            <a:r>
              <a:rPr dirty="0"/>
              <a:t>GPUs,</a:t>
            </a:r>
            <a:r>
              <a:rPr dirty="0" spc="-70"/>
              <a:t> </a:t>
            </a:r>
            <a:r>
              <a:rPr dirty="0"/>
              <a:t>which</a:t>
            </a:r>
            <a:r>
              <a:rPr dirty="0" spc="-75"/>
              <a:t> </a:t>
            </a:r>
            <a:r>
              <a:rPr dirty="0"/>
              <a:t>provide</a:t>
            </a:r>
            <a:r>
              <a:rPr dirty="0" spc="-70"/>
              <a:t> </a:t>
            </a:r>
            <a:r>
              <a:rPr dirty="0" spc="-50"/>
              <a:t>a </a:t>
            </a:r>
            <a:r>
              <a:rPr dirty="0"/>
              <a:t>significant</a:t>
            </a:r>
            <a:r>
              <a:rPr dirty="0" spc="-70"/>
              <a:t> </a:t>
            </a:r>
            <a:r>
              <a:rPr dirty="0"/>
              <a:t>speedup</a:t>
            </a:r>
            <a:r>
              <a:rPr dirty="0" spc="-65"/>
              <a:t> </a:t>
            </a:r>
            <a:r>
              <a:rPr dirty="0"/>
              <a:t>over</a:t>
            </a:r>
            <a:r>
              <a:rPr dirty="0" spc="-60"/>
              <a:t> </a:t>
            </a:r>
            <a:r>
              <a:rPr dirty="0" spc="-20"/>
              <a:t>CPU-</a:t>
            </a:r>
            <a:r>
              <a:rPr dirty="0"/>
              <a:t>only</a:t>
            </a:r>
            <a:r>
              <a:rPr dirty="0" spc="-65"/>
              <a:t> </a:t>
            </a:r>
            <a:r>
              <a:rPr dirty="0" spc="-10"/>
              <a:t>training.</a:t>
            </a:r>
          </a:p>
          <a:p>
            <a:pPr marL="367030" marR="367665" indent="-354965">
              <a:lnSpc>
                <a:spcPct val="100000"/>
              </a:lnSpc>
              <a:spcBef>
                <a:spcPts val="1200"/>
              </a:spcBef>
              <a:buChar char="•"/>
              <a:tabLst>
                <a:tab pos="367030" algn="l"/>
              </a:tabLst>
            </a:pPr>
            <a:r>
              <a:rPr dirty="0"/>
              <a:t>Neural</a:t>
            </a:r>
            <a:r>
              <a:rPr dirty="0" spc="-65"/>
              <a:t> </a:t>
            </a:r>
            <a:r>
              <a:rPr dirty="0"/>
              <a:t>networks</a:t>
            </a:r>
            <a:r>
              <a:rPr dirty="0" spc="-70"/>
              <a:t> </a:t>
            </a:r>
            <a:r>
              <a:rPr dirty="0"/>
              <a:t>rely</a:t>
            </a:r>
            <a:r>
              <a:rPr dirty="0" spc="-75"/>
              <a:t> </a:t>
            </a:r>
            <a:r>
              <a:rPr dirty="0"/>
              <a:t>heavily</a:t>
            </a:r>
            <a:r>
              <a:rPr dirty="0" spc="-70"/>
              <a:t> </a:t>
            </a:r>
            <a:r>
              <a:rPr dirty="0"/>
              <a:t>on</a:t>
            </a:r>
            <a:r>
              <a:rPr dirty="0" spc="-70"/>
              <a:t> </a:t>
            </a:r>
            <a:r>
              <a:rPr dirty="0"/>
              <a:t>matrix</a:t>
            </a:r>
            <a:r>
              <a:rPr dirty="0" spc="-70"/>
              <a:t> </a:t>
            </a:r>
            <a:r>
              <a:rPr dirty="0"/>
              <a:t>math</a:t>
            </a:r>
            <a:r>
              <a:rPr dirty="0" spc="-70"/>
              <a:t> </a:t>
            </a:r>
            <a:r>
              <a:rPr dirty="0" spc="-10"/>
              <a:t>operations </a:t>
            </a:r>
            <a:r>
              <a:rPr dirty="0"/>
              <a:t>and</a:t>
            </a:r>
            <a:r>
              <a:rPr dirty="0" spc="-70"/>
              <a:t> </a:t>
            </a:r>
            <a:r>
              <a:rPr dirty="0"/>
              <a:t>require</a:t>
            </a:r>
            <a:r>
              <a:rPr dirty="0" spc="-70"/>
              <a:t> </a:t>
            </a:r>
            <a:r>
              <a:rPr dirty="0"/>
              <a:t>tremendous</a:t>
            </a:r>
            <a:r>
              <a:rPr dirty="0" spc="-75"/>
              <a:t> </a:t>
            </a:r>
            <a:r>
              <a:rPr dirty="0"/>
              <a:t>amounts</a:t>
            </a:r>
            <a:r>
              <a:rPr dirty="0" spc="-70"/>
              <a:t> </a:t>
            </a:r>
            <a:r>
              <a:rPr dirty="0"/>
              <a:t>of</a:t>
            </a:r>
            <a:r>
              <a:rPr dirty="0" spc="-75"/>
              <a:t> </a:t>
            </a:r>
            <a:r>
              <a:rPr dirty="0" spc="-20"/>
              <a:t>floating-</a:t>
            </a:r>
            <a:r>
              <a:rPr dirty="0" spc="-10"/>
              <a:t>point </a:t>
            </a:r>
            <a:r>
              <a:rPr dirty="0"/>
              <a:t>performance</a:t>
            </a:r>
            <a:r>
              <a:rPr dirty="0" spc="-90"/>
              <a:t> </a:t>
            </a:r>
            <a:r>
              <a:rPr dirty="0"/>
              <a:t>and</a:t>
            </a:r>
            <a:r>
              <a:rPr dirty="0" spc="-85"/>
              <a:t> </a:t>
            </a:r>
            <a:r>
              <a:rPr dirty="0"/>
              <a:t>bandwidth</a:t>
            </a:r>
            <a:r>
              <a:rPr dirty="0" spc="-90"/>
              <a:t> </a:t>
            </a:r>
            <a:r>
              <a:rPr dirty="0"/>
              <a:t>for</a:t>
            </a:r>
            <a:r>
              <a:rPr dirty="0" spc="-85"/>
              <a:t> </a:t>
            </a:r>
            <a:r>
              <a:rPr dirty="0"/>
              <a:t>both</a:t>
            </a:r>
            <a:r>
              <a:rPr dirty="0" spc="-90"/>
              <a:t> </a:t>
            </a:r>
            <a:r>
              <a:rPr dirty="0"/>
              <a:t>efficiency</a:t>
            </a:r>
            <a:r>
              <a:rPr dirty="0" spc="-90"/>
              <a:t> </a:t>
            </a:r>
            <a:r>
              <a:rPr dirty="0" spc="-25"/>
              <a:t>and </a:t>
            </a:r>
            <a:r>
              <a:rPr dirty="0" spc="-10"/>
              <a:t>speed.</a:t>
            </a:r>
          </a:p>
          <a:p>
            <a:pPr marL="367030" marR="178435" indent="-354965">
              <a:lnSpc>
                <a:spcPct val="100000"/>
              </a:lnSpc>
              <a:spcBef>
                <a:spcPts val="1300"/>
              </a:spcBef>
              <a:buChar char="•"/>
              <a:tabLst>
                <a:tab pos="367030" algn="l"/>
              </a:tabLst>
            </a:pPr>
            <a:r>
              <a:rPr dirty="0"/>
              <a:t>GPUs</a:t>
            </a:r>
            <a:r>
              <a:rPr dirty="0" spc="-85"/>
              <a:t> </a:t>
            </a:r>
            <a:r>
              <a:rPr dirty="0"/>
              <a:t>have</a:t>
            </a:r>
            <a:r>
              <a:rPr dirty="0" spc="-85"/>
              <a:t> </a:t>
            </a:r>
            <a:r>
              <a:rPr dirty="0"/>
              <a:t>thousands</a:t>
            </a:r>
            <a:r>
              <a:rPr dirty="0" spc="-85"/>
              <a:t> </a:t>
            </a:r>
            <a:r>
              <a:rPr dirty="0"/>
              <a:t>of</a:t>
            </a:r>
            <a:r>
              <a:rPr dirty="0" spc="-80"/>
              <a:t> </a:t>
            </a:r>
            <a:r>
              <a:rPr dirty="0"/>
              <a:t>processing</a:t>
            </a:r>
            <a:r>
              <a:rPr dirty="0" spc="-85"/>
              <a:t> </a:t>
            </a:r>
            <a:r>
              <a:rPr dirty="0"/>
              <a:t>cores</a:t>
            </a:r>
            <a:r>
              <a:rPr dirty="0" spc="-85"/>
              <a:t> </a:t>
            </a:r>
            <a:r>
              <a:rPr dirty="0"/>
              <a:t>optimized</a:t>
            </a:r>
            <a:r>
              <a:rPr dirty="0" spc="-80"/>
              <a:t> </a:t>
            </a:r>
            <a:r>
              <a:rPr dirty="0" spc="-25"/>
              <a:t>for </a:t>
            </a:r>
            <a:r>
              <a:rPr dirty="0"/>
              <a:t>matrix</a:t>
            </a:r>
            <a:r>
              <a:rPr dirty="0" spc="-114"/>
              <a:t> </a:t>
            </a:r>
            <a:r>
              <a:rPr dirty="0"/>
              <a:t>math</a:t>
            </a:r>
            <a:r>
              <a:rPr dirty="0" spc="-110"/>
              <a:t> </a:t>
            </a:r>
            <a:r>
              <a:rPr dirty="0" spc="-10"/>
              <a:t>operations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95216" y="228601"/>
            <a:ext cx="9276080" cy="1398905"/>
            <a:chOff x="795216" y="228601"/>
            <a:chExt cx="9276080" cy="1398905"/>
          </a:xfrm>
        </p:grpSpPr>
        <p:sp>
          <p:nvSpPr>
            <p:cNvPr id="3" name="object 3" descr=""/>
            <p:cNvSpPr/>
            <p:nvPr/>
          </p:nvSpPr>
          <p:spPr>
            <a:xfrm>
              <a:off x="795216" y="1617237"/>
              <a:ext cx="9088755" cy="0"/>
            </a:xfrm>
            <a:custGeom>
              <a:avLst/>
              <a:gdLst/>
              <a:ahLst/>
              <a:cxnLst/>
              <a:rect l="l" t="t" r="r" b="b"/>
              <a:pathLst>
                <a:path w="9088755" h="0">
                  <a:moveTo>
                    <a:pt x="0" y="0"/>
                  </a:moveTo>
                  <a:lnTo>
                    <a:pt x="9088623" y="1"/>
                  </a:lnTo>
                </a:path>
              </a:pathLst>
            </a:custGeom>
            <a:ln w="19720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90865" y="228601"/>
              <a:ext cx="1280234" cy="1340979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1" y="7043598"/>
            <a:ext cx="9461500" cy="27608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90242" rIns="0" bIns="0" rtlCol="0" vert="horz">
            <a:spAutoFit/>
          </a:bodyPr>
          <a:lstStyle/>
          <a:p>
            <a:pPr marL="1800225">
              <a:lnSpc>
                <a:spcPct val="100000"/>
              </a:lnSpc>
              <a:spcBef>
                <a:spcPts val="100"/>
              </a:spcBef>
            </a:pPr>
            <a:r>
              <a:rPr dirty="0" sz="3300" b="0">
                <a:solidFill>
                  <a:srgbClr val="000000"/>
                </a:solidFill>
                <a:latin typeface="Arial MT"/>
                <a:cs typeface="Arial MT"/>
              </a:rPr>
              <a:t>CPU</a:t>
            </a:r>
            <a:r>
              <a:rPr dirty="0" sz="3300" spc="-2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300" b="0">
                <a:solidFill>
                  <a:srgbClr val="000000"/>
                </a:solidFill>
                <a:latin typeface="Arial MT"/>
                <a:cs typeface="Arial MT"/>
              </a:rPr>
              <a:t>vs.</a:t>
            </a:r>
            <a:r>
              <a:rPr dirty="0" sz="3300" spc="-3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300" b="0">
                <a:solidFill>
                  <a:srgbClr val="000000"/>
                </a:solidFill>
                <a:latin typeface="Arial MT"/>
                <a:cs typeface="Arial MT"/>
              </a:rPr>
              <a:t>GPU</a:t>
            </a:r>
            <a:r>
              <a:rPr dirty="0" sz="3300" spc="-2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300" spc="-10" b="0">
                <a:solidFill>
                  <a:srgbClr val="000000"/>
                </a:solidFill>
                <a:latin typeface="Arial MT"/>
                <a:cs typeface="Arial MT"/>
              </a:rPr>
              <a:t>Architecture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890004" y="2376281"/>
            <a:ext cx="956310" cy="407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10">
                <a:solidFill>
                  <a:srgbClr val="C00000"/>
                </a:solidFill>
                <a:latin typeface="Arial MT"/>
                <a:cs typeface="Arial MT"/>
              </a:rPr>
              <a:t>versus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351700" y="2061344"/>
            <a:ext cx="1937385" cy="66294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09220" marR="5080" indent="-97155">
              <a:lnSpc>
                <a:spcPts val="2500"/>
              </a:lnSpc>
              <a:spcBef>
                <a:spcPts val="200"/>
              </a:spcBef>
            </a:pPr>
            <a:r>
              <a:rPr dirty="0" sz="2100">
                <a:solidFill>
                  <a:srgbClr val="C00000"/>
                </a:solidFill>
                <a:latin typeface="Arial MT"/>
                <a:cs typeface="Arial MT"/>
              </a:rPr>
              <a:t>Small</a:t>
            </a:r>
            <a:r>
              <a:rPr dirty="0" sz="2100" spc="-12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C00000"/>
                </a:solidFill>
                <a:latin typeface="Arial MT"/>
                <a:cs typeface="Arial MT"/>
              </a:rPr>
              <a:t>number</a:t>
            </a:r>
            <a:r>
              <a:rPr dirty="0" sz="2100" spc="-14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100" spc="-25">
                <a:solidFill>
                  <a:srgbClr val="C00000"/>
                </a:solidFill>
                <a:latin typeface="Arial MT"/>
                <a:cs typeface="Arial MT"/>
              </a:rPr>
              <a:t>of </a:t>
            </a:r>
            <a:r>
              <a:rPr dirty="0" sz="2100" spc="-10">
                <a:solidFill>
                  <a:srgbClr val="C00000"/>
                </a:solidFill>
                <a:latin typeface="Arial MT"/>
                <a:cs typeface="Arial MT"/>
              </a:rPr>
              <a:t>powerful</a:t>
            </a:r>
            <a:r>
              <a:rPr dirty="0" sz="2100" spc="-7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C00000"/>
                </a:solidFill>
                <a:latin typeface="Arial MT"/>
                <a:cs typeface="Arial MT"/>
              </a:rPr>
              <a:t>cores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150293" y="1918088"/>
            <a:ext cx="2464435" cy="98298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590550" marR="5080" indent="-578485">
              <a:lnSpc>
                <a:spcPts val="2500"/>
              </a:lnSpc>
              <a:spcBef>
                <a:spcPts val="200"/>
              </a:spcBef>
            </a:pPr>
            <a:r>
              <a:rPr dirty="0" sz="2100" spc="-35">
                <a:solidFill>
                  <a:srgbClr val="C00000"/>
                </a:solidFill>
                <a:latin typeface="Arial MT"/>
                <a:cs typeface="Arial MT"/>
              </a:rPr>
              <a:t>Very</a:t>
            </a:r>
            <a:r>
              <a:rPr dirty="0" sz="2100" spc="-10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C00000"/>
                </a:solidFill>
                <a:latin typeface="Arial MT"/>
                <a:cs typeface="Arial MT"/>
              </a:rPr>
              <a:t>large</a:t>
            </a:r>
            <a:r>
              <a:rPr dirty="0" sz="2100" spc="-10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C00000"/>
                </a:solidFill>
                <a:latin typeface="Arial MT"/>
                <a:cs typeface="Arial MT"/>
              </a:rPr>
              <a:t>number</a:t>
            </a:r>
            <a:r>
              <a:rPr dirty="0" sz="2100" spc="-9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100" spc="-25">
                <a:solidFill>
                  <a:srgbClr val="C00000"/>
                </a:solidFill>
                <a:latin typeface="Arial MT"/>
                <a:cs typeface="Arial MT"/>
              </a:rPr>
              <a:t>of </a:t>
            </a:r>
            <a:r>
              <a:rPr dirty="0" sz="2100">
                <a:solidFill>
                  <a:srgbClr val="C00000"/>
                </a:solidFill>
                <a:latin typeface="Arial MT"/>
                <a:cs typeface="Arial MT"/>
              </a:rPr>
              <a:t>simple</a:t>
            </a:r>
            <a:r>
              <a:rPr dirty="0" sz="2100" spc="-13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C00000"/>
                </a:solidFill>
                <a:latin typeface="Arial MT"/>
                <a:cs typeface="Arial MT"/>
              </a:rPr>
              <a:t>stream</a:t>
            </a:r>
            <a:endParaRPr sz="2100">
              <a:latin typeface="Arial MT"/>
              <a:cs typeface="Arial MT"/>
            </a:endParaRPr>
          </a:p>
          <a:p>
            <a:pPr marL="765810">
              <a:lnSpc>
                <a:spcPts val="2435"/>
              </a:lnSpc>
            </a:pPr>
            <a:r>
              <a:rPr dirty="0" sz="2100" spc="-10">
                <a:solidFill>
                  <a:srgbClr val="C00000"/>
                </a:solidFill>
                <a:latin typeface="Arial MT"/>
                <a:cs typeface="Arial MT"/>
              </a:rPr>
              <a:t>processors</a:t>
            </a:r>
            <a:endParaRPr sz="2100">
              <a:latin typeface="Arial MT"/>
              <a:cs typeface="Arial MT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88903" y="3135523"/>
            <a:ext cx="7060903" cy="3731561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6959786"/>
            <a:ext cx="9461500" cy="368113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448472" y="7086055"/>
            <a:ext cx="38163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SLIDE</a:t>
            </a:r>
            <a:r>
              <a:rPr dirty="0" sz="600" spc="-5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25">
                <a:solidFill>
                  <a:srgbClr val="C0F9FC"/>
                </a:solidFill>
                <a:latin typeface="Verdana"/>
                <a:cs typeface="Verdana"/>
              </a:rPr>
              <a:t>43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21916" y="7086055"/>
            <a:ext cx="66421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80">
                <a:solidFill>
                  <a:srgbClr val="C0F9FC"/>
                </a:solidFill>
                <a:latin typeface="Verdana"/>
                <a:cs typeface="Verdana"/>
              </a:rPr>
              <a:t>CT115-</a:t>
            </a:r>
            <a:r>
              <a:rPr dirty="0" sz="600" spc="-50">
                <a:solidFill>
                  <a:srgbClr val="C0F9FC"/>
                </a:solidFill>
                <a:latin typeface="Verdana"/>
                <a:cs typeface="Verdana"/>
              </a:rPr>
              <a:t>3-</a:t>
            </a: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M-</a:t>
            </a:r>
            <a:r>
              <a:rPr dirty="0" sz="600" spc="-20">
                <a:solidFill>
                  <a:srgbClr val="C0F9FC"/>
                </a:solidFill>
                <a:latin typeface="Verdana"/>
                <a:cs typeface="Verdana"/>
              </a:rPr>
              <a:t>DACS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850610" y="7070816"/>
            <a:ext cx="110744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10">
                <a:solidFill>
                  <a:srgbClr val="C0F9FC"/>
                </a:solidFill>
                <a:latin typeface="Verdana"/>
                <a:cs typeface="Verdana"/>
              </a:rPr>
              <a:t>Machine</a:t>
            </a:r>
            <a:r>
              <a:rPr dirty="0" sz="600" spc="4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10">
                <a:solidFill>
                  <a:srgbClr val="C0F9FC"/>
                </a:solidFill>
                <a:latin typeface="Verdana"/>
                <a:cs typeface="Verdana"/>
              </a:rPr>
              <a:t>Learning</a:t>
            </a:r>
            <a:r>
              <a:rPr dirty="0" sz="600" spc="55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9FC"/>
                </a:solidFill>
                <a:latin typeface="Verdana"/>
                <a:cs typeface="Verdana"/>
              </a:rPr>
              <a:t>Methods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9815" y="323814"/>
            <a:ext cx="773653" cy="91221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888629" y="1931436"/>
            <a:ext cx="5956300" cy="111379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264795" indent="-252095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264795" algn="l"/>
              </a:tabLst>
            </a:pPr>
            <a:r>
              <a:rPr dirty="0" sz="1900" spc="-85">
                <a:solidFill>
                  <a:srgbClr val="082F50"/>
                </a:solidFill>
                <a:latin typeface="Lucida Sans Unicode"/>
                <a:cs typeface="Lucida Sans Unicode"/>
              </a:rPr>
              <a:t>What</a:t>
            </a:r>
            <a:r>
              <a:rPr dirty="0" sz="1900" spc="-6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14">
                <a:solidFill>
                  <a:srgbClr val="082F50"/>
                </a:solidFill>
                <a:latin typeface="Lucida Sans Unicode"/>
                <a:cs typeface="Lucida Sans Unicode"/>
              </a:rPr>
              <a:t>are</a:t>
            </a:r>
            <a:r>
              <a:rPr dirty="0" sz="1900" spc="-5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95">
                <a:solidFill>
                  <a:srgbClr val="082F50"/>
                </a:solidFill>
                <a:latin typeface="Lucida Sans Unicode"/>
                <a:cs typeface="Lucida Sans Unicode"/>
              </a:rPr>
              <a:t>the</a:t>
            </a:r>
            <a:r>
              <a:rPr dirty="0" sz="1900" spc="-6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5">
                <a:solidFill>
                  <a:srgbClr val="082F50"/>
                </a:solidFill>
                <a:latin typeface="Lucida Sans Unicode"/>
                <a:cs typeface="Lucida Sans Unicode"/>
              </a:rPr>
              <a:t>differences</a:t>
            </a:r>
            <a:r>
              <a:rPr dirty="0" sz="1900" spc="-5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5">
                <a:solidFill>
                  <a:srgbClr val="082F50"/>
                </a:solidFill>
                <a:latin typeface="Lucida Sans Unicode"/>
                <a:cs typeface="Lucida Sans Unicode"/>
              </a:rPr>
              <a:t>between</a:t>
            </a:r>
            <a:r>
              <a:rPr dirty="0" sz="1900" spc="-5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40">
                <a:solidFill>
                  <a:srgbClr val="082F50"/>
                </a:solidFill>
                <a:latin typeface="Lucida Sans Unicode"/>
                <a:cs typeface="Lucida Sans Unicode"/>
              </a:rPr>
              <a:t>AI,</a:t>
            </a:r>
            <a:r>
              <a:rPr dirty="0" sz="1900" spc="-65">
                <a:solidFill>
                  <a:srgbClr val="082F50"/>
                </a:solidFill>
                <a:latin typeface="Lucida Sans Unicode"/>
                <a:cs typeface="Lucida Sans Unicode"/>
              </a:rPr>
              <a:t> ML</a:t>
            </a:r>
            <a:r>
              <a:rPr dirty="0" sz="1900" spc="-5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40">
                <a:solidFill>
                  <a:srgbClr val="082F50"/>
                </a:solidFill>
                <a:latin typeface="Lucida Sans Unicode"/>
                <a:cs typeface="Lucida Sans Unicode"/>
              </a:rPr>
              <a:t>and</a:t>
            </a:r>
            <a:r>
              <a:rPr dirty="0" sz="1900" spc="-4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25">
                <a:solidFill>
                  <a:srgbClr val="082F50"/>
                </a:solidFill>
                <a:latin typeface="Lucida Sans Unicode"/>
                <a:cs typeface="Lucida Sans Unicode"/>
              </a:rPr>
              <a:t>DL?</a:t>
            </a:r>
            <a:endParaRPr sz="1900">
              <a:latin typeface="Lucida Sans Unicode"/>
              <a:cs typeface="Lucida Sans Unicode"/>
            </a:endParaRPr>
          </a:p>
          <a:p>
            <a:pPr marL="264795" indent="-25209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264795" algn="l"/>
              </a:tabLst>
            </a:pPr>
            <a:r>
              <a:rPr dirty="0" sz="1900" spc="-85">
                <a:solidFill>
                  <a:srgbClr val="082F50"/>
                </a:solidFill>
                <a:latin typeface="Lucida Sans Unicode"/>
                <a:cs typeface="Lucida Sans Unicode"/>
              </a:rPr>
              <a:t>What</a:t>
            </a:r>
            <a:r>
              <a:rPr dirty="0" sz="1900" spc="-3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14">
                <a:solidFill>
                  <a:srgbClr val="082F50"/>
                </a:solidFill>
                <a:latin typeface="Lucida Sans Unicode"/>
                <a:cs typeface="Lucida Sans Unicode"/>
              </a:rPr>
              <a:t>are</a:t>
            </a:r>
            <a:r>
              <a:rPr dirty="0" sz="1900" spc="-3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5">
                <a:solidFill>
                  <a:srgbClr val="082F50"/>
                </a:solidFill>
                <a:latin typeface="Lucida Sans Unicode"/>
                <a:cs typeface="Lucida Sans Unicode"/>
              </a:rPr>
              <a:t>different</a:t>
            </a:r>
            <a:r>
              <a:rPr dirty="0" sz="1900" spc="-3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20">
                <a:solidFill>
                  <a:srgbClr val="082F50"/>
                </a:solidFill>
                <a:latin typeface="Lucida Sans Unicode"/>
                <a:cs typeface="Lucida Sans Unicode"/>
              </a:rPr>
              <a:t>types</a:t>
            </a:r>
            <a:r>
              <a:rPr dirty="0" sz="1900" spc="-3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20">
                <a:solidFill>
                  <a:srgbClr val="082F50"/>
                </a:solidFill>
                <a:latin typeface="Lucida Sans Unicode"/>
                <a:cs typeface="Lucida Sans Unicode"/>
              </a:rPr>
              <a:t>of</a:t>
            </a:r>
            <a:r>
              <a:rPr dirty="0" sz="1900" spc="-3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10">
                <a:solidFill>
                  <a:srgbClr val="082F50"/>
                </a:solidFill>
                <a:latin typeface="Lucida Sans Unicode"/>
                <a:cs typeface="Lucida Sans Unicode"/>
              </a:rPr>
              <a:t>Machine</a:t>
            </a:r>
            <a:r>
              <a:rPr dirty="0" sz="1900" spc="-3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Lucida Sans Unicode"/>
                <a:cs typeface="Lucida Sans Unicode"/>
              </a:rPr>
              <a:t>Learning?</a:t>
            </a:r>
            <a:endParaRPr sz="1900">
              <a:latin typeface="Lucida Sans Unicode"/>
              <a:cs typeface="Lucida Sans Unicode"/>
            </a:endParaRPr>
          </a:p>
          <a:p>
            <a:pPr marL="264795" indent="-252095">
              <a:lnSpc>
                <a:spcPct val="100000"/>
              </a:lnSpc>
              <a:spcBef>
                <a:spcPts val="525"/>
              </a:spcBef>
              <a:buAutoNum type="arabicPeriod"/>
              <a:tabLst>
                <a:tab pos="264795" algn="l"/>
              </a:tabLst>
            </a:pPr>
            <a:r>
              <a:rPr dirty="0" sz="1900" spc="-85">
                <a:solidFill>
                  <a:srgbClr val="082F50"/>
                </a:solidFill>
                <a:latin typeface="Lucida Sans Unicode"/>
                <a:cs typeface="Lucida Sans Unicode"/>
              </a:rPr>
              <a:t>What</a:t>
            </a:r>
            <a:r>
              <a:rPr dirty="0" sz="1900" spc="-5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14">
                <a:solidFill>
                  <a:srgbClr val="082F50"/>
                </a:solidFill>
                <a:latin typeface="Lucida Sans Unicode"/>
                <a:cs typeface="Lucida Sans Unicode"/>
              </a:rPr>
              <a:t>are</a:t>
            </a:r>
            <a:r>
              <a:rPr dirty="0" sz="1900" spc="-5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95">
                <a:solidFill>
                  <a:srgbClr val="082F50"/>
                </a:solidFill>
                <a:latin typeface="Lucida Sans Unicode"/>
                <a:cs typeface="Lucida Sans Unicode"/>
              </a:rPr>
              <a:t>the</a:t>
            </a:r>
            <a:r>
              <a:rPr dirty="0" sz="1900" spc="-5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85">
                <a:solidFill>
                  <a:srgbClr val="082F50"/>
                </a:solidFill>
                <a:latin typeface="Lucida Sans Unicode"/>
                <a:cs typeface="Lucida Sans Unicode"/>
              </a:rPr>
              <a:t>typical</a:t>
            </a:r>
            <a:r>
              <a:rPr dirty="0" sz="1900" spc="-6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0">
                <a:solidFill>
                  <a:srgbClr val="082F50"/>
                </a:solidFill>
                <a:latin typeface="Lucida Sans Unicode"/>
                <a:cs typeface="Lucida Sans Unicode"/>
              </a:rPr>
              <a:t>characteristics</a:t>
            </a:r>
            <a:r>
              <a:rPr dirty="0" sz="1900" spc="-5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20">
                <a:solidFill>
                  <a:srgbClr val="082F50"/>
                </a:solidFill>
                <a:latin typeface="Lucida Sans Unicode"/>
                <a:cs typeface="Lucida Sans Unicode"/>
              </a:rPr>
              <a:t>of</a:t>
            </a:r>
            <a:r>
              <a:rPr dirty="0" sz="1900" spc="-5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40">
                <a:solidFill>
                  <a:srgbClr val="082F50"/>
                </a:solidFill>
                <a:latin typeface="Lucida Sans Unicode"/>
                <a:cs typeface="Lucida Sans Unicode"/>
              </a:rPr>
              <a:t>Deep</a:t>
            </a:r>
            <a:r>
              <a:rPr dirty="0" sz="1900" spc="-4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40">
                <a:solidFill>
                  <a:srgbClr val="082F50"/>
                </a:solidFill>
                <a:latin typeface="Lucida Sans Unicode"/>
                <a:cs typeface="Lucida Sans Unicode"/>
              </a:rPr>
              <a:t>Learning?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3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95"/>
              <a:t>Review</a:t>
            </a:r>
            <a:r>
              <a:rPr dirty="0" spc="-80"/>
              <a:t> </a:t>
            </a:r>
            <a:r>
              <a:rPr dirty="0" spc="-55"/>
              <a:t>Questions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6959786"/>
            <a:ext cx="9461500" cy="368113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444365" y="7086055"/>
            <a:ext cx="38862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SLIDE</a:t>
            </a:r>
            <a:r>
              <a:rPr dirty="0" sz="600" spc="-5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25">
                <a:solidFill>
                  <a:srgbClr val="C0F9FC"/>
                </a:solidFill>
                <a:latin typeface="Verdana"/>
                <a:cs typeface="Verdana"/>
              </a:rPr>
              <a:t>44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21916" y="7086055"/>
            <a:ext cx="66421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80">
                <a:solidFill>
                  <a:srgbClr val="C0F9FC"/>
                </a:solidFill>
                <a:latin typeface="Verdana"/>
                <a:cs typeface="Verdana"/>
              </a:rPr>
              <a:t>CT115-</a:t>
            </a:r>
            <a:r>
              <a:rPr dirty="0" sz="600" spc="-50">
                <a:solidFill>
                  <a:srgbClr val="C0F9FC"/>
                </a:solidFill>
                <a:latin typeface="Verdana"/>
                <a:cs typeface="Verdana"/>
              </a:rPr>
              <a:t>3-</a:t>
            </a: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M-</a:t>
            </a:r>
            <a:r>
              <a:rPr dirty="0" sz="600" spc="-20">
                <a:solidFill>
                  <a:srgbClr val="C0F9FC"/>
                </a:solidFill>
                <a:latin typeface="Verdana"/>
                <a:cs typeface="Verdana"/>
              </a:rPr>
              <a:t>DACS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850610" y="7070816"/>
            <a:ext cx="110744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10">
                <a:solidFill>
                  <a:srgbClr val="C0F9FC"/>
                </a:solidFill>
                <a:latin typeface="Verdana"/>
                <a:cs typeface="Verdana"/>
              </a:rPr>
              <a:t>Machine</a:t>
            </a:r>
            <a:r>
              <a:rPr dirty="0" sz="600" spc="4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10">
                <a:solidFill>
                  <a:srgbClr val="C0F9FC"/>
                </a:solidFill>
                <a:latin typeface="Verdana"/>
                <a:cs typeface="Verdana"/>
              </a:rPr>
              <a:t>Learning</a:t>
            </a:r>
            <a:r>
              <a:rPr dirty="0" sz="600" spc="55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9FC"/>
                </a:solidFill>
                <a:latin typeface="Verdana"/>
                <a:cs typeface="Verdana"/>
              </a:rPr>
              <a:t>Methods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9815" y="323814"/>
            <a:ext cx="773653" cy="91221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888629" y="1931436"/>
            <a:ext cx="4469765" cy="111379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278130" indent="-265430">
              <a:lnSpc>
                <a:spcPct val="100000"/>
              </a:lnSpc>
              <a:spcBef>
                <a:spcPts val="700"/>
              </a:spcBef>
              <a:buChar char="•"/>
              <a:tabLst>
                <a:tab pos="278130" algn="l"/>
              </a:tabLst>
            </a:pPr>
            <a:r>
              <a:rPr dirty="0" sz="1900" spc="-125">
                <a:solidFill>
                  <a:srgbClr val="082F50"/>
                </a:solidFill>
                <a:latin typeface="Lucida Sans Unicode"/>
                <a:cs typeface="Lucida Sans Unicode"/>
              </a:rPr>
              <a:t>The</a:t>
            </a:r>
            <a:r>
              <a:rPr dirty="0" sz="1900" spc="-6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5">
                <a:solidFill>
                  <a:srgbClr val="082F50"/>
                </a:solidFill>
                <a:latin typeface="Lucida Sans Unicode"/>
                <a:cs typeface="Lucida Sans Unicode"/>
              </a:rPr>
              <a:t>differences</a:t>
            </a:r>
            <a:r>
              <a:rPr dirty="0" sz="1900" spc="-5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5">
                <a:solidFill>
                  <a:srgbClr val="082F50"/>
                </a:solidFill>
                <a:latin typeface="Lucida Sans Unicode"/>
                <a:cs typeface="Lucida Sans Unicode"/>
              </a:rPr>
              <a:t>between</a:t>
            </a:r>
            <a:r>
              <a:rPr dirty="0" sz="1900" spc="-5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40">
                <a:solidFill>
                  <a:srgbClr val="082F50"/>
                </a:solidFill>
                <a:latin typeface="Lucida Sans Unicode"/>
                <a:cs typeface="Lucida Sans Unicode"/>
              </a:rPr>
              <a:t>AI,</a:t>
            </a:r>
            <a:r>
              <a:rPr dirty="0" sz="1900" spc="-7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65">
                <a:solidFill>
                  <a:srgbClr val="082F50"/>
                </a:solidFill>
                <a:latin typeface="Lucida Sans Unicode"/>
                <a:cs typeface="Lucida Sans Unicode"/>
              </a:rPr>
              <a:t>ML</a:t>
            </a:r>
            <a:r>
              <a:rPr dirty="0" sz="1900" spc="-4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40">
                <a:solidFill>
                  <a:srgbClr val="082F50"/>
                </a:solidFill>
                <a:latin typeface="Lucida Sans Unicode"/>
                <a:cs typeface="Lucida Sans Unicode"/>
              </a:rPr>
              <a:t>and</a:t>
            </a:r>
            <a:r>
              <a:rPr dirty="0" sz="1900" spc="-4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30">
                <a:solidFill>
                  <a:srgbClr val="082F50"/>
                </a:solidFill>
                <a:latin typeface="Lucida Sans Unicode"/>
                <a:cs typeface="Lucida Sans Unicode"/>
              </a:rPr>
              <a:t>DL.</a:t>
            </a:r>
            <a:endParaRPr sz="1900">
              <a:latin typeface="Lucida Sans Unicode"/>
              <a:cs typeface="Lucida Sans Unicode"/>
            </a:endParaRPr>
          </a:p>
          <a:p>
            <a:pPr marL="278130" indent="-265430">
              <a:lnSpc>
                <a:spcPct val="100000"/>
              </a:lnSpc>
              <a:spcBef>
                <a:spcPts val="600"/>
              </a:spcBef>
              <a:buChar char="•"/>
              <a:tabLst>
                <a:tab pos="278130" algn="l"/>
              </a:tabLst>
            </a:pPr>
            <a:r>
              <a:rPr dirty="0" sz="1900" spc="-135">
                <a:solidFill>
                  <a:srgbClr val="082F50"/>
                </a:solidFill>
                <a:latin typeface="Lucida Sans Unicode"/>
                <a:cs typeface="Lucida Sans Unicode"/>
              </a:rPr>
              <a:t>Types</a:t>
            </a:r>
            <a:r>
              <a:rPr dirty="0" sz="1900" spc="-3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20">
                <a:solidFill>
                  <a:srgbClr val="082F50"/>
                </a:solidFill>
                <a:latin typeface="Lucida Sans Unicode"/>
                <a:cs typeface="Lucida Sans Unicode"/>
              </a:rPr>
              <a:t>of</a:t>
            </a:r>
            <a:r>
              <a:rPr dirty="0" sz="1900" spc="-3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10">
                <a:solidFill>
                  <a:srgbClr val="082F50"/>
                </a:solidFill>
                <a:latin typeface="Lucida Sans Unicode"/>
                <a:cs typeface="Lucida Sans Unicode"/>
              </a:rPr>
              <a:t>Machine</a:t>
            </a:r>
            <a:r>
              <a:rPr dirty="0" sz="1900" spc="-3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Lucida Sans Unicode"/>
                <a:cs typeface="Lucida Sans Unicode"/>
              </a:rPr>
              <a:t>Learning.</a:t>
            </a:r>
            <a:endParaRPr sz="1900">
              <a:latin typeface="Lucida Sans Unicode"/>
              <a:cs typeface="Lucida Sans Unicode"/>
            </a:endParaRPr>
          </a:p>
          <a:p>
            <a:pPr marL="278130" indent="-265430">
              <a:lnSpc>
                <a:spcPct val="100000"/>
              </a:lnSpc>
              <a:spcBef>
                <a:spcPts val="525"/>
              </a:spcBef>
              <a:buChar char="•"/>
              <a:tabLst>
                <a:tab pos="278130" algn="l"/>
              </a:tabLst>
            </a:pPr>
            <a:r>
              <a:rPr dirty="0" sz="1900" spc="-110">
                <a:solidFill>
                  <a:srgbClr val="082F50"/>
                </a:solidFill>
                <a:latin typeface="Lucida Sans Unicode"/>
                <a:cs typeface="Lucida Sans Unicode"/>
              </a:rPr>
              <a:t>Characteristics</a:t>
            </a:r>
            <a:r>
              <a:rPr dirty="0" sz="1900" spc="-40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20">
                <a:solidFill>
                  <a:srgbClr val="082F50"/>
                </a:solidFill>
                <a:latin typeface="Lucida Sans Unicode"/>
                <a:cs typeface="Lucida Sans Unicode"/>
              </a:rPr>
              <a:t>of</a:t>
            </a:r>
            <a:r>
              <a:rPr dirty="0" sz="1900" spc="-3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40">
                <a:solidFill>
                  <a:srgbClr val="082F50"/>
                </a:solidFill>
                <a:latin typeface="Lucida Sans Unicode"/>
                <a:cs typeface="Lucida Sans Unicode"/>
              </a:rPr>
              <a:t>Deep</a:t>
            </a:r>
            <a:r>
              <a:rPr dirty="0" sz="1900" spc="-35">
                <a:solidFill>
                  <a:srgbClr val="082F5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082F50"/>
                </a:solidFill>
                <a:latin typeface="Lucida Sans Unicode"/>
                <a:cs typeface="Lucida Sans Unicode"/>
              </a:rPr>
              <a:t>Learning.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3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90"/>
              <a:t>Summary</a:t>
            </a:r>
            <a:r>
              <a:rPr dirty="0" spc="-100"/>
              <a:t> </a:t>
            </a:r>
            <a:r>
              <a:rPr dirty="0" spc="-700"/>
              <a:t>/</a:t>
            </a:r>
            <a:r>
              <a:rPr dirty="0" spc="-105"/>
              <a:t> </a:t>
            </a:r>
            <a:r>
              <a:rPr dirty="0" spc="-60"/>
              <a:t>Recap</a:t>
            </a:r>
            <a:r>
              <a:rPr dirty="0" spc="-100"/>
              <a:t> </a:t>
            </a:r>
            <a:r>
              <a:rPr dirty="0" spc="-85"/>
              <a:t>of</a:t>
            </a:r>
            <a:r>
              <a:rPr dirty="0" spc="-110"/>
              <a:t> </a:t>
            </a:r>
            <a:r>
              <a:rPr dirty="0" spc="-55"/>
              <a:t>Main</a:t>
            </a:r>
            <a:r>
              <a:rPr dirty="0" spc="-110"/>
              <a:t> </a:t>
            </a:r>
            <a:r>
              <a:rPr dirty="0" spc="-20"/>
              <a:t>Points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 Fei Thang</dc:creator>
  <dc:title>01a_Machine Learning Methods</dc:title>
  <dcterms:created xsi:type="dcterms:W3CDTF">2025-12-26T00:22:29Z</dcterms:created>
  <dcterms:modified xsi:type="dcterms:W3CDTF">2025-12-26T00:22:29Z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2025-09-30T00:00:00Z</vt:filetime>
  </property>
  <property fmtid="{D5CDD505-2E9C-101B-9397-08002B2CF9AE}" pid="3" name="Creator">
    <vt:lpwstr>PowerPoint</vt:lpwstr>
  </property>
  <property fmtid="{D5CDD505-2E9C-101B-9397-08002B2CF9AE}" pid="4" name="LastSaved">
    <vt:filetime>2025-12-26T00:00:00Z</vt:filetime>
  </property>
  <property fmtid="{D5CDD505-2E9C-101B-9397-08002B2CF9AE}" pid="5" name="Producer">
    <vt:lpwstr>macOS Version 26.0 (Build 25A354) Quartz PDFContext</vt:lpwstr>
  </property>
</Properties>
</file>